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1508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8CE6C9"/>
                </a:solidFill>
                <a:latin typeface="Calibri"/>
              </a:rPr>
              <a:t>SESSION 34A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Advanced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71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i="0">
                <a:solidFill>
                  <a:srgbClr val="8CE6C9"/>
                </a:solidFill>
                <a:latin typeface="Calibri"/>
              </a:rPr>
              <a:t>HyDE  ·  multi-query retrieval  ·  parent document retriever  ·  hybrid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6052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02C39A"/>
                </a:solidFill>
                <a:latin typeface="Calibri"/>
              </a:rPr>
              <a:t>COMPUTER VISION &amp; AI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D6E7E4"/>
                </a:solidFill>
                <a:latin typeface="Calibri"/>
              </a:rPr>
              <a:t>Phase 9 — RAG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16052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02C39A"/>
                </a:solidFill>
                <a:latin typeface="Calibri"/>
              </a:rPr>
              <a:t>THEORY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D6E7E4"/>
                </a:solidFill>
                <a:latin typeface="Calibri"/>
              </a:rPr>
              <a:t>No coding in this half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16052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02C39A"/>
                </a:solidFill>
                <a:latin typeface="Calibri"/>
              </a:rP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434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D6E7E4"/>
                </a:solidFill>
                <a:latin typeface="Calibri"/>
              </a:rPr>
              <a:t>~45 minutes of slides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406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Companion deck: Session 34b — Multimodal RAG (theory + lab)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Four techniques, one question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8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066543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965960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2343B"/>
                </a:solidFill>
                <a:latin typeface="Calibri"/>
              </a:rPr>
              <a:t>The query is the weak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2240279"/>
            <a:ext cx="100035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Session 33 tuned the index. Today we tune what we send into it.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9192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7614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2660904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2343B"/>
                </a:solidFill>
                <a:latin typeface="Calibri"/>
              </a:rPr>
              <a:t>HyDE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2935224"/>
            <a:ext cx="100035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"What if we searched with an answer instead of a question?"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374136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355848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2343B"/>
                </a:solidFill>
                <a:latin typeface="Calibri"/>
              </a:rPr>
              <a:t>Multi-query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3630168"/>
            <a:ext cx="100035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"What if one phrasing is not enough?"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69079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15137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0744" y="4050791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2343B"/>
                </a:solidFill>
                <a:latin typeface="Calibri"/>
              </a:rPr>
              <a:t>Parent document retriever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" y="4325112"/>
            <a:ext cx="100035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"What if the best chunk to find is not the best chunk to read?"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764023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4745736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2343B"/>
                </a:solidFill>
                <a:latin typeface="Calibri"/>
              </a:rPr>
              <a:t>Hybrid search, deepened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744" y="5020055"/>
            <a:ext cx="100035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"Why do dense and sparse fail in opposite directions?"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458967"/>
            <a:ext cx="402336" cy="40233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54126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0744" y="5440679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2343B"/>
                </a:solidFill>
                <a:latin typeface="Calibri"/>
              </a:rPr>
              <a:t>The honest scoreboard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0744" y="5714999"/>
            <a:ext cx="100035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Which of these survives a controlled ablation — and which does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Session 33 built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pic>
        <p:nvPicPr>
          <p:cNvPr id="5" name="Picture 4" descr="fig_pipeline_stages_cascade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91640"/>
            <a:ext cx="9326880" cy="2300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4083651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 i="1">
                <a:solidFill>
                  <a:srgbClr val="8FA9AE"/>
                </a:solidFill>
                <a:latin typeface="Calibri"/>
              </a:rPr>
              <a:t>Source: Singh, Allam Reddy &amp; Chopra (2026), "Beyond the Reranker", arXiv:2606.28367, Fig. 1. Reproduced with attribution.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434840"/>
            <a:ext cx="5234940" cy="17647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33271" y="469087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What you already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5074920"/>
            <a:ext cx="472287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Chunking, indexing, dense retrieval, BM25 + RRF,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cross-encoder reranking, grounded prompting, and 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hit-rate / MRR harness to score all of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9340" y="4434840"/>
            <a:ext cx="5234940" cy="17647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5372" y="469087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What today adds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5372" y="5074920"/>
            <a:ext cx="472287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Four techniques that live at the query stage and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pool-build stage — the two boxes on the left of that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diagram. Green = reliable gain, grey = no effect.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Question and answer are written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4940" cy="256032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C15B4E"/>
                </a:solidFill>
                <a:latin typeface="Calibri"/>
              </a:rPr>
              <a:t>Vocabulary mismatch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514600"/>
            <a:ext cx="4722875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user writes  "why did margins drop?"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document says  "gross profit contracted 340 bps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on input-cost inflation."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Not one word in common: BM25 scores this near zero.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1874519"/>
            <a:ext cx="5234940" cy="256032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5372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C15B4E"/>
                </a:solidFill>
                <a:latin typeface="Calibri"/>
              </a:rPr>
              <a:t>Length and shape asymmetry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5372" y="2514600"/>
            <a:ext cx="4722875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query is 6–12 tokens. A chunk is 300–500.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encoder was trained mostly on document-like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text, so a short interrogative sits in a thinly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populated region. You compare a fragment to 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paragraph and hope the geometry cooperates.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98848"/>
            <a:ext cx="10607040" cy="17647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33271" y="4754880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The insight both HyDE and multi-query exploit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5138928"/>
            <a:ext cx="10094976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Nothing forces you to search with the string the user typed. The query is just a vector, and you control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how that vector is produced — rewrite it, expand it, invent a document for it, or issue several queries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and merge the results. None of this touches the index, which is why each is cheap to try and to remove.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HYDE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Invent the answer, then go find the real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pic>
        <p:nvPicPr>
          <p:cNvPr id="5" name="Picture 4" descr="fig_hyde_gao2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6675120" cy="19481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914120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 i="1">
                <a:solidFill>
                  <a:srgbClr val="8FA9AE"/>
                </a:solidFill>
                <a:latin typeface="Calibri"/>
              </a:rPr>
              <a:t>Source: Gao, Ma, Lin &amp; Callan (2022), arXiv:2212.10496, Figure 1 (ACL 2023). Reproduced with attribution.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874519"/>
            <a:ext cx="3657600" cy="38862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82711" y="2130552"/>
            <a:ext cx="31455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Why this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1" y="2514600"/>
            <a:ext cx="3145536" cy="29900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hypothetical answer is document-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shaped: it has the vocabulary and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register of the thing you want.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So instead of question-to-document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you get a document-to-document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comparison — the one the encoder is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actually good at.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hypothesis may be wrong; it is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discarded after embedding.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5687568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50" b="1" i="0">
                <a:solidFill>
                  <a:srgbClr val="028090"/>
                </a:solidFill>
                <a:latin typeface="Calibri"/>
              </a:rPr>
              <a:t>The trick:  </a:t>
            </a:r>
            <a:r>
              <a:rPr sz="1350" b="0" i="0">
                <a:solidFill>
                  <a:srgbClr val="12343B"/>
                </a:solidFill>
                <a:latin typeface="Calibri"/>
              </a:rPr>
              <a:t>the fake document is a search key, not an answer. Its job is to land in the right neighbourhood.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HYDE ·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Five steps, one extra LLM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81416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1874519"/>
            <a:ext cx="159471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43B"/>
                </a:solidFill>
                <a:latin typeface="Calibri"/>
              </a:rPr>
              <a:t>1 · Query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the user's question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91409" y="2304288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975457" y="1874519"/>
            <a:ext cx="181416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85185" y="1874519"/>
            <a:ext cx="159471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43B"/>
                </a:solidFill>
                <a:latin typeface="Calibri"/>
              </a:rPr>
              <a:t>2 · Generate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LLM writes a
hypothetical passage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89627" y="2304288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173675" y="1874519"/>
            <a:ext cx="181416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83403" y="1874519"/>
            <a:ext cx="159471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43B"/>
                </a:solidFill>
                <a:latin typeface="Calibri"/>
              </a:rPr>
              <a:t>3 · Embed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embed the passage,
not the question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87844" y="2304288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371892" y="1874519"/>
            <a:ext cx="181416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81620" y="1874519"/>
            <a:ext cx="159471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43B"/>
                </a:solidFill>
                <a:latin typeface="Calibri"/>
              </a:rPr>
              <a:t>4 · Search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nearest neighbours
in the real index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86062" y="2304288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570110" y="1874519"/>
            <a:ext cx="181416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79838" y="1874519"/>
            <a:ext cx="159471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43B"/>
                </a:solidFill>
                <a:latin typeface="Calibri"/>
              </a:rPr>
              <a:t>5 · Generate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answer from real
chunks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00400"/>
            <a:ext cx="5234940" cy="256032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33271" y="345643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The prompt that does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840480"/>
            <a:ext cx="4722875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"Write a short passage from a technical document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that would answer this question. Do not hedge and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do not say it is hypothetical. Question: {q}"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Match the instruction to your corpus: a paper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passage, a support ticket, a contract clause.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9340" y="3200400"/>
            <a:ext cx="5234940" cy="256032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5372" y="345643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Three implementation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5372" y="3840480"/>
            <a:ext cx="4722875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Generate 3–8 hypotheses and average their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   embeddings — averaging cancels hallucinations.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Include the raw query vector in that average.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Cap generation at about 120 tokens.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5852160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50" b="1" i="0">
                <a:solidFill>
                  <a:srgbClr val="028090"/>
                </a:solidFill>
                <a:latin typeface="Calibri"/>
              </a:rPr>
              <a:t>Cost:  </a:t>
            </a:r>
            <a:r>
              <a:rPr sz="1350" b="0" i="0">
                <a:solidFill>
                  <a:srgbClr val="12343B"/>
                </a:solidFill>
                <a:latin typeface="Calibri"/>
              </a:rPr>
              <a:t>one extra generation per query — roughly 1–5 s of latency, or +25–60 % end to end on small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HYDE · EVIDENCE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The query-side method that survives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24612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1874519"/>
            <a:ext cx="30266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79" y="1874519"/>
            <a:ext cx="3977639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78807" y="1874519"/>
            <a:ext cx="37581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was measured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39" y="1874519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02167" y="1874519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04287"/>
            <a:ext cx="324612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2304287"/>
            <a:ext cx="302666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Gao et al., ACL 2023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79" y="2304287"/>
            <a:ext cx="3977639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178807" y="2304287"/>
            <a:ext cx="375818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11 query sets: web search, QA, fact
verification; EN, SW, KO, 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39" y="2304287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02167" y="2304287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2343B"/>
                </a:solidFill>
                <a:latin typeface="Calibri"/>
              </a:rPr>
              <a:t>Beats unsupervised SOTA (Contriever);
comparable to fine-tuned retrievers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90087"/>
            <a:ext cx="324612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6968" y="2990087"/>
            <a:ext cx="302666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Cascade Research,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79" y="2990087"/>
            <a:ext cx="3977639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78807" y="2990087"/>
            <a:ext cx="375818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Ablation on HetDocQA (n = 363), full
pipeline with a cross-encoder reranker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39" y="2990087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02167" y="2990087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2343B"/>
                </a:solidFill>
                <a:latin typeface="Calibri"/>
              </a:rPr>
              <a:t>Removing HyDE costs 6.7 F1
(0.548 → 0.481), p &lt; .001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675887"/>
            <a:ext cx="324612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3675887"/>
            <a:ext cx="302666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15B4E"/>
                </a:solidFill>
                <a:latin typeface="Calibri"/>
              </a:rPr>
              <a:t>T2-RAGBench (financial)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79" y="3675887"/>
            <a:ext cx="3977639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178807" y="3675887"/>
            <a:ext cx="375818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Numerical questions over filings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39" y="3675887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02167" y="3675887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HyDE consistently underperforms
plain dense retrieval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480560"/>
            <a:ext cx="5234940" cy="17647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33271" y="473659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C15B4E"/>
                </a:solidFill>
                <a:latin typeface="Calibri"/>
              </a:rPr>
              <a:t>Where it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" y="5120640"/>
            <a:ext cx="472287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Exact strings, IDs, dates and figures —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hypothesis invents plausible ones. Multi-part or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heavily constrained questions go generic.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9340" y="4480560"/>
            <a:ext cx="5234940" cy="17647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5372" y="473659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When to reach for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5372" y="5120640"/>
            <a:ext cx="472287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Conceptual questions over prose. Domains where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users and documents speak differently. Zero-shot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settings with no labels to fine-tune a retriever.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MULTI-QUERY RETRIEVAL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One question, several phrasings, one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pic>
        <p:nvPicPr>
          <p:cNvPr id="5" name="Picture 4" descr="fig_ragfusion_rackauckas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19"/>
            <a:ext cx="3931920" cy="35712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537186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 i="1">
                <a:solidFill>
                  <a:srgbClr val="8FA9AE"/>
                </a:solidFill>
                <a:latin typeface="Calibri"/>
              </a:rPr>
              <a:t>Source: Rackauckas (2024), arXiv:2402.03367, Fig. 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874519"/>
            <a:ext cx="6035040" cy="229514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05272" y="2130552"/>
            <a:ext cx="55229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What the LLM is asked to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5272" y="2514600"/>
            <a:ext cx="5522975" cy="1399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"Generate 4 alternative versions of this question that a user might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have typed, covering different vocabulary and specificity."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"How do I reduce inference cost?"  becomes  quantisation · batching ·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smaller models · caching — four neighbourhoods of the index.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4315968"/>
            <a:ext cx="6035040" cy="17647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05272" y="4572000"/>
            <a:ext cx="55229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Why merging matters more than expanding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5272" y="4956048"/>
            <a:ext cx="552297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chunk near the top of several lists is far more likely to be relevant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than one that tops a single list. That agreement is the entire signal —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and Reciprocal Rank Fusion turns it into one line:  1 / (60 + rank).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MULTI-QUERY RETRIEVAL ·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A recall play, not a precision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4940" cy="229514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514600"/>
            <a:ext cx="4722875" cy="1399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1.  One LLM call generates N variants (N = 3–5).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2.  Retrieve top-k for each variant, in parallel.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3.  Fuse the N ranked lists with RRF.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4.  Deduplicate — chunks repeat across lists.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5.  Rerank, then take the top 4–6 into the prompt.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1874519"/>
            <a:ext cx="5234940" cy="229514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5372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C15B4E"/>
                </a:solidFill>
                <a:latin typeface="Calibri"/>
              </a:rPr>
              <a:t>What it costs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5372" y="2514600"/>
            <a:ext cx="4722875" cy="1399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One extra LLM call, ~0.5–1.5 s, up front.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N× the vector searches — cheap on FAISS, a real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   line item on a hosted DB billed per query.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A larger pool, so the reranker works harder.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Latency the user feels: none of it streams.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24528"/>
            <a:ext cx="2514600" cy="36576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4224528"/>
            <a:ext cx="22951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Failure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224528"/>
            <a:ext cx="3931920" cy="36576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47288" y="4224528"/>
            <a:ext cx="37124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happens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224528"/>
            <a:ext cx="4114800" cy="36576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24927" y="4224528"/>
            <a:ext cx="3895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36008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6968" y="4636008"/>
            <a:ext cx="22951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15B4E"/>
                </a:solidFill>
                <a:latin typeface="Calibri"/>
              </a:rPr>
              <a:t>Drift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4636008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47288" y="4636008"/>
            <a:ext cx="371246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A variant quietly changes the question and
drags in off-topic chunks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636008"/>
            <a:ext cx="411480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927" y="4636008"/>
            <a:ext cx="38953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Log the variants; cap N at 4; always keep
the original query as one of the 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321808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5321808"/>
            <a:ext cx="22951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15B4E"/>
                </a:solidFill>
                <a:latin typeface="Calibri"/>
              </a:rPr>
              <a:t>Dilution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5321808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47288" y="5321808"/>
            <a:ext cx="371246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Genuinely narrow questions get padded with
broader neighbours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5321808"/>
            <a:ext cx="4114800" cy="640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24927" y="5321808"/>
            <a:ext cx="389534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Route: expand only when the first-pass top
score is below a threshold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CHOOSING BETWEEN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They fix different things, and they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283464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1874519"/>
            <a:ext cx="2615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74519"/>
            <a:ext cx="416052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67328" y="1874519"/>
            <a:ext cx="39410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HyDE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52044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73567" y="1874519"/>
            <a:ext cx="33009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Multi-query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04287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2304287"/>
            <a:ext cx="26151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What it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304287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67328" y="2304287"/>
            <a:ext cx="39410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The shape of the query vector —
makes it document-like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304287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73567" y="2304287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The number of query vectors —
covers several intents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16935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6968" y="2916935"/>
            <a:ext cx="26151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Which metric moves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2916935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67328" y="2916935"/>
            <a:ext cx="39410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Precision at the top. Better alignment,
same pool size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916935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73567" y="2916935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Recall. A bigger, more diverse
pool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529583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3529583"/>
            <a:ext cx="26151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Best 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3529583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767328" y="3529583"/>
            <a:ext cx="39410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Conceptual questions in a domain with
its own jargon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529583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973567" y="3529583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Ambiguous or many-faceted
questions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142231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86968" y="4142231"/>
            <a:ext cx="26151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Worst 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4142231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767328" y="4142231"/>
            <a:ext cx="39410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Numbers, IDs, exact strings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4142231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973567" y="4142231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Narrow questions that were
already precise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754879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86968" y="4754879"/>
            <a:ext cx="26151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Extra LLM calls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4754879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767328" y="4754879"/>
            <a:ext cx="39410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1 (or 3–8 if you average hypotheses)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0" y="4754879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973567" y="4754879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440680"/>
            <a:ext cx="10607040" cy="8503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33271" y="5696712"/>
            <a:ext cx="10094976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Composable: RAG-Fusion generates N variants and runs HyDE on each. Measure it before you ship it — that is N+1 LLM calls per question.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THE CHUNK-SIZE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Search unit and read unit want different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4940" cy="282549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Small chunks retrieve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514600"/>
            <a:ext cx="4722875" cy="19293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150-token chunk is about one idea, so its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embedding is sharp and the cosine score means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something.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Handed to the LLM alone it is often unusable: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pronoun has no referent, the number has no unit,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clause has no contract around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1874519"/>
            <a:ext cx="5234940" cy="282549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5372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Large chunks read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5372" y="2514600"/>
            <a:ext cx="4722875" cy="19293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1,200-token chunk carries its own context.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model can actually answer from it.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But its embedding is an average of six topics, so it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scores mediocre on everything and wins nothing.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Dilution is a retrieval failure, not a generation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failure — and no prompt fixes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54880"/>
            <a:ext cx="10607040" cy="149961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33271" y="5010912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 i="0">
                <a:solidFill>
                  <a:srgbClr val="12343B"/>
                </a:solidFill>
                <a:latin typeface="Calibri"/>
              </a:rPr>
              <a:t>Session 33 made you pick one number. This technique says you need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5394960"/>
            <a:ext cx="10094976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Embed the small chunk. Return the large one. The child is the search key; the parent is the payload.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two are linked by an ID, and that link is the only new machinery involved.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PARENT DOCUMENT RETRIEVER ·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Search small, read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028090"/>
                </a:solidFill>
                <a:latin typeface="Calibri"/>
              </a:rPr>
              <a:t>AT INDEX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39696"/>
            <a:ext cx="10607040" cy="12984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33271" y="2304288"/>
            <a:ext cx="2235708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24712" y="2304288"/>
            <a:ext cx="2052827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Document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A7A80"/>
                </a:solidFill>
                <a:latin typeface="Calibri"/>
              </a:rPr>
              <a:t>one PDF, page
or section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68979" y="2670048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653027" y="2304288"/>
            <a:ext cx="2235708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4468" y="2304288"/>
            <a:ext cx="2052827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Parent split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A7A80"/>
                </a:solidFill>
                <a:latin typeface="Calibri"/>
              </a:rPr>
              <a:t>800–2,000 tokens
kept in a docstore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88736" y="2670048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272783" y="2304288"/>
            <a:ext cx="2235708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64223" y="2304288"/>
            <a:ext cx="2052827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Child split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A7A80"/>
                </a:solidFill>
                <a:latin typeface="Calibri"/>
              </a:rPr>
              <a:t>150–300 tokens,
each with parent_id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508492" y="2670048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892540" y="2304288"/>
            <a:ext cx="2235708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83980" y="2304288"/>
            <a:ext cx="2052827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Embed children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A7A80"/>
                </a:solidFill>
                <a:latin typeface="Calibri"/>
              </a:rPr>
              <a:t>only children enter
the vector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028090"/>
                </a:solidFill>
                <a:latin typeface="Calibri"/>
              </a:rPr>
              <a:t>AT QUERY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50208"/>
            <a:ext cx="10607040" cy="12984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033271" y="4114800"/>
            <a:ext cx="1711756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24712" y="4114800"/>
            <a:ext cx="1528876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Query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A7A80"/>
                </a:solidFill>
                <a:latin typeface="Calibri"/>
              </a:rPr>
              <a:t>embed as usual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745028" y="4480560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129076" y="4114800"/>
            <a:ext cx="1711756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220516" y="4114800"/>
            <a:ext cx="1528876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Search children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A7A80"/>
                </a:solidFill>
                <a:latin typeface="Calibri"/>
              </a:rPr>
              <a:t>top-k over small,
sharp vectors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840833" y="4480560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224881" y="4114800"/>
            <a:ext cx="1711756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316321" y="4114800"/>
            <a:ext cx="1528876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Look up parents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A7A80"/>
                </a:solidFill>
                <a:latin typeface="Calibri"/>
              </a:rPr>
              <a:t>map child_id →
parent_id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936638" y="4480560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320686" y="4114800"/>
            <a:ext cx="1711756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12126" y="4114800"/>
            <a:ext cx="1528876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Deduplicate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A7A80"/>
                </a:solidFill>
                <a:latin typeface="Calibri"/>
              </a:rPr>
              <a:t>children often share
one parent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032443" y="4480560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9416491" y="4114800"/>
            <a:ext cx="1711756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507931" y="4114800"/>
            <a:ext cx="1528876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Prompt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A7A80"/>
                </a:solidFill>
                <a:latin typeface="Calibri"/>
              </a:rPr>
              <a:t>parents go to
the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5669280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50" b="1" i="0">
                <a:solidFill>
                  <a:srgbClr val="028090"/>
                </a:solidFill>
                <a:latin typeface="Calibri"/>
              </a:rPr>
              <a:t>The step everyone forgets:  </a:t>
            </a:r>
            <a:r>
              <a:rPr sz="1350" b="0" i="0">
                <a:solidFill>
                  <a:srgbClr val="12343B"/>
                </a:solidFill>
                <a:latin typeface="Calibri"/>
              </a:rPr>
              <a:t>deduplication. Four children of one parent otherwise send the same 2,000 tokens four times.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PARENT DOCUMENT RETRIEVER ·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Three settings of one dial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1874519"/>
            <a:ext cx="25694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Variant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79" y="1874519"/>
            <a:ext cx="338328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21607" y="1874519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comes 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79" y="1874519"/>
            <a:ext cx="434340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50607" y="1874519"/>
            <a:ext cx="41239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04287"/>
            <a:ext cx="2788920" cy="6583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2304287"/>
            <a:ext cx="256946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Sentence window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79" y="2304287"/>
            <a:ext cx="3383280" cy="6583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21607" y="2304287"/>
            <a:ext cx="31638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The matched sentence ± 2–3
neighbouring sentences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79" y="2304287"/>
            <a:ext cx="4343400" cy="6583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50607" y="2304287"/>
            <a:ext cx="41239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Dense reference text — legal clauses, spec
sheets. Cheapest in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08375"/>
            <a:ext cx="2788920" cy="6583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6968" y="3008375"/>
            <a:ext cx="256946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Parent chunk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79" y="3008375"/>
            <a:ext cx="3383280" cy="6583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21607" y="3008375"/>
            <a:ext cx="31638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The 800–2,000-token section the
child came from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79" y="3008375"/>
            <a:ext cx="4343400" cy="6583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50607" y="3008375"/>
            <a:ext cx="41239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The default. Sections are a real semantic
unit in most documents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12463"/>
            <a:ext cx="2788920" cy="6583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3712463"/>
            <a:ext cx="256946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Full document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79" y="3712463"/>
            <a:ext cx="3383280" cy="6583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721607" y="3712463"/>
            <a:ext cx="31638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The entire source 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79" y="3712463"/>
            <a:ext cx="4343400" cy="6583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50607" y="3712463"/>
            <a:ext cx="41239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Short documents only — tickets, emails,
one-page memos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480560"/>
            <a:ext cx="5234940" cy="17647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33271" y="473659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C15B4E"/>
                </a:solidFill>
                <a:latin typeface="Calibri"/>
              </a:rPr>
              <a:t>What it costs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" y="5120640"/>
            <a:ext cx="472287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Context. Four parents at 2,000 tokens is 8,000 tokens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of prompt — and "lost in the middle" says the model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may not read the middle of 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9340" y="4480560"/>
            <a:ext cx="5234940" cy="17647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5372" y="473659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C15B4E"/>
                </a:solidFill>
                <a:latin typeface="Calibri"/>
              </a:rPr>
              <a:t>What it does not fix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5372" y="5120640"/>
            <a:ext cx="472287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Retrieval quality. Children are still found by the same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model with the same blind spots. The metric this moves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is answer F1, not hit rate.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HYBRID SEARCH, DEEPENED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You built it in Session 33. Here is why it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4940" cy="282549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BM25 — what it actually computes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514600"/>
            <a:ext cx="4722875" cy="19293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Three ideas, no training, one CPU inverted index: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IDF — rare terms count more than common ones.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Saturation (k₁) — the 10th occurrence of a term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   adds far less than the 2nd.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Length normalisation (b) — long documents do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   not win on volume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1874519"/>
            <a:ext cx="5234940" cy="282549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5372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Dense — what it trades 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5372" y="2514600"/>
            <a:ext cx="4722875" cy="19293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learned map from meaning to geometry: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Generalises across paraphrase and language.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Compresses 400 tokens into 1,536 floats.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A rare token carrying the whole query (an SKU, an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   error code) is a small part of that average.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Out of domain it degrades quietly, not loudly.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73168"/>
            <a:ext cx="3063240" cy="329184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4773168"/>
            <a:ext cx="28437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4773168"/>
            <a:ext cx="2606040" cy="329184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95928" y="4773168"/>
            <a:ext cx="23865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BM25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773168"/>
            <a:ext cx="2606040" cy="329184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47688" y="4773168"/>
            <a:ext cx="23865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4773168"/>
            <a:ext cx="2148840" cy="329184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99448" y="4773168"/>
            <a:ext cx="1929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48072"/>
            <a:ext cx="30632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148072"/>
            <a:ext cx="28437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"error code E-4021"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5148072"/>
            <a:ext cx="2606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995928" y="5148072"/>
            <a:ext cx="2386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Exact hit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5148072"/>
            <a:ext cx="2606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47688" y="5148072"/>
            <a:ext cx="2386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Near miss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5148072"/>
            <a:ext cx="21488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99448" y="5148072"/>
            <a:ext cx="1929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2343B"/>
                </a:solidFill>
                <a:latin typeface="Calibri"/>
              </a:rPr>
              <a:t>Sparse wins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541264"/>
            <a:ext cx="30632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86968" y="5541264"/>
            <a:ext cx="28437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"why is my build slow?"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6200" y="5541264"/>
            <a:ext cx="2606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995928" y="5541264"/>
            <a:ext cx="2386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Nothing shared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5541264"/>
            <a:ext cx="2606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647688" y="5541264"/>
            <a:ext cx="2386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Strong match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541264"/>
            <a:ext cx="21488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99448" y="5541264"/>
            <a:ext cx="1929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2343B"/>
                </a:solidFill>
                <a:latin typeface="Calibri"/>
              </a:rPr>
              <a:t>Dense wins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934455"/>
            <a:ext cx="30632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86968" y="5934455"/>
            <a:ext cx="28437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"§7.3 termination for cause"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86200" y="5934455"/>
            <a:ext cx="2606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995928" y="5934455"/>
            <a:ext cx="2386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Exact hit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60" y="5934455"/>
            <a:ext cx="2606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647688" y="5934455"/>
            <a:ext cx="2386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Finds other clauses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20" y="5934455"/>
            <a:ext cx="21488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99448" y="5934455"/>
            <a:ext cx="1929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2343B"/>
                </a:solidFill>
                <a:latin typeface="Calibri"/>
              </a:rPr>
              <a:t>Sparse wins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LEARNED SPARSE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Sparse vectors, with the semantics learned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4709160" cy="282549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130552"/>
            <a:ext cx="41970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SPLADE, in one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514600"/>
            <a:ext cx="4197096" cy="19293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masked language model expands each document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into a sparse vector over the whole vocabulary,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with learned weights.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Index "automobile" and the vector also carries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weight on "car" and "vehicle" — still an inverted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index, but it no longer needs your exact words.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874519"/>
            <a:ext cx="2606040" cy="347472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70448" y="1874519"/>
            <a:ext cx="2386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Retriever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874519"/>
            <a:ext cx="1554480" cy="347472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22207" y="1874519"/>
            <a:ext cx="13350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874519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122407" y="1874519"/>
            <a:ext cx="1106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nDCG@10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267712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0448" y="2267712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BM25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26771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522207" y="226771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sparse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12680" y="2267712"/>
            <a:ext cx="132588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122407" y="2267712"/>
            <a:ext cx="1106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42.9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679192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70448" y="2679192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SPLADE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67919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22207" y="267919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learned sparse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679192"/>
            <a:ext cx="132588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22407" y="2679192"/>
            <a:ext cx="1106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51.3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3090672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870448" y="3090672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CSPLADE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09067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522207" y="309067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learned sparse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3090672"/>
            <a:ext cx="132588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22407" y="3090672"/>
            <a:ext cx="1106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54.6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3502152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870448" y="3502152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text-embedding-3-large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35021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522207" y="350215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dense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3502152"/>
            <a:ext cx="132588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122407" y="3502152"/>
            <a:ext cx="1106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64.6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3913632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870448" y="3913632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Qwen3-Embedding-8B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391363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522207" y="391363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dense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12680" y="3913632"/>
            <a:ext cx="132588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122407" y="3913632"/>
            <a:ext cx="1106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70.6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4343400"/>
            <a:ext cx="5623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 i="1">
                <a:solidFill>
                  <a:srgbClr val="8FA9AE"/>
                </a:solidFill>
                <a:latin typeface="Calibri"/>
              </a:rPr>
              <a:t>BEIR average, from 2026 reproductions and public leaderboards.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 i="1">
                <a:solidFill>
                  <a:srgbClr val="8FA9AE"/>
                </a:solidFill>
                <a:latin typeface="Calibri"/>
              </a:rPr>
              <a:t>Treat the ordering as robust and the exact values as version-dependent.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4956048"/>
            <a:ext cx="10607040" cy="12344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33271" y="5212080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 i="0">
                <a:solidFill>
                  <a:srgbClr val="12343B"/>
                </a:solidFill>
                <a:latin typeface="Calibri"/>
              </a:rPr>
              <a:t>Why we still teach BM25 first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1" y="5596128"/>
            <a:ext cx="10094976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SPLADE needs a GPU at query time; BM25 needs only an inverted index and stays roughly an order of magnitude faster.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FUSING TWO RANKINGS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Why everyone fuses ranks instead of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4940" cy="30906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Score fusion — the tempting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514600"/>
            <a:ext cx="4722875" cy="2194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α · norm(dense) + (1 − α) · norm(sparse)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BM25 is unbounded and corpus-dependent; cosine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sits in [−1, 1] and, for OpenAI embeddings, in 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narrow band around 0.3–0.5.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Min–max normalising per query makes the scale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depend on what was retrieved, so α needs retuning.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1874519"/>
            <a:ext cx="5234940" cy="30906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5372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Reciprocal Rank Fusion — the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5372" y="2514600"/>
            <a:ext cx="4722875" cy="2194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score(d) = Σ  1 / (k + rank(d)),   k = 60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Only ranks are used, so nothing needs normalising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and nothing needs tuning. k = 60 comes from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Cormack et al. (2009) and is the default in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Elasticsearch, Weaviate, Qdrant and Azure AI Search.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same line fuses text and image legs after the break.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74920"/>
            <a:ext cx="10607040" cy="11155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33271" y="5330952"/>
            <a:ext cx="10094976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Rule of thumb: start with RRF; move to weighted score fusion only when you have a labelled set to tune α on.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Reference point — on WANDS, hybrid reached 0.7497 NDCG vs 0.6983 for BM25 alone and 0.6953 for vector alone.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THE HONEST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Ablating one method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47088"/>
            <a:ext cx="3017520" cy="347472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1847088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79" y="1847088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950207" y="1847088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nDCG@10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847088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87568" y="1847088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Answer 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847088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96328" y="1847088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847088"/>
            <a:ext cx="2834640" cy="347472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705088" y="1847088"/>
            <a:ext cx="2615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Reliable gain?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240280"/>
            <a:ext cx="301752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6968" y="2240280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Full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79" y="2240280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50207" y="2240280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0.644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2240280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87568" y="2240280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0.548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240280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96328" y="2240280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2240280"/>
            <a:ext cx="2834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705088" y="2240280"/>
            <a:ext cx="2615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633472"/>
            <a:ext cx="301752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2633472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− cross-encoder reranker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79" y="2633472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950207" y="2633472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0.034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2633472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687568" y="2633472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0.249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2633472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96328" y="2633472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&lt; .001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2633472"/>
            <a:ext cx="2834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705088" y="2633472"/>
            <a:ext cx="2615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Yes — by an order of magnitude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3026664"/>
            <a:ext cx="301752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86968" y="3026664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− HyDE (query expansion)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79" y="302666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950207" y="3026664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0.542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77840" y="3026664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687568" y="3026664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0.481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3026664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96328" y="3026664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&lt; .001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3026664"/>
            <a:ext cx="2834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705088" y="3026664"/>
            <a:ext cx="2615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Yes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3419856"/>
            <a:ext cx="301752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86968" y="3419856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− RAPTOR hierarchy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79" y="3419856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950207" y="3419856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0.650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77840" y="3419856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687568" y="3419856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0.523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86600" y="3419856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196328" y="3419856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.004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5360" y="3419856"/>
            <a:ext cx="2834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705088" y="3419856"/>
            <a:ext cx="2615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7A1F"/>
                </a:solidFill>
                <a:latin typeface="Calibri"/>
              </a:rPr>
              <a:t>Unstable — sign flips on dev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" y="3813048"/>
            <a:ext cx="301752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86968" y="3813048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− graph expansion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79" y="3813048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950207" y="3813048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0.641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577840" y="3813048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687568" y="3813048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0.542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86600" y="3813048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96328" y="3813048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.214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95360" y="3813048"/>
            <a:ext cx="2834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705088" y="3813048"/>
            <a:ext cx="2615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7240" y="4206240"/>
            <a:ext cx="301752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886968" y="4206240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− RRF rank fusion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40479" y="4206240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950207" y="4206240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0.644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577840" y="4206240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5687568" y="4206240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0.548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86600" y="4206240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196328" y="4206240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1.00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595360" y="4206240"/>
            <a:ext cx="2834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705088" y="4206240"/>
            <a:ext cx="2615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No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7240" y="4599432"/>
            <a:ext cx="301752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86968" y="4599432"/>
            <a:ext cx="279806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Semantic retrieval only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40479" y="4599432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950207" y="4599432"/>
            <a:ext cx="1472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0.288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577840" y="4599432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5687568" y="4599432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0.421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86600" y="4599432"/>
            <a:ext cx="14630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196328" y="4599432"/>
            <a:ext cx="12435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&lt; .001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595360" y="4599432"/>
            <a:ext cx="2834640" cy="3474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8705088" y="4599432"/>
            <a:ext cx="26151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/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" y="50292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 i="1">
                <a:solidFill>
                  <a:srgbClr val="8FA9AE"/>
                </a:solidFill>
                <a:latin typeface="Calibri"/>
              </a:rPr>
              <a:t>HetDocQA test split, n = 363; each row removes one method from the full pipeline. Singh, Allam Reddy &amp; Chopra (2026), arXiv:2606.28367, Table 2.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7240" y="5138928"/>
            <a:ext cx="10607040" cy="11155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033271" y="5394960"/>
            <a:ext cx="10094976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Read this carefully. It does not say RRF is useless — it says that once a strong cross-encoder has reordered the pool,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fusing the lists that fed that pool adds nothing measurable. Order of operations decides what still has room to help.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WHAT TO ADD, AND IN WHAT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Diagnose from the symptom, not the blog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34a · Advanced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70332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1874519"/>
            <a:ext cx="34838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Symptom in your 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79" y="1874519"/>
            <a:ext cx="352044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36007" y="1874519"/>
            <a:ext cx="33009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Reach 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874519"/>
            <a:ext cx="324612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02167" y="1874519"/>
            <a:ext cx="30266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Metric it should move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04287"/>
            <a:ext cx="37033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2304287"/>
            <a:ext cx="34838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The right chunk is in the top 50
but not the top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2304287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36007" y="2304287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A cross-encoder reranker —
first, always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304287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02167" y="2304287"/>
            <a:ext cx="30266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MRR, then answer 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16935"/>
            <a:ext cx="37033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6968" y="2916935"/>
            <a:ext cx="34838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The right chunk is never
retrieved at 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79" y="2916935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36007" y="2916935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Hybrid retrieval, then
multi-query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916935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02167" y="2916935"/>
            <a:ext cx="30266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Hit rate / recall@k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529583"/>
            <a:ext cx="37033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3529583"/>
            <a:ext cx="34838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Users and documents use
different vocabulary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79" y="3529583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636007" y="3529583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HyDE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529583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02167" y="3529583"/>
            <a:ext cx="30266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MRR and answer F1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142231"/>
            <a:ext cx="37033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86968" y="4142231"/>
            <a:ext cx="34838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Retrieval is right, answers are
still thin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79" y="4142231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36007" y="4142231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Parent document retriever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4142231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02167" y="4142231"/>
            <a:ext cx="30266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Answer F1 only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754879"/>
            <a:ext cx="37033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86968" y="4754879"/>
            <a:ext cx="34838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Exact IDs, codes and figures
are missed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6279" y="4754879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636007" y="4754879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28090"/>
                </a:solidFill>
                <a:latin typeface="Calibri"/>
              </a:rPr>
              <a:t>A BM25 leg, or metadata
filtering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4754879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02167" y="4754879"/>
            <a:ext cx="302666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Hit rate on that query class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49554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33271" y="5623560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50" b="1" i="0">
                <a:solidFill>
                  <a:srgbClr val="028090"/>
                </a:solidFill>
                <a:latin typeface="Calibri"/>
              </a:rPr>
              <a:t>The order is not arbitrary:  </a:t>
            </a:r>
            <a:r>
              <a:rPr sz="1350" b="0" i="0">
                <a:solidFill>
                  <a:srgbClr val="12343B"/>
                </a:solidFill>
                <a:latin typeface="Calibri"/>
              </a:rPr>
              <a:t>reranking is cheap, local, and by far the largest single effect.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8CE6C9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Six things to remember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350008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41401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B2E2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1343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8CE6C9"/>
                </a:solidFill>
                <a:latin typeface="Calibri"/>
              </a:rPr>
              <a:t>The query is not sacred.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7860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You control the vector you search with — rewrite it, expand it, or invent a document for it.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97180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0358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B2E2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3522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8CE6C9"/>
                </a:solidFill>
                <a:latin typeface="Calibri"/>
              </a:rPr>
              <a:t>HyDE changes the shape of the query.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00400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Document-to-document beats question-to-document, until the answer hinges on an exact number.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593592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B2E2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5701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8CE6C9"/>
                </a:solidFill>
                <a:latin typeface="Calibri"/>
              </a:rPr>
              <a:t>Multi-query changes the number of queries.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22191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A recall play. Merge with RRF and always keep the original query in the set.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215383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" y="42793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B2E2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17880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8CE6C9"/>
                </a:solidFill>
                <a:latin typeface="Calibri"/>
              </a:rPr>
              <a:t>Parent-document splits search unit from read unit.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43983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Embed the child, return the parent, and deduplicate.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4837175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5840" y="490118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B2E2E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0600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8CE6C9"/>
                </a:solidFill>
                <a:latin typeface="Calibri"/>
              </a:rPr>
              <a:t>Dense and sparse fail in opposite directions.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065775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That is the whole argument for hybrid — and why RRF fuses ranks, not scores.</a:t>
            </a:r>
          </a:p>
        </p:txBody>
      </p:sp>
      <p:sp>
        <p:nvSpPr>
          <p:cNvPr id="25" name="Oval 24"/>
          <p:cNvSpPr/>
          <p:nvPr/>
        </p:nvSpPr>
        <p:spPr>
          <a:xfrm>
            <a:off x="1005840" y="5458967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05840" y="552297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B2E2E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2239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8CE6C9"/>
                </a:solidFill>
                <a:latin typeface="Calibri"/>
              </a:rPr>
              <a:t>Everything here is a hypothesis until your harness scores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87567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One published ablation found four popular techniques did nothing once a reranker was present.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8CE6C9"/>
                </a:solidFill>
                <a:latin typeface="Calibri"/>
              </a:rPr>
              <a:t>Next: Session 34b — Multimodal RAG. Same pipeline, but the chunks are no longer only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