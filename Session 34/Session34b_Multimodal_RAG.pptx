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8CE6C9"/>
                </a:solidFill>
                <a:latin typeface="Calibri"/>
              </a:rPr>
              <a:t>SESSION 34B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Multimodal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i="0">
                <a:solidFill>
                  <a:srgbClr val="8CE6C9"/>
                </a:solidFill>
                <a:latin typeface="Calibri"/>
              </a:rPr>
              <a:t>Image and text retrieval  ·  CLIP embeddings in RAG  ·  then we build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02C39A"/>
                </a:solidFill>
                <a:latin typeface="Calibri"/>
              </a:rPr>
              <a:t>COMPUTER VISION &amp; AI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D6E7E4"/>
                </a:solidFill>
                <a:latin typeface="Calibri"/>
              </a:rPr>
              <a:t>Phase 9 — RAG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1605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02C39A"/>
                </a:solidFill>
                <a:latin typeface="Calibri"/>
              </a:rPr>
              <a:t>THEORY + PRACTICAL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D6E7E4"/>
                </a:solidFill>
                <a:latin typeface="Calibri"/>
              </a:rPr>
              <a:t>Slides, then the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16052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1" i="0">
                <a:solidFill>
                  <a:srgbClr val="02C39A"/>
                </a:solidFill>
                <a:latin typeface="Calibri"/>
              </a:rPr>
              <a:t>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434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0" i="0">
                <a:solidFill>
                  <a:srgbClr val="D6E7E4"/>
                </a:solidFill>
                <a:latin typeface="Calibri"/>
              </a:rPr>
              <a:t>~15 min slides + 30 min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Notebook: Session34_Multimodal_RAG_Practical.ipynb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Text-only RAG throws away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4940" cy="229514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Where the answer actually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722875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10-K answers "what drove the margin decline?" with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waterfall chart on page 34 — no sentence says it.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wiring diagram answers "which valve connects to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pressure relief line?" No paragraph does.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874519"/>
            <a:ext cx="5234940" cy="229514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5372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What your Session 33 pipeline did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372" y="2514600"/>
            <a:ext cx="4722875" cy="13990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pypdf extracted the text and silently dropped every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figure. Merged-cell tables linearised into nonsense.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Captions were indexed without their figure.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pixels were never in the index at 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15968"/>
            <a:ext cx="106070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33271" y="457200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The symptom you will actually see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4956048"/>
            <a:ext cx="10094976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model answers "I don't have enough information" for a page you know you indexed — or worse, it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fabricates a number, because the retrieved chunk only paraphrased a table. This is a ceiling that no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amount of chunk-size tuning can lift, because the information was lost before chunking began.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WHAT CLIP GIVES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One vector space, two kinds of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pic>
        <p:nvPicPr>
          <p:cNvPr id="5" name="Picture 4" descr="fig_clip_contrastive_radford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5120640" cy="37174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83418"/>
            <a:ext cx="51206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1">
                <a:solidFill>
                  <a:srgbClr val="8FA9AE"/>
                </a:solidFill>
                <a:latin typeface="Calibri"/>
              </a:rPr>
              <a:t>Source: Radford et al. (2021), arXiv:2103.00020,
Figure 1, panel 1. Reproduced with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212080" cy="38862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28232" y="2130552"/>
            <a:ext cx="47000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Session 26, in three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514600"/>
            <a:ext cx="4700016" cy="29900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Two encoders, trained on 400M image–caption pairs,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to put matching pairs close together and everything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else far apart.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output is one shared space. An image of a dog 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string "a photo of a dog" land near each other, so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dot product is a meaningful comparison across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modalities.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RAG consequence: you no longer need a caption to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find an image. The image is its own searchable object.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CROSS-MODAL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Four query paths, one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92608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2706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Query →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874519"/>
            <a:ext cx="329184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858768" y="1874519"/>
            <a:ext cx="30723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it is called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874519"/>
            <a:ext cx="420624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96328" y="1874519"/>
            <a:ext cx="398678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Where you have seen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04287"/>
            <a:ext cx="292608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86968" y="2304287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text →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304287"/>
            <a:ext cx="32918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58768" y="2304287"/>
            <a:ext cx="30723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Ordinary dense retrieval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304287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96328" y="2304287"/>
            <a:ext cx="398678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Everything in Sessions 32–34a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43783"/>
            <a:ext cx="292608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6968" y="2843783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text → image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2843783"/>
            <a:ext cx="32918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858768" y="2843783"/>
            <a:ext cx="30723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Text-to-image 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843783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96328" y="2843783"/>
            <a:ext cx="398678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"Show me the chart of Q3 revenue";
stock photo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83279"/>
            <a:ext cx="292608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3383279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image → text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3383279"/>
            <a:ext cx="32918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858768" y="3383279"/>
            <a:ext cx="30723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Image captioning by retrieval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383279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96328" y="3383279"/>
            <a:ext cx="398678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Reverse lookup: which passage
describes this figure?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922775"/>
            <a:ext cx="292608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86968" y="3922775"/>
            <a:ext cx="27066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28090"/>
                </a:solidFill>
                <a:latin typeface="Calibri"/>
              </a:rPr>
              <a:t>image → image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3922775"/>
            <a:ext cx="32918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858768" y="3922775"/>
            <a:ext cx="307238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Visual similarity 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3922775"/>
            <a:ext cx="4206240" cy="49377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96328" y="3922775"/>
            <a:ext cx="3986783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"Find products that look like this";
near-duplicate detection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48056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33271" y="473659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Why this is so little extra machinery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512064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Same FAISS index. Same cosine metric. Same top-k.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only change is which encoder produced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vector — and a `modality` field on the record.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9340" y="4480560"/>
            <a:ext cx="5234940" cy="176479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5372" y="473659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What still has to be decided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5372" y="5120640"/>
            <a:ext cx="4722875" cy="8686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Whether text and images share one index or two,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and how you merge their rankings. We use two legs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and fuse with RRF — the same line as Session 34a.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THE CATCH: THE MODALITY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The shared space is not actually shared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pic>
        <p:nvPicPr>
          <p:cNvPr id="5" name="Picture 4" descr="fig_modality_gap_liang2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3017520" cy="32351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292558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1">
                <a:solidFill>
                  <a:srgbClr val="8FA9AE"/>
                </a:solidFill>
                <a:latin typeface="Calibri"/>
              </a:rPr>
              <a:t>Source: Liang et al. (2022), arXiv:2203.02053,
Fig. 1(b), CLIP panel (NeurIPS 2022).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874519"/>
            <a:ext cx="3566160" cy="33558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16552" y="2130552"/>
            <a:ext cx="30540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What you are looking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2514600"/>
            <a:ext cx="3054096" cy="24597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UMAP of paired CLIP embeddings.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Blue points are images, red points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are their own captions, and the grey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lines join each matching pair.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They should be interleaved.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They are not: the two modalities sit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in two separate cones.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874519"/>
            <a:ext cx="3474720" cy="33558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65592" y="2130552"/>
            <a:ext cx="29626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Why it bites in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514600"/>
            <a:ext cx="2962656" cy="24597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Any image scores higher against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any other image than against its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own caption.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So a single ranked list mixing text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and image hits is dominated by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whichever modality the query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came from. Absolute scores are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not comparable across modalities.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580644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>
                <a:solidFill>
                  <a:srgbClr val="028090"/>
                </a:solidFill>
                <a:latin typeface="Calibri"/>
              </a:rPr>
              <a:t>Practical response:  </a:t>
            </a:r>
            <a:r>
              <a:rPr sz="1350" b="0" i="0">
                <a:solidFill>
                  <a:srgbClr val="12343B"/>
                </a:solidFill>
                <a:latin typeface="Calibri"/>
              </a:rPr>
              <a:t>fuse by rank (RRF), never by raw score — or use a gap-closing model such as SigLIP 2 or Jina v4.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THREE ARCHITECTURES THAT WORK IN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Pick by what a wrong answer costs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246888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74519"/>
            <a:ext cx="338328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01568" y="1874519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874519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30568" y="1874519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Strength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874519"/>
            <a:ext cx="2331720" cy="384048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08007" y="1874519"/>
            <a:ext cx="21122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Weakness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04287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2304287"/>
            <a:ext cx="224942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8090"/>
                </a:solidFill>
                <a:latin typeface="Calibri"/>
              </a:rPr>
              <a:t>Caption-and-index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304287"/>
            <a:ext cx="33832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01568" y="2304287"/>
            <a:ext cx="316382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A VLM captions each image;
the caption is embedded as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304287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30568" y="2304287"/>
            <a:ext cx="211226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Simplest. Reuses your
existing text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304287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08007" y="2304287"/>
            <a:ext cx="211226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15B4E"/>
                </a:solidFill>
                <a:latin typeface="Calibri"/>
              </a:rPr>
              <a:t>Lossy. A hallucinated
caption pollutes the 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91256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86968" y="3191256"/>
            <a:ext cx="224942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8090"/>
                </a:solidFill>
                <a:latin typeface="Calibri"/>
              </a:rPr>
              <a:t>Unified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191256"/>
            <a:ext cx="33832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01568" y="3191256"/>
            <a:ext cx="316382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Text and images encoded into
one space (CLIP, SigLIP 2,
Cohere Embed 4, voyage-mm)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191256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30568" y="3191256"/>
            <a:ext cx="211226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One index, cross-modal
queries, one vector per
item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191256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08007" y="3191256"/>
            <a:ext cx="211226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15B4E"/>
                </a:solidFill>
                <a:latin typeface="Calibri"/>
              </a:rPr>
              <a:t>Coarser than late
interaction. API cost or
self-hosted GPU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078224"/>
            <a:ext cx="24688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86968" y="4078224"/>
            <a:ext cx="224942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8090"/>
                </a:solidFill>
                <a:latin typeface="Calibri"/>
              </a:rPr>
              <a:t>Page-as-image +
late interaction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4078224"/>
            <a:ext cx="338328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01568" y="4078224"/>
            <a:ext cx="3163824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Render the whole page; embed
patches (ColPali, ColQwen2.5)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407822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30568" y="4078224"/>
            <a:ext cx="211226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Highest recall on
figure-heavy documents.
No parsing pipeline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407822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08007" y="4078224"/>
            <a:ext cx="2112263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15B4E"/>
                </a:solidFill>
                <a:latin typeface="Calibri"/>
              </a:rPr>
              <a:t>~1,000 vectors per page.
Needs MaxSim scoring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047488"/>
            <a:ext cx="10607040" cy="111556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33271" y="5303520"/>
            <a:ext cx="10094976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We build architecture 2 in the lab: it is the one that teaches the underlying idea, runs on a CPU, and costs nothing.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By 2026 single-vector models are competitive with ColPali on most enterprise corpora at a fraction of the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WHERE THIS GOES NEXT: COLPALI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Skip parsing entirely and embed the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pic>
        <p:nvPicPr>
          <p:cNvPr id="5" name="Picture 4" descr="fig_colpali_faysse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6949440" cy="35007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21012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 i="1">
                <a:solidFill>
                  <a:srgbClr val="8FA9AE"/>
                </a:solidFill>
                <a:latin typeface="Calibri"/>
              </a:rPr>
              <a:t>Source: Faysse et al. (2024), arXiv:2407.01449, Figure 1 (ICLR 2025). Reproduced with attribution.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828800"/>
            <a:ext cx="3383280" cy="441655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57031" y="20848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Read the two clocks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2468880"/>
            <a:ext cx="2871216" cy="3520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Standard retrieval: OCR, layout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detection and captioning —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7.22 s per page, 0.66 NDCG@5.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ColPali: render the page 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embed it with a vision LLM —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0.39 s per page, 0.81 NDCG@5.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parsing pipeline was both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slow part and the lossy part.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Cost: ~1,000 patch vectors per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page instead of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GENERATION WITH A VISION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Retrieval finds the figure; the prompt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234940" cy="30906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The prompt pattern that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14600"/>
            <a:ext cx="4722875" cy="2194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"Here are the relevant pages and figures. Answer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using only what is visible in them. For any numerical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answer, cite the specific figure or table. If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answer is not there, say so."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"Cite the specific figure" measurably reduces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hallucination: it forces the model to point at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concrete source instead of gesturing at the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1874519"/>
            <a:ext cx="5234940" cy="3090672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5372" y="213055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C15B4E"/>
                </a:solidFill>
                <a:latin typeface="Calibri"/>
              </a:rPr>
              <a:t>Chart hallucination — the failure to plan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5372" y="2514600"/>
            <a:ext cx="4722875" cy="21945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Vision models misread axis scales, confuse legend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colours, and invent precise numbers when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resolution is poor or the labels are tight.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Mitigations: ask for a short reasoning chain; cross-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check numbers against structured data extracted at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parse time; treat hedged answers as a signal for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human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5669280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>
                <a:solidFill>
                  <a:srgbClr val="028090"/>
                </a:solidFill>
                <a:latin typeface="Calibri"/>
              </a:rPr>
              <a:t>Budget it:  </a:t>
            </a:r>
            <a:r>
              <a:rPr sz="1350" b="0" i="0">
                <a:solidFill>
                  <a:srgbClr val="12343B"/>
                </a:solidFill>
                <a:latin typeface="Calibri"/>
              </a:rPr>
              <a:t>a 1024×1024 image costs roughly 765–1,600 input tokens depending on the provider. Five pages is not free.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WHAT WE ARE ABOUT TO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3200" b="1" i="0">
                <a:solidFill>
                  <a:srgbClr val="12343B"/>
                </a:solidFill>
                <a:latin typeface="Cambria"/>
              </a:rPr>
              <a:t>End to end, on real figures from real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5508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 i="0">
                <a:solidFill>
                  <a:srgbClr val="9AB4B8"/>
                </a:solidFill>
                <a:latin typeface="Calibri"/>
              </a:rPr>
              <a:t>Session 34b · Multimodal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1 · Extract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figures out of
arXiv PDFs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91409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2975457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085185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2 · Embed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CLIP for images,
CLIP text for chunks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89627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5173675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83403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3 · Index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two FAISS legs,
one metadata store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87844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371892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81620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4 · Retrieve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cross-modal search
+ RRF fusion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186062" y="2304288"/>
            <a:ext cx="384048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570110" y="1874519"/>
            <a:ext cx="181416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79838" y="1874519"/>
            <a:ext cx="159471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2343B"/>
                </a:solidFill>
                <a:latin typeface="Calibri"/>
              </a:rPr>
              <a:t>5 · Generate</a:t>
            </a:r>
          </a:p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vision model reads
figure + 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91840"/>
            <a:ext cx="5234940" cy="282549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33271" y="354787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12343B"/>
                </a:solidFill>
                <a:latin typeface="Calibri"/>
              </a:rPr>
              <a:t>The questions the lab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931920"/>
            <a:ext cx="4722875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Does a text query actually find the right figure?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How much worse is caption-only retrieval?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What does the modality gap look like in numbers?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• Does the answer change when the figure is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   included in the prompt versus text alone?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9340" y="3291840"/>
            <a:ext cx="5234940" cy="2825496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5372" y="3547872"/>
            <a:ext cx="47228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i="0">
                <a:solidFill>
                  <a:srgbClr val="028090"/>
                </a:solidFill>
                <a:latin typeface="Calibri"/>
              </a:rPr>
              <a:t>What you leave with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5372" y="3931920"/>
            <a:ext cx="4722875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multimodal index over papers you chose,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cross-modal search function, an RRF fusion of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text and image legs, and a grounded answer that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cites both a passage and a figure.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CLIP and FAISS run locally on CPU; only the text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embeddings and generation are paid calls.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1" i="0">
                <a:solidFill>
                  <a:srgbClr val="8CE6C9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Five things to remember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532888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5968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9631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Text-only RAG has a hard ceiling on figure-heavy documents.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6148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The information is lost at ingestion, before any chunking decision is made.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191256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325526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79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CLIP's contribution is one shared space, not one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1985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That is what lets a text query retrieve an image without a caption in between.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849623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3913631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13048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The shared space is not evenly shared.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78223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The modality gap means raw cross-modal scores are not comparable. Fuse ranks, not scores.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507991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4571999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7141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There are three architectures, not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36592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Caption-and-index, unified embeddings, page-as-image. Cost and recall differ by an order of magnitude.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5166359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5230367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1" i="0">
                <a:solidFill>
                  <a:srgbClr val="0B2E2E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29783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50" b="1" i="0">
                <a:solidFill>
                  <a:srgbClr val="8CE6C9"/>
                </a:solidFill>
                <a:latin typeface="Calibri"/>
              </a:rPr>
              <a:t>Vision models hallucinate charts.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94959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Prompt for figure-level citations and build a small chart-QA eval set before you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8CE6C9"/>
                </a:solidFill>
                <a:latin typeface="Calibri"/>
              </a:rPr>
              <a:t>Now open Session34_Multimodal_RAG_Practical.ipynb.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