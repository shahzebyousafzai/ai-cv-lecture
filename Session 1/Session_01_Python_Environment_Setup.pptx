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73152"/>
            <a:ext cx="365760" cy="49971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85800"/>
            <a:ext cx="155448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85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 Your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Environment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50292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63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 |  Conda  |  uv  |  Requirements Files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 --  Foundation Series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202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247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29768" y="17099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venv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" y="2148840"/>
            <a:ext cx="17007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228600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-- zero install!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60120"/>
            <a:ext cx="19202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1247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78608" y="17099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78608" y="2148840"/>
            <a:ext cx="17007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2578608" y="228600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package &amp;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manager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&amp; Data Science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192024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11247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27448" y="17099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27448" y="2148840"/>
            <a:ext cx="17007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228600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modern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Rust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96012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96012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876288" y="11247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876288" y="17099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Req. Files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76288" y="2148840"/>
            <a:ext cx="17007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228600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reproducing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environment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team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Virtual Environments?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needs  numpy 1.21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470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needs  numpy 1.26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39319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786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installed globally  ==&gt;  CONFLICT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62272" y="749808"/>
            <a:ext cx="27432" cy="3931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286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1316736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11155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gets its own isolated environment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84708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048256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102352" y="18470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 has its own packages and exact versions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57860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2779776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25786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share environments with teammates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310128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3511296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3101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interference with system-wide Python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One virtual environment per project -- always!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venv -- Create &amp; Activate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(no install)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ships with Python 3.3+ -- no installation required!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1 -- Check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2697480" cy="28346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81328"/>
            <a:ext cx="54864" cy="2834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00200"/>
            <a:ext cx="24963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Python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Python 3.11.x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pip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--version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9748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14300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2 -- Create Environment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81328"/>
            <a:ext cx="2697480" cy="28346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81328"/>
            <a:ext cx="54864" cy="2834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600200"/>
            <a:ext cx="24963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env named 'myenv'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specific Python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python3.11 -m venv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 a myenv/ folder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its own Python + pip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69748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14300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3 -- Activate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481328"/>
            <a:ext cx="2697480" cy="28346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481328"/>
            <a:ext cx="54864" cy="2834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00200"/>
            <a:ext cx="24963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/ Linux: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myenv/bin/activate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(CMD):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myenv\Scripts\activate.bat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myenv\Scripts\Activate.ps1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 shows: (myenv)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To deactivate the environment, type  deactivate  in your terminal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venv -- Installing Packages with pip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Installing Packages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685032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685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IMPORTANT: activate venv first!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 specific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numpy==1.26.4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multiple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pandas matplotlib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Upgrade a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--upgrade numpy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installed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 Requirements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28803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2880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all packages + versions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requirements.txt content: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numpy==1.26.4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pandas==2.2.0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matplotlib==3.8.3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opencv-python==4.9.0.80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from requirements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133088"/>
            <a:ext cx="4114800" cy="6675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133088"/>
            <a:ext cx="3840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</a:t>
            </a:r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activate your venv before running pip install -- this ensures packages go into your project environment, not the global Python installation.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 -- Overview &amp; Installation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Required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Conda?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225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both packages AND environments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865376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288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Python, R, and other languages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468880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43230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non-Python deps (CUDA, C libraries)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3072384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0358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Machine Learning &amp; AI projects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675888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6393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flavors: Anaconda (full) &amp; Miniconda (lean)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777240"/>
            <a:ext cx="20116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896112"/>
            <a:ext cx="15544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896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252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Miniconda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185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installer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587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990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only what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3924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22008" y="7772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22008" y="777240"/>
            <a:ext cx="201168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7013448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Anaconda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13448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13448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distribution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13448" y="22494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packages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13448" y="2651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4114800"/>
            <a:ext cx="420624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11480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Miniconda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4453128"/>
            <a:ext cx="4206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453128"/>
            <a:ext cx="54864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4572000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https://docs.conda.io/en/latest/miniconda.html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 -- Create &amp; Manage Environments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&amp; Activate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5661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566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specific Python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myenv python=3.11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packages at creation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cvenv python=3.11 numpy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Activate the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Deactivate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deactivate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 Environments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5661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566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your environments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conda info --envs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packages in active 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list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an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remove -n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an existing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newenv --clone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current Python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Conda environments are stored globally (in your Miniconda folder) -- NOT inside your project directory!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 -- Installing Packages &amp; Exporting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 install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2918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install numpy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specific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install numpy=1.26.0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the conda-forge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install -c conda-forge opencv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multiple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install numpy pandas matplotlib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for a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search tensorflow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&amp; Reproduce Environment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 full environment to 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export &gt; environment.yml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environment.yml content: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name: myenv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conda-forge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defaults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dependencies: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python=3.11.0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numpy=1.26.0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pandas=2.2.0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env from the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create -f environment.yml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544568"/>
            <a:ext cx="411480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44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vs pip:  </a:t>
            </a:r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conda install when available. Use pip inside conda envs only as a fallback.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 -- Modern Python Package Manager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10-100x Faster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" y="896112"/>
            <a:ext cx="6583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896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243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Blazing Fast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6184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Rust -- 10-100x faster than pip for installs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8880" y="7772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7772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578608" y="896112"/>
            <a:ext cx="6583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2578608" y="896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1243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16184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files ensure identical environments across machines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7772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7772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4727448" y="896112"/>
            <a:ext cx="6583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896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1243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Manager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16184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download &amp; manage different Python versions too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6560" y="7772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7772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Shape 24"/>
          <p:cNvSpPr/>
          <p:nvPr/>
        </p:nvSpPr>
        <p:spPr>
          <a:xfrm>
            <a:off x="6876288" y="896112"/>
            <a:ext cx="65836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896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ALL-IN-1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1243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All-in-One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6184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pip, venv, pip-tools, and more in one tool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2697480"/>
            <a:ext cx="850392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69748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035808"/>
            <a:ext cx="4114800" cy="14630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035808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154680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/ Linux (recommended)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-LsSf https://astral.sh/uv/install.sh | 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installation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--version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035808"/>
            <a:ext cx="4114800" cy="14630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035808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154680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-c "irm https://astral.sh/uv/install.ps1 | iex"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Any platform (via pip)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uv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 https://docs.astral.sh/uv/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 -- Create Environments &amp; Install Packages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Environments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61188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virtual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a custom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myenv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a specific Python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--python 3.11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Activate (same as standard venv)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myenv/bin/activate  # macOS/Linux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myenv\Scripts\activate     # Windows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Deactivate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Packages (drop-in for pip)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61188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numpy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specific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numpy==1.26.4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multiple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numpy pandas opencv-python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from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freeze &gt;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846320"/>
            <a:ext cx="8503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46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pip is a drop-in replacement for pip -- same commands, dramatically faster performance!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Files -- Sharing Your Environment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requirements.txt  (pip / uv)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61188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with pip or uv: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freeze &gt;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requirements.txt content 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numpy==1.26.4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pandas==2.2.0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matplotlib==3.8.3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opencv-python==4.9.0.80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torch==2.2.0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from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requirements.txt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environment.yml  (Conda)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61188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with conda: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export &gt; environment.yml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environment.yml content 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myenv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conda-forge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defaults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python=3.11.0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numpy=1.26.0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pandas=2.2.0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env from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create -f environment.yml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846320"/>
            <a:ext cx="8503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46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 Always commit your requirements.txt or environment.yml to version control (Git)!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Comparison -- venv vs Conda vs uv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9768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venv + pip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Conda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uv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installation?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(built-in)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Non-Python deps?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(CUDA,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sharing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environment.yml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Python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ML, DS, CUDA setups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modern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73152"/>
            <a:ext cx="365760" cy="49971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85800"/>
            <a:ext cx="155448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85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Refresher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0292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|  Control Flow  |  Functions  |  Data Structures  |  Libraries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508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1408" y="3794760"/>
            <a:ext cx="1508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794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85616" y="3794760"/>
            <a:ext cx="1508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794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9824" y="3794760"/>
            <a:ext cx="1508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794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14032" y="3794760"/>
            <a:ext cx="1508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3794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Python for Computer Vision &amp; 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&amp; Data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Python Types in 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Numeric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= 25          #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= 98.6        #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 = 255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Text (strings)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= "Alice"     # 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 = 'cat'       # str (both quotes ok)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is_trained = True    # bool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is_done    = 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the type of any variable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     # &lt;class 'int'&gt;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print(type(name))    # &lt;class 'str'&gt;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conversion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int("42")    # 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float(5)     # 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str(100)     # "100"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Reference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70432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261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16093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8836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 -3,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432304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432304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25237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28712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145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3.14, -0.5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694176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694176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3785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73168" y="4133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4407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"hello", 'world'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93992" y="1170432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93992" y="1170432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261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16093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values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18836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True, False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93992" y="2432304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93992" y="2432304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5237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28712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changeable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3145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93992" y="3694176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93992" y="3694176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3785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4133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4407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{"a": 1}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Flow -- if / elif / else &amp; Loops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Conditionals (if / elif / else)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85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A")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75: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B")  # this runs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60: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C")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F")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Comparison operators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  !=  &gt;  &lt;  &gt;=  &lt;=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Logical operators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 or  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 60 and score &lt; 100: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print("Valid score")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One-line ternary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"Pass" if score &gt;= 60 else "Fail"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 (for / while)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loop over a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       # 0,1,2,3,4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over a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 = ["cat", "dog", "bird"]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img in images: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print("Processing:", img)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with 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img in enumerate(images):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img)  # 0 cat, 1 dog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 3: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break (stop) &amp; continue (skip)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5: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% 2: continue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   # prints 0, 2,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 Indentation (4 spaces) is mandatory in Python -- it defines code blocks, not curly braces!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-- Writing Reusable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&amp; Calling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print("Hello,", name)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greet("Alice")   # Hello, Alice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return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add(3, 4)  # result = 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argument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power(base, exp=2):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** exp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power(3)     # 9   (exp defaults to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power(2, 8)  # 256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-- short one-liners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**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print(square(5))   # 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Patterns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multiple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min_max(nums):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min(nums), max(nums)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min_max([3, 1, 7, 2])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 = 1, hi = 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*args -- variable number of args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total(*numbers):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sum(numbers)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total(1, 2, 3, 4)   # 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**kwargs -- keyword arguments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describe(**info):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v in info.items():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print(k, ":", v)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describe(name="Alice", age=25)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Docstring -- document your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resize(img, size=(224, 224)):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"""Resize an image to given size."""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 Write small functions that do ONE thing. Use clear names: load_image()  not  do_stuff()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Data Structures -- Lists &amp; Dictionaries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 [ ]  -- ordered, mutable sequence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  = [255, 128, 64, 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 = ["cat", "dog", "bird"]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Indexing (starts at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pixels[0]    # 255  (first)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pixels[-1]   # 0    (last)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Slicing  [start : end : step]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pixels[1:3]  # [128, 64]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pixels[::2]  # [255, 64]  (every 2nd)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pixels.append(200)      # add to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pixels.insert(0, 255)   # insert at idx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pixels.remove(64)       # remove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pixels.pop()            # remove last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Useful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len(pixels)    #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sorted(pixels) # sorted copy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 in pixels  # True/False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  { }  -- key-value pairs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dictionary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"Alice",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 : 25,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"city": "London"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person["name"]           # 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person.get("age", 0)     # 25 (safe)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/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person["job"] = "Engineer"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person["age"] = 26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through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 in person.items():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print(key, ":", val)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Useful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person.keys()    # all keys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person.values()  # all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 in person # True/False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 tuple ( ) is like a list but immutable -- great for fixed data like image dimensions: (1920, 1080, 3)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Comprehensions &amp; Useful Built-ins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Comprehensions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Traditional way (verbose)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range(6):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squares.append(x **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1, 4, 9, 16, 25]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Comprehension -- same result, 1 line!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[x**2 for x in range(6)]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a filter condition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[x for x in range(10) if x%2==0]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4, 6, 8]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example: normalize pixel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 = [0, 64, 128, 255]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normed = [p / 255.0 for p in pixels]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[0.0, 0.251, 0.502, 1.0]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 comprehension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{"cat": 0, "dog": 1}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 = {v: k for k, v in labels.items()}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{0: 'cat', 1: 'dog'}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Built-in Functions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[3, 1, 4, 1, 5, 9, 2, 6]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len(nums)         # 8  --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sum(nums)         # 31 --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min(nums)         # 1  -- smallest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max(nums)         # 9  -- largest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sorted(nums)      # sorted copy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list(reversed(nums))  # reversed copy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enumerate -- loop with 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v in enumerate(nums):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v)   # 0 3 | 1 1 |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zip -- pair two lists together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 = ["cat", "dog", "bird"]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[0.9,   0.7,   0.95]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zip(names, scores):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score)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range(5)         # 0 1 2 3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range(2, 10, 2)  # 2 4 6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range(10, 0, -1) # 10 9 8 ...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are used everywhere in NumPy and CV code -- get comfortable with them early!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Importing Libraries -- The Python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Syntax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136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entire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math.sqrt(16)   # 4.0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with alias (very common in CV/AI!)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specific function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sqrt, 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sqrt(25)   # 5.0 (no math. prefix needed)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multiple items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os.path import join, exists, dirname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Wildcard (avoid in production!)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math import *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 put imports at the TOP of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 We Will Use in This Course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07008"/>
            <a:ext cx="64008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618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numerical computation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12140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21408"/>
            <a:ext cx="640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1762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1762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video 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3580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35808"/>
            <a:ext cx="6400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906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456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0906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&amp; image display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95020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950208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0050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370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40050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4663440"/>
            <a:ext cx="41148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imports go at the TOP of every Python file!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1168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1 -- Environment Setup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993392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19933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" y="1252728"/>
            <a:ext cx="86868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252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60020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zero install. Perfect for simple Python projects.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6312" y="1143000"/>
            <a:ext cx="1993392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143000"/>
            <a:ext cx="199339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1252728"/>
            <a:ext cx="86868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252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60020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+ env manager. Best for ML/AI with CUDA deps.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72584" y="1143000"/>
            <a:ext cx="1993392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1143000"/>
            <a:ext cx="1993392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4782312" y="1252728"/>
            <a:ext cx="86868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1252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160020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10-100x faster pip. Modern &amp; drop-in compatible.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48856" y="1143000"/>
            <a:ext cx="1993392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1143000"/>
            <a:ext cx="199339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958584" y="125272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1252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Files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58584" y="160020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or environment.yml -- always commit!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450592"/>
            <a:ext cx="228600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2 -- Python Refresher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788920"/>
            <a:ext cx="1627632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788920"/>
            <a:ext cx="162763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2898648"/>
            <a:ext cx="14447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8986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2461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bool, list, dict, tuple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57400" y="2788920"/>
            <a:ext cx="1627632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57400" y="2788920"/>
            <a:ext cx="162763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2148840" y="2898648"/>
            <a:ext cx="14447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2148840" y="28986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Flow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48840" y="32461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if/elif/else, for, while, break, continue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94760" y="2788920"/>
            <a:ext cx="1627632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4760" y="2788920"/>
            <a:ext cx="162763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3886200" y="2898648"/>
            <a:ext cx="14447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3886200" y="28986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86200" y="32461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return, defaults, lambda, *args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32120" y="2788920"/>
            <a:ext cx="1627632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2120" y="2788920"/>
            <a:ext cx="162763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Shape 44"/>
          <p:cNvSpPr/>
          <p:nvPr/>
        </p:nvSpPr>
        <p:spPr>
          <a:xfrm>
            <a:off x="5623560" y="2898648"/>
            <a:ext cx="14447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5623560" y="28986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32461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(mutable), Dicts (key-value), Tuples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69480" y="2788920"/>
            <a:ext cx="1627632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69480" y="2788920"/>
            <a:ext cx="162763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Shape 49"/>
          <p:cNvSpPr/>
          <p:nvPr/>
        </p:nvSpPr>
        <p:spPr>
          <a:xfrm>
            <a:off x="7360920" y="2898648"/>
            <a:ext cx="14447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7360920" y="28986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60920" y="32461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cv2, matplotlib, torch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Introduction to OpenCV + Image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Scientific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in Python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1645920" cy="3291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2918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SESSION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14173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914400"/>
            <a:ext cx="14173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972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NumPy?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07808" y="914400"/>
            <a:ext cx="14173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914400"/>
            <a:ext cx="1417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699248" y="10972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Arrays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14173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48840"/>
            <a:ext cx="1417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331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Properties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07808" y="2148840"/>
            <a:ext cx="14173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7808" y="2148840"/>
            <a:ext cx="1417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699248" y="2331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Operations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383280"/>
            <a:ext cx="14173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383280"/>
            <a:ext cx="14173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566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07808" y="3383280"/>
            <a:ext cx="14173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808" y="3383280"/>
            <a:ext cx="1417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7699248" y="3566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Reshape &amp; Stack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NumPy?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3840480" cy="3017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List -- 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33856"/>
            <a:ext cx="3840480" cy="21488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33856"/>
            <a:ext cx="54864" cy="2148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52728"/>
            <a:ext cx="363931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Pure Python -- slow for math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[1, 2, 3, 4, 5]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Must loop to do math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data: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result.append(x * 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Verbose, slow with big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401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41071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loops process one element at a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39896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7398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74904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Verbose: simple math needs many 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4078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408736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math functions (mean, std...)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777240"/>
            <a:ext cx="384048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777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-- The Solution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133856"/>
            <a:ext cx="3840480" cy="21488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133856"/>
            <a:ext cx="54864" cy="2148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252728"/>
            <a:ext cx="363931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NumPy -- fast &amp; concise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np.array([1, 2, 3, 4, 5])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Vectorized -- no loops!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data *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Rich math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np.mean(data)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41985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10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100x faster than pure Python loops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375818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749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Concise: one line replaces a whole loop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409651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4087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NumPy, OpenCV, PyTorch, scikit-learn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NumPy operations run in optimized C under the hood -- orders of magnitude faster than Python loops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NumPy Arrays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33856"/>
            <a:ext cx="4160520" cy="21488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33856"/>
            <a:ext cx="54864" cy="2148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52728"/>
            <a:ext cx="39593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a Python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2D array (matrix)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2], [3, 4]])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Specify data 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np.array([1, 2, 3], dtype=float)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416052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38328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Generators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4160520" cy="896112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749040"/>
            <a:ext cx="54864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6791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np.zeros((3, 3))    # all zeros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np.ones((2, 4))     # all 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np.eye(3)           # identity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np.full((2,2), 7)   # filled with 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Ranges &amp; Random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133856"/>
            <a:ext cx="4160520" cy="30632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133856"/>
            <a:ext cx="54864" cy="3063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252728"/>
            <a:ext cx="395935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Like Python range()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np.arange(0, 10,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[0, 2, 4, 6, 8]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evenly spaced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np.linspace(0, 1, 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[0.0, 0.25, 0.5, 0.75, 1.0]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 values [0,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np.random.rand(3, 3)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 integers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np.random.randint(0, 255, (4, 4))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np.random.randint(0, 255, (h, w)) is how you simulate a grayscale image as a NumPy array!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Properties &amp; Indexing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384048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Inspecting Arrays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33856"/>
            <a:ext cx="384048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33856"/>
            <a:ext cx="54864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52728"/>
            <a:ext cx="36393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 2, 3],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[4, 5, 6]])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a.shape   # (2, 3)  -- rows x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a.ndim    # 2       -- dimensions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a.size    # 6       -- total elements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a.dtype   # int64   -- data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182880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316382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33649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of dimensions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(2, 3) = 2 rows, 3 cols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3127248"/>
            <a:ext cx="182880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316382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9152" y="33649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of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int64, float32, bool...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182880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89534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.ndim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" y="40965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dimensions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1D, 2D, 3D arrays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3858768"/>
            <a:ext cx="182880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389534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59152" y="40965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x cols x depth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777240"/>
            <a:ext cx="434340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77724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&amp; Slicing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1133856"/>
            <a:ext cx="434340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1133856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1252728"/>
            <a:ext cx="41422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np.array([[10, 20, 30],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[40, 50, 60],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[70, 80, 90]])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a[0, 2]       # -&gt;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a[1][2]       # -&gt; 60  (same)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Slicing (like Python lists)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a[0, :]       # -&gt; [10, 20, 30]  (row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a[:, 1]       # -&gt; [20, 50, 80]  (col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a[0:2, 0:2]   # -&gt; top-left 2x2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Boolean mask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a[a &gt; 50]     # -&gt; [60, 70, 80, 90]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Computer Vision: a 640x480 color image = array with shape (480, 640, 3) -- height x width x channels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Operations &amp; Broadcasting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Element-wise Operations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33856"/>
            <a:ext cx="4160520" cy="28803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33856"/>
            <a:ext cx="54864" cy="2880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52728"/>
            <a:ext cx="395935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np.array([10, 20, 30])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np.array([1,  2,  3])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   # -&gt; [11, 22, 33]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    # -&gt; [ 9, 18, 27]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    # -&gt; [10, 40, 90]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 b    # -&gt; [10.0, 10.0, 10.0]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** 2   # -&gt; [100, 400, 900]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Math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np.sqrt(a)   # -&gt; [3.16, 4.47, 5.47]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np.exp(b)    # -&gt; [2.71, 7.38, 20.08]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np.log(a)    # -&gt; [2.30, 2.99, 3.40]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-- Scalar &amp; Shapes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33856"/>
            <a:ext cx="4160520" cy="28803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33856"/>
            <a:ext cx="54864" cy="2880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252728"/>
            <a:ext cx="395935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Scalar operation (broadcast)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+ 10      # -&gt; [11, 12, 13, 14]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2       # -&gt; [ 2,  4,  6,  8]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Matrix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np.array([[1,2],[3,4]])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np.array([[5,6],[7,8]])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      # element-wise 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       # element-wise multiply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   # matrix multiply (dot)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np.dot(A,B) # same as A @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14800"/>
            <a:ext cx="416052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1148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Broadcast -- One number applied to all elements -- no loop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0"/>
            <a:ext cx="416052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41148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Multiply (@) -- Use @ or np.dot() for dot products and matrix math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CV: pixel brightness = image_array / 255.0  normalizes the whole image -- no loop, one line!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&amp; Statistical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Functions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33856"/>
            <a:ext cx="4160520" cy="31089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33856"/>
            <a:ext cx="54864" cy="3108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52728"/>
            <a:ext cx="39593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np.array([[3, 7, 1],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[4, 9, 2],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[8, 5, 6]])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np.sum(data)       # 45  (all elements)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np.mean(data)      # 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np.std(data)       # standard deviation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np.min(data)       #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np.max(data)       #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np.argmin(data)    # index of minimum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np.argmax(data)    # index of maximum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np.median(data)    # 5.0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Axis-based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33856"/>
            <a:ext cx="4160520" cy="310896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33856"/>
            <a:ext cx="54864" cy="3108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252728"/>
            <a:ext cx="39593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np.array([[1, 2, 3],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[4, 5, 6]])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axis=0 --&gt; operate DOWN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np.sum(data, axis=0)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[5, 7, 9]  (column sums)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axis=1 --&gt; operate ACROSS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np.sum(data, axis=1)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[6, 15]    (row sums)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np.mean(data, axis=0) # col means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np.max(data, axis=1)  # row maxes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315968"/>
            <a:ext cx="1993392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" y="43159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np.sum()  Total sum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96312" y="4315968"/>
            <a:ext cx="1993392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2551176" y="43159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np.mean()  Average value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72584" y="4315968"/>
            <a:ext cx="1993392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43159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np.std()  Std deviation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48856" y="4315968"/>
            <a:ext cx="1993392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3159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np.argmax()  Index of max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Use Case: np.mean(image, axis=2) averages color channels to convert RGB to grayscale in one line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Reshaping &amp; Array Manipulation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Reshape, Flatten &amp; Transpose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33856"/>
            <a:ext cx="416052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33856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52728"/>
            <a:ext cx="395935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np.arange(12)  # [0..11]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Reshape to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a.reshape(3, 4)  # 3x4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a.reshape(2, 6)  # 2x6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a.reshape(3, -1) # auto cols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Flatten back to 1D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m.flatten()          # [0,1,2...11]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m.ravel()            # same (no copy)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Transpose (swap axes)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m.T                  # flip rows/cols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np.transpose(m)      # same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Stack, Concat &amp; Split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33856"/>
            <a:ext cx="4160520" cy="340156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33856"/>
            <a:ext cx="54864" cy="3401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252728"/>
            <a:ext cx="395935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np.array([4, 5, 6])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vertically (new rows)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np.vstack([a, b])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[[1,2,3],[4,5,6]]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horizontally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np.hstack([a, b])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[1, 2, 3, 4, 5, 6]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Concatenate along axis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np.concatenate([a, b], axis=0)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into parts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np.split(a, 3)   # 3 equal parts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Use: image.reshape(-1, 3) flattens pixel positions while keeping RGB channels -- useful for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-- Quick Reference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697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13232"/>
            <a:ext cx="26974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822960"/>
            <a:ext cx="82296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22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1704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np.array(), np.zeros(), np.ones(),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np.arange(), np.linspace(), np.random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13232"/>
            <a:ext cx="2697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713232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822960"/>
            <a:ext cx="8229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822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1704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.shape, .dtype, .ndim, .size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 before you use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713232"/>
            <a:ext cx="2697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713232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0488" y="822960"/>
            <a:ext cx="82296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822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1704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a[0,1]  a[:,1]  a[0:2,0:2]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masks: a[a &gt; 50]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340864"/>
            <a:ext cx="2697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340864"/>
            <a:ext cx="2697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" y="2450592"/>
            <a:ext cx="82296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279806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/  **  np.sqrt  np.exp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element-wise, no loops needed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340864"/>
            <a:ext cx="2697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340864"/>
            <a:ext cx="26974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10128" y="2450592"/>
            <a:ext cx="82296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279806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  np.mean  np.std  np.min/max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axis= to operate on rows or cols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340864"/>
            <a:ext cx="2697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340864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190488" y="2450592"/>
            <a:ext cx="8229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279806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 flatten  .T  vstack  hstack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array shape freely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Introduction to OpenCV + Image Processing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Your Python Environment</dc:title>
  <dc:subject>PptxGenJS Presentation</dc:subject>
  <dc:creator>Shah</dc:creator>
  <cp:lastModifiedBy>Shah</cp:lastModifiedBy>
  <cp:revision>1</cp:revision>
  <dcterms:created xsi:type="dcterms:W3CDTF">2026-04-07T15:20:13Z</dcterms:created>
  <dcterms:modified xsi:type="dcterms:W3CDTF">2026-04-07T15:20:13Z</dcterms:modified>
</cp:coreProperties>
</file>