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7878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" name="Text 2"/>
          <p:cNvSpPr/>
          <p:nvPr/>
        </p:nvSpPr>
        <p:spPr>
          <a:xfrm>
            <a:off x="5212080" y="3035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 — per-object masks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502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86868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02920" y="2542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semantic per-pixel labels to per-object masks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02920" y="3611880"/>
            <a:ext cx="36576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611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" y="38221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Hands-On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108960" y="3611880"/>
            <a:ext cx="36576" cy="8686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3611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91840" y="3822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Instance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Core CV Tasks   |   Week 8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82DCE6-1E91-29EF-6B89-C3E0A8E4B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700" y="868680"/>
            <a:ext cx="2871249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25272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1247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Segmentation?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classification, real-world tasks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96012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960120"/>
            <a:ext cx="64008" cy="1143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1252728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1252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715000" y="112471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Flavours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15544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vs Instance vs Panoptic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267712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267712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25603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243230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 — Fully Convolutional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28620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classification CNN to dense prediction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267712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267712"/>
            <a:ext cx="64008" cy="1143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0" y="256032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715000" y="243230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Architecture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15000" y="286207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+ skip connections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575304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575304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3867912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280160" y="37398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80160" y="41696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instance segmentation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575304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575304"/>
            <a:ext cx="64008" cy="1143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0" y="3867912"/>
            <a:ext cx="548640" cy="5486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867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715000" y="3739896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 &amp; Hands-On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715000" y="41696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instance seg + Ultralytics quickstart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CV Task Hierarchy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19933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1993392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914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148132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image?"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2148840"/>
            <a:ext cx="1536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24028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21208" y="2423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 per image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" y="3246120"/>
            <a:ext cx="153619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3246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(0.97)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96312" y="914400"/>
            <a:ext cx="19933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96312" y="914400"/>
            <a:ext cx="199339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2587752" y="914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33472" y="148132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where?"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24912" y="2148840"/>
            <a:ext cx="1536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224028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33472" y="2423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+ label per object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24912" y="3246120"/>
            <a:ext cx="153619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3246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dog, bike, truck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914400"/>
            <a:ext cx="19933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08576" y="914400"/>
            <a:ext cx="199339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700016" y="914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45736" y="148132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class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each pixel?"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37176" y="2148840"/>
            <a:ext cx="1536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45736" y="224028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45736" y="2423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class map (no IDs)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37176" y="3246120"/>
            <a:ext cx="153619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37176" y="3246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mask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914400"/>
            <a:ext cx="199339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20840" y="914400"/>
            <a:ext cx="1993392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91440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58000" y="1481328"/>
            <a:ext cx="1719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object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this pixel?"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949440" y="2148840"/>
            <a:ext cx="15361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2240280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58000" y="2423160"/>
            <a:ext cx="1719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+ instance ID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3246120"/>
            <a:ext cx="1536192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32461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dog1, dog2 separate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4048" y="4370832"/>
            <a:ext cx="8366760" cy="457200"/>
          </a:xfrm>
          <a:prstGeom prst="roundRect">
            <a:avLst>
              <a:gd name="adj" fmla="val 12000"/>
            </a:avLst>
          </a:prstGeom>
          <a:solidFill>
            <a:srgbClr val="0F2747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adds spatial precision: image → boxes → pixel classes → object identity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Image Segmentation?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40233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64008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Pixel-Wise Classification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class label to </a:t>
            </a:r>
            <a:r>
              <a:rPr lang="en-US" sz="13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pixel</a:t>
            </a: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input image.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19456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77824" y="2130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130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image  (H × W × 3)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7004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26060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 (H × W) — class ID per pixel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4553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77824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3081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 ground-truth mask exactly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210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77824" y="35570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35570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boundaries, occlusion, scale variance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79418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766560" y="914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 rot="5400000">
            <a:off x="6647688" y="1874520"/>
            <a:ext cx="146304" cy="128016"/>
          </a:xfrm>
          <a:prstGeom prst="line">
            <a:avLst/>
          </a:prstGeom>
          <a:solidFill>
            <a:srgbClr val="0D9488"/>
          </a:solidFill>
          <a:ln/>
        </p:spPr>
      </p:sp>
      <p:sp>
        <p:nvSpPr>
          <p:cNvPr id="29" name="Text 25"/>
          <p:cNvSpPr/>
          <p:nvPr/>
        </p:nvSpPr>
        <p:spPr>
          <a:xfrm>
            <a:off x="4617720" y="283464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01EC8AD-03E0-894A-4F7B-D511CF753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943" y="1233058"/>
            <a:ext cx="1840970" cy="121753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1F392B1-1918-626E-BE21-20E4648A0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5356" y="1250608"/>
            <a:ext cx="1840969" cy="119998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85AEA67-274E-3802-C9F5-550F4F674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7267" y="3100613"/>
            <a:ext cx="2227146" cy="14713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Flavours of Segmentation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27889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27889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950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" y="11887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per pixel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66928" y="301752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105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sheeps</a:t>
            </a: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one colour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labelled by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 identity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U-Net, FCN, DeepLab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82696" y="914400"/>
            <a:ext cx="27889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82696" y="914400"/>
            <a:ext cx="2788920" cy="5029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Text 13"/>
          <p:cNvSpPr/>
          <p:nvPr/>
        </p:nvSpPr>
        <p:spPr>
          <a:xfrm>
            <a:off x="3419856" y="950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419856" y="11887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object ID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465576" y="301752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sheep gets its own mask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objects too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stuff (sky, road)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Mask R-CNN, YOLOv8-seg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81344" y="914400"/>
            <a:ext cx="27889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81344" y="914400"/>
            <a:ext cx="2788920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18"/>
          <p:cNvSpPr/>
          <p:nvPr/>
        </p:nvSpPr>
        <p:spPr>
          <a:xfrm>
            <a:off x="6318504" y="95097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Panoptic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318504" y="118872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000" dirty="0"/>
          </a:p>
        </p:txBody>
      </p:sp>
      <p:pic>
        <p:nvPicPr>
          <p:cNvPr id="24" name="Image 2" descr="/sessions/cool-beautiful-archimedes/mnt/outputs/session11_images/street_semantic_overla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18504" y="1554480"/>
            <a:ext cx="2514600" cy="13716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64224" y="3017520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→ instance masks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Stuff → semantic regions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single label map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Mask2Former, Panoptic FPN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84048" y="4645152"/>
            <a:ext cx="8366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Panoptic blends both — "things" (countable objects) get instance masks; "stuff" (road, sky) gets semantic regions.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D488A2D-DEDB-12CB-04F3-B2BEFC973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85" y="1845853"/>
            <a:ext cx="2579446" cy="98878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9BD931D-B730-DA68-7945-4CDF6F4B1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1845853"/>
            <a:ext cx="2572279" cy="9887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Segmentation is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914400"/>
            <a:ext cx="64008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Shape 8"/>
          <p:cNvSpPr/>
          <p:nvPr/>
        </p:nvSpPr>
        <p:spPr>
          <a:xfrm>
            <a:off x="594360" y="11887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16736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143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Tumour &amp; organ delineation in MRI/CT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914400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00600" y="914400"/>
            <a:ext cx="64008" cy="1143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6" name="Shape 13"/>
          <p:cNvSpPr/>
          <p:nvPr/>
        </p:nvSpPr>
        <p:spPr>
          <a:xfrm>
            <a:off x="5029200" y="118872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1316736"/>
            <a:ext cx="338328" cy="33832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760720" y="1143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Driving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760720" y="1508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lane / pedestrian per-pixel map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" y="2221992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" y="2221992"/>
            <a:ext cx="64008" cy="1143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18"/>
          <p:cNvSpPr/>
          <p:nvPr/>
        </p:nvSpPr>
        <p:spPr>
          <a:xfrm>
            <a:off x="594360" y="2496312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624328"/>
            <a:ext cx="338328" cy="33832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32588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&amp; Aerial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1325880" y="28163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Land-use, buildings, deforestation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800600" y="2221992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800600" y="2221992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3"/>
          <p:cNvSpPr/>
          <p:nvPr/>
        </p:nvSpPr>
        <p:spPr>
          <a:xfrm>
            <a:off x="5029200" y="2496312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2624328"/>
            <a:ext cx="338328" cy="33832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76072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760720" y="28163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vs weed; yield estimation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65760" y="3529584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3529584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8"/>
          <p:cNvSpPr/>
          <p:nvPr/>
        </p:nvSpPr>
        <p:spPr>
          <a:xfrm>
            <a:off x="594360" y="3803904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3931920"/>
            <a:ext cx="338328" cy="33832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325880" y="37581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&amp; Photo Editing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325880" y="41239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Portrait mode, background removal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800600" y="3529584"/>
            <a:ext cx="40690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800600" y="3529584"/>
            <a:ext cx="64008" cy="11430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Shape 33"/>
          <p:cNvSpPr/>
          <p:nvPr/>
        </p:nvSpPr>
        <p:spPr>
          <a:xfrm>
            <a:off x="5029200" y="3803904"/>
            <a:ext cx="594360" cy="59436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7216" y="3931920"/>
            <a:ext cx="338328" cy="33832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760720" y="375818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QC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5760720" y="412394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on manufacturing lines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Per-pixel class labels — FCN &amp; U-Net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1264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MRI — multi-class semantic mask</a:t>
            </a:r>
            <a:endParaRPr lang="en-US" sz="1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888CCD9-5EBF-AFA3-0DD6-446080F14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05694"/>
            <a:ext cx="2082394" cy="25106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Classification CNN to FCN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41148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4114800" cy="411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914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  ·  Classification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554480"/>
            <a:ext cx="320040" cy="1280160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3000" y="1554480"/>
            <a:ext cx="320040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1691640"/>
            <a:ext cx="32004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1828800"/>
            <a:ext cx="32004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1737360"/>
            <a:ext cx="3200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1737360"/>
            <a:ext cx="32004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0" y="1737360"/>
            <a:ext cx="320040" cy="91440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880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layers destroy spatial info — output is one label only.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05840"/>
            <a:ext cx="320040" cy="3200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4636008" y="914400"/>
            <a:ext cx="4160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36008" y="914400"/>
            <a:ext cx="41605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0" y="9144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  ·  Fully Convolutional Network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864608" y="1554480"/>
            <a:ext cx="365760" cy="1280160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7316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413248" y="1691640"/>
            <a:ext cx="3657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2180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Conv↓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61888" y="1828800"/>
            <a:ext cx="3657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7044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Conv↓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510528" y="1965960"/>
            <a:ext cx="36576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1908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1×1 Conv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7059168" y="1828800"/>
            <a:ext cx="3657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6772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Upsample↑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607808" y="1691640"/>
            <a:ext cx="3657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1636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Upsample↑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8156448" y="1554480"/>
            <a:ext cx="365760" cy="128016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65008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754880" y="310896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FCs with 1×1 conv → encoder shrinks features, decoder upsamples back to image size.</a:t>
            </a:r>
            <a:endParaRPr lang="en-US" sz="1100" dirty="0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005840"/>
            <a:ext cx="320040" cy="320040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384048" y="4297680"/>
            <a:ext cx="8412480" cy="502920"/>
          </a:xfrm>
          <a:prstGeom prst="roundRect">
            <a:avLst>
              <a:gd name="adj" fmla="val 10909"/>
            </a:avLst>
          </a:prstGeom>
          <a:solidFill>
            <a:srgbClr val="0F2747"/>
          </a:solidFill>
          <a:ln/>
        </p:spPr>
      </p:sp>
      <p:sp>
        <p:nvSpPr>
          <p:cNvPr id="47" name="Text 4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convolutions preserve spatial layout — keep them all the way through.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 + SKIP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80160"/>
            <a:ext cx="38404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690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×572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435608" y="1554480"/>
            <a:ext cx="384048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2728" y="3794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×284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31136" y="1828800"/>
            <a:ext cx="38404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48256" y="35204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×140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26664" y="2103120"/>
            <a:ext cx="384048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43784" y="3246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×68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22192" y="2331720"/>
            <a:ext cx="45720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90872" y="2103120"/>
            <a:ext cx="384048" cy="109728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324612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×68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0" y="1828800"/>
            <a:ext cx="384048" cy="164592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35204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×140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281928" y="1554480"/>
            <a:ext cx="384048" cy="219456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379476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×284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77456" y="1280160"/>
            <a:ext cx="384048" cy="2743200"/>
          </a:xfrm>
          <a:prstGeom prst="rect">
            <a:avLst/>
          </a:prstGeom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94576" y="406908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×572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024128" y="1243584"/>
            <a:ext cx="6053328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819656" y="1517904"/>
            <a:ext cx="4462272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dash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615184" y="1792224"/>
            <a:ext cx="2871216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10712" y="2066544"/>
            <a:ext cx="1280160" cy="0"/>
          </a:xfrm>
          <a:prstGeom prst="line">
            <a:avLst/>
          </a:prstGeom>
          <a:noFill/>
          <a:ln w="15875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40080" y="868680"/>
            <a:ext cx="7232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connections (concat) 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" y="4370832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840480" y="4370832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4370832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84048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carry high-resolution detail from encoder → decoder, recovering precise boundaries.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U-Net Works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+ USE CASE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64008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= WHAT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1417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features capture class identity, but lose location.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10312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2103120"/>
            <a:ext cx="64008" cy="1051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= WHERE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Upsamples step-by-step back to input resolution.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291840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29184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= DETAIL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" y="3794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path for fine edges from encoder to decoder.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914400"/>
            <a:ext cx="42519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914400"/>
            <a:ext cx="64008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Use Case  ·  Biomedical Imaging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63440" y="1325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was born in 2015 for cell segmentation (Ronneberger et al.)</a:t>
            </a:r>
            <a:endParaRPr lang="en-US" sz="1050" dirty="0"/>
          </a:p>
        </p:txBody>
      </p:sp>
      <p:pic>
        <p:nvPicPr>
          <p:cNvPr id="24" name="Image 0" descr="/sessions/cool-beautiful-archimedes/mnt/outputs/session11_images/cells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783080"/>
            <a:ext cx="1920240" cy="1920240"/>
          </a:xfrm>
          <a:prstGeom prst="rect">
            <a:avLst/>
          </a:prstGeom>
        </p:spPr>
      </p:pic>
      <p:pic>
        <p:nvPicPr>
          <p:cNvPr id="25" name="Image 1" descr="/sessions/cool-beautiful-archimedes/mnt/outputs/session11_images/cells_mas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0840" y="1783080"/>
            <a:ext cx="1920240" cy="192024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6344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(microscopy)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720840" y="3703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MASK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663440" y="40233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ISBI 2015 cell-tracking challenge by a large margin — trained on only 30 images using strong augmentation.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&amp;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EVAL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914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188720"/>
            <a:ext cx="4114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188720"/>
            <a:ext cx="64008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261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554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per-pixel classification loss.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" y="2029968"/>
            <a:ext cx="4114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2029968"/>
            <a:ext cx="64008" cy="71323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Loss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23957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Overlap-based — robust to class imbalance.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871216"/>
            <a:ext cx="4114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2871216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2369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pixels — focuses on hard cases.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3712464"/>
            <a:ext cx="4114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712464"/>
            <a:ext cx="64008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85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(CE+Dice)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078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practical default in medical seg.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36008" y="9144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6008" y="1188720"/>
            <a:ext cx="416052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129844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 =  |A ∩ B|  /  |A ∪ B|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18888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 =  2 · |A ∩ B|  /  ( |A| + |B| 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18888" y="19933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predicted mask     B = ground-truth mask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22677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range 0 → 1. Dice ≈ 2·IoU / (1 + IoU).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36008" y="2697480"/>
            <a:ext cx="202996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36008" y="2697480"/>
            <a:ext cx="64008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4773168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mIoU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73168" y="30632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IoU over all classes — the gold standard for semantic seg.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57416" y="2697480"/>
            <a:ext cx="2039112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757416" y="2697480"/>
            <a:ext cx="64008" cy="10058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720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Accuracy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0372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correct/total. Misleading when classes are imbalanced.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36008" y="3794760"/>
            <a:ext cx="41605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166360" y="3977640"/>
            <a:ext cx="1097280" cy="548640"/>
          </a:xfrm>
          <a:prstGeom prst="rect">
            <a:avLst/>
          </a:prstGeom>
          <a:solidFill>
            <a:srgbClr val="0D9488">
              <a:alpha val="65000"/>
            </a:srgbClr>
          </a:solidFill>
          <a:ln w="15875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669280" y="4069080"/>
            <a:ext cx="1097280" cy="548640"/>
          </a:xfrm>
          <a:prstGeom prst="rect">
            <a:avLst/>
          </a:prstGeom>
          <a:solidFill>
            <a:srgbClr val="E11D48">
              <a:alpha val="65000"/>
            </a:srgbClr>
          </a:solidFill>
          <a:ln w="15875">
            <a:solidFill>
              <a:srgbClr val="E11D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8221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84848" y="4617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4023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 →  numerator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315200" y="4370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 →  denominator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 masks — Mask R-CNN &amp; YOLOv8-seg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57178" y="31318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gets its own mask &amp; ID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F3F056-CC5D-2416-F6D7-3C1C30AB48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58"/>
          <a:stretch>
            <a:fillRect/>
          </a:stretch>
        </p:blipFill>
        <p:spPr>
          <a:xfrm>
            <a:off x="4206240" y="1417320"/>
            <a:ext cx="4553636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— The Idea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INSTANCE SEG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26DC056-CC11-BB4A-9D08-3516C16904C3}"/>
              </a:ext>
            </a:extLst>
          </p:cNvPr>
          <p:cNvGrpSpPr/>
          <p:nvPr/>
        </p:nvGrpSpPr>
        <p:grpSpPr>
          <a:xfrm>
            <a:off x="661930" y="1136792"/>
            <a:ext cx="7820140" cy="2869917"/>
            <a:chOff x="18288" y="914400"/>
            <a:chExt cx="7820140" cy="286991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E291B03-3981-2892-ABD5-3BB57BB87821}"/>
                </a:ext>
              </a:extLst>
            </p:cNvPr>
            <p:cNvGrpSpPr/>
            <p:nvPr/>
          </p:nvGrpSpPr>
          <p:grpSpPr>
            <a:xfrm>
              <a:off x="18288" y="914400"/>
              <a:ext cx="2836657" cy="2869917"/>
              <a:chOff x="18288" y="914400"/>
              <a:chExt cx="2836657" cy="2869917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18288" y="914400"/>
                <a:ext cx="2783695" cy="286991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  <a:prstDash val="solid"/>
              </a:ln>
              <a:effectLst>
                <a:outerShdw blurRad="101600" dist="2540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9" name="Shape 7"/>
              <p:cNvSpPr/>
              <p:nvPr/>
            </p:nvSpPr>
            <p:spPr>
              <a:xfrm>
                <a:off x="24819" y="914400"/>
                <a:ext cx="45719" cy="2869917"/>
              </a:xfrm>
              <a:prstGeom prst="rect">
                <a:avLst/>
              </a:prstGeom>
              <a:solidFill>
                <a:srgbClr val="6366F1"/>
              </a:solidFill>
              <a:ln/>
            </p:spPr>
          </p:sp>
          <p:sp>
            <p:nvSpPr>
              <p:cNvPr id="10" name="Text 8"/>
              <p:cNvSpPr/>
              <p:nvPr/>
            </p:nvSpPr>
            <p:spPr>
              <a:xfrm>
                <a:off x="182880" y="1051560"/>
                <a:ext cx="2598115" cy="25111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Start with: Faster R-CNN</a:t>
                </a:r>
                <a:endParaRPr lang="en-US" sz="14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182880" y="1371600"/>
                <a:ext cx="2598115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Two-stage object detector you already know:</a:t>
                </a:r>
                <a:endParaRPr lang="en-US" sz="1050" dirty="0"/>
              </a:p>
            </p:txBody>
          </p:sp>
          <p:sp>
            <p:nvSpPr>
              <p:cNvPr id="12" name="Shape 10"/>
              <p:cNvSpPr/>
              <p:nvPr/>
            </p:nvSpPr>
            <p:spPr>
              <a:xfrm>
                <a:off x="228601" y="1856232"/>
                <a:ext cx="74232" cy="86097"/>
              </a:xfrm>
              <a:prstGeom prst="ellipse">
                <a:avLst/>
              </a:prstGeom>
              <a:solidFill>
                <a:srgbClr val="6366F1"/>
              </a:solidFill>
              <a:ln/>
            </p:spPr>
          </p:sp>
          <p:sp>
            <p:nvSpPr>
              <p:cNvPr id="13" name="Text 11"/>
              <p:cNvSpPr/>
              <p:nvPr/>
            </p:nvSpPr>
            <p:spPr>
              <a:xfrm>
                <a:off x="411480" y="1783080"/>
                <a:ext cx="2443465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Backbone CNN extracts features</a:t>
                </a:r>
                <a:endParaRPr lang="en-US" sz="1100" dirty="0"/>
              </a:p>
            </p:txBody>
          </p:sp>
          <p:sp>
            <p:nvSpPr>
              <p:cNvPr id="14" name="Shape 12"/>
              <p:cNvSpPr/>
              <p:nvPr/>
            </p:nvSpPr>
            <p:spPr>
              <a:xfrm>
                <a:off x="228601" y="2240280"/>
                <a:ext cx="74232" cy="86097"/>
              </a:xfrm>
              <a:prstGeom prst="ellipse">
                <a:avLst/>
              </a:prstGeom>
              <a:solidFill>
                <a:srgbClr val="6366F1"/>
              </a:solidFill>
              <a:ln/>
            </p:spPr>
          </p:sp>
          <p:sp>
            <p:nvSpPr>
              <p:cNvPr id="15" name="Text 13"/>
              <p:cNvSpPr/>
              <p:nvPr/>
            </p:nvSpPr>
            <p:spPr>
              <a:xfrm>
                <a:off x="411480" y="2167128"/>
                <a:ext cx="2443465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RPN proposes regions of interest</a:t>
                </a:r>
                <a:endParaRPr lang="en-US" sz="1100" dirty="0"/>
              </a:p>
            </p:txBody>
          </p:sp>
          <p:sp>
            <p:nvSpPr>
              <p:cNvPr id="16" name="Shape 14"/>
              <p:cNvSpPr/>
              <p:nvPr/>
            </p:nvSpPr>
            <p:spPr>
              <a:xfrm>
                <a:off x="228601" y="2624328"/>
                <a:ext cx="74232" cy="86097"/>
              </a:xfrm>
              <a:prstGeom prst="ellipse">
                <a:avLst/>
              </a:prstGeom>
              <a:solidFill>
                <a:srgbClr val="6366F1"/>
              </a:solidFill>
              <a:ln/>
            </p:spPr>
          </p:sp>
          <p:sp>
            <p:nvSpPr>
              <p:cNvPr id="17" name="Text 15"/>
              <p:cNvSpPr/>
              <p:nvPr/>
            </p:nvSpPr>
            <p:spPr>
              <a:xfrm>
                <a:off x="411480" y="2551176"/>
                <a:ext cx="2443465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RoI pooling → fixed-size features</a:t>
                </a:r>
                <a:endParaRPr lang="en-US" sz="1100" dirty="0"/>
              </a:p>
            </p:txBody>
          </p:sp>
          <p:sp>
            <p:nvSpPr>
              <p:cNvPr id="18" name="Shape 16"/>
              <p:cNvSpPr/>
              <p:nvPr/>
            </p:nvSpPr>
            <p:spPr>
              <a:xfrm>
                <a:off x="228601" y="3008376"/>
                <a:ext cx="74232" cy="86097"/>
              </a:xfrm>
              <a:prstGeom prst="ellipse">
                <a:avLst/>
              </a:prstGeom>
              <a:solidFill>
                <a:srgbClr val="6366F1"/>
              </a:solidFill>
              <a:ln/>
            </p:spPr>
          </p:sp>
          <p:sp>
            <p:nvSpPr>
              <p:cNvPr id="19" name="Text 17"/>
              <p:cNvSpPr/>
              <p:nvPr/>
            </p:nvSpPr>
            <p:spPr>
              <a:xfrm>
                <a:off x="411480" y="2935224"/>
                <a:ext cx="2443465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Heads predict: class + box offset</a:t>
                </a:r>
                <a:endParaRPr lang="en-US" sz="110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182880" y="3364992"/>
                <a:ext cx="2598115" cy="2869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i="1" dirty="0">
                    <a:solidFill>
                      <a:srgbClr val="6366F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Output: bounding boxes + class labels</a:t>
                </a:r>
                <a:endParaRPr lang="en-US" sz="1100" dirty="0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E8BCAE72-7E49-CCF8-526C-29A25B951513}"/>
                </a:ext>
              </a:extLst>
            </p:cNvPr>
            <p:cNvGrpSpPr/>
            <p:nvPr/>
          </p:nvGrpSpPr>
          <p:grpSpPr>
            <a:xfrm>
              <a:off x="3699756" y="2120758"/>
              <a:ext cx="457200" cy="457200"/>
              <a:chOff x="4297680" y="2560320"/>
              <a:chExt cx="457200" cy="45720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4297680" y="2560320"/>
                <a:ext cx="457200" cy="457200"/>
              </a:xfrm>
              <a:prstGeom prst="ellipse">
                <a:avLst/>
              </a:prstGeom>
              <a:solidFill>
                <a:srgbClr val="0F2747"/>
              </a:solidFill>
              <a:ln/>
            </p:spPr>
          </p:sp>
          <p:sp>
            <p:nvSpPr>
              <p:cNvPr id="22" name="Text 20"/>
              <p:cNvSpPr/>
              <p:nvPr/>
            </p:nvSpPr>
            <p:spPr>
              <a:xfrm>
                <a:off x="4297680" y="2560320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+</a:t>
                </a:r>
                <a:endParaRPr lang="en-US" sz="2000" dirty="0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AA65A71-0038-7602-E63C-5B6D6D2D1F0E}"/>
                </a:ext>
              </a:extLst>
            </p:cNvPr>
            <p:cNvGrpSpPr/>
            <p:nvPr/>
          </p:nvGrpSpPr>
          <p:grpSpPr>
            <a:xfrm>
              <a:off x="5001768" y="914400"/>
              <a:ext cx="2836660" cy="2869917"/>
              <a:chOff x="5001768" y="914400"/>
              <a:chExt cx="2836660" cy="2869917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5001768" y="914400"/>
                <a:ext cx="2783695" cy="286991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8F0"/>
                </a:solidFill>
                <a:prstDash val="solid"/>
              </a:ln>
              <a:effectLst>
                <a:outerShdw blurRad="101600" dist="25400" dir="54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24" name="Shape 22"/>
              <p:cNvSpPr/>
              <p:nvPr/>
            </p:nvSpPr>
            <p:spPr>
              <a:xfrm>
                <a:off x="5001768" y="914400"/>
                <a:ext cx="45719" cy="2869917"/>
              </a:xfrm>
              <a:prstGeom prst="rect">
                <a:avLst/>
              </a:prstGeom>
              <a:solidFill>
                <a:srgbClr val="E11D48"/>
              </a:solidFill>
              <a:ln/>
            </p:spPr>
          </p:sp>
          <p:sp>
            <p:nvSpPr>
              <p:cNvPr id="25" name="Text 23"/>
              <p:cNvSpPr/>
              <p:nvPr/>
            </p:nvSpPr>
            <p:spPr>
              <a:xfrm>
                <a:off x="5166360" y="1051560"/>
                <a:ext cx="2598119" cy="2511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400" b="1" dirty="0">
                    <a:solidFill>
                      <a:srgbClr val="1E29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Add: Mask Head</a:t>
                </a:r>
                <a:endParaRPr lang="en-US" sz="140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5166360" y="1371601"/>
                <a:ext cx="2598117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050" i="1" dirty="0">
                    <a:solidFill>
                      <a:srgbClr val="64748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Small FCN that predicts a binary mask per RoI:</a:t>
                </a:r>
                <a:endParaRPr lang="en-US" sz="1050" dirty="0"/>
              </a:p>
            </p:txBody>
          </p:sp>
          <p:sp>
            <p:nvSpPr>
              <p:cNvPr id="27" name="Shape 25"/>
              <p:cNvSpPr/>
              <p:nvPr/>
            </p:nvSpPr>
            <p:spPr>
              <a:xfrm>
                <a:off x="5212081" y="1856233"/>
                <a:ext cx="74232" cy="86098"/>
              </a:xfrm>
              <a:prstGeom prst="ellipse">
                <a:avLst/>
              </a:prstGeom>
              <a:solidFill>
                <a:srgbClr val="E11D48"/>
              </a:solidFill>
              <a:ln/>
            </p:spPr>
          </p:sp>
          <p:sp>
            <p:nvSpPr>
              <p:cNvPr id="28" name="Text 26"/>
              <p:cNvSpPr/>
              <p:nvPr/>
            </p:nvSpPr>
            <p:spPr>
              <a:xfrm>
                <a:off x="5394960" y="1783081"/>
                <a:ext cx="2443468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Parallel to the box/class heads</a:t>
                </a:r>
                <a:endParaRPr lang="en-US" sz="1100" dirty="0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5212081" y="2240281"/>
                <a:ext cx="74232" cy="86098"/>
              </a:xfrm>
              <a:prstGeom prst="ellipse">
                <a:avLst/>
              </a:prstGeom>
              <a:solidFill>
                <a:srgbClr val="E11D48"/>
              </a:solidFill>
              <a:ln/>
            </p:spPr>
          </p:sp>
          <p:sp>
            <p:nvSpPr>
              <p:cNvPr id="30" name="Text 28"/>
              <p:cNvSpPr/>
              <p:nvPr/>
            </p:nvSpPr>
            <p:spPr>
              <a:xfrm>
                <a:off x="5394960" y="2167129"/>
                <a:ext cx="2443468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Outputs K × m × m masks (one per class)</a:t>
                </a:r>
                <a:endParaRPr lang="en-US" sz="1100" dirty="0"/>
              </a:p>
            </p:txBody>
          </p:sp>
          <p:sp>
            <p:nvSpPr>
              <p:cNvPr id="31" name="Shape 29"/>
              <p:cNvSpPr/>
              <p:nvPr/>
            </p:nvSpPr>
            <p:spPr>
              <a:xfrm>
                <a:off x="5212081" y="2624329"/>
                <a:ext cx="74232" cy="86098"/>
              </a:xfrm>
              <a:prstGeom prst="ellipse">
                <a:avLst/>
              </a:prstGeom>
              <a:solidFill>
                <a:srgbClr val="E11D48"/>
              </a:solidFill>
              <a:ln/>
            </p:spPr>
          </p:sp>
          <p:sp>
            <p:nvSpPr>
              <p:cNvPr id="32" name="Text 30"/>
              <p:cNvSpPr/>
              <p:nvPr/>
            </p:nvSpPr>
            <p:spPr>
              <a:xfrm>
                <a:off x="5394960" y="2551177"/>
                <a:ext cx="2443468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Uses RoIAlign instead of RoIPool (key!)</a:t>
                </a:r>
                <a:endParaRPr lang="en-US" sz="1100" dirty="0"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5212081" y="3008377"/>
                <a:ext cx="74232" cy="86098"/>
              </a:xfrm>
              <a:prstGeom prst="ellipse">
                <a:avLst/>
              </a:prstGeom>
              <a:solidFill>
                <a:srgbClr val="E11D48"/>
              </a:solidFill>
              <a:ln/>
            </p:spPr>
          </p:sp>
          <p:sp>
            <p:nvSpPr>
              <p:cNvPr id="34" name="Text 32"/>
              <p:cNvSpPr/>
              <p:nvPr/>
            </p:nvSpPr>
            <p:spPr>
              <a:xfrm>
                <a:off x="5394960" y="2935225"/>
                <a:ext cx="2443468" cy="2152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dirty="0">
                    <a:solidFill>
                      <a:srgbClr val="37415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Trained with per-pixel binary CE loss</a:t>
                </a:r>
                <a:endParaRPr lang="en-US" sz="110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5166361" y="3364992"/>
                <a:ext cx="2598112" cy="28699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i="1" dirty="0">
                    <a:solidFill>
                      <a:srgbClr val="E11D4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Output: pixel-perfect mask per object</a:t>
                </a:r>
                <a:endParaRPr lang="en-US" sz="1100" dirty="0"/>
              </a:p>
            </p:txBody>
          </p:sp>
        </p:grpSp>
      </p:grpSp>
      <p:sp>
        <p:nvSpPr>
          <p:cNvPr id="36" name="Shape 34"/>
          <p:cNvSpPr/>
          <p:nvPr/>
        </p:nvSpPr>
        <p:spPr>
          <a:xfrm>
            <a:off x="384048" y="4617720"/>
            <a:ext cx="8412480" cy="292608"/>
          </a:xfrm>
          <a:prstGeom prst="roundRect">
            <a:avLst>
              <a:gd name="adj" fmla="val 12500"/>
            </a:avLst>
          </a:prstGeom>
          <a:solidFill>
            <a:srgbClr val="0F274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= Faster R-CNN  +  per-RoI mask branch  ·  He et al., 2017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 ·  Architecture Walk-through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6366F1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(ResNet+FPN)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2103120" y="1673352"/>
            <a:ext cx="274320" cy="228600"/>
          </a:xfrm>
          <a:prstGeom prst="line">
            <a:avLst/>
          </a:prstGeom>
          <a:solidFill>
            <a:srgbClr val="0F2747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2801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0D948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069080" y="1673352"/>
            <a:ext cx="274320" cy="228600"/>
          </a:xfrm>
          <a:prstGeom prst="line">
            <a:avLst/>
          </a:prstGeom>
          <a:solidFill>
            <a:srgbClr val="0F2747"/>
          </a:solidFill>
          <a:ln/>
        </p:spPr>
      </p:sp>
      <p:sp>
        <p:nvSpPr>
          <p:cNvPr id="14" name="Shape 12"/>
          <p:cNvSpPr/>
          <p:nvPr/>
        </p:nvSpPr>
        <p:spPr>
          <a:xfrm>
            <a:off x="4434840" y="12801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RoIAlign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(7×7 / 14×14)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5400000">
            <a:off x="6035040" y="1673352"/>
            <a:ext cx="274320" cy="228600"/>
          </a:xfrm>
          <a:prstGeom prst="line">
            <a:avLst/>
          </a:prstGeom>
          <a:solidFill>
            <a:srgbClr val="0F2747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128016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E11D48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12801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2606040"/>
            <a:ext cx="429768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" y="2606040"/>
            <a:ext cx="64008" cy="2148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97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RoIAlign matters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01752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RoIPool snaps RoI boundaries to integer feature-map coordinates — fine for boxes, but those quantisation errors shift pixel-perfect masks. RoIAlign uses bilinear interpolation instead, preserving sub-pixel alignment between the RoI and the mask.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OUTPUT HEADS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92608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9260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2926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K+1 classes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52044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5204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BBox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0" y="35204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offsets per anchor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11480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1148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41148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× m × m binary mask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  ·  One-Stage Instance Seg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+ UNIFIED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411480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64008" cy="3657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detection head + prototype masks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YOLACT — separate the “what” and the “where”: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194767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83794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+ FPN —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feature extractor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4505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4086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head —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boxes + class + k mask coefficients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95351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84378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branch —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k full-resolution prototype masks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45643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4670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— 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mask = Σ coef·prototype, cropped by box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one forward pass — far faster than Mask R-CNN.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36008" y="914400"/>
            <a:ext cx="416052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result + masks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18888" y="379476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10B981">
              <a:alpha val="9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818888" y="3794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58968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17336" y="379476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6366F1">
              <a:alpha val="9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117336" y="3794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57416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415784" y="379476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E11D48">
              <a:alpha val="9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7415784" y="3794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055864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818888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instance masks  ·  inference ~6 ms (yolov8n-seg, GPU)</a:t>
            </a:r>
            <a:endParaRPr lang="en-US" sz="10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827EE6B-17DB-B56C-4BCE-D7D09A378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702" y="1486127"/>
            <a:ext cx="2875318" cy="21483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vs YOLOv8-seg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914400"/>
          <a:ext cx="84124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R-CNN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YOLOv8-seg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1D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 (detect → mask)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One-stage  (joint prediction)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 (~5 fps @ 1024)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 (60+ fps @ 640)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(COCO)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mask 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Competitive, slightly lower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Crisp boundaries  (RoIAlign)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but lower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data needs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 (with augmentation)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detectron2 / mmdetection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ultralytics (one-line API)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Offline analysis, 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apps, 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4048" y="4736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choose Mask R-CNN when accuracy and tooling matter; choose YOLOv8-seg when speed and simplicity win.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 ·  Hands-on Today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914400"/>
            <a:ext cx="41605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4048" y="914400"/>
            <a:ext cx="64008" cy="3703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  ·  Ultralytics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417320"/>
            <a:ext cx="3886200" cy="3108960"/>
          </a:xfrm>
          <a:prstGeom prst="rect">
            <a:avLst/>
          </a:prstGeom>
          <a:solidFill>
            <a:srgbClr val="0819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5087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ultralytics import YOLO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pretrained instance-seg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YOLO('yolov8n-seg.pt')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 = model('dog_bike_car.jpg')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visualise masks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results[0].show()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on custom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model.train(data='dataset.yaml',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epochs=50, imgsz=640)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6008" y="914400"/>
            <a:ext cx="41605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914400"/>
            <a:ext cx="64008" cy="370332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4818888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 ·  torchvision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18888" y="1417320"/>
            <a:ext cx="3886200" cy="3108960"/>
          </a:xfrm>
          <a:prstGeom prst="rect">
            <a:avLst/>
          </a:prstGeom>
          <a:solidFill>
            <a:srgbClr val="081930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50876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torch, torchvision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torchvision.models.detection import \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maskrcnn_resnet50_fpn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maskrcnn_resnet50_fpn(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weights='DEFAULT').eval()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= read_image('dog_bike_car.jpg')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model([img / 255.0])[0]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masks = pred['masks']    # N×1×H×W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boxes = pred['boxes']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pred['scores']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69480" y="1645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274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7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11  |  Image Segmentation  |  Phase 3 — Core CV Tasks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9144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1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2529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= per-pixel classification</a:t>
            </a:r>
            <a:endParaRPr lang="en-US" sz="11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36776"/>
            <a:ext cx="201168" cy="2011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1600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vs Instance vs Panoptic</a:t>
            </a:r>
            <a:endParaRPr lang="en-US" sz="11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048256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FCN — replace FC with 1×1 conv + upsample</a:t>
            </a:r>
            <a:endParaRPr lang="en-US" sz="11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45973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3232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— encoder–decoder + skip connections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71216"/>
            <a:ext cx="20116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13232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&amp; metrics: Dice, IoU, mIoU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28269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13232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— two-stage with mask head</a:t>
            </a:r>
            <a:endParaRPr lang="en-US" sz="11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694176"/>
            <a:ext cx="201168" cy="20116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13232" y="3657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YOLOv8-seg — one-stage, real-time</a:t>
            </a:r>
            <a:endParaRPr lang="en-US" sz="1150" dirty="0"/>
          </a:p>
        </p:txBody>
      </p:sp>
      <p:sp>
        <p:nvSpPr>
          <p:cNvPr id="23" name="Text 14"/>
          <p:cNvSpPr/>
          <p:nvPr/>
        </p:nvSpPr>
        <p:spPr>
          <a:xfrm>
            <a:off x="4636008" y="91440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4636008" y="1188720"/>
            <a:ext cx="4160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4636008" y="118872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17"/>
          <p:cNvSpPr/>
          <p:nvPr/>
        </p:nvSpPr>
        <p:spPr>
          <a:xfrm>
            <a:off x="4818888" y="12801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— Keypoint &amp; Pose Estimation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4818888" y="16093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+ YOLOv8-pose overview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4636008" y="2194560"/>
            <a:ext cx="4160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4636008" y="21945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1"/>
          <p:cNvSpPr/>
          <p:nvPr/>
        </p:nvSpPr>
        <p:spPr>
          <a:xfrm>
            <a:off x="4818888" y="22860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13 — OCR &amp; Text Detection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4818888" y="261518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/ EasyOCR / TrOCR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636008" y="3200400"/>
            <a:ext cx="41605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636008" y="3200400"/>
            <a:ext cx="64008" cy="86868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4" name="Text 25"/>
          <p:cNvSpPr/>
          <p:nvPr/>
        </p:nvSpPr>
        <p:spPr>
          <a:xfrm>
            <a:off x="4818888" y="3291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(this session)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4818888" y="362102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train U-Net on cells + run YOLOv8-seg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384048" y="4434840"/>
            <a:ext cx="8412480" cy="365760"/>
          </a:xfrm>
          <a:prstGeom prst="roundRect">
            <a:avLst>
              <a:gd name="adj" fmla="val 15000"/>
            </a:avLst>
          </a:prstGeom>
          <a:solidFill>
            <a:srgbClr val="0F2747"/>
          </a:solidFill>
          <a:ln/>
        </p:spPr>
      </p:sp>
      <p:sp>
        <p:nvSpPr>
          <p:cNvPr id="37" name="Text 2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picture: segmentation moves us from "what's there" to exactly "where" — pixel-perfect.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1689</Words>
  <Application>Microsoft Office PowerPoint</Application>
  <PresentationFormat>On-screen Show (16:9)</PresentationFormat>
  <Paragraphs>361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11 — Image Segmentation</dc:title>
  <dc:subject>PptxGenJS Presentation</dc:subject>
  <dc:creator>AI &amp; CV Training</dc:creator>
  <cp:lastModifiedBy>Shah Zeb</cp:lastModifiedBy>
  <cp:revision>2</cp:revision>
  <dcterms:created xsi:type="dcterms:W3CDTF">2026-05-15T18:10:16Z</dcterms:created>
  <dcterms:modified xsi:type="dcterms:W3CDTF">2026-05-15T18:26:02Z</dcterms:modified>
</cp:coreProperties>
</file>