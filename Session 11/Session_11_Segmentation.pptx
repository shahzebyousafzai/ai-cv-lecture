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9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0"/>
            <a:ext cx="45720" cy="514350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4" name="Image 0" descr="/sessions/cool-beautiful-archimedes/mnt/outputs/session11_images/dbc_instance_overl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0" y="640080"/>
            <a:ext cx="3566160" cy="2377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12080" y="30358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segmentation — per-object masks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502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86868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502920" y="25420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semantic per-pixel labels to per-object masks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" y="3611880"/>
            <a:ext cx="36576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7"/>
          <p:cNvSpPr/>
          <p:nvPr/>
        </p:nvSpPr>
        <p:spPr>
          <a:xfrm>
            <a:off x="685800" y="36118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85800" y="382219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+ Hands-On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108960" y="3611880"/>
            <a:ext cx="36576" cy="86868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3" name="Text 10"/>
          <p:cNvSpPr/>
          <p:nvPr/>
        </p:nvSpPr>
        <p:spPr>
          <a:xfrm>
            <a:off x="3291840" y="3611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291840" y="38221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+ Instance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0292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— Core CV Tasks   |   Week 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60120"/>
            <a:ext cx="64008" cy="11430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1252728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252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11247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Segmentation?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15544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Per-pixel classification, real-world tasks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960120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00600" y="960120"/>
            <a:ext cx="64008" cy="11430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6" name="Shape 14"/>
          <p:cNvSpPr/>
          <p:nvPr/>
        </p:nvSpPr>
        <p:spPr>
          <a:xfrm>
            <a:off x="5029200" y="1252728"/>
            <a:ext cx="548640" cy="5486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1252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715000" y="112471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Flavours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715000" y="15544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vs Instance vs Panoptic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267712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267712"/>
            <a:ext cx="64008" cy="1143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2560320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280160" y="2432304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 — Fully Convolutional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28620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classification CNN to dense prediction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00600" y="2267712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00600" y="2267712"/>
            <a:ext cx="64008" cy="1143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Shape 26"/>
          <p:cNvSpPr/>
          <p:nvPr/>
        </p:nvSpPr>
        <p:spPr>
          <a:xfrm>
            <a:off x="5029200" y="25603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715000" y="2432304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Architecture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715000" y="28620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Encoder–decoder + skip connections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3575304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65760" y="3575304"/>
            <a:ext cx="64008" cy="11430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4" name="Shape 32"/>
          <p:cNvSpPr/>
          <p:nvPr/>
        </p:nvSpPr>
        <p:spPr>
          <a:xfrm>
            <a:off x="594360" y="3867912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867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280160" y="37398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R-CNN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280160" y="416966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instance segmentation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800600" y="3575304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800600" y="3575304"/>
            <a:ext cx="64008" cy="11430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0" name="Shape 38"/>
          <p:cNvSpPr/>
          <p:nvPr/>
        </p:nvSpPr>
        <p:spPr>
          <a:xfrm>
            <a:off x="5029200" y="3867912"/>
            <a:ext cx="548640" cy="5486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41" name="Text 39"/>
          <p:cNvSpPr/>
          <p:nvPr/>
        </p:nvSpPr>
        <p:spPr>
          <a:xfrm>
            <a:off x="5029200" y="38679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5715000" y="37398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YOLOv8-seg &amp; Hands-On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5715000" y="416966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One-stage instance seg + Ultralytics quickstart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CV Task Hierarchy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199339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914400"/>
            <a:ext cx="1993392" cy="4572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91440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1208" y="1481328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image?"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" y="2148840"/>
            <a:ext cx="15361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" y="2240280"/>
            <a:ext cx="1719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21208" y="24231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label per image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" y="3246120"/>
            <a:ext cx="1536192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" y="324612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 (0.97)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96312" y="914400"/>
            <a:ext cx="199339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96312" y="914400"/>
            <a:ext cx="199339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9" name="Text 17"/>
          <p:cNvSpPr/>
          <p:nvPr/>
        </p:nvSpPr>
        <p:spPr>
          <a:xfrm>
            <a:off x="2587752" y="91440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33472" y="1481328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where?"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24912" y="2148840"/>
            <a:ext cx="15361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33472" y="2240280"/>
            <a:ext cx="1719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633472" y="24231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+ label per object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24912" y="3246120"/>
            <a:ext cx="1536192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24912" y="324612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dog, bike, truck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08576" y="914400"/>
            <a:ext cx="199339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08576" y="914400"/>
            <a:ext cx="1993392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4700016" y="91440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Seg.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745736" y="1481328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class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each pixel?"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37176" y="2148840"/>
            <a:ext cx="15361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45736" y="2240280"/>
            <a:ext cx="1719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45736" y="24231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Per-pixel class map (no IDs)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37176" y="3246120"/>
            <a:ext cx="1536192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37176" y="324612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pixel-wise mask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720840" y="914400"/>
            <a:ext cx="199339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720840" y="914400"/>
            <a:ext cx="1993392" cy="4572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6812280" y="91440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Seg.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858000" y="1481328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object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this pixel?"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949440" y="2148840"/>
            <a:ext cx="153619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0" y="2240280"/>
            <a:ext cx="1719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0" y="24231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Per-pixel + instance ID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949440" y="3246120"/>
            <a:ext cx="1536192" cy="502920"/>
          </a:xfrm>
          <a:prstGeom prst="roundRect">
            <a:avLst>
              <a:gd name="adj" fmla="val 14545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49440" y="3246120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dog1, dog2 separate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84048" y="4370832"/>
            <a:ext cx="8366760" cy="457200"/>
          </a:xfrm>
          <a:prstGeom prst="roundRect">
            <a:avLst>
              <a:gd name="adj" fmla="val 12000"/>
            </a:avLst>
          </a:prstGeom>
          <a:solidFill>
            <a:srgbClr val="0F2747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adds spatial precision: image → boxes → pixel classes → object identity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Image Segmentation?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40233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914400"/>
            <a:ext cx="64008" cy="3657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Pixel-Wise Classification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1463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class label to </a:t>
            </a:r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pixel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input image.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194560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2130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08760" y="2130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image  (H × W × 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670048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877824" y="2606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2606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 (H × W) — class ID per pixel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145536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877824" y="3081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08760" y="30815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 ground-truth mask exactly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3621024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877824" y="355701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08760" y="35570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boundaries, occlusion, scale variance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617720" y="914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900" dirty="0"/>
          </a:p>
        </p:txBody>
      </p:sp>
      <p:pic>
        <p:nvPicPr>
          <p:cNvPr id="25" name="Image 0" descr="/sessions/cool-beautiful-archimedes/mnt/outputs/session11_images/d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17720" y="1161288"/>
            <a:ext cx="2011680" cy="1554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766560" y="9144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</a:t>
            </a:r>
            <a:endParaRPr lang="en-US" sz="900" dirty="0"/>
          </a:p>
        </p:txBody>
      </p:sp>
      <p:pic>
        <p:nvPicPr>
          <p:cNvPr id="27" name="Image 1" descr="/sessions/cool-beautiful-archimedes/mnt/outputs/session11_images/dbc_seman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66560" y="1161288"/>
            <a:ext cx="2011680" cy="155448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 rot="5400000">
            <a:off x="6647688" y="1874520"/>
            <a:ext cx="146304" cy="128016"/>
          </a:xfrm>
          <a:prstGeom prst="rightTriangle">
            <a:avLst/>
          </a:prstGeom>
          <a:solidFill>
            <a:srgbClr val="0D9488"/>
          </a:solidFill>
          <a:ln/>
        </p:spPr>
      </p:sp>
      <p:sp>
        <p:nvSpPr>
          <p:cNvPr id="29" name="Text 25"/>
          <p:cNvSpPr/>
          <p:nvPr/>
        </p:nvSpPr>
        <p:spPr>
          <a:xfrm>
            <a:off x="4617720" y="2834640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</a:t>
            </a:r>
            <a:endParaRPr lang="en-US" sz="900" dirty="0"/>
          </a:p>
        </p:txBody>
      </p:sp>
      <p:pic>
        <p:nvPicPr>
          <p:cNvPr id="30" name="Image 2" descr="/sessions/cool-beautiful-archimedes/mnt/outputs/session11_images/dbc_semantic_overla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17720" y="3090672"/>
            <a:ext cx="4160520" cy="14813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Flavours of Segmentation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278892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914400"/>
            <a:ext cx="2788920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" y="95097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21208" y="118872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per pixel</a:t>
            </a:r>
            <a:endParaRPr lang="en-US" sz="1000" dirty="0"/>
          </a:p>
        </p:txBody>
      </p:sp>
      <p:pic>
        <p:nvPicPr>
          <p:cNvPr id="12" name="Image 0" descr="/sessions/cool-beautiful-archimedes/mnt/outputs/session11_images/street_semantic_overl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1208" y="1554480"/>
            <a:ext cx="2514600" cy="13716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66928" y="3017520"/>
            <a:ext cx="2423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cars share one colour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 labelled by category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object identity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U-Net, FCN, DeepLab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82696" y="914400"/>
            <a:ext cx="278892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82696" y="914400"/>
            <a:ext cx="2788920" cy="5029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6" name="Text 13"/>
          <p:cNvSpPr/>
          <p:nvPr/>
        </p:nvSpPr>
        <p:spPr>
          <a:xfrm>
            <a:off x="3419856" y="95097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419856" y="118872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+ object ID</a:t>
            </a:r>
            <a:endParaRPr lang="en-US" sz="1000" dirty="0"/>
          </a:p>
        </p:txBody>
      </p:sp>
      <p:pic>
        <p:nvPicPr>
          <p:cNvPr id="18" name="Image 1" descr="/sessions/cool-beautiful-archimedes/mnt/outputs/session11_images/street_instance_overla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19856" y="1554480"/>
            <a:ext cx="2514600" cy="13716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65576" y="3017520"/>
            <a:ext cx="2423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 gets its own mask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objects too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stuff (sky, road)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Mask R-CNN, YOLOv8-seg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181344" y="914400"/>
            <a:ext cx="278892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181344" y="914400"/>
            <a:ext cx="2788920" cy="5029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2" name="Text 18"/>
          <p:cNvSpPr/>
          <p:nvPr/>
        </p:nvSpPr>
        <p:spPr>
          <a:xfrm>
            <a:off x="6318504" y="95097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Panoptic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318504" y="1188720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</a:t>
            </a:r>
            <a:endParaRPr lang="en-US" sz="1000" dirty="0"/>
          </a:p>
        </p:txBody>
      </p:sp>
      <p:pic>
        <p:nvPicPr>
          <p:cNvPr id="24" name="Image 2" descr="/sessions/cool-beautiful-archimedes/mnt/outputs/session11_images/street_semantic_overla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18504" y="1554480"/>
            <a:ext cx="2514600" cy="13716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64224" y="3017520"/>
            <a:ext cx="2423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→ instance masks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Stuff → semantic regions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single label map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Mask2Former, Panoptic FPN</a:t>
            </a:r>
            <a:endParaRPr lang="en-US" sz="1050" dirty="0"/>
          </a:p>
        </p:txBody>
      </p:sp>
      <p:sp>
        <p:nvSpPr>
          <p:cNvPr id="26" name="Text 21"/>
          <p:cNvSpPr/>
          <p:nvPr/>
        </p:nvSpPr>
        <p:spPr>
          <a:xfrm>
            <a:off x="384048" y="4645152"/>
            <a:ext cx="8366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Panoptic blends both — "things" (countable objects) get instance masks; "stuff" (road, sky) gets semantic regions.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Segmentation is Used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64008" cy="11430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1188720"/>
            <a:ext cx="594360" cy="594360"/>
          </a:xfrm>
          <a:prstGeom prst="ellipse">
            <a:avLst/>
          </a:prstGeom>
          <a:solidFill>
            <a:srgbClr val="0D9488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316736"/>
            <a:ext cx="338328" cy="33832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25880" y="1143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Imaging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325880" y="15087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Tumour &amp; organ delineation in MRI/CT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800600" y="914400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00600" y="914400"/>
            <a:ext cx="64008" cy="11430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6" name="Shape 13"/>
          <p:cNvSpPr/>
          <p:nvPr/>
        </p:nvSpPr>
        <p:spPr>
          <a:xfrm>
            <a:off x="5029200" y="1188720"/>
            <a:ext cx="594360" cy="594360"/>
          </a:xfrm>
          <a:prstGeom prst="ellipse">
            <a:avLst/>
          </a:prstGeom>
          <a:solidFill>
            <a:srgbClr val="E11D4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216" y="1316736"/>
            <a:ext cx="338328" cy="3383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760720" y="1143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Driving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760720" y="15087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/ lane / pedestrian per-pixel map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365760" y="2221992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365760" y="2221992"/>
            <a:ext cx="64008" cy="11430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2" name="Shape 18"/>
          <p:cNvSpPr/>
          <p:nvPr/>
        </p:nvSpPr>
        <p:spPr>
          <a:xfrm>
            <a:off x="594360" y="2496312"/>
            <a:ext cx="594360" cy="594360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624328"/>
            <a:ext cx="338328" cy="33832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25880" y="24505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&amp; Aerial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1325880" y="2816352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Land-use, buildings, deforestation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800600" y="2221992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4800600" y="2221992"/>
            <a:ext cx="64008" cy="1143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Shape 23"/>
          <p:cNvSpPr/>
          <p:nvPr/>
        </p:nvSpPr>
        <p:spPr>
          <a:xfrm>
            <a:off x="5029200" y="2496312"/>
            <a:ext cx="594360" cy="594360"/>
          </a:xfrm>
          <a:prstGeom prst="ellipse">
            <a:avLst/>
          </a:prstGeom>
          <a:solidFill>
            <a:srgbClr val="10B981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216" y="2624328"/>
            <a:ext cx="338328" cy="33832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760720" y="245059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5760720" y="2816352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vs weed; yield estimation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365760" y="3529584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365760" y="3529584"/>
            <a:ext cx="64008" cy="1143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4" name="Shape 28"/>
          <p:cNvSpPr/>
          <p:nvPr/>
        </p:nvSpPr>
        <p:spPr>
          <a:xfrm>
            <a:off x="594360" y="3803904"/>
            <a:ext cx="594360" cy="59436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3931920"/>
            <a:ext cx="338328" cy="33832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325880" y="375818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&amp; Photo Editing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1325880" y="41239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Portrait mode, background removal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4800600" y="3529584"/>
            <a:ext cx="406908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800600" y="3529584"/>
            <a:ext cx="64008" cy="11430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40" name="Shape 33"/>
          <p:cNvSpPr/>
          <p:nvPr/>
        </p:nvSpPr>
        <p:spPr>
          <a:xfrm>
            <a:off x="5029200" y="3803904"/>
            <a:ext cx="594360" cy="59436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7216" y="3931920"/>
            <a:ext cx="338328" cy="338328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5760720" y="375818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QC</a:t>
            </a:r>
            <a:endParaRPr lang="en-US" sz="1400" dirty="0"/>
          </a:p>
        </p:txBody>
      </p:sp>
      <p:sp>
        <p:nvSpPr>
          <p:cNvPr id="43" name="Text 35"/>
          <p:cNvSpPr/>
          <p:nvPr/>
        </p:nvSpPr>
        <p:spPr>
          <a:xfrm>
            <a:off x="5760720" y="412394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detection on manufacturing lines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9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Per-pixel class labels — FCN &amp; U-Net</a:t>
            </a:r>
            <a:endParaRPr lang="en-US" sz="1600" dirty="0"/>
          </a:p>
        </p:txBody>
      </p:sp>
      <p:pic>
        <p:nvPicPr>
          <p:cNvPr id="6" name="Image 0" descr="/sessions/cool-beautiful-archimedes/mnt/outputs/session11_images/brain_overl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005840"/>
            <a:ext cx="2651760" cy="2651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3703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MRI — multi-class semantic mask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Classification CNN to FCN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41148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914400"/>
            <a:ext cx="4114800" cy="4114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914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CNN  ·  Classification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320040" cy="1280160"/>
          </a:xfrm>
          <a:prstGeom prst="rect">
            <a:avLst/>
          </a:prstGeom>
          <a:solidFill>
            <a:srgbClr val="6366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143000" y="1554480"/>
            <a:ext cx="320040" cy="128016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8803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645920" y="1691640"/>
            <a:ext cx="32004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54480" y="28803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148840" y="1828800"/>
            <a:ext cx="320040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57400" y="28803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651760" y="1737360"/>
            <a:ext cx="32004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0" y="28803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154680" y="1737360"/>
            <a:ext cx="32004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63240" y="28803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0" y="1737360"/>
            <a:ext cx="320040" cy="914400"/>
          </a:xfrm>
          <a:prstGeom prst="rect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88036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3246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 layers destroy spatial info — output is one label only.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1005840"/>
            <a:ext cx="320040" cy="32004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636008" y="914400"/>
            <a:ext cx="4160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636008" y="914400"/>
            <a:ext cx="416052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9144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  ·  Fully Convolutional Network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864608" y="1554480"/>
            <a:ext cx="365760" cy="1280160"/>
          </a:xfrm>
          <a:prstGeom prst="rect">
            <a:avLst/>
          </a:prstGeom>
          <a:solidFill>
            <a:srgbClr val="6366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73168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413248" y="1691640"/>
            <a:ext cx="36576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21808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Conv↓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1828800"/>
            <a:ext cx="365760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870448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Conv↓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510528" y="1965960"/>
            <a:ext cx="36576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19088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1×1 Conv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7059168" y="1828800"/>
            <a:ext cx="365760" cy="73152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967728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Upsample↑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7607808" y="1691640"/>
            <a:ext cx="365760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16368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Upsample↑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8156448" y="1554480"/>
            <a:ext cx="365760" cy="1280160"/>
          </a:xfrm>
          <a:prstGeom prst="rect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065008" y="28803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4754880" y="31089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FCs with 1×1 conv → encoder shrinks features, decoder upsamples back to image size.</a:t>
            </a:r>
            <a:endParaRPr lang="en-US" sz="1100" dirty="0"/>
          </a:p>
        </p:txBody>
      </p:sp>
      <p:pic>
        <p:nvPicPr>
          <p:cNvPr id="4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005840"/>
            <a:ext cx="320040" cy="320040"/>
          </a:xfrm>
          <a:prstGeom prst="rect">
            <a:avLst/>
          </a:prstGeom>
        </p:spPr>
      </p:pic>
      <p:sp>
        <p:nvSpPr>
          <p:cNvPr id="46" name="Shape 42"/>
          <p:cNvSpPr/>
          <p:nvPr/>
        </p:nvSpPr>
        <p:spPr>
          <a:xfrm>
            <a:off x="384048" y="4297680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0F2747"/>
          </a:solidFill>
          <a:ln/>
        </p:spPr>
      </p:sp>
      <p:sp>
        <p:nvSpPr>
          <p:cNvPr id="47" name="Text 43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convolutions preserve spatial layout — keep them all the way through.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ENCODER–DECODER + SKIP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280160"/>
            <a:ext cx="384048" cy="2743200"/>
          </a:xfrm>
          <a:prstGeom prst="rect">
            <a:avLst/>
          </a:prstGeom>
          <a:solidFill>
            <a:srgbClr val="6366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06908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×572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435608" y="1554480"/>
            <a:ext cx="384048" cy="219456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2728" y="3794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×284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231136" y="1828800"/>
            <a:ext cx="384048" cy="164592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48256" y="35204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×140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026664" y="2103120"/>
            <a:ext cx="384048" cy="1097280"/>
          </a:xfrm>
          <a:prstGeom prst="rect">
            <a:avLst/>
          </a:prstGeom>
          <a:solidFill>
            <a:srgbClr val="0D948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43784" y="324612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×68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822192" y="2331720"/>
            <a:ext cx="457200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39312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32×32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90872" y="2103120"/>
            <a:ext cx="384048" cy="1097280"/>
          </a:xfrm>
          <a:prstGeom prst="rect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07992" y="324612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×68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0" y="1828800"/>
            <a:ext cx="384048" cy="1645920"/>
          </a:xfrm>
          <a:prstGeom prst="rect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0" y="35204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×140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281928" y="1554480"/>
            <a:ext cx="384048" cy="2194560"/>
          </a:xfrm>
          <a:prstGeom prst="rect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99048" y="3794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×284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077456" y="1280160"/>
            <a:ext cx="384048" cy="2743200"/>
          </a:xfrm>
          <a:prstGeom prst="rect">
            <a:avLst/>
          </a:prstGeom>
          <a:solidFill>
            <a:srgbClr val="E11D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94576" y="406908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×572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024128" y="1243584"/>
            <a:ext cx="6053328" cy="0"/>
          </a:xfrm>
          <a:prstGeom prst="line">
            <a:avLst/>
          </a:prstGeom>
          <a:noFill/>
          <a:ln w="15875">
            <a:solidFill>
              <a:srgbClr val="F59E0B"/>
            </a:solidFill>
            <a:prstDash val="dash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819656" y="1517904"/>
            <a:ext cx="4462272" cy="0"/>
          </a:xfrm>
          <a:prstGeom prst="line">
            <a:avLst/>
          </a:prstGeom>
          <a:noFill/>
          <a:ln w="15875">
            <a:solidFill>
              <a:srgbClr val="F59E0B"/>
            </a:solidFill>
            <a:prstDash val="dash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615184" y="1792224"/>
            <a:ext cx="2871216" cy="0"/>
          </a:xfrm>
          <a:prstGeom prst="line">
            <a:avLst/>
          </a:prstGeom>
          <a:noFill/>
          <a:ln w="15875">
            <a:solidFill>
              <a:srgbClr val="F59E0B"/>
            </a:solidFill>
            <a:prstDash val="dash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410712" y="2066544"/>
            <a:ext cx="1280160" cy="0"/>
          </a:xfrm>
          <a:prstGeom prst="line">
            <a:avLst/>
          </a:prstGeom>
          <a:noFill/>
          <a:ln w="15875">
            <a:solidFill>
              <a:srgbClr val="F59E0B"/>
            </a:solidFill>
            <a:prstDash val="dash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640080" y="868680"/>
            <a:ext cx="7232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skip connections (concat) →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94360" y="4370832"/>
            <a:ext cx="1463040" cy="274320"/>
          </a:xfrm>
          <a:prstGeom prst="roundRect">
            <a:avLst>
              <a:gd name="adj" fmla="val 13333"/>
            </a:avLst>
          </a:prstGeom>
          <a:solidFill>
            <a:srgbClr val="0D9488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4370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840480" y="4370832"/>
            <a:ext cx="1463040" cy="27432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3840480" y="4370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0" y="4370832"/>
            <a:ext cx="1463040" cy="274320"/>
          </a:xfrm>
          <a:prstGeom prst="roundRect">
            <a:avLst>
              <a:gd name="adj" fmla="val 13333"/>
            </a:avLst>
          </a:prstGeom>
          <a:solidFill>
            <a:srgbClr val="E11D48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0" y="4370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84048" y="473659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connections carry high-resolution detail from encoder → decoder, recovering precise boundaries.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U-Net Works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 + USE CASE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39319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914400"/>
            <a:ext cx="64008" cy="10515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= WHAT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14173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features capture class identity, but lose location.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4048" y="2103120"/>
            <a:ext cx="39319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84048" y="2103120"/>
            <a:ext cx="64008" cy="10515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= WHERE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" y="26060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Upsamples step-by-step back to input resolution.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84048" y="3291840"/>
            <a:ext cx="39319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4048" y="3291840"/>
            <a:ext cx="64008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Skips = DETAIL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66928" y="3794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path for fine edges from encoder to decoder.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26280" y="914400"/>
            <a:ext cx="425196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26280" y="914400"/>
            <a:ext cx="64008" cy="3657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0058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Use Case  ·  Biomedical Imaging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63440" y="1325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was born in 2015 for cell segmentation (Ronneberger et al.)</a:t>
            </a:r>
            <a:endParaRPr lang="en-US" sz="1050" dirty="0"/>
          </a:p>
        </p:txBody>
      </p:sp>
      <p:pic>
        <p:nvPicPr>
          <p:cNvPr id="24" name="Image 0" descr="/sessions/cool-beautiful-archimedes/mnt/outputs/session11_images/cell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63440" y="1783080"/>
            <a:ext cx="1920240" cy="1920240"/>
          </a:xfrm>
          <a:prstGeom prst="rect">
            <a:avLst/>
          </a:prstGeom>
        </p:spPr>
      </p:pic>
      <p:pic>
        <p:nvPicPr>
          <p:cNvPr id="25" name="Image 1" descr="/sessions/cool-beautiful-archimedes/mnt/outputs/session11_images/cells_mas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20840" y="1783080"/>
            <a:ext cx="1920240" cy="192024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663440" y="3703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(microscopy)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720840" y="3703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MASK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4663440" y="40233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Wins ISBI 2015 cell-tracking challenge by a large margin — trained on only 30 images using strong augmentation.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 &amp; Metrics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EVAL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4048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4048" y="1188720"/>
            <a:ext cx="41148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4048" y="1188720"/>
            <a:ext cx="64008" cy="7132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2618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" y="155448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per-pixel classification loss.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84048" y="2029968"/>
            <a:ext cx="41148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84048" y="2029968"/>
            <a:ext cx="64008" cy="71323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103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Loss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23957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Overlap-based — robust to class imbalance.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84048" y="2871216"/>
            <a:ext cx="41148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84048" y="2871216"/>
            <a:ext cx="6400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944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Loss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32369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Down-weights easy pixels — focuses on hard cases.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84048" y="3712464"/>
            <a:ext cx="41148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4048" y="3712464"/>
            <a:ext cx="64008" cy="713232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8561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(CE+Dice)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40782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practical default in medical seg.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636008" y="914400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36008" y="1188720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18888" y="129844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 =  |A ∩ B|  /  |A ∪ B|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818888" y="1627632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 =  2 · |A ∩ B|  /  ( |A| + |B| )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18888" y="199339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predicted mask     B = ground-truth mask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18888" y="22677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range 0 → 1. Dice ≈ 2·IoU / (1 + IoU).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36008" y="2697480"/>
            <a:ext cx="2029968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636008" y="2697480"/>
            <a:ext cx="64008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3" name="Text 31"/>
          <p:cNvSpPr/>
          <p:nvPr/>
        </p:nvSpPr>
        <p:spPr>
          <a:xfrm>
            <a:off x="4773168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mIoU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773168" y="30632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IoU over all classes — the gold standard for semantic seg.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57416" y="2697480"/>
            <a:ext cx="203911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757416" y="2697480"/>
            <a:ext cx="64008" cy="10058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7" name="Text 35"/>
          <p:cNvSpPr/>
          <p:nvPr/>
        </p:nvSpPr>
        <p:spPr>
          <a:xfrm>
            <a:off x="69037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Accuracy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903720" y="3063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correct/total. Misleading when classes are imbalanced.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36008" y="3794760"/>
            <a:ext cx="416052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5166360" y="3977640"/>
            <a:ext cx="1097280" cy="548640"/>
          </a:xfrm>
          <a:prstGeom prst="rect">
            <a:avLst/>
          </a:prstGeom>
          <a:solidFill>
            <a:srgbClr val="0D9488">
              <a:alpha val="65000"/>
            </a:srgbClr>
          </a:solidFill>
          <a:ln w="15875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669280" y="4069080"/>
            <a:ext cx="1097280" cy="548640"/>
          </a:xfrm>
          <a:prstGeom prst="rect">
            <a:avLst/>
          </a:prstGeom>
          <a:solidFill>
            <a:srgbClr val="E11D48">
              <a:alpha val="65000"/>
            </a:srgbClr>
          </a:solidFill>
          <a:ln w="15875">
            <a:solidFill>
              <a:srgbClr val="E11D4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3822192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784848" y="46177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0" y="4023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 →  numerator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315200" y="43708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  →  denominator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9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</a:t>
            </a:r>
            <a:endParaRPr lang="en-US" sz="4600" dirty="0"/>
          </a:p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520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Per-object masks — Mask R-CNN &amp; YOLOv8-seg</a:t>
            </a:r>
            <a:endParaRPr lang="en-US" sz="1600" dirty="0"/>
          </a:p>
        </p:txBody>
      </p:sp>
      <p:pic>
        <p:nvPicPr>
          <p:cNvPr id="6" name="Image 0" descr="/sessions/cool-beautiful-archimedes/mnt/outputs/session11_images/dbc_instance_overl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005840"/>
            <a:ext cx="2651760" cy="2651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3703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 gets its own mask &amp; ID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R-CNN — The Idea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INSTANCE SEG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41148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914400"/>
            <a:ext cx="64008" cy="36576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with: Faster R-CNN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object detector you already know: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" y="1856232"/>
            <a:ext cx="109728" cy="109728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7830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CNN extracts features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2240280"/>
            <a:ext cx="109728" cy="109728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1671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RPN proposes regions of interest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2624328"/>
            <a:ext cx="109728" cy="109728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5511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pooling → fixed-size features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3008376"/>
            <a:ext cx="109728" cy="109728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9352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 predict: class + box offset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364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bounding boxes + class labels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2560320"/>
            <a:ext cx="457200" cy="457200"/>
          </a:xfrm>
          <a:prstGeom prst="ellipse">
            <a:avLst/>
          </a:prstGeom>
          <a:solidFill>
            <a:srgbClr val="0F2747"/>
          </a:solidFill>
          <a:ln/>
        </p:spPr>
      </p:sp>
      <p:sp>
        <p:nvSpPr>
          <p:cNvPr id="22" name="Text 20"/>
          <p:cNvSpPr/>
          <p:nvPr/>
        </p:nvSpPr>
        <p:spPr>
          <a:xfrm>
            <a:off x="42976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681728" y="914400"/>
            <a:ext cx="41148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81728" y="914400"/>
            <a:ext cx="64008" cy="365760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1051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Mask Head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4632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FCN that predicts a binary mask per RoI: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892040" y="1856232"/>
            <a:ext cx="109728" cy="109728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7830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to the box/class heads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92040" y="2240280"/>
            <a:ext cx="109728" cy="109728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30" name="Text 28"/>
          <p:cNvSpPr/>
          <p:nvPr/>
        </p:nvSpPr>
        <p:spPr>
          <a:xfrm>
            <a:off x="5074920" y="21671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K × m × m masks (one per class)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92040" y="2624328"/>
            <a:ext cx="109728" cy="109728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32" name="Text 30"/>
          <p:cNvSpPr/>
          <p:nvPr/>
        </p:nvSpPr>
        <p:spPr>
          <a:xfrm>
            <a:off x="5074920" y="255117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RoIAlign instead of RoIPool (key!)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92040" y="3008376"/>
            <a:ext cx="109728" cy="109728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9352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with per-pixel binary CE loss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46320" y="33649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pixel-perfect mask per object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84048" y="4617720"/>
            <a:ext cx="8412480" cy="292608"/>
          </a:xfrm>
          <a:prstGeom prst="roundRect">
            <a:avLst>
              <a:gd name="adj" fmla="val 12500"/>
            </a:avLst>
          </a:prstGeom>
          <a:solidFill>
            <a:srgbClr val="0F2747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R-CNN = Faster R-CNN  +  per-RoI mask branch  ·  He et al., 2017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R-CNN  ·  Architecture Walk-through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28016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6366F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28016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(ResNet+FPN)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 rot="5400000">
            <a:off x="2103120" y="1673352"/>
            <a:ext cx="274320" cy="228600"/>
          </a:xfrm>
          <a:prstGeom prst="rightTriangle">
            <a:avLst/>
          </a:prstGeom>
          <a:solidFill>
            <a:srgbClr val="0F2747"/>
          </a:solidFill>
          <a:ln/>
        </p:spPr>
      </p:sp>
      <p:sp>
        <p:nvSpPr>
          <p:cNvPr id="11" name="Shape 9"/>
          <p:cNvSpPr/>
          <p:nvPr/>
        </p:nvSpPr>
        <p:spPr>
          <a:xfrm>
            <a:off x="2468880" y="128016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0D9488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14600" y="128016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Proposal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5400000">
            <a:off x="4069080" y="1673352"/>
            <a:ext cx="274320" cy="228600"/>
          </a:xfrm>
          <a:prstGeom prst="rightTriangle">
            <a:avLst/>
          </a:prstGeom>
          <a:solidFill>
            <a:srgbClr val="0F2747"/>
          </a:solidFill>
          <a:ln/>
        </p:spPr>
      </p:sp>
      <p:sp>
        <p:nvSpPr>
          <p:cNvPr id="14" name="Shape 12"/>
          <p:cNvSpPr/>
          <p:nvPr/>
        </p:nvSpPr>
        <p:spPr>
          <a:xfrm>
            <a:off x="4434840" y="128016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80560" y="128016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RoIAlign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(7×7 / 14×14)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5400000">
            <a:off x="6035040" y="1673352"/>
            <a:ext cx="274320" cy="228600"/>
          </a:xfrm>
          <a:prstGeom prst="rightTriangle">
            <a:avLst/>
          </a:prstGeom>
          <a:solidFill>
            <a:srgbClr val="0F2747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0" y="128016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E11D48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46520" y="128016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4048" y="2606040"/>
            <a:ext cx="429768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84048" y="2606040"/>
            <a:ext cx="64008" cy="2148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6974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RoIAlign matters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3017520"/>
            <a:ext cx="4023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RoIPool snaps RoI boundaries to integer feature-map coordinates — fine for boxes, but those quantisation errors shift pixel-perfect masks. RoIAlign uses bilinear interpolation instead, preserving sub-pixel alignment between the RoI and the mask.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46320" y="26517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OUTPUT HEADS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846320" y="292608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6366F1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0" y="2926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over K+1 classes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352044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35204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BBox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43600" y="3520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offsets per anchor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4114800"/>
            <a:ext cx="1005840" cy="548640"/>
          </a:xfrm>
          <a:prstGeom prst="roundRect">
            <a:avLst>
              <a:gd name="adj" fmla="val 10000"/>
            </a:avLst>
          </a:prstGeom>
          <a:solidFill>
            <a:srgbClr val="E11D48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41148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41148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× m × m binary mask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YOLOv8-seg  ·  One-Stage Instance Seg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+ UNIFIED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411480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914400"/>
            <a:ext cx="64008" cy="3657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Idea: detection head + prototype masks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YOLACT — separate the “what” and the “where”: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" y="1947672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3794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+ FPN —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feature extractor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2450592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234086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head —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boxes + class + k mask coefficients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2953512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84378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branch —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k full-resolution prototype masks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3456432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34670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—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mask = Σ coef·prototype, cropped by box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End-to-end, one forward pass — far faster than Mask R-CNN.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36008" y="914400"/>
            <a:ext cx="4160520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18888" y="10058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result + masks</a:t>
            </a:r>
            <a:endParaRPr lang="en-US" sz="1200" dirty="0"/>
          </a:p>
        </p:txBody>
      </p:sp>
      <p:pic>
        <p:nvPicPr>
          <p:cNvPr id="23" name="Image 0" descr="/sessions/cool-beautiful-archimedes/mnt/outputs/session11_images/dbc_instance_overl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1371600"/>
            <a:ext cx="3794760" cy="22860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4818888" y="3794760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10B981">
              <a:alpha val="90000"/>
            </a:srgbClr>
          </a:solidFill>
          <a:ln/>
        </p:spPr>
      </p:sp>
      <p:sp>
        <p:nvSpPr>
          <p:cNvPr id="25" name="Text 22"/>
          <p:cNvSpPr/>
          <p:nvPr/>
        </p:nvSpPr>
        <p:spPr>
          <a:xfrm>
            <a:off x="4818888" y="37947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458968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0.97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117336" y="3794760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6366F1">
              <a:alpha val="90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6117336" y="37947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757416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415784" y="3794760"/>
            <a:ext cx="1188720" cy="502920"/>
          </a:xfrm>
          <a:prstGeom prst="roundRect">
            <a:avLst>
              <a:gd name="adj" fmla="val 9091"/>
            </a:avLst>
          </a:prstGeom>
          <a:solidFill>
            <a:srgbClr val="E11D48">
              <a:alpha val="90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7415784" y="37947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truck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055864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0.88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818888" y="43708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instance masks  ·  inference ~6 ms (yolov8n-seg, GPU)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R-CNN vs YOLOv8-seg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914400"/>
          <a:ext cx="8412480" cy="374904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 R-CNN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YOLOv8-seg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1D4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Two-stage  (detect → mask)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One-stage  (joint prediction)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Slower  (~5 fps @ 1024)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 (60+ fps @ 640)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(COCO)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mask 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Competitive, slightly lower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Crisp boundaries  (RoIAlign)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but lower resolution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data needs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 (with augmentation)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detectron2 / mmdetection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ultralytics (one-line API)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analysis, research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apps, edge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84048" y="4736592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choose Mask R-CNN when accuracy and tooling matter; choose YOLOv8-seg when speed and simplicity win.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  ·  Hands-on Today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PREVIEW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84048" y="914400"/>
            <a:ext cx="416052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914400"/>
            <a:ext cx="64008" cy="3703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YOLOv8-seg  ·  Ultralytics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3886200" cy="3108960"/>
          </a:xfrm>
          <a:prstGeom prst="rect">
            <a:avLst/>
          </a:prstGeom>
          <a:solidFill>
            <a:srgbClr val="08193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50876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ultralytics import YOLO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load pretrained instance-seg model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YOLO('yolov8n-seg.pt')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inference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 = model('dog_bike_car.jpg')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visualise masks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results[0].show()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train on custom data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model.train(data='dataset.yaml',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epochs=50, imgsz=640)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36008" y="914400"/>
            <a:ext cx="4160520" cy="3703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36008" y="914400"/>
            <a:ext cx="64008" cy="37033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5" name="Text 13"/>
          <p:cNvSpPr/>
          <p:nvPr/>
        </p:nvSpPr>
        <p:spPr>
          <a:xfrm>
            <a:off x="4818888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R-CNN  ·  torchvision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18888" y="1417320"/>
            <a:ext cx="3886200" cy="3108960"/>
          </a:xfrm>
          <a:prstGeom prst="rect">
            <a:avLst/>
          </a:prstGeom>
          <a:solidFill>
            <a:srgbClr val="081930"/>
          </a:solidFill>
          <a:ln/>
        </p:spPr>
      </p:sp>
      <p:sp>
        <p:nvSpPr>
          <p:cNvPr id="17" name="Text 15"/>
          <p:cNvSpPr/>
          <p:nvPr/>
        </p:nvSpPr>
        <p:spPr>
          <a:xfrm>
            <a:off x="4956048" y="150876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torch, torchvision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torchvision.models.detection import \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maskrcnn_resnet50_fpn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maskrcnn_resnet50_fpn(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weights='DEFAULT').eval()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img = read_image('dog_bike_car.jpg')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model([img / 255.0])[0]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masks = pred['masks']    # N×1×H×W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boxes = pred['boxes']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 = pred['scores']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36576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&amp; Next Steps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269480" y="1645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F27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4983480"/>
            <a:ext cx="841248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11  |  Image Segmentation  |  Phase 3 — Core CV Tasks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4048" y="9144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COVERED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25296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13232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= per-pixel classification</a:t>
            </a:r>
            <a:endParaRPr 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36776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3232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vs Instance vs Panoptic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048256"/>
            <a:ext cx="201168" cy="2011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13232" y="2011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FCN — replace FC with 1×1 conv + upsample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459736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" y="2423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U-Net — encoder–decoder + skip connections</a:t>
            </a:r>
            <a:endParaRPr lang="en-US" sz="11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871216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13232" y="28346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&amp; metrics: Dice, IoU, mIoU</a:t>
            </a:r>
            <a:endParaRPr lang="en-US" sz="11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282696"/>
            <a:ext cx="201168" cy="20116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713232" y="3246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R-CNN — two-stage with mask head</a:t>
            </a:r>
            <a:endParaRPr lang="en-US" sz="11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3694176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13232" y="3657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YOLOv8-seg — one-stage, real-time</a:t>
            </a:r>
            <a:endParaRPr lang="en-US" sz="1150" dirty="0"/>
          </a:p>
        </p:txBody>
      </p:sp>
      <p:sp>
        <p:nvSpPr>
          <p:cNvPr id="23" name="Text 14"/>
          <p:cNvSpPr/>
          <p:nvPr/>
        </p:nvSpPr>
        <p:spPr>
          <a:xfrm>
            <a:off x="4636008" y="914400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 NEXT</a:t>
            </a:r>
            <a:endParaRPr lang="en-US" sz="1000" dirty="0"/>
          </a:p>
        </p:txBody>
      </p:sp>
      <p:sp>
        <p:nvSpPr>
          <p:cNvPr id="24" name="Shape 15"/>
          <p:cNvSpPr/>
          <p:nvPr/>
        </p:nvSpPr>
        <p:spPr>
          <a:xfrm>
            <a:off x="4636008" y="1188720"/>
            <a:ext cx="41605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6"/>
          <p:cNvSpPr/>
          <p:nvPr/>
        </p:nvSpPr>
        <p:spPr>
          <a:xfrm>
            <a:off x="4636008" y="1188720"/>
            <a:ext cx="64008" cy="868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6" name="Text 17"/>
          <p:cNvSpPr/>
          <p:nvPr/>
        </p:nvSpPr>
        <p:spPr>
          <a:xfrm>
            <a:off x="4818888" y="12801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12 — Keypoint &amp; Pose Estimation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4818888" y="1609344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MediaPipe + YOLOv8-pose overview</a:t>
            </a:r>
            <a:endParaRPr lang="en-US" sz="1050" dirty="0"/>
          </a:p>
        </p:txBody>
      </p:sp>
      <p:sp>
        <p:nvSpPr>
          <p:cNvPr id="28" name="Shape 19"/>
          <p:cNvSpPr/>
          <p:nvPr/>
        </p:nvSpPr>
        <p:spPr>
          <a:xfrm>
            <a:off x="4636008" y="2194560"/>
            <a:ext cx="41605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0"/>
          <p:cNvSpPr/>
          <p:nvPr/>
        </p:nvSpPr>
        <p:spPr>
          <a:xfrm>
            <a:off x="4636008" y="2194560"/>
            <a:ext cx="64008" cy="8686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1"/>
          <p:cNvSpPr/>
          <p:nvPr/>
        </p:nvSpPr>
        <p:spPr>
          <a:xfrm>
            <a:off x="4818888" y="228600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13 — OCR &amp; Text Detection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4818888" y="2615184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PaddleOCR / EasyOCR / TrOCR</a:t>
            </a:r>
            <a:endParaRPr lang="en-US" sz="1050" dirty="0"/>
          </a:p>
        </p:txBody>
      </p:sp>
      <p:sp>
        <p:nvSpPr>
          <p:cNvPr id="32" name="Shape 23"/>
          <p:cNvSpPr/>
          <p:nvPr/>
        </p:nvSpPr>
        <p:spPr>
          <a:xfrm>
            <a:off x="4636008" y="3200400"/>
            <a:ext cx="41605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Shape 24"/>
          <p:cNvSpPr/>
          <p:nvPr/>
        </p:nvSpPr>
        <p:spPr>
          <a:xfrm>
            <a:off x="4636008" y="3200400"/>
            <a:ext cx="64008" cy="86868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4" name="Text 25"/>
          <p:cNvSpPr/>
          <p:nvPr/>
        </p:nvSpPr>
        <p:spPr>
          <a:xfrm>
            <a:off x="4818888" y="329184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(this session)</a:t>
            </a:r>
            <a:endParaRPr lang="en-US" sz="1200" dirty="0"/>
          </a:p>
        </p:txBody>
      </p:sp>
      <p:sp>
        <p:nvSpPr>
          <p:cNvPr id="35" name="Text 26"/>
          <p:cNvSpPr/>
          <p:nvPr/>
        </p:nvSpPr>
        <p:spPr>
          <a:xfrm>
            <a:off x="4818888" y="3621024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Notebook: train U-Net on cells + run YOLOv8-seg</a:t>
            </a:r>
            <a:endParaRPr lang="en-US" sz="1050" dirty="0"/>
          </a:p>
        </p:txBody>
      </p:sp>
      <p:sp>
        <p:nvSpPr>
          <p:cNvPr id="36" name="Shape 27"/>
          <p:cNvSpPr/>
          <p:nvPr/>
        </p:nvSpPr>
        <p:spPr>
          <a:xfrm>
            <a:off x="384048" y="4434840"/>
            <a:ext cx="8412480" cy="365760"/>
          </a:xfrm>
          <a:prstGeom prst="roundRect">
            <a:avLst>
              <a:gd name="adj" fmla="val 15000"/>
            </a:avLst>
          </a:prstGeom>
          <a:solidFill>
            <a:srgbClr val="0F2747"/>
          </a:solidFill>
          <a:ln/>
        </p:spPr>
      </p:sp>
      <p:sp>
        <p:nvSpPr>
          <p:cNvPr id="37" name="Text 2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picture: segmentation moves us from "what's there" to exactly "where" — pixel-perfect.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 — Image Segmentation</dc:title>
  <dc:subject>PptxGenJS Presentation</dc:subject>
  <dc:creator>AI &amp; CV Training</dc:creator>
  <cp:lastModifiedBy>AI &amp; CV Training</cp:lastModifiedBy>
  <cp:revision>1</cp:revision>
  <dcterms:created xsi:type="dcterms:W3CDTF">2026-05-15T18:10:16Z</dcterms:created>
  <dcterms:modified xsi:type="dcterms:W3CDTF">2026-05-15T18:10:16Z</dcterms:modified>
</cp:coreProperties>
</file>