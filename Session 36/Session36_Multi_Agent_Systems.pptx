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DB811C-2E2D-4335-91E6-901CB15E302F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2F62B3-BE69-4F17-B0A8-A5D67579F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34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2F62B3-BE69-4F17-B0A8-A5D67579F46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32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509760" y="1051560"/>
            <a:ext cx="2651760" cy="2651760"/>
          </a:xfrm>
          <a:prstGeom prst="ellipse">
            <a:avLst/>
          </a:prstGeom>
          <a:solidFill>
            <a:srgbClr val="242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95560" y="1737360"/>
            <a:ext cx="1280160" cy="1280160"/>
          </a:xfrm>
          <a:prstGeom prst="ellipse">
            <a:avLst/>
          </a:prstGeom>
          <a:solidFill>
            <a:srgbClr val="3B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9F1C"/>
                </a:solidFill>
                <a:latin typeface="Calibri"/>
              </a:rPr>
              <a:t>SESSION 36  ·  PHASE 10  ·  AI AGENTS &amp; LANGGRAPH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Multi-Agent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9326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9E99CC"/>
                </a:solidFill>
                <a:latin typeface="Cambria"/>
              </a:rPr>
              <a:t>Supervisors, specialists, and how agents talk to each other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754880"/>
            <a:ext cx="2743200" cy="2540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B6B8A"/>
                </a:solidFill>
                <a:latin typeface="Calibri"/>
              </a:rPr>
              <a:t>From one agent that does everything, to a team that divides the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6B8A"/>
                </a:solidFill>
                <a:latin typeface="Calibri"/>
              </a:rPr>
              <a:t>45 minutes  ·  theory session  ·  no code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Where the 45 minutes 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728216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282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0020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6163A"/>
                </a:solidFill>
                <a:latin typeface="Calibri"/>
              </a:rPr>
              <a:t>Why one agent stops being enough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600200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 i="0">
                <a:solidFill>
                  <a:srgbClr val="5B4BC4"/>
                </a:solidFill>
                <a:latin typeface="Calibri"/>
              </a:rPr>
              <a:t>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2596896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5968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46888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6163A"/>
                </a:solidFill>
                <a:latin typeface="Calibri"/>
              </a:rPr>
              <a:t>Supervisor + specialist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68880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 i="0">
                <a:solidFill>
                  <a:srgbClr val="5B4BC4"/>
                </a:solidFill>
                <a:latin typeface="Calibri"/>
              </a:rPr>
              <a:t>16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3465576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4655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33756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6163A"/>
                </a:solidFill>
                <a:latin typeface="Calibri"/>
              </a:rPr>
              <a:t>A worked example, and when NOT to do this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337560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 i="0">
                <a:solidFill>
                  <a:srgbClr val="5B4BC4"/>
                </a:solidFill>
                <a:latin typeface="Calibri"/>
              </a:rPr>
              <a:t>6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06240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4334256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3342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0624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6163A"/>
                </a:solidFill>
                <a:latin typeface="Calibri"/>
              </a:rPr>
              <a:t>Agent communication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206240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 i="0">
                <a:solidFill>
                  <a:srgbClr val="5B4BC4"/>
                </a:solidFill>
                <a:latin typeface="Calibri"/>
              </a:rPr>
              <a:t>12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74920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8680" y="5202936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2029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07492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6163A"/>
                </a:solidFill>
                <a:latin typeface="Calibri"/>
              </a:rPr>
              <a:t>What goes wrong — and recap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074920"/>
            <a:ext cx="1554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 i="0">
                <a:solidFill>
                  <a:srgbClr val="5B4BC4"/>
                </a:solidFill>
                <a:latin typeface="Calibri"/>
              </a:rPr>
              <a:t>6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Pure theory. Wednesday's lab builds exactly this architecture in LangGraph — today is the map you will need to read the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Session 35 gave you one agent. Today: several.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02152" cy="2148840"/>
          </a:xfrm>
          <a:prstGeom prst="roundRect">
            <a:avLst>
              <a:gd name="adj" fmla="val 6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02152" cy="64008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19" y="1874519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163A"/>
                </a:solidFill>
                <a:latin typeface="Cambria"/>
              </a:rPr>
              <a:t>An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359152"/>
            <a:ext cx="2880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6B8A"/>
                </a:solidFill>
                <a:latin typeface="Calibri"/>
              </a:rPr>
              <a:t>Model, tools, state and a loop. It decides its own path at runtime.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554480"/>
            <a:ext cx="3502152" cy="2148840"/>
          </a:xfrm>
          <a:prstGeom prst="roundRect">
            <a:avLst>
              <a:gd name="adj" fmla="val 6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5112" y="1554480"/>
            <a:ext cx="3502152" cy="64008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1874519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163A"/>
                </a:solidFill>
                <a:latin typeface="Cambria"/>
              </a:rPr>
              <a:t>LangGraph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359152"/>
            <a:ext cx="2880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6B8A"/>
                </a:solidFill>
                <a:latin typeface="Calibri"/>
              </a:rPr>
              <a:t>Nodes do the work, edges decide what runs next. State is shared and checkpointed.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54480"/>
            <a:ext cx="3502152" cy="2148840"/>
          </a:xfrm>
          <a:prstGeom prst="roundRect">
            <a:avLst>
              <a:gd name="adj" fmla="val 6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10144" y="1554480"/>
            <a:ext cx="3502152" cy="64008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0184" y="1874519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163A"/>
                </a:solidFill>
                <a:latin typeface="Cambria"/>
              </a:rPr>
              <a:t>A single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359152"/>
            <a:ext cx="2880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6B8A"/>
                </a:solidFill>
                <a:latin typeface="Calibri"/>
              </a:rPr>
              <a:t>One context window, one plan, one set of tools, one thing happening at a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23360"/>
            <a:ext cx="10881360" cy="1783080"/>
          </a:xfrm>
          <a:prstGeom prst="roundRect">
            <a:avLst>
              <a:gd name="adj" fmla="val 5000"/>
            </a:avLst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31596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9F1C"/>
                </a:solidFill>
                <a:latin typeface="Calibri"/>
              </a:rPr>
              <a:t>The question that starts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316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FFFFF"/>
                </a:solidFill>
                <a:latin typeface="Cambria"/>
              </a:rPr>
              <a:t>What happens when the job is bigger than one agent, one context window, or one set of tools?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Everything from Session 35 still applies. A multi-agent system is made of agents — each one is still a model, tools, state and a loop.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084831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9F1C"/>
                </a:solidFill>
                <a:latin typeface="Calibri"/>
              </a:rPr>
              <a:t>PART ONE  ·  21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6888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mbria"/>
              </a:rPr>
              <a:t>Supervisor +
Specialist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931920"/>
            <a:ext cx="9692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E99CC"/>
                </a:solidFill>
                <a:latin typeface="Calibri"/>
              </a:rPr>
              <a:t>The architecture: who plans, who works, and how a task travels between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THE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Four symptoms that one agent has outgrown itself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578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64008" cy="178308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63A"/>
                </a:solidFill>
                <a:latin typeface="Calibri"/>
              </a:rPr>
              <a:t>Tool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2286000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Thirty tools with overlapping descriptions. The model picks the wrong one, and better naming has stopped helping.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2578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64008" cy="178308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63A"/>
                </a:solidFill>
                <a:latin typeface="Calibri"/>
              </a:rPr>
              <a:t>Prompt sprawl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286000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The system prompt has become a rulebook: if the user is a refund case, but only when the order is over 30 days…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52578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611880"/>
            <a:ext cx="64008" cy="178308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7" y="38862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63A"/>
                </a:solidFill>
                <a:latin typeface="Calibri"/>
              </a:rPr>
              <a:t>Context saturation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7" y="4343400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One window holds the goal, the history, every tool result and every document. Quality quietly degrades.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2578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611880"/>
            <a:ext cx="64008" cy="178308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47688" y="38862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63A"/>
                </a:solidFill>
                <a:latin typeface="Calibri"/>
              </a:rPr>
              <a:t>No parallelism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4343400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Twelve sources to check. One agent checks them one at a time, because there is only one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OpenAI's guidance is to maximise a single agent first — add tools incrementally, and only split when prompts and tools genuinely stop scaling.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What a multi-agent system actually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6192"/>
            <a:ext cx="10881360" cy="1371600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64008" cy="137160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1">
                <a:solidFill>
                  <a:srgbClr val="16163A"/>
                </a:solidFill>
                <a:latin typeface="Cambria"/>
              </a:rPr>
              <a:t>“A collection of agents designed to interact through orchestration, enabling collective intelligence.”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8716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Cemri et al., Why Do Multi-Agent LLM Systems Fail? (NeurIPS 2025)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350215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24127" y="3474720"/>
            <a:ext cx="502920" cy="50292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3474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41605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163A"/>
                </a:solidFill>
                <a:latin typeface="Cambria"/>
              </a:rPr>
              <a:t>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4617720"/>
            <a:ext cx="2788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Each has its own prompt, its own tools, its own context. Individually, just the agent you already know.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3154680"/>
            <a:ext cx="350215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09160" y="3474720"/>
            <a:ext cx="502920" cy="50292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3474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1605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163A"/>
                </a:solidFill>
                <a:latin typeface="Cambria"/>
              </a:rPr>
              <a:t>Orchestration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617720"/>
            <a:ext cx="2788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The rules for who runs, when, and with what. This is the part that is genuinely new.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154680"/>
            <a:ext cx="350215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94192" y="3474720"/>
            <a:ext cx="502920" cy="50292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3474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41605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163A"/>
                </a:solidFill>
                <a:latin typeface="Cambria"/>
              </a:rPr>
              <a:t>Communication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4617720"/>
            <a:ext cx="2788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What travels between them — instructions down, results up, context sideways.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The vocabulary varies by vendor: supervisor, orchestrator, coordinator, lead agent, manager, router. They all mean the same role.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THE SUPERVISOR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A job description, in five duties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6903720" cy="795528"/>
          </a:xfrm>
          <a:prstGeom prst="roundRect">
            <a:avLst>
              <a:gd name="adj" fmla="val 6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728216"/>
            <a:ext cx="448056" cy="448056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28216"/>
            <a:ext cx="44805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664207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Understand the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984248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Read the request and work out what “done” looks like.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59736"/>
            <a:ext cx="6903720" cy="795528"/>
          </a:xfrm>
          <a:prstGeom prst="roundRect">
            <a:avLst>
              <a:gd name="adj" fmla="val 6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2633472"/>
            <a:ext cx="448056" cy="448056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633472"/>
            <a:ext cx="44805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56946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Decompose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889504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Split the goal into sub-tasks a single specialist can finish.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64991"/>
            <a:ext cx="6903720" cy="795528"/>
          </a:xfrm>
          <a:prstGeom prst="roundRect">
            <a:avLst>
              <a:gd name="adj" fmla="val 6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3538727"/>
            <a:ext cx="448056" cy="448056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538727"/>
            <a:ext cx="44805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4747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Delegate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794759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Choose the right specialist and write it a clear brief.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70248"/>
            <a:ext cx="6903720" cy="795528"/>
          </a:xfrm>
          <a:prstGeom prst="roundRect">
            <a:avLst>
              <a:gd name="adj" fmla="val 6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4443984"/>
            <a:ext cx="448056" cy="448056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443984"/>
            <a:ext cx="44805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37997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Track and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700016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Read what comes back. Is it enough? Retry, re-route, or move 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75504"/>
            <a:ext cx="6903720" cy="795528"/>
          </a:xfrm>
          <a:prstGeom prst="roundRect">
            <a:avLst>
              <a:gd name="adj" fmla="val 6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8680" y="5349240"/>
            <a:ext cx="448056" cy="448056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349240"/>
            <a:ext cx="448056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28523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Aggregate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5605272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Turn a pile of partial results into one coherent answer.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1554480"/>
            <a:ext cx="3657600" cy="3913632"/>
          </a:xfrm>
          <a:prstGeom prst="roundRect">
            <a:avLst>
              <a:gd name="adj" fmla="val 5000"/>
            </a:avLst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1874519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9F1C"/>
                </a:solidFill>
                <a:latin typeface="Calibri"/>
              </a:rPr>
              <a:t>What it does not 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377440"/>
            <a:ext cx="29718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work itself.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6163A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99CC"/>
                </a:solidFill>
                <a:latin typeface="Calibri"/>
              </a:rPr>
              <a:t>The supervisor does not search, does not write SQL, does not draft the report. It owns the plan, not the labour.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16163A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E99CC"/>
                </a:solidFill>
                <a:latin typeface="Calibri"/>
              </a:rPr>
              <a:t>Give it domain tools and it will quietly start doing the job itself — and you are back to one overloaded agent.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In most frameworks the supervisor is itself an LLM agent — its “tools” are the specialists.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THE SPECIALIST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An agent that has been made deliberately small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11296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79222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B2E8F"/>
                </a:solidFill>
                <a:latin typeface="Calibri"/>
              </a:rPr>
              <a:t>One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7627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Flights. Not travel. Not “anything the user asks”.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554480"/>
            <a:ext cx="3511296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79222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B2E8F"/>
                </a:solidFill>
                <a:latin typeface="Calibri"/>
              </a:rPr>
              <a:t>Its own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7627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Written for that job only — short, specific, testable.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554480"/>
            <a:ext cx="3511296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79222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B2E8F"/>
                </a:solidFill>
                <a:latin typeface="Calibri"/>
              </a:rPr>
              <a:t>A small toolset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17627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Three or four tools it can tell apart, not thirty it cannot.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3511296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34670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B2E8F"/>
                </a:solidFill>
                <a:latin typeface="Calibri"/>
              </a:rPr>
              <a:t>Its own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73075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It sees the brief, not the whole conversation.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3108960"/>
            <a:ext cx="3511296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34670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B2E8F"/>
                </a:solidFill>
                <a:latin typeface="Calibri"/>
              </a:rPr>
              <a:t>Returns a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73075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A finished answer, not an invitation to keep chatting.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108960"/>
            <a:ext cx="3511296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334670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B2E8F"/>
                </a:solidFill>
                <a:latin typeface="Calibri"/>
              </a:rPr>
              <a:t>Replaceable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73075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Swap the model, the prompt or the tools without touching the rest.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5010912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6163A"/>
                </a:solidFill>
                <a:latin typeface="Cambria"/>
              </a:rPr>
              <a:t>Specialisation is not about making agents clever. It is about making each one's decision space small enough that it stops guessing.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Rule of thumb: if you cannot write the specialist's job title on one line, it is not a specialist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THE DELEGATION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How one task travels down and back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81328"/>
            <a:ext cx="3246120" cy="868680"/>
          </a:xfrm>
          <a:prstGeom prst="roundRect">
            <a:avLst>
              <a:gd name="adj" fmla="val 10000"/>
            </a:avLst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53712" y="1481328"/>
            <a:ext cx="30998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SUPERVISOR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E99CC"/>
                </a:solidFill>
                <a:latin typeface="Calibri"/>
              </a:rPr>
              <a:t>plans · delegates · aggregates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703320"/>
            <a:ext cx="295351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3703320"/>
            <a:ext cx="280720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3B2E8F"/>
                </a:solidFill>
                <a:latin typeface="Calibri"/>
              </a:rPr>
              <a:t>SPECIALIST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own prompt · own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3703320"/>
            <a:ext cx="295351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3703320"/>
            <a:ext cx="280720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3B2E8F"/>
                </a:solidFill>
                <a:latin typeface="Calibri"/>
              </a:rPr>
              <a:t>SPECIALIST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own prompt · own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703320"/>
            <a:ext cx="295351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3703320"/>
            <a:ext cx="280720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3B2E8F"/>
                </a:solidFill>
                <a:latin typeface="Calibri"/>
              </a:rPr>
              <a:t>SPECIALIST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own prompt · own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3460" y="2350008"/>
            <a:ext cx="20320" cy="384048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6029919" y="2734056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82596" y="2852928"/>
            <a:ext cx="8449056" cy="2032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72436" y="2852928"/>
            <a:ext cx="20320" cy="73152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2408895" y="3584448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4316" y="2852928"/>
            <a:ext cx="20320" cy="73152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osceles Triangle 18"/>
          <p:cNvSpPr/>
          <p:nvPr/>
        </p:nvSpPr>
        <p:spPr>
          <a:xfrm rot="10800000">
            <a:off x="6020775" y="3584448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96196" y="2852928"/>
            <a:ext cx="20320" cy="73152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9632655" y="3584448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60320" y="24688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task brief  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688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9F1C"/>
                </a:solidFill>
                <a:latin typeface="Calibri"/>
              </a:rPr>
              <a:t>▲  result back 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15920" y="2971800"/>
            <a:ext cx="20320" cy="7315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sosceles Triangle 24"/>
          <p:cNvSpPr/>
          <p:nvPr/>
        </p:nvSpPr>
        <p:spPr>
          <a:xfrm>
            <a:off x="2852379" y="2852928"/>
            <a:ext cx="147401" cy="118872"/>
          </a:xfrm>
          <a:prstGeom prst="triangl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27800" y="2971800"/>
            <a:ext cx="20320" cy="7315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sosceles Triangle 26"/>
          <p:cNvSpPr/>
          <p:nvPr/>
        </p:nvSpPr>
        <p:spPr>
          <a:xfrm>
            <a:off x="6464259" y="2852928"/>
            <a:ext cx="147401" cy="118872"/>
          </a:xfrm>
          <a:prstGeom prst="triangl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139680" y="2971800"/>
            <a:ext cx="20320" cy="7315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Isosceles Triangle 28"/>
          <p:cNvSpPr/>
          <p:nvPr/>
        </p:nvSpPr>
        <p:spPr>
          <a:xfrm>
            <a:off x="10076139" y="2852928"/>
            <a:ext cx="147401" cy="118872"/>
          </a:xfrm>
          <a:prstGeom prst="triangl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4956048"/>
            <a:ext cx="1737360" cy="932688"/>
          </a:xfrm>
          <a:prstGeom prst="roundRect">
            <a:avLst>
              <a:gd name="adj" fmla="val 8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07492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5B4BC4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303520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16163A"/>
                </a:solidFill>
                <a:latin typeface="Calibri"/>
              </a:rPr>
              <a:t>Goal arrives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59736" y="4956048"/>
            <a:ext cx="1737360" cy="932688"/>
          </a:xfrm>
          <a:prstGeom prst="roundRect">
            <a:avLst>
              <a:gd name="adj" fmla="val 8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59736" y="507492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5B4BC4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9464" y="5303520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16163A"/>
                </a:solidFill>
                <a:latin typeface="Calibri"/>
              </a:rPr>
              <a:t>Decompose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79392" y="4956048"/>
            <a:ext cx="1737360" cy="932688"/>
          </a:xfrm>
          <a:prstGeom prst="roundRect">
            <a:avLst>
              <a:gd name="adj" fmla="val 8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79392" y="507492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5B4BC4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303520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16163A"/>
                </a:solidFill>
                <a:latin typeface="Calibri"/>
              </a:rPr>
              <a:t>Delegate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9048" y="4956048"/>
            <a:ext cx="1737360" cy="932688"/>
          </a:xfrm>
          <a:prstGeom prst="roundRect">
            <a:avLst>
              <a:gd name="adj" fmla="val 8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99048" y="507492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5B4BC4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8776" y="5303520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16163A"/>
                </a:solidFill>
                <a:latin typeface="Calibri"/>
              </a:rPr>
              <a:t>Specialist runs its own loop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18704" y="4956048"/>
            <a:ext cx="1737360" cy="932688"/>
          </a:xfrm>
          <a:prstGeom prst="roundRect">
            <a:avLst>
              <a:gd name="adj" fmla="val 8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18704" y="507492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5B4BC4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8431" y="5303520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16163A"/>
                </a:solidFill>
                <a:latin typeface="Calibri"/>
              </a:rPr>
              <a:t>Result returns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38360" y="4956048"/>
            <a:ext cx="1737360" cy="932688"/>
          </a:xfrm>
          <a:prstGeom prst="roundRect">
            <a:avLst>
              <a:gd name="adj" fmla="val 8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738360" y="507492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5B4BC4"/>
                </a:solidFill>
                <a:latin typeface="Calibr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48088" y="5303520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16163A"/>
                </a:solidFill>
                <a:latin typeface="Calibri"/>
              </a:rPr>
              <a:t>Evaluate → loop again, or answer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Steps 4 and 5 are the whole idea: the specialist runs a complete agent loop of its own, and the supervisor only ever sees the outcome.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THE SAME IDEA, AS GOOGLE DRAWS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The coordinator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9304" y="1472184"/>
            <a:ext cx="4986882" cy="4416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gc_coordin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600200"/>
            <a:ext cx="473085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03720" y="1645920"/>
            <a:ext cx="46177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03720" y="1645920"/>
            <a:ext cx="54864" cy="10058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05472" y="1783080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The coordinator is an agent, not a switch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472" y="21031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It uses a model to decide routing at runtime, which is why it copes with inputs you did not anticipate.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743200"/>
            <a:ext cx="46177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03720" y="2743200"/>
            <a:ext cx="54864" cy="10058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05472" y="2880360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Subagents never talk to the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32004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Everything the user sees has passed back through the coordinator.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840480"/>
            <a:ext cx="46177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03720" y="3840480"/>
            <a:ext cx="54864" cy="10058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05472" y="3977640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“Intermediate output”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42976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The specialist returns a partial result. The coordinator decides whether that is enough or another agent is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937760"/>
            <a:ext cx="46177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03720" y="4937760"/>
            <a:ext cx="54864" cy="10058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05472" y="5074920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The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72" y="53949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Every hop is another model call. More flexibility, more tokens, more latency.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Diagram: Google Cloud Architecture Center — “Choose a design pattern for your agentic AI system”, coordinator pattern.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TASK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What has to be in a task brief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6192"/>
            <a:ext cx="2624328" cy="1691640"/>
          </a:xfrm>
          <a:prstGeom prst="roundRect">
            <a:avLst>
              <a:gd name="adj" fmla="val 6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755648"/>
            <a:ext cx="420624" cy="420624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86000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6163A"/>
                </a:solidFill>
                <a:latin typeface="Calibri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2432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What question this specialist is answering — in one sentence.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536192"/>
            <a:ext cx="2624328" cy="1691640"/>
          </a:xfrm>
          <a:prstGeom prst="roundRect">
            <a:avLst>
              <a:gd name="adj" fmla="val 6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57600" y="1755648"/>
            <a:ext cx="420624" cy="420624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7556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86000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6163A"/>
                </a:solidFill>
                <a:latin typeface="Calibri"/>
              </a:rPr>
              <a:t>Output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2432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A list? A number? JSON with three fields? Say so.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536192"/>
            <a:ext cx="2624328" cy="1691640"/>
          </a:xfrm>
          <a:prstGeom prst="roundRect">
            <a:avLst>
              <a:gd name="adj" fmla="val 6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19088" y="1755648"/>
            <a:ext cx="420624" cy="420624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17556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286000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6163A"/>
                </a:solidFill>
                <a:latin typeface="Calibri"/>
              </a:rPr>
              <a:t>Tools and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62432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Which tools to use, and which sources to trust.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536192"/>
            <a:ext cx="2624328" cy="1691640"/>
          </a:xfrm>
          <a:prstGeom prst="roundRect">
            <a:avLst>
              <a:gd name="adj" fmla="val 6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80576" y="1755648"/>
            <a:ext cx="420624" cy="420624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0576" y="17556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286000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6163A"/>
                </a:solidFill>
                <a:latin typeface="Calibri"/>
              </a:rPr>
              <a:t>Boundaries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62432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What this agent must not do, so two agents don't do the same work.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47472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37033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23A48"/>
                </a:solidFill>
                <a:latin typeface="Calibri"/>
              </a:rPr>
              <a:t>✗   Too vague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114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6163A"/>
                </a:solidFill>
                <a:latin typeface="Cambria"/>
              </a:rPr>
              <a:t>“Research the semiconductor shortage.”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70916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Two subagents duplicate each other, a third misreads the scope entirely, and the supervisor gets three overlapping essays.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47472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37033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✓   Specific enough to act 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16163A"/>
                </a:solidFill>
                <a:latin typeface="Cambria"/>
              </a:rPr>
              <a:t>“Find 2026 capacity announcements by TSMC only. Return a table: fab, node, date, source URL.”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98348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One agent, one scope, one shape of answer the supervisor can merge.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Anthropic found this was the single biggest fix in their research system: vague delegation produced duplicated and misinterpreted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COMING BACK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Three things a specialist can return — and what each costs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02152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02152" cy="82296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19" y="1874519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B23A48"/>
                </a:solidFill>
                <a:latin typeface="Calibri"/>
              </a:rPr>
              <a:t>RARELY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212848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6163A"/>
                </a:solidFill>
                <a:latin typeface="Cambria"/>
              </a:rPr>
              <a:t>The whole transcript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97180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Every thought, tool call and observation.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19" y="3611880"/>
            <a:ext cx="2862072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19" y="3767328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Supervisor sees everything — and drowns. Context fills after two or three specialists.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554480"/>
            <a:ext cx="3502152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25112" y="1554480"/>
            <a:ext cx="3502152" cy="822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874519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9F1C"/>
                </a:solidFill>
                <a:latin typeface="Calibri"/>
              </a:rPr>
              <a:t>SOMETIMES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212848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6163A"/>
                </a:solidFill>
                <a:latin typeface="Cambria"/>
              </a:rPr>
              <a:t>The final message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97180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Just the specialist's last answer, as 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5152" y="3611880"/>
            <a:ext cx="2862072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3767328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Cheap and simple, but the supervisor cannot tell a confident answer from a guess.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554480"/>
            <a:ext cx="3502152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10144" y="1554480"/>
            <a:ext cx="3502152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0184" y="1874519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D5B"/>
                </a:solidFill>
                <a:latin typeface="Calibri"/>
              </a:rPr>
              <a:t>DEFAULT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2212848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6163A"/>
                </a:solidFill>
                <a:latin typeface="Cambria"/>
              </a:rPr>
              <a:t>A structured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97180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Findings, confidence, sources, and a status field.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0184" y="3611880"/>
            <a:ext cx="2862072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0184" y="3767328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Compact, comparable, mergeable. The supervisor can reason about it instead of re-reading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83480"/>
            <a:ext cx="10881360" cy="960120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51937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6163A"/>
                </a:solidFill>
                <a:latin typeface="Calibri"/>
              </a:rPr>
              <a:t>Design principle: the supervisor's context is the scarcest resource in the system. Everything that flows upward should be a summary, not a recording.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This is why “agent-as-tool” designs work well — a tool call returns a value, not a conversation.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Three shapes the supervisor can impose on the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88136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B4BC4"/>
                </a:solidFill>
                <a:latin typeface="Calibri"/>
              </a:rPr>
              <a:t>SEQUENTIAL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Output of one is the input of the next. Cheap, predictable, rigid.</a:t>
            </a:r>
          </a:p>
        </p:txBody>
      </p:sp>
      <p:pic>
        <p:nvPicPr>
          <p:cNvPr id="8" name="Picture 7" descr="fig_gc_sequen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874519"/>
            <a:ext cx="6949440" cy="76057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3127248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291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B4BC4"/>
                </a:solidFill>
                <a:latin typeface="Calibri"/>
              </a:rPr>
              <a:t>PARALLEL</a:t>
            </a:r>
          </a:p>
        </p:txBody>
      </p:sp>
      <p:pic>
        <p:nvPicPr>
          <p:cNvPr id="11" name="Picture 10" descr="fig_gc_parall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39312"/>
            <a:ext cx="2331720" cy="148064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11880" y="3639312"/>
            <a:ext cx="21488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Independent sub-tasks run at once, then get synthesised. Big latency win, same token bill — often larger.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127248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3291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B4BC4"/>
                </a:solidFill>
                <a:latin typeface="Calibri"/>
              </a:rPr>
              <a:t>LOOP  /  REVIEW</a:t>
            </a:r>
          </a:p>
        </p:txBody>
      </p:sp>
      <p:pic>
        <p:nvPicPr>
          <p:cNvPr id="15" name="Picture 14" descr="fig_gc_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657600"/>
            <a:ext cx="4023360" cy="13321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92240" y="4983480"/>
            <a:ext cx="4709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A generator and a critic, repeating until the critic approves — or until the retry limit stops them. Quality up, cost 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Diagrams: Google Cloud Architecture Center — sequential, parallel and review-and-critique patterns.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GOING DEEPER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Hierarchical decomposition — a supervisor of supervisors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" y="1499616"/>
            <a:ext cx="5650525" cy="43708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gc_hierarch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27632"/>
            <a:ext cx="5394493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16459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6163A"/>
                </a:solidFill>
                <a:latin typeface="Cambria"/>
              </a:rPr>
              <a:t>Why you would</a:t>
            </a:r>
          </a:p>
        </p:txBody>
      </p:sp>
      <p:sp>
        <p:nvSpPr>
          <p:cNvPr id="8" name="Oval 7"/>
          <p:cNvSpPr/>
          <p:nvPr/>
        </p:nvSpPr>
        <p:spPr>
          <a:xfrm>
            <a:off x="7223760" y="2121408"/>
            <a:ext cx="128016" cy="128016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79" y="2066543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A sub-task is still too big for one agent</a:t>
            </a:r>
          </a:p>
        </p:txBody>
      </p:sp>
      <p:sp>
        <p:nvSpPr>
          <p:cNvPr id="10" name="Oval 9"/>
          <p:cNvSpPr/>
          <p:nvPr/>
        </p:nvSpPr>
        <p:spPr>
          <a:xfrm>
            <a:off x="7223760" y="2596896"/>
            <a:ext cx="128016" cy="128016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2542032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Different branches need different tool sets entirely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3072384"/>
            <a:ext cx="128016" cy="128016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301752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Teams own their own branch and ship independently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703320"/>
            <a:ext cx="4297680" cy="2148840"/>
          </a:xfrm>
          <a:prstGeom prst="roundRect">
            <a:avLst>
              <a:gd name="adj" fmla="val 5000"/>
            </a:avLst>
          </a:prstGeom>
          <a:solidFill>
            <a:srgbClr val="FFF6E8"/>
          </a:solidFill>
          <a:ln w="15875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3913632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23A48"/>
                </a:solidFill>
                <a:latin typeface="Calibri"/>
              </a:rPr>
              <a:t>Why you probably should 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315968"/>
            <a:ext cx="3794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6163A"/>
                </a:solidFill>
                <a:latin typeface="Calibri"/>
              </a:rPr>
              <a:t>Every layer adds a full model call on the way down and another on the way up. Three layers deep, a single question can cost dozens of calls and tens of seconds before any real work starts.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Diagram: Google Cloud Architecture Center — hierarchical task decomposition pattern.  ·  Two levels covers almost every real system.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A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“Give me a competitor briefing on Acme for Monday's board meeting”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481328"/>
            <a:ext cx="3886200" cy="896112"/>
          </a:xfrm>
          <a:prstGeom prst="roundRect">
            <a:avLst>
              <a:gd name="adj" fmla="val 10000"/>
            </a:avLst>
          </a:prstGeom>
          <a:solidFill>
            <a:srgbClr val="16163A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33672" y="1481328"/>
            <a:ext cx="3739896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BRIEFING SUPERVISOR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E99CC"/>
                </a:solidFill>
                <a:latin typeface="Calibri"/>
              </a:rPr>
              <a:t>owns the plan and the final document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26517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246120"/>
            <a:ext cx="2651760" cy="64008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45643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6163A"/>
                </a:solidFill>
                <a:latin typeface="Calibri"/>
              </a:rPr>
              <a:t>News scout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85615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4BC4"/>
                </a:solidFill>
                <a:latin typeface="Calibri"/>
              </a:rPr>
              <a:t>web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33087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What has Acme announced in the last 90 days?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55800" y="2788920"/>
            <a:ext cx="20320" cy="292608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1892259" y="3081528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38144" y="3246120"/>
            <a:ext cx="26517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38144" y="3246120"/>
            <a:ext cx="2651760" cy="64008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66744" y="345643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6163A"/>
                </a:solidFill>
                <a:latin typeface="Calibri"/>
              </a:rPr>
              <a:t>Financials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3785615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4BC4"/>
                </a:solidFill>
                <a:latin typeface="Calibri"/>
              </a:rPr>
              <a:t>SQL + filings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4133087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Revenue, margin and headcount trend from our warehouse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3864" y="2788920"/>
            <a:ext cx="20320" cy="292608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4690323" y="3081528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36208" y="3246120"/>
            <a:ext cx="26517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36208" y="3246120"/>
            <a:ext cx="2651760" cy="64008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8" y="345643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6163A"/>
                </a:solidFill>
                <a:latin typeface="Calibri"/>
              </a:rPr>
              <a:t>Product diff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785615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4BC4"/>
                </a:solidFill>
                <a:latin typeface="Calibri"/>
              </a:rPr>
              <a:t>internal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4133087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Feature-by-feature gaps against our own roadmap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51928" y="2788920"/>
            <a:ext cx="20320" cy="292608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7488387" y="3081528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034272" y="3246120"/>
            <a:ext cx="26517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34272" y="3246120"/>
            <a:ext cx="2651760" cy="6400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62872" y="345643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6163A"/>
                </a:solidFill>
                <a:latin typeface="Calibri"/>
              </a:rPr>
              <a:t>Editor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3785615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D5B"/>
                </a:solidFill>
                <a:latin typeface="Calibri"/>
              </a:rPr>
              <a:t>no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4133087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Turns three findings into one two-page brief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49992" y="2788920"/>
            <a:ext cx="20320" cy="29260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Isosceles Triangle 33"/>
          <p:cNvSpPr/>
          <p:nvPr/>
        </p:nvSpPr>
        <p:spPr>
          <a:xfrm rot="10800000">
            <a:off x="10286451" y="3081528"/>
            <a:ext cx="147401" cy="118872"/>
          </a:xfrm>
          <a:prstGeom prst="triangl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965960" y="2788920"/>
            <a:ext cx="8321040" cy="2032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93460" y="2377440"/>
            <a:ext cx="20320" cy="292608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Isosceles Triangle 36"/>
          <p:cNvSpPr/>
          <p:nvPr/>
        </p:nvSpPr>
        <p:spPr>
          <a:xfrm rot="10800000">
            <a:off x="6029919" y="2670048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0080" y="5303520"/>
            <a:ext cx="10881360" cy="777240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" y="546811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6163A"/>
                </a:solidFill>
                <a:latin typeface="Calibri"/>
              </a:rPr>
              <a:t>Notice: no specialist knows there is a board meeting. Each one has a job, not the goal. Only the supervisor holds the goal.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THE SAME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What actually happens,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79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B4BC4"/>
                </a:solidFill>
                <a:latin typeface="Calibri"/>
              </a:rPr>
              <a:t>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1790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Plans: I need news, numbers, product gaps. Three briefs, run in parallel.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01952"/>
            <a:ext cx="10789920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751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6B6B8A"/>
                </a:solidFill>
                <a:latin typeface="Calibri"/>
              </a:rPr>
              <a:t>→ News scout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7510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Brief: “Acme announcements since 1 May. Return: date, headline, source URL.”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59152"/>
            <a:ext cx="10789920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4323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6B6B8A"/>
                </a:solidFill>
                <a:latin typeface="Calibri"/>
              </a:rPr>
              <a:t>→ Financials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3230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Brief: “Acme revenue and margin, last 8 quarters. Return: table + one-line trend.”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16352"/>
            <a:ext cx="10789920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8895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6B6B8A"/>
                </a:solidFill>
                <a:latin typeface="Calibri"/>
              </a:rPr>
              <a:t>→ Product diff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88950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Brief: “Compare Acme's shipped features to our roadmap. Return: top 5 gaps.”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273552"/>
            <a:ext cx="10789920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3467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7D5B"/>
                </a:solidFill>
                <a:latin typeface="Calibri"/>
              </a:rPr>
              <a:t>← News scout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34670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6 announcements, with links. Confidence: high.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730752"/>
            <a:ext cx="10789920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8039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7D5B"/>
                </a:solidFill>
                <a:latin typeface="Calibri"/>
              </a:rPr>
              <a:t>← Financials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80390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Table returned. Flag: Q2 figures are analyst estimates, not filed.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187952"/>
            <a:ext cx="10789920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2611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7D5B"/>
                </a:solidFill>
                <a:latin typeface="Calibri"/>
              </a:rPr>
              <a:t>← Product diff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26110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5 gaps returned, 2 marked uncertain.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645152"/>
            <a:ext cx="10789920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7183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9F1C"/>
                </a:solidFill>
                <a:latin typeface="Calibri"/>
              </a:rPr>
              <a:t>Supervisor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71830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Two sources disagree on headcount. Re-brief the news scout to check one claim.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102352"/>
            <a:ext cx="10789920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1755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6B6B8A"/>
                </a:solidFill>
                <a:latin typeface="Calibri"/>
              </a:rPr>
              <a:t>→ Editor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17550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Brief: “Write a two-page brief from these three findings. Flag the estimate.”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559552"/>
            <a:ext cx="10789920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56327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B4BC4"/>
                </a:solidFill>
                <a:latin typeface="Calibri"/>
              </a:rPr>
              <a:t>Supervisor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63270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Returns the brief to the user. Nine model calls, roughly forty seconds.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016752"/>
            <a:ext cx="10789920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The interesting line is the eighth: the supervisor noticed a conflict and spent another call resolving it. That judgement is the supervisor's real job.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A REAL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Anthropic's multi-agent research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1517904"/>
            <a:ext cx="6273878" cy="34564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anthropic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6017846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32520" y="1645920"/>
            <a:ext cx="2788920" cy="1060704"/>
          </a:xfrm>
          <a:prstGeom prst="roundRect">
            <a:avLst>
              <a:gd name="adj" fmla="val 5000"/>
            </a:avLst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06840" y="1764792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9F1C"/>
                </a:solidFill>
                <a:latin typeface="Cambria"/>
              </a:rPr>
              <a:t>+90.2%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1945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E99CC"/>
                </a:solidFill>
                <a:latin typeface="Calibri"/>
              </a:rPr>
              <a:t>over a single agent on their internal research eval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2798064"/>
            <a:ext cx="2788920" cy="1060704"/>
          </a:xfrm>
          <a:prstGeom prst="roundRect">
            <a:avLst>
              <a:gd name="adj" fmla="val 5000"/>
            </a:avLst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06840" y="2916936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9F1C"/>
                </a:solidFill>
                <a:latin typeface="Cambria"/>
              </a:rPr>
              <a:t>15×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3346704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E99CC"/>
                </a:solidFill>
                <a:latin typeface="Calibri"/>
              </a:rPr>
              <a:t>more tokens than an ordinary chat interaction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3950208"/>
            <a:ext cx="2788920" cy="1060704"/>
          </a:xfrm>
          <a:prstGeom prst="roundRect">
            <a:avLst>
              <a:gd name="adj" fmla="val 5000"/>
            </a:avLst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06840" y="406908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9F1C"/>
                </a:solidFill>
                <a:latin typeface="Cambria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44988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9E99CC"/>
                </a:solidFill>
                <a:latin typeface="Calibri"/>
              </a:rPr>
              <a:t>of score variance explained by token spend alone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138928"/>
            <a:ext cx="10744200" cy="868680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276088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6163A"/>
                </a:solidFill>
                <a:latin typeface="Calibri"/>
              </a:rPr>
              <a:t>Read it as a trade: they bought a large accuracy gain with a large token bill. That trade only makes sense when the answer is worth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Diagram and figures: Anthropic Engineering — “How we built our multi-agent research system”.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THE UPSIDE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What the supervisor–specialist pattern buys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11296" cy="731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874519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Separation of concerns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Each agent has one job, one prompt, one small tool set — and can be tested on its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55448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5112" y="1554480"/>
            <a:ext cx="3511296" cy="731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19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Context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8716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A specialist's messy intermediate work never lands in anyone else's window.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5448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10144" y="1554480"/>
            <a:ext cx="3511296" cy="731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874519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Parallelism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48716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Independent sub-tasks run at the same time instead of queueing behind each other.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520440"/>
            <a:ext cx="3511296" cy="731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8404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Scales by addition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45312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A new capability is a new specialist plus one line in the supervisor's roster.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352044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25112" y="3520440"/>
            <a:ext cx="3511296" cy="731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8404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Right model per job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45312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A cheap fast model for extraction, an expensive one for planning.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352044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10144" y="3520440"/>
            <a:ext cx="3511296" cy="731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2752" y="38404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A place to govern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45312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One choke point to log, rate-limit, audit and require approval at.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Note that four of these six are about context and control — not about the agents being smarter.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THE DOWNSIDE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What it costs you — every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11296" cy="73152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874519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Token multiplication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Every hop re-states context. Anthropic measured about 15× a normal chat.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55448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5112" y="1554480"/>
            <a:ext cx="3511296" cy="73152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19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Latency stacks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8716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Plan, delegate, work, return, synthesise — each is a full model call in sequence.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55448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10144" y="1554480"/>
            <a:ext cx="3511296" cy="73152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874519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Coordination failures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48716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Roughly 37% of observed failures are agents mis-coordinating, not agents being wrong.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520440"/>
            <a:ext cx="3511296" cy="73152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8404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Harder to debug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45312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The bug is rarely in one agent. It is in what the third one was told.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352044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25112" y="3520440"/>
            <a:ext cx="3511296" cy="73152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8404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Duplicated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45312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Two specialists with overlapping briefs solve the same problem twice, differently.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3520440"/>
            <a:ext cx="3511296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10144" y="3520440"/>
            <a:ext cx="3511296" cy="73152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2752" y="38404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6163A"/>
                </a:solidFill>
                <a:latin typeface="Calibri"/>
              </a:rPr>
              <a:t>Conflicting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45312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Someone has to decide who is right. If nobody does, the user decides — badly.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Failure-rate figures: Cemri et al., Why Do Multi-Agent LLM Systems Fail? — 200+ annotated traces across 7 frameworks.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THE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Do you actually need more than one agent?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6192"/>
            <a:ext cx="534924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5349240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mbria"/>
              </a:rPr>
              <a:t>Go multi-agent when…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414016"/>
            <a:ext cx="137160" cy="1371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2340864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Sub-tasks are genuinely independent and can run in parallel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944368"/>
            <a:ext cx="137160" cy="1371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2871216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The work does not fit in one context window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474720"/>
            <a:ext cx="137160" cy="1371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3401568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Tool sets are large and don't overlap — 30 tools, four clean groups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005072"/>
            <a:ext cx="137160" cy="1371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393192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Different steps need different models or different permissions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535424"/>
            <a:ext cx="137160" cy="1371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4462272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Separate teams need to own and deploy pieces independently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5065776"/>
            <a:ext cx="137160" cy="1371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4992624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The answer is valuable enough to justify 5–15× the tokens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536192"/>
            <a:ext cx="534924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1536192"/>
            <a:ext cx="5349240" cy="82296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810512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B23A48"/>
                </a:solidFill>
                <a:latin typeface="Cambria"/>
              </a:rPr>
              <a:t>Stay single-agent when…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2414016"/>
            <a:ext cx="137160" cy="137160"/>
          </a:xfrm>
          <a:prstGeom prst="ellipse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2340864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Every step depends on the previous one — there is nothing to parallelise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2944368"/>
            <a:ext cx="137160" cy="137160"/>
          </a:xfrm>
          <a:prstGeom prst="ellipse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2871216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All agents would need the same shared context anyway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3474720"/>
            <a:ext cx="137160" cy="137160"/>
          </a:xfrm>
          <a:prstGeom prst="ellipse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3401568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Latency matters more than depth (a live chat, a UI)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4005072"/>
            <a:ext cx="137160" cy="137160"/>
          </a:xfrm>
          <a:prstGeom prst="ellipse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0" y="393192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You have not yet tried better tool names and a tighter prompt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4535424"/>
            <a:ext cx="137160" cy="137160"/>
          </a:xfrm>
          <a:prstGeom prst="ellipse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4462272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The task is well-defined and repeatable — a workflow beats an agent team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5065776"/>
            <a:ext cx="137160" cy="137160"/>
          </a:xfrm>
          <a:prstGeom prst="ellipse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0" y="4992624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163A"/>
                </a:solidFill>
                <a:latin typeface="Calibri"/>
              </a:rPr>
              <a:t>You cannot yet evaluate the single agent you already have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The honest default: one agent, more tools, better prompt. Reach for a second agent when you can name which of the left-hand rows applies.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THE ENTERPRISE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Microsoft's Multi-Agent Reference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444751"/>
            <a:ext cx="3102847" cy="4800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ms_ref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536192"/>
            <a:ext cx="2919967" cy="4617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572768"/>
            <a:ext cx="7315200" cy="859536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B2E8F"/>
                </a:solidFill>
                <a:latin typeface="Calibri"/>
              </a:rPr>
              <a:t>Orchestration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A classifier decides whether this request even needs multiple agents — cheap NLU first, an LLM only if it is unsure.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23744"/>
            <a:ext cx="7315200" cy="859536"/>
          </a:xfrm>
          <a:prstGeom prst="roundRect">
            <a:avLst>
              <a:gd name="adj" fmla="val 5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42615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B2E8F"/>
                </a:solidFill>
                <a:latin typeface="Calibri"/>
              </a:rPr>
              <a:t>Agent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44368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Agents register their capabilities and endpoints, so the supervisor can discover them at runtime instead of being hard-coded.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7315200" cy="859536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593591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B2E8F"/>
                </a:solidFill>
                <a:latin typeface="Calibri"/>
              </a:rPr>
              <a:t>Supervisor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95344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Sits inside the agent layer. Decomposes the request, delegates to agents #1–#4, aggregates the answers.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25696"/>
            <a:ext cx="7315200" cy="859536"/>
          </a:xfrm>
          <a:prstGeom prst="roundRect">
            <a:avLst>
              <a:gd name="adj" fmla="val 5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54456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B2E8F"/>
                </a:solidFill>
                <a:latin typeface="Calibri"/>
              </a:rPr>
              <a:t>Local and remote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Some specialists run in your process; others are services over the network. The pattern is identical either way.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76672"/>
            <a:ext cx="7315200" cy="859536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495544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B2E8F"/>
                </a:solidFill>
                <a:latin typeface="Calibri"/>
              </a:rPr>
              <a:t>Observability and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97296"/>
            <a:ext cx="6858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Drawn as layers spanning everything — in a multi-agent system they are structural, not optional extras.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Diagram: Microsoft — Multi-Agent Reference Architecture (microsoft.github.io/multi-agent-reference-architecture).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084831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9F1C"/>
                </a:solidFill>
                <a:latin typeface="Calibri"/>
              </a:rPr>
              <a:t>PART TWO  ·  18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6888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 dirty="0">
                <a:solidFill>
                  <a:srgbClr val="FFFFFF"/>
                </a:solidFill>
                <a:latin typeface="Cambria"/>
              </a:rPr>
              <a:t>Agent
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931920"/>
            <a:ext cx="9692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 dirty="0">
                <a:solidFill>
                  <a:srgbClr val="9E99CC"/>
                </a:solidFill>
                <a:latin typeface="Calibri"/>
              </a:rPr>
              <a:t>What travels between agents, how it travels, and every way that goes wrong.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FIRST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Three different things are travelling between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0215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02152" cy="9144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19" y="1874519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B4BC4"/>
                </a:solidFill>
                <a:latin typeface="Calibri"/>
              </a:rPr>
              <a:t>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24028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16163A"/>
                </a:solidFill>
                <a:latin typeface="Cambria"/>
              </a:rPr>
              <a:t>Who runs next?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9" y="2926080"/>
            <a:ext cx="2862072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19" y="3108960"/>
            <a:ext cx="2880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“Your turn.” A delegation, a handoff, a return. Get this wrong and two agents run at once — or none 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554480"/>
            <a:ext cx="350215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5112" y="1554480"/>
            <a:ext cx="3502152" cy="914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874519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7D5B"/>
                </a:solidFill>
                <a:latin typeface="Calibri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24028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16163A"/>
                </a:solidFill>
                <a:latin typeface="Cambria"/>
              </a:rPr>
              <a:t>What did you find?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5152" y="2926080"/>
            <a:ext cx="2862072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3108960"/>
            <a:ext cx="2880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The findings, the table, the draft, the error. The actual payload of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554480"/>
            <a:ext cx="350215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0144" y="1554480"/>
            <a:ext cx="3502152" cy="9144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0184" y="1874519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9F1C"/>
                </a:solidFill>
                <a:latin typeface="Calibri"/>
              </a:rPr>
              <a:t>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24028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16163A"/>
                </a:solidFill>
                <a:latin typeface="Cambria"/>
              </a:rPr>
              <a:t>What do you need to know?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0184" y="2926080"/>
            <a:ext cx="2862072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0184" y="3108960"/>
            <a:ext cx="2880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6B8A"/>
                </a:solidFill>
                <a:latin typeface="Calibri"/>
              </a:rPr>
              <a:t>The goal, constraints, what has already been tried. The expensive one — it grows with every hop.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4632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507492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Most “communication problems” in multi-agent systems are actually context problems: the right agent got the turn, and the wrong information came with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PATTERN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Supervisor-mediated — everything goes through the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72768"/>
            <a:ext cx="2834640" cy="777240"/>
          </a:xfrm>
          <a:prstGeom prst="roundRect">
            <a:avLst>
              <a:gd name="adj" fmla="val 10000"/>
            </a:avLst>
          </a:prstGeom>
          <a:solidFill>
            <a:srgbClr val="16163A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7992" y="1572768"/>
            <a:ext cx="268833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SUPERVISOR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3832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3383280"/>
            <a:ext cx="177393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3B2E8F"/>
                </a:solidFill>
                <a:latin typeface="Calibri"/>
              </a:rPr>
              <a:t>Agent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0" y="2697480"/>
            <a:ext cx="20320" cy="539496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 rot="10800000">
            <a:off x="1663659" y="3236976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75840" y="2816352"/>
            <a:ext cx="20320" cy="5394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sosceles Triangle 11"/>
          <p:cNvSpPr/>
          <p:nvPr/>
        </p:nvSpPr>
        <p:spPr>
          <a:xfrm>
            <a:off x="2212299" y="2697480"/>
            <a:ext cx="147401" cy="118872"/>
          </a:xfrm>
          <a:prstGeom prst="triangl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46120" y="33832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3383280"/>
            <a:ext cx="177393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3B2E8F"/>
                </a:solidFill>
                <a:latin typeface="Calibri"/>
              </a:rPr>
              <a:t>Agent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1760" y="2697480"/>
            <a:ext cx="20320" cy="539496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3858219" y="3236976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70400" y="2816352"/>
            <a:ext cx="20320" cy="5394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Isosceles Triangle 17"/>
          <p:cNvSpPr/>
          <p:nvPr/>
        </p:nvSpPr>
        <p:spPr>
          <a:xfrm>
            <a:off x="4406859" y="2697480"/>
            <a:ext cx="147401" cy="118872"/>
          </a:xfrm>
          <a:prstGeom prst="triangl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40680" y="33832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13832" y="3383280"/>
            <a:ext cx="177393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3B2E8F"/>
                </a:solidFill>
                <a:latin typeface="Calibri"/>
              </a:rPr>
              <a:t>Agent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16320" y="2697480"/>
            <a:ext cx="20320" cy="539496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osceles Triangle 21"/>
          <p:cNvSpPr/>
          <p:nvPr/>
        </p:nvSpPr>
        <p:spPr>
          <a:xfrm rot="10800000">
            <a:off x="6052779" y="3236976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64960" y="2816352"/>
            <a:ext cx="20320" cy="5394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sosceles Triangle 23"/>
          <p:cNvSpPr/>
          <p:nvPr/>
        </p:nvSpPr>
        <p:spPr>
          <a:xfrm>
            <a:off x="6601419" y="2697480"/>
            <a:ext cx="147401" cy="118872"/>
          </a:xfrm>
          <a:prstGeom prst="triangl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35240" y="33832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08392" y="3383280"/>
            <a:ext cx="177393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3B2E8F"/>
                </a:solidFill>
                <a:latin typeface="Calibri"/>
              </a:rPr>
              <a:t>Agent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0880" y="2697480"/>
            <a:ext cx="20320" cy="539496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sosceles Triangle 27"/>
          <p:cNvSpPr/>
          <p:nvPr/>
        </p:nvSpPr>
        <p:spPr>
          <a:xfrm rot="10800000">
            <a:off x="8247339" y="3236976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859520" y="2816352"/>
            <a:ext cx="20320" cy="53949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sosceles Triangle 29"/>
          <p:cNvSpPr/>
          <p:nvPr/>
        </p:nvSpPr>
        <p:spPr>
          <a:xfrm>
            <a:off x="8795979" y="2697480"/>
            <a:ext cx="147401" cy="118872"/>
          </a:xfrm>
          <a:prstGeom prst="triangl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011680" y="2697480"/>
            <a:ext cx="6858000" cy="1778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42000" y="2350008"/>
            <a:ext cx="20320" cy="246888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sosceles Triangle 32"/>
          <p:cNvSpPr/>
          <p:nvPr/>
        </p:nvSpPr>
        <p:spPr>
          <a:xfrm rot="10800000">
            <a:off x="5778459" y="2596896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0120" y="4343400"/>
            <a:ext cx="8549640" cy="18288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443484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6B6B8A"/>
                </a:solidFill>
                <a:latin typeface="Calibri"/>
              </a:rPr>
              <a:t>no line runs between the agents — by design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29800" y="1572768"/>
            <a:ext cx="1691640" cy="2542032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12680" y="1783080"/>
            <a:ext cx="13716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6B6B8A"/>
                </a:solidFill>
                <a:latin typeface="Calibri"/>
              </a:rPr>
              <a:t>Also called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3B2E8F"/>
                </a:solidFill>
                <a:latin typeface="Calibri"/>
              </a:rPr>
              <a:t>hub-and-spoke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16163A"/>
                </a:solidFill>
                <a:latin typeface="Calibri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3B2E8F"/>
                </a:solidFill>
                <a:latin typeface="Calibri"/>
              </a:rPr>
              <a:t>star topology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16163A"/>
                </a:solidFill>
                <a:latin typeface="Calibri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3B2E8F"/>
                </a:solidFill>
                <a:latin typeface="Calibri"/>
              </a:rPr>
              <a:t>manager pattern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16163A"/>
                </a:solidFill>
                <a:latin typeface="Calibri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3B2E8F"/>
                </a:solidFill>
                <a:latin typeface="Calibri"/>
              </a:rPr>
              <a:t>agents-as-tools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754880"/>
            <a:ext cx="53492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" y="491947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7D5B"/>
                </a:solidFill>
                <a:latin typeface="Calibri"/>
              </a:rPr>
              <a:t>Good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212080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One place to log, audit and enforce policy. Deterministic sequencing. Easy to reason about and easy to draw.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754880"/>
            <a:ext cx="53492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491947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23A48"/>
                </a:solidFill>
                <a:latin typeface="Calibri"/>
              </a:rPr>
              <a:t>Bad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212080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The hub is a bottleneck and a single point of failure — and every message costs an extra hop through its context.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PATTERN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Direct agent-to-agent — peers, and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1444752"/>
            <a:ext cx="4655353" cy="44622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gc_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72768"/>
            <a:ext cx="4399321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572768"/>
            <a:ext cx="5257800" cy="1234440"/>
          </a:xfrm>
          <a:prstGeom prst="roundRect">
            <a:avLst>
              <a:gd name="adj" fmla="val 5000"/>
            </a:avLst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9F1C"/>
                </a:solidFill>
                <a:latin typeface="Calibri"/>
              </a:rPr>
              <a:t>HANDOFF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84831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one-way transfer of control. The receiving agent takes over the conversation; the sender steps 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971800"/>
            <a:ext cx="52578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2971800"/>
            <a:ext cx="64008" cy="9601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3099816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7D5B"/>
                </a:solidFill>
                <a:latin typeface="Calibri"/>
              </a:rPr>
              <a:t>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92424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Lower latency — no round-trip through a hub. Specialists can pull in the exact peer they need, when they need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023360"/>
            <a:ext cx="52578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4023360"/>
            <a:ext cx="64008" cy="960120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151376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23A48"/>
                </a:solidFill>
                <a:latin typeface="Calibri"/>
              </a:rPr>
              <a:t>Bad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43984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No single place to observe or govern. Loops become possible: A hands to B, B hands back to A, forever.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5074920"/>
            <a:ext cx="52578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5074920"/>
            <a:ext cx="64008" cy="96012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5202936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B4BC4"/>
                </a:solidFill>
                <a:latin typeface="Calibri"/>
              </a:rPr>
              <a:t>Use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495544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Trusted pairs of agents, performance-sensitive paths, and conversational products where one persona should take over.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Diagram: Google Cloud Architecture Center — swarm pattern.  ·  OpenAI calls the same idea the “decentralised pattern”.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MESSAGE-BASED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The vocabulary, borrowed from the A2A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6192"/>
            <a:ext cx="10881360" cy="685800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00784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6163A"/>
                </a:solidFill>
                <a:latin typeface="Calibri"/>
              </a:rPr>
              <a:t>Agents that were built by different teams, in different frameworks, need an agreed envelope. A2A is the open standard for that envelope.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3511296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642615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2E8F"/>
                </a:solidFill>
                <a:latin typeface="Consolas"/>
              </a:rPr>
              <a:t>Agent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17520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A JSON description of who this agent is, what it can do, where to reach it and how to authenticate. Discovery.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423160"/>
            <a:ext cx="3511296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642615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2E8F"/>
                </a:solidFill>
                <a:latin typeface="Consolas"/>
              </a:rP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17520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The unit of work. Has an id and a lifecycle: created → working → input-required → completed / failed / cancelled.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423160"/>
            <a:ext cx="3511296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2642615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2E8F"/>
                </a:solidFill>
                <a:latin typeface="Consolas"/>
              </a:rPr>
              <a:t>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017520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One turn. Has a role (user or agent) and carries one or more parts.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3511296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379976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2E8F"/>
                </a:solidFill>
                <a:latin typeface="Consolas"/>
              </a:rPr>
              <a:t>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754880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The smallest piece of content: text, a file reference, or structured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4160520"/>
            <a:ext cx="3511296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4379976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2E8F"/>
                </a:solidFill>
                <a:latin typeface="Consolas"/>
              </a:rPr>
              <a:t>Artifact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754880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What the agent produced — a document, an image, a table. Also made of parts.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4160520"/>
            <a:ext cx="3511296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2752" y="4379976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B2E8F"/>
                </a:solidFill>
                <a:latin typeface="Consolas"/>
              </a:rPr>
              <a:t>Context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754880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Groups related tasks and messages so a follow-up knows what it follows.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You do not have to use A2A. You do have to decide what your equivalent of each of these six things is — otherwise agents exchange unlabelled prose.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REQUEST /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The synchronous case — and where it stops working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82880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16163A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828800"/>
            <a:ext cx="287121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SUPERVISOR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82880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8392" y="1828800"/>
            <a:ext cx="287121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3B2E8F"/>
                </a:solidFill>
                <a:latin typeface="Calibri"/>
              </a:rPr>
              <a:t>SPECIALIST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074671"/>
            <a:ext cx="3218688" cy="2032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 rot="5400000">
            <a:off x="7379207" y="2011131"/>
            <a:ext cx="118872" cy="147401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1755648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request  ·  the task brief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2531872"/>
            <a:ext cx="3218688" cy="2032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16200000">
            <a:off x="4160520" y="2468331"/>
            <a:ext cx="118872" cy="147401"/>
          </a:xfrm>
          <a:prstGeom prst="triangl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261518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F9F1C"/>
                </a:solidFill>
                <a:latin typeface="Calibri"/>
              </a:rPr>
              <a:t>response  ·  the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926080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8A"/>
                </a:solidFill>
                <a:latin typeface="Calibri"/>
              </a:rPr>
              <a:t>…and the supervisor waits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4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7033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E7D5B"/>
                </a:solidFill>
                <a:latin typeface="Calibri"/>
              </a:rPr>
              <a:t>Works beautifully when tasks are short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1605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Simple — </a:t>
            </a:r>
            <a:r>
              <a:rPr sz="1250" b="0" i="0">
                <a:solidFill>
                  <a:srgbClr val="6B6B8A"/>
                </a:solidFill>
                <a:latin typeface="Calibri"/>
              </a:rPr>
              <a:t>The supervisor's code reads like ordinary function calls.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9087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Predictable — </a:t>
            </a:r>
            <a:r>
              <a:rPr sz="1250" b="0" i="0">
                <a:solidFill>
                  <a:srgbClr val="6B6B8A"/>
                </a:solidFill>
                <a:latin typeface="Calibri"/>
              </a:rPr>
              <a:t>One request, one result. Errors surface immediately.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221224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Easy to trace — </a:t>
            </a:r>
            <a:r>
              <a:rPr sz="1250" b="0" i="0">
                <a:solidFill>
                  <a:srgbClr val="6B6B8A"/>
                </a:solidFill>
                <a:latin typeface="Calibri"/>
              </a:rPr>
              <a:t>Request and response are a matched pair in your logs.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52044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7033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B23A48"/>
                </a:solidFill>
                <a:latin typeface="Calibri"/>
              </a:rPr>
              <a:t>Falls over when they are not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605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Blocking — </a:t>
            </a:r>
            <a:r>
              <a:rPr sz="1250" b="0" i="0">
                <a:solidFill>
                  <a:srgbClr val="6B6B8A"/>
                </a:solidFill>
                <a:latin typeface="Calibri"/>
              </a:rPr>
              <a:t>Nothing else happens while the specialist works.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9087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Timeouts — </a:t>
            </a:r>
            <a:r>
              <a:rPr sz="1250" b="0" i="0">
                <a:solidFill>
                  <a:srgbClr val="6B6B8A"/>
                </a:solidFill>
                <a:latin typeface="Calibri"/>
              </a:rPr>
              <a:t>A ten-minute research task does not fit in an HTTP request.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221224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Serial latency — </a:t>
            </a:r>
            <a:r>
              <a:rPr sz="1250" b="0" i="0">
                <a:solidFill>
                  <a:srgbClr val="6B6B8A"/>
                </a:solidFill>
                <a:latin typeface="Calibri"/>
              </a:rPr>
              <a:t>Four specialists in sequence means four waits, added up.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ASYNCHRONOUS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Three ways to find out that a long task has finished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0215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19" y="1810512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19" y="1810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4708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63A"/>
                </a:solidFill>
                <a:latin typeface="Cambria"/>
              </a:rPr>
              <a:t>Polling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450592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B4BC4"/>
                </a:solidFill>
                <a:latin typeface="Calibri"/>
              </a:rPr>
              <a:t>“Are we there yet?”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2834640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The caller asks for the task status every few seconds. Trivial to build, wasteful at scale, and always a little bit late.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554480"/>
            <a:ext cx="350215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45152" y="1810512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810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84708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63A"/>
                </a:solidFill>
                <a:latin typeface="Cambria"/>
              </a:rPr>
              <a:t>Streaming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450592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B4BC4"/>
                </a:solidFill>
                <a:latin typeface="Calibri"/>
              </a:rPr>
              <a:t>Tell me as you 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834640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The agent pushes events over a live connection (server-sent events). The user sees progress; the caller can stop early.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554480"/>
            <a:ext cx="350215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30184" y="1810512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0184" y="1810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184708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63A"/>
                </a:solidFill>
                <a:latin typeface="Cambria"/>
              </a:rPr>
              <a:t>Push / webhook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2450592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B4BC4"/>
                </a:solidFill>
                <a:latin typeface="Calibri"/>
              </a:rPr>
              <a:t>Call me 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2834640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The agent POSTs to a URL you gave it when the task changes state. Survives hours-long work and disconnected clients.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89120"/>
            <a:ext cx="10881360" cy="1481328"/>
          </a:xfrm>
          <a:prstGeom prst="roundRect">
            <a:avLst>
              <a:gd name="adj" fmla="val 5000"/>
            </a:avLst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590288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9F1C"/>
                </a:solidFill>
                <a:latin typeface="Calibri"/>
              </a:rPr>
              <a:t>Why this matters more than it sounds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56048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Async is what lets a supervisor fan out to five specialists at once instead of waiting for each in turn. Parallelism is not a separate feature — it is what you get once communication stops blocking.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Task lifecycle and the polling / streaming / push triple: Agent2Agent (A2A) protocol specification.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ALL OF IT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A real multi-agent trace, read top to bottom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44751"/>
            <a:ext cx="5272551" cy="4800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anthropic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36192"/>
            <a:ext cx="5089671" cy="4617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1554480"/>
            <a:ext cx="4937760" cy="749808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163677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B2E8F"/>
                </a:solidFill>
                <a:latin typeface="Calibri"/>
              </a:rPr>
              <a:t>Each column is an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901952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Vertical lines are lifetimes, horizontal arrows are messages. The standard way to read agent traffic.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377440"/>
            <a:ext cx="4937760" cy="749808"/>
          </a:xfrm>
          <a:prstGeom prst="roundRect">
            <a:avLst>
              <a:gd name="adj" fmla="val 5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2280" y="245973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B2E8F"/>
                </a:solidFill>
                <a:latin typeface="Calibri"/>
              </a:rPr>
              <a:t>“create subagent for aspect A”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724912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Delegation: a task brief travelling down, with a scope attached to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200400"/>
            <a:ext cx="4937760" cy="749808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328269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B2E8F"/>
                </a:solidFill>
                <a:latin typeface="Calibri"/>
              </a:rPr>
              <a:t>Two subagents, side by 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547872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Their loops overlap in time — only possible because the calls do not block.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023360"/>
            <a:ext cx="4937760" cy="749808"/>
          </a:xfrm>
          <a:prstGeom prst="roundRect">
            <a:avLst>
              <a:gd name="adj" fmla="val 5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410565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B2E8F"/>
                </a:solidFill>
                <a:latin typeface="Calibri"/>
              </a:rPr>
              <a:t>“complete_task”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370832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The result travelling back up. Note what does not travel: the subagent's own search history.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846320"/>
            <a:ext cx="4937760" cy="749808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492861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B2E8F"/>
                </a:solidFill>
                <a:latin typeface="Calibri"/>
              </a:rPr>
              <a:t>Memory is a participant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5193792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The plan is written to memory, not just held in context — so a crash is survivable.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5669280"/>
            <a:ext cx="4937760" cy="749808"/>
          </a:xfrm>
          <a:prstGeom prst="roundRect">
            <a:avLst>
              <a:gd name="adj" fmla="val 5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575157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B2E8F"/>
                </a:solidFill>
                <a:latin typeface="Calibri"/>
              </a:rPr>
              <a:t>“More research needed?”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6016752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Somebody must own the decision to iterate or stop. Here it is the lead agent.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Diagram: Anthropic Engineering — “How we built our multi-agent research system”.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SHARED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The other way to communicate: don't send anything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03320" y="1554480"/>
            <a:ext cx="4754880" cy="960120"/>
          </a:xfrm>
          <a:prstGeom prst="roundRect">
            <a:avLst>
              <a:gd name="adj" fmla="val 10000"/>
            </a:avLst>
          </a:prstGeom>
          <a:solidFill>
            <a:srgbClr val="16163A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76472" y="1554480"/>
            <a:ext cx="460857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SHARED STATE  /  BLACKBOARD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E99CC"/>
                </a:solidFill>
                <a:latin typeface="Calibri"/>
              </a:rPr>
              <a:t>goal · findings so far · decisions · scratchpad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291840"/>
            <a:ext cx="21488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3291840"/>
            <a:ext cx="20025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3B2E8F"/>
                </a:solidFill>
                <a:latin typeface="Calibri"/>
              </a:rPr>
              <a:t>Agent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72920" y="2816352"/>
            <a:ext cx="20320" cy="448056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>
            <a:off x="1709379" y="2697480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04440" y="2697480"/>
            <a:ext cx="20320" cy="44805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sosceles Triangle 11"/>
          <p:cNvSpPr/>
          <p:nvPr/>
        </p:nvSpPr>
        <p:spPr>
          <a:xfrm rot="10800000">
            <a:off x="2440899" y="3145536"/>
            <a:ext cx="147401" cy="118872"/>
          </a:xfrm>
          <a:prstGeom prst="triangl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03320" y="3291840"/>
            <a:ext cx="21488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76472" y="3291840"/>
            <a:ext cx="20025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3B2E8F"/>
                </a:solidFill>
                <a:latin typeface="Calibri"/>
              </a:rPr>
              <a:t>Agent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8960" y="2816352"/>
            <a:ext cx="20320" cy="448056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sosceles Triangle 15"/>
          <p:cNvSpPr/>
          <p:nvPr/>
        </p:nvSpPr>
        <p:spPr>
          <a:xfrm>
            <a:off x="4315419" y="2697480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10480" y="2697480"/>
            <a:ext cx="20320" cy="44805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5046939" y="3145536"/>
            <a:ext cx="147401" cy="118872"/>
          </a:xfrm>
          <a:prstGeom prst="triangl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09360" y="3291840"/>
            <a:ext cx="21488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3291840"/>
            <a:ext cx="20025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3B2E8F"/>
                </a:solidFill>
                <a:latin typeface="Calibri"/>
              </a:rPr>
              <a:t>Agent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5000" y="2816352"/>
            <a:ext cx="20320" cy="448056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osceles Triangle 21"/>
          <p:cNvSpPr/>
          <p:nvPr/>
        </p:nvSpPr>
        <p:spPr>
          <a:xfrm>
            <a:off x="6921459" y="2697480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16520" y="2697480"/>
            <a:ext cx="20320" cy="44805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7652979" y="3145536"/>
            <a:ext cx="147401" cy="118872"/>
          </a:xfrm>
          <a:prstGeom prst="triangl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915400" y="3291840"/>
            <a:ext cx="21488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rgbClr val="5B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88552" y="3291840"/>
            <a:ext cx="20025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3B2E8F"/>
                </a:solidFill>
                <a:latin typeface="Calibri"/>
              </a:rPr>
              <a:t>Agent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91040" y="2816352"/>
            <a:ext cx="20320" cy="448056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sosceles Triangle 27"/>
          <p:cNvSpPr/>
          <p:nvPr/>
        </p:nvSpPr>
        <p:spPr>
          <a:xfrm>
            <a:off x="9527499" y="2697480"/>
            <a:ext cx="147401" cy="118872"/>
          </a:xfrm>
          <a:prstGeom prst="triangl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322560" y="2697480"/>
            <a:ext cx="20320" cy="448056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10259019" y="3145536"/>
            <a:ext cx="147401" cy="118872"/>
          </a:xfrm>
          <a:prstGeom prst="triangl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783080" y="2697480"/>
            <a:ext cx="8549640" cy="1778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80760" y="2514600"/>
            <a:ext cx="17780" cy="18288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114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4BC4"/>
                </a:solidFill>
                <a:latin typeface="Calibri"/>
              </a:rPr>
              <a:t>read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1148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F9F1C"/>
                </a:solidFill>
                <a:latin typeface="Calibri"/>
              </a:rPr>
              <a:t>write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480560"/>
            <a:ext cx="5349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464515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7D5B"/>
                </a:solidFill>
                <a:latin typeface="Calibri"/>
              </a:rPr>
              <a:t>Why it is nice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956048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No message plumbing. Any agent can see what has already been established. This is exactly LangGraph's state object — one typed dictionary every node reads and updates.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4480560"/>
            <a:ext cx="53492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464515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23A48"/>
                </a:solidFill>
                <a:latin typeface="Calibri"/>
              </a:rPr>
              <a:t>Why it bites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956048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Two agents writing the same key overwrite each other. The state grows until everyone's context is full of everyone else's notes. And “who changed this?” gets hard to answer.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Reducers exist for exactly this reason — they say how concurrent updates combine instead of clobbering.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STRUCTURED MESSAGES AND HANDOFFS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Prose is a bad interface between machines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6192"/>
            <a:ext cx="53492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2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23A48"/>
                </a:solidFill>
                <a:latin typeface="Calibri"/>
              </a:rPr>
              <a:t>✗   Free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84831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16163A"/>
                </a:solidFill>
                <a:latin typeface="Cambria"/>
              </a:rPr>
              <a:t>“I looked into the Acme thing and it seems like revenue is up, though the Q2 number might be an estimate, you may want to check that.”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1012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The supervisor now has to parse a vibe.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36192"/>
            <a:ext cx="53492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1907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7D5B"/>
                </a:solidFill>
                <a:latin typeface="Calibri"/>
              </a:rPr>
              <a:t>✓   Structured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84831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6163A"/>
                </a:solidFill>
                <a:latin typeface="Consolas"/>
              </a:rPr>
              <a:t>finding: revenue +12% YoY
confidence: medium
caveat: Q2 is an analyst estimate
sources: [3 urls]
status: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1012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Now it can be compared, merged and checked.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163A"/>
                </a:solidFill>
                <a:latin typeface="Cambria"/>
              </a:rPr>
              <a:t>A handoff is two things at once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3502152" cy="1417320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46177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B2E8F"/>
                </a:solidFill>
                <a:latin typeface="Calibri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95604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“You are now driving.” The sender stops; the receiver continues.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4434840"/>
            <a:ext cx="3502152" cy="1417320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46177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B2E8F"/>
                </a:solidFill>
                <a:latin typeface="Calibri"/>
              </a:rPr>
              <a:t>Context payload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95604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What the receiver needs: the goal, what has been tried, what was decided and why.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4434840"/>
            <a:ext cx="3502152" cy="1417320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46177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B2E8F"/>
                </a:solidFill>
                <a:latin typeface="Calibri"/>
              </a:rPr>
              <a:t>What to leave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4956048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The sender's own reasoning trace, failed attempts and raw tool dumps — unless they change the next decision.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A handoff that forwards the entire conversation is not a handoff — it is a context leak with extra steps.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Four communication patterns, four different bills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49040" y="157276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4BC4"/>
                </a:solidFill>
                <a:latin typeface="Calibri"/>
              </a:rPr>
              <a:t>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157276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4BC4"/>
                </a:solidFill>
                <a:latin typeface="Calibri"/>
              </a:rPr>
              <a:t>OBSERVABILITY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57276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4BC4"/>
                </a:solidFill>
                <a:latin typeface="Calibri"/>
              </a:rPr>
              <a:t>COUPLING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1572768"/>
            <a:ext cx="2377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4BC4"/>
                </a:solidFill>
                <a:latin typeface="Calibri"/>
              </a:rPr>
              <a:t>BEST FOR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10881360" cy="960120"/>
          </a:xfrm>
          <a:prstGeom prst="roundRect">
            <a:avLst>
              <a:gd name="adj" fmla="val 4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2743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63A"/>
                </a:solidFill>
                <a:latin typeface="Calibri"/>
              </a:rPr>
              <a:t>Supervisor-mediated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1920240"/>
            <a:ext cx="1463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Higher — every hop
via the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920240"/>
            <a:ext cx="1737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Excellent — one
place to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920240"/>
            <a:ext cx="1463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Low between
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92024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Compliance, audit,
strict sequencing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53512"/>
            <a:ext cx="10881360" cy="960120"/>
          </a:xfrm>
          <a:prstGeom prst="roundRect">
            <a:avLst>
              <a:gd name="adj" fmla="val 4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953512"/>
            <a:ext cx="2743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63A"/>
                </a:solidFill>
                <a:latin typeface="Calibri"/>
              </a:rPr>
              <a:t>Direct agent-to-agent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953512"/>
            <a:ext cx="1463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Lower — no
round 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953512"/>
            <a:ext cx="1737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Poor unless you
add tracing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953512"/>
            <a:ext cx="1463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High — agents
know each other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953512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Trusted pairs,
latency-critical paths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86783"/>
            <a:ext cx="10881360" cy="960120"/>
          </a:xfrm>
          <a:prstGeom prst="roundRect">
            <a:avLst>
              <a:gd name="adj" fmla="val 4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986783"/>
            <a:ext cx="2743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63A"/>
                </a:solidFill>
                <a:latin typeface="Calibri"/>
              </a:rPr>
              <a:t>Message bus / pub-sub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986783"/>
            <a:ext cx="1463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Variable —
queue depth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986783"/>
            <a:ext cx="1737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Good — the queue
is the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986783"/>
            <a:ext cx="1463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Very low —
by topic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986783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Many agents, bursty
load, scaling 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20055"/>
            <a:ext cx="10881360" cy="960120"/>
          </a:xfrm>
          <a:prstGeom prst="roundRect">
            <a:avLst>
              <a:gd name="adj" fmla="val 4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020055"/>
            <a:ext cx="2743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63A"/>
                </a:solidFill>
                <a:latin typeface="Calibri"/>
              </a:rPr>
              <a:t>Shared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5020055"/>
            <a:ext cx="1463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Lowest — no
messages at 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020055"/>
            <a:ext cx="17373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Medium — needs
versioning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5020055"/>
            <a:ext cx="1463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Via the schema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5020055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Tight teams of agents
on one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Real systems mix them: mediated control flow, shared state for the plan, direct calls on the two hot paths. The point is to choose, not to drift.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WHAT GOES WRONG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Context — the failure mode nobody sees coming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73152" cy="1389888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6163A"/>
                </a:solidFill>
                <a:latin typeface="Cambria"/>
              </a:rPr>
              <a:t>Context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Each hop appends. By the fourth agent the window holds three agents' worth of intermediate work, and the model starts missing the parts that matter.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32120" y="1755648"/>
            <a:ext cx="12700" cy="100584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0" y="175564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D5B"/>
                </a:solidFill>
                <a:latin typeface="Calibri"/>
              </a:rPr>
              <a:t>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084831"/>
            <a:ext cx="5394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6163A"/>
                </a:solidFill>
                <a:latin typeface="Calibri"/>
              </a:rPr>
              <a:t>Summarise at every boundary. Pass conclusions, not transcripts.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44952"/>
            <a:ext cx="108813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044952"/>
            <a:ext cx="73152" cy="1389888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22783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6163A"/>
                </a:solidFill>
                <a:latin typeface="Cambria"/>
              </a:rPr>
              <a:t>Information withholding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85032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An agent finds something decisive and doesn't pass it on, because nothing in its brief said to. The next agent works from an incomplete picture.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2120" y="3246120"/>
            <a:ext cx="12700" cy="100584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52160" y="32461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D5B"/>
                </a:solidFill>
                <a:latin typeface="Calibri"/>
              </a:rPr>
              <a:t>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575304"/>
            <a:ext cx="5394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6163A"/>
                </a:solidFill>
                <a:latin typeface="Calibri"/>
              </a:rPr>
              <a:t>Define the return schema. If a field must be filled, it gets filled.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35424"/>
            <a:ext cx="108813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535424"/>
            <a:ext cx="73152" cy="1389888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71830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6163A"/>
                </a:solidFill>
                <a:latin typeface="Cambria"/>
              </a:rPr>
              <a:t>Loss of conversation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175504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A handoff drops the constraint the user gave in the first message. The receiving agent cheerfully violates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4736592"/>
            <a:ext cx="12700" cy="100584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160" y="47365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7D5B"/>
                </a:solidFill>
                <a:latin typeface="Calibri"/>
              </a:rPr>
              <a:t>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5065776"/>
            <a:ext cx="5394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6163A"/>
                </a:solidFill>
                <a:latin typeface="Calibri"/>
              </a:rPr>
              <a:t>Keep goal and constraints in shared state, not in the message chain.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Two of these three are named failure modes in the MAST taxonomy — they are common enough to have been catalogued.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WHAT GOES WRONG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Coordination — measured, not guessed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6192"/>
            <a:ext cx="3246120" cy="4251960"/>
          </a:xfrm>
          <a:prstGeom prst="roundRect">
            <a:avLst>
              <a:gd name="adj" fmla="val 5000"/>
            </a:avLst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5564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MAST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2697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E99CC"/>
                </a:solidFill>
                <a:latin typeface="Calibri"/>
              </a:rPr>
              <a:t>200+ traces from 7 open-source frameworks, annotated by 6 experts. 14 failure modes in 3 families.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9F1C"/>
                </a:solidFill>
                <a:latin typeface="Cambria"/>
              </a:rPr>
              <a:t>41.8%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6616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Specification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4164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9F1C"/>
                </a:solidFill>
                <a:latin typeface="Cambria"/>
              </a:rPr>
              <a:t>36.9%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07408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Inter-agent misalignment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82896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9F1C"/>
                </a:solidFill>
                <a:latin typeface="Cambria"/>
              </a:rPr>
              <a:t>21.3%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48656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Verification failures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536192"/>
            <a:ext cx="7452360" cy="658368"/>
          </a:xfrm>
          <a:prstGeom prst="roundRect">
            <a:avLst>
              <a:gd name="adj" fmla="val 4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1536192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Step repetition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536192"/>
            <a:ext cx="777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B23A48"/>
                </a:solidFill>
                <a:latin typeface="Calibri"/>
              </a:rPr>
              <a:t>17.1%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36192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Agents redo work that was already done — usually because nothing recorded that it was done.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2267712"/>
            <a:ext cx="7452360" cy="658368"/>
          </a:xfrm>
          <a:prstGeom prst="roundRect">
            <a:avLst>
              <a:gd name="adj" fmla="val 4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2267712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Reasoning–action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267712"/>
            <a:ext cx="777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B23A48"/>
                </a:solidFill>
                <a:latin typeface="Calibri"/>
              </a:rPr>
              <a:t>14.0%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267712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The agent explains a sensible plan and then does something else.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2999232"/>
            <a:ext cx="7452360" cy="658368"/>
          </a:xfrm>
          <a:prstGeom prst="roundRect">
            <a:avLst>
              <a:gd name="adj" fmla="val 4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2999232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Fail to ask for clarification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999232"/>
            <a:ext cx="777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B23A48"/>
                </a:solidFill>
                <a:latin typeface="Calibri"/>
              </a:rPr>
              <a:t>11.7%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999232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Faced with an ambiguous brief, the agent guesses instead of asking.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69080" y="3730752"/>
            <a:ext cx="7452360" cy="658368"/>
          </a:xfrm>
          <a:prstGeom prst="roundRect">
            <a:avLst>
              <a:gd name="adj" fmla="val 4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3730752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Unaware of stopping conditions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730752"/>
            <a:ext cx="777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B23A48"/>
                </a:solidFill>
                <a:latin typeface="Calibri"/>
              </a:rPr>
              <a:t>9.8%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730752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Nobody knows the task is finished, so the loop keeps going.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69080" y="4462272"/>
            <a:ext cx="7452360" cy="658368"/>
          </a:xfrm>
          <a:prstGeom prst="roundRect">
            <a:avLst>
              <a:gd name="adj" fmla="val 4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43400" y="4462272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Premature termination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462272"/>
            <a:ext cx="777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B23A48"/>
                </a:solidFill>
                <a:latin typeface="Calibri"/>
              </a:rPr>
              <a:t>7.8%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462272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The opposite: the system declares victory before the work is actually complete.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69080" y="5193792"/>
            <a:ext cx="7452360" cy="658368"/>
          </a:xfrm>
          <a:prstGeom prst="roundRect">
            <a:avLst>
              <a:gd name="adj" fmla="val 4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400" y="5193792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6163A"/>
                </a:solidFill>
                <a:latin typeface="Calibri"/>
              </a:rPr>
              <a:t>Task derailment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5193792"/>
            <a:ext cx="777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B23A48"/>
                </a:solidFill>
                <a:latin typeface="Calibri"/>
              </a:rPr>
              <a:t>7.2%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5193792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The conversation drifts away from the original goal, one reasonable step at a time.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5943599"/>
            <a:ext cx="7452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6B8A"/>
                </a:solidFill>
                <a:latin typeface="Calibri"/>
              </a:rPr>
              <a:t>Six of the fourteen modes shown; percentages are shares of all observed failures.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Cemri et al., “Why Do Multi-Agent LLM Systems Fail?”, arXiv:2503.13657 (NeurIPS 2025 Datasets &amp; Benchmarks).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WHAT GOES WRONG (3)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The bill — latency and cost are architectural, not accidental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49240" cy="4005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5564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6163A"/>
                </a:solidFill>
                <a:latin typeface="Cambria"/>
              </a:rPr>
              <a:t>Where the seconds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6163A"/>
                </a:solidFill>
                <a:latin typeface="Calibri"/>
              </a:rPr>
              <a:t>Supervisor plans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221991"/>
            <a:ext cx="740092" cy="18288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68112" y="216712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1.4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39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6163A"/>
                </a:solidFill>
                <a:latin typeface="Calibri"/>
              </a:rPr>
              <a:t>Delegates 3 briefs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2651759"/>
            <a:ext cx="317182" cy="18288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68112" y="259689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0.6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7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6163A"/>
                </a:solidFill>
                <a:latin typeface="Calibri"/>
              </a:rPr>
              <a:t>Specialists work (in parallel)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3081527"/>
            <a:ext cx="1691640" cy="18288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68112" y="3026663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3.2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5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6163A"/>
                </a:solidFill>
                <a:latin typeface="Calibri"/>
              </a:rPr>
              <a:t>Results return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3511295"/>
            <a:ext cx="264318" cy="18288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68112" y="3456431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895343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6163A"/>
                </a:solidFill>
                <a:latin typeface="Calibri"/>
              </a:rPr>
              <a:t>Supervisor re-reads and decides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3941063"/>
            <a:ext cx="951547" cy="18288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68112" y="3886199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1.8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25111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6163A"/>
                </a:solidFill>
                <a:latin typeface="Calibri"/>
              </a:rPr>
              <a:t>Editor writes the answer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4370831"/>
            <a:ext cx="1374457" cy="18288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68112" y="4315967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6B6B8A"/>
                </a:solidFill>
                <a:latin typeface="Calibri"/>
              </a:rPr>
              <a:t>2.6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4773167"/>
            <a:ext cx="4709160" cy="12700"/>
          </a:xfrm>
          <a:prstGeom prst="rect">
            <a:avLst/>
          </a:prstGeom>
          <a:solidFill>
            <a:srgbClr val="DC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4882895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163A"/>
                </a:solidFill>
                <a:latin typeface="Calibri"/>
              </a:rPr>
              <a:t>Total, best 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882895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5B4BC4"/>
                </a:solidFill>
                <a:latin typeface="Calibri"/>
              </a:rPr>
              <a:t>≈ 10 seconds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193791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6B8A"/>
                </a:solidFill>
                <a:latin typeface="Calibri"/>
              </a:rPr>
              <a:t>The same question, one agent: two calls, about 4 seconds.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1554480"/>
            <a:ext cx="5349240" cy="4005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175564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6163A"/>
                </a:solidFill>
                <a:latin typeface="Cambria"/>
              </a:rPr>
              <a:t>Where the tokens 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24028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9F1C"/>
                </a:solidFill>
                <a:latin typeface="Cambria"/>
              </a:rPr>
              <a:t>4×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2295144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an agent versus a single chat message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898648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9F1C"/>
                </a:solidFill>
                <a:latin typeface="Cambria"/>
              </a:rPr>
              <a:t>15×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295351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a multi-agent system versus a single chat message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557015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9F1C"/>
                </a:solidFill>
                <a:latin typeface="Cambria"/>
              </a:rPr>
              <a:t>×N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3611879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every specialist re-receives the goal and constraints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215383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9F1C"/>
                </a:solidFill>
                <a:latin typeface="Cambria"/>
              </a:rPr>
              <a:t>×retries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4270247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8A"/>
                </a:solidFill>
                <a:latin typeface="Calibri"/>
              </a:rPr>
              <a:t>and every loop iteration pays the whole bill again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4754880"/>
            <a:ext cx="4709160" cy="566928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20840" y="4754880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6163A"/>
                </a:solidFill>
                <a:latin typeface="Calibri"/>
              </a:rPr>
              <a:t>Token spend explained 80% of score variance in Anthropic's eval.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27278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8A"/>
                </a:solidFill>
                <a:latin typeface="Calibri"/>
              </a:rPr>
              <a:t>Both numbers are design outputs, not surprises. Decide the latency and cost budget first, then pick how many agents fit inside it.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Eight rules that prevent most of what we just listed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49240" cy="1051560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856231"/>
            <a:ext cx="438912" cy="438912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56231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0078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63A"/>
                </a:solidFill>
                <a:latin typeface="Calibri"/>
              </a:rPr>
              <a:t>Cap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Max hops, max retries, max sub-agents, max depth. Every loop needs a 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5349240" cy="1051560"/>
          </a:xfrm>
          <a:prstGeom prst="roundRect">
            <a:avLst>
              <a:gd name="adj" fmla="val 5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0" y="1856231"/>
            <a:ext cx="438912" cy="438912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856231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70078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63A"/>
                </a:solidFill>
                <a:latin typeface="Calibri"/>
              </a:rPr>
              <a:t>One owner per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01168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Exactly one agent decides when the task is done. Never two, never none.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43200"/>
            <a:ext cx="5349240" cy="1051560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3044952"/>
            <a:ext cx="438912" cy="438912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4495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88950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63A"/>
                </a:solidFill>
                <a:latin typeface="Calibri"/>
              </a:rPr>
              <a:t>Schema on the way 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20040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Specialists return fields, not paragraphs. Empty fields are visible; vague prose is not.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743200"/>
            <a:ext cx="5349240" cy="1051560"/>
          </a:xfrm>
          <a:prstGeom prst="roundRect">
            <a:avLst>
              <a:gd name="adj" fmla="val 5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0" y="3044952"/>
            <a:ext cx="438912" cy="438912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04495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88950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63A"/>
                </a:solidFill>
                <a:latin typeface="Calibri"/>
              </a:rPr>
              <a:t>Summarise at boundaries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20040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Nothing crosses an agent boundary without being compressed first.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31920"/>
            <a:ext cx="5349240" cy="1051560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8680" y="4233672"/>
            <a:ext cx="438912" cy="438912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23367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07822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63A"/>
                </a:solidFill>
                <a:latin typeface="Calibri"/>
              </a:rPr>
              <a:t>Non-overlapping briefs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38912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If two briefs could produce the same sentence, merge them or narrow them.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31920"/>
            <a:ext cx="5349240" cy="1051560"/>
          </a:xfrm>
          <a:prstGeom prst="roundRect">
            <a:avLst>
              <a:gd name="adj" fmla="val 5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00800" y="4233672"/>
            <a:ext cx="438912" cy="438912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423367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07822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63A"/>
                </a:solidFill>
                <a:latin typeface="Calibri"/>
              </a:rPr>
              <a:t>Trace with ids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38912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One task id and one context id through the whole run, or you cannot debug 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120640"/>
            <a:ext cx="5349240" cy="1051560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68680" y="5422392"/>
            <a:ext cx="438912" cy="438912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42239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26694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63A"/>
                </a:solidFill>
                <a:latin typeface="Calibri"/>
              </a:rPr>
              <a:t>Checkpoint the plan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57784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Write it to state, not just to context — so a crash resumes instead of restarting.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5120640"/>
            <a:ext cx="5349240" cy="1051560"/>
          </a:xfrm>
          <a:prstGeom prst="roundRect">
            <a:avLst>
              <a:gd name="adj" fmla="val 5000"/>
            </a:avLst>
          </a:prstGeom>
          <a:solidFill>
            <a:srgbClr val="EF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00800" y="5422392"/>
            <a:ext cx="438912" cy="438912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542239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526694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63A"/>
                </a:solidFill>
                <a:latin typeface="Calibri"/>
              </a:rPr>
              <a:t>Escalate, don't guess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557784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8A"/>
                </a:solidFill>
                <a:latin typeface="Calibri"/>
              </a:rPr>
              <a:t>Conflicting results go to the supervisor, or to a human. Never to the user unmarked.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9E99CC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mbria"/>
              </a:rPr>
              <a:t>Seven things to walk out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9F1C"/>
                </a:solidFill>
                <a:latin typeface="Calibri"/>
              </a:rPr>
              <a:t>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Cambria"/>
              </a:rPr>
              <a:t>Seven things to walk out with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57276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A supervisor owns the plan. Specialists own the work. Nobody owns both.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23113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A specialist is an agent made deliberately small — one domain, few tools, its own context.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871215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87121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889503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Decomposition quality decides system quality: objective, output format, tools, boundaries.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529583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52958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547871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What travels back up should be a structured summary, never a transcript.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187951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18795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20623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Communication is a design choice: mediated, direct, message bus, or shared state.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846319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84631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864607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Most failures are coordination failures, not intelligence failures.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504687"/>
            <a:ext cx="457200" cy="457200"/>
          </a:xfrm>
          <a:prstGeom prst="ellipse">
            <a:avLst/>
          </a:prstGeom>
          <a:solidFill>
            <a:srgbClr val="5B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504687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522975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Multi-agent costs roughly an order of magnitude more. Start with one agent and prove you need more.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30936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E99CC"/>
                </a:solidFill>
                <a:latin typeface="Calibri"/>
              </a:rPr>
              <a:t>Wednesday: we build this — a LangGraph supervisor with two specialists, tools, and a human-in-the-loop checkpoint.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4BC4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6163A"/>
                </a:solidFill>
                <a:latin typeface="Cambria"/>
              </a:rPr>
              <a:t>Where all of this came from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5349240" cy="768096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163A"/>
                </a:solidFill>
                <a:latin typeface="Calibri"/>
              </a:rPr>
              <a:t>Microsoft — Multi-Agent Reference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microsoft.github.io/multi-agent-reference-architecture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32304"/>
            <a:ext cx="5349240" cy="768096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3288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163A"/>
                </a:solidFill>
                <a:latin typeface="Calibri"/>
              </a:rPr>
              <a:t>Google Cloud — Choose a design pattern for your agentic AI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43784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docs.cloud.google.com/architecture/choose-design-pattern-agentic-ai-system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5349240" cy="768096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392424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163A"/>
                </a:solidFill>
                <a:latin typeface="Calibri"/>
              </a:rPr>
              <a:t>Google Cloud — Multi-agent AI system reference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docs.cloud.google.com/architecture/multiagent-ai-system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51376"/>
            <a:ext cx="5349240" cy="768096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163A"/>
                </a:solidFill>
                <a:latin typeface="Calibri"/>
              </a:rPr>
              <a:t>Anthropic Engineering — How we built our multi-agent research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62856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anthropic.com/engineering/multi-agent-research-system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10912"/>
            <a:ext cx="5349240" cy="768096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1149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163A"/>
                </a:solidFill>
                <a:latin typeface="Calibri"/>
              </a:rPr>
              <a:t>OpenAI — A practical guide to building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22392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manager pattern and decentralised pattern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572768"/>
            <a:ext cx="5349240" cy="768096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6733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163A"/>
                </a:solidFill>
                <a:latin typeface="Calibri"/>
              </a:rPr>
              <a:t>Cemri et al. — Why Do Multi-Agent LLM Systems Fail?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984248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arXiv:2503.13657 · NeurIPS 2025 · the MAST taxonomy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432304"/>
            <a:ext cx="5349240" cy="768096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253288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163A"/>
                </a:solidFill>
                <a:latin typeface="Calibri"/>
              </a:rPr>
              <a:t>Agent2Agent (A2A) protocol specification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843784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a2a-protocol.org/latest/specification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291840"/>
            <a:ext cx="5349240" cy="768096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392424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163A"/>
                </a:solidFill>
                <a:latin typeface="Calibri"/>
              </a:rPr>
              <a:t>Wu et al. — AutoGen: multi-agent conversation framework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70332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arXiv:2308.08155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151376"/>
            <a:ext cx="5349240" cy="768096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425196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163A"/>
                </a:solidFill>
                <a:latin typeface="Calibri"/>
              </a:rPr>
              <a:t>Yan et al. — Beyond Self-Talk: a communication-centric survey of LLM-MAS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62856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arXiv:2502.14321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5010912"/>
            <a:ext cx="5349240" cy="768096"/>
          </a:xfrm>
          <a:prstGeom prst="roundRect">
            <a:avLst>
              <a:gd name="adj" fmla="val 5000"/>
            </a:avLst>
          </a:prstGeom>
          <a:solidFill>
            <a:srgbClr val="F2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511149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163A"/>
                </a:solidFill>
                <a:latin typeface="Calibri"/>
              </a:rPr>
              <a:t>LangChain / LangGraph — multi-agent documentation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422392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B8A"/>
                </a:solidFill>
                <a:latin typeface="Calibri"/>
              </a:rPr>
              <a:t>docs.langchain.com · subagents, handoffs, supervisor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70448"/>
            <a:ext cx="10881360" cy="566928"/>
          </a:xfrm>
          <a:prstGeom prst="roundRect">
            <a:avLst>
              <a:gd name="adj" fmla="val 5000"/>
            </a:avLst>
          </a:prstGeom>
          <a:solidFill>
            <a:srgbClr val="16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5870448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All diagrams are reproduced from the sources named on each slide, for classroom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5043</Words>
  <Application>Microsoft Office PowerPoint</Application>
  <PresentationFormat>Widescreen</PresentationFormat>
  <Paragraphs>613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 Zeb</cp:lastModifiedBy>
  <cp:revision>1</cp:revision>
  <dcterms:created xsi:type="dcterms:W3CDTF">2013-01-27T09:14:16Z</dcterms:created>
  <dcterms:modified xsi:type="dcterms:W3CDTF">2026-08-17T12:42:36Z</dcterms:modified>
  <cp:category/>
</cp:coreProperties>
</file>