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103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 &amp;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5420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keypoints to skeletons — understanding body pose with MediaPipe &amp; YOLO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12080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joint detection — real-time skeleton tracking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611880"/>
            <a:ext cx="36576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Hands-On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3611880"/>
            <a:ext cx="36576" cy="8686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611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3822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+ YOLOv8-Pose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Core CV Tasks   |   Week 6</a:t>
            </a:r>
            <a:endParaRPr lang="en-US" sz="1100" dirty="0"/>
          </a:p>
        </p:txBody>
      </p:sp>
      <p:pic>
        <p:nvPicPr>
          <p:cNvPr id="15" name="Image 0" descr="/sessions/determined-fervent-pascal/mnt/AI-CV-Lecture/Session 12/mediapipe_land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171" y="868680"/>
            <a:ext cx="347472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407822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60120"/>
            <a:ext cx="64008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252728"/>
            <a:ext cx="548640" cy="54864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252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1143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Keypoints?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15727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Joints, landmarks, and why they matter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9744" y="960120"/>
            <a:ext cx="407822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9744" y="960120"/>
            <a:ext cx="64008" cy="11430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6" name="Shape 14"/>
          <p:cNvSpPr/>
          <p:nvPr/>
        </p:nvSpPr>
        <p:spPr>
          <a:xfrm>
            <a:off x="5038344" y="1252728"/>
            <a:ext cx="548640" cy="548640"/>
          </a:xfrm>
          <a:prstGeom prst="line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5038344" y="1252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24144" y="1143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24144" y="15727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fundamental approaches to multi-person pose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267712"/>
            <a:ext cx="407822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267712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2560320"/>
            <a:ext cx="548640" cy="548640"/>
          </a:xfrm>
          <a:prstGeom prst="lin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24505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of Models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OpenPose, HRNet, and more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9744" y="2267712"/>
            <a:ext cx="407822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9744" y="2267712"/>
            <a:ext cx="64008" cy="1143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Shape 26"/>
          <p:cNvSpPr/>
          <p:nvPr/>
        </p:nvSpPr>
        <p:spPr>
          <a:xfrm>
            <a:off x="5038344" y="2560320"/>
            <a:ext cx="548640" cy="548640"/>
          </a:xfrm>
          <a:prstGeom prst="line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5038344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724144" y="24505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— Deep Dive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724144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BlazePose architecture &amp; 33 landmarks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575304"/>
            <a:ext cx="407822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575304"/>
            <a:ext cx="64008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867912"/>
            <a:ext cx="548640" cy="54864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280160" y="375818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YOLOv8-Pose — Deep Dive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80160" y="41879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detection + keypoints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9744" y="3575304"/>
            <a:ext cx="4078224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9744" y="3575304"/>
            <a:ext cx="64008" cy="11430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0" name="Shape 38"/>
          <p:cNvSpPr/>
          <p:nvPr/>
        </p:nvSpPr>
        <p:spPr>
          <a:xfrm>
            <a:off x="5038344" y="3867912"/>
            <a:ext cx="548640" cy="548640"/>
          </a:xfrm>
          <a:prstGeom prst="line">
            <a:avLst/>
          </a:prstGeom>
          <a:solidFill>
            <a:srgbClr val="E11D48"/>
          </a:solidFill>
          <a:ln/>
        </p:spPr>
      </p:sp>
      <p:sp>
        <p:nvSpPr>
          <p:cNvPr id="41" name="Text 39"/>
          <p:cNvSpPr/>
          <p:nvPr/>
        </p:nvSpPr>
        <p:spPr>
          <a:xfrm>
            <a:off x="5038344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724144" y="375818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724144" y="41879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Fitness, sports, healthcare, AR, gaming &amp; more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CV Task Hierarchy — Where Pose Fits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1938528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14400"/>
            <a:ext cx="1938528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9144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48132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image?"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148840"/>
            <a:ext cx="15727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4028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24688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per image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05456" y="914400"/>
            <a:ext cx="1938528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05456" y="914400"/>
            <a:ext cx="1938528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2505456" y="9144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96896" y="148132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88336" y="2148840"/>
            <a:ext cx="15727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96896" y="224028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96896" y="24688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+ label per object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26864" y="914400"/>
            <a:ext cx="1938528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6864" y="914400"/>
            <a:ext cx="1938528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626864" y="9144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8304" y="148132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class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each pixel?"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9744" y="2148840"/>
            <a:ext cx="15727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224028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18304" y="24688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masks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48272" y="914400"/>
            <a:ext cx="1938528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48272" y="914400"/>
            <a:ext cx="1938528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1" name="Text 29"/>
          <p:cNvSpPr/>
          <p:nvPr/>
        </p:nvSpPr>
        <p:spPr>
          <a:xfrm>
            <a:off x="6748272" y="9144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39712" y="148132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joints?"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31152" y="2148840"/>
            <a:ext cx="15727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224028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39712" y="24688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 + skeleton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343400"/>
            <a:ext cx="9144000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adds spatial understanding of body structure — from bounding boxes to articulated skeletons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Keypoints?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937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64008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914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Anchor Points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1325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meaningful locations on an object (e.g., joints on a body, corners of a face) that can be consistently identified across different images and poses.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93776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377440"/>
            <a:ext cx="64008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423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423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image (H × W × 3)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93776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017520"/>
            <a:ext cx="64008" cy="502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063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y, confidence) per keypoint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93776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657600"/>
            <a:ext cx="64008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COCO: 17 keypoints × 3 values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493776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4297680"/>
            <a:ext cx="6400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343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45920" y="4343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 linked into a skeleton graph</a:t>
            </a:r>
            <a:endParaRPr lang="en-US" sz="1100" dirty="0"/>
          </a:p>
        </p:txBody>
      </p:sp>
      <p:pic>
        <p:nvPicPr>
          <p:cNvPr id="28" name="Image 0" descr="/sessions/determined-fervent-pascal/mnt/AI-CV-Lecture/Session 12/openpose_example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868680"/>
            <a:ext cx="3200400" cy="18013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577840" y="2743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OpenPose multi-person output — body + hand + face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577840" y="3108960"/>
            <a:ext cx="320040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577840" y="3108960"/>
            <a:ext cx="32004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29"/>
          <p:cNvSpPr/>
          <p:nvPr/>
        </p:nvSpPr>
        <p:spPr>
          <a:xfrm>
            <a:off x="557784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= Keypoints + Edges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760720" y="35661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locations (shoulder, elbow, wrist...)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 connections (shoulder→elbow, elbow→wrist...)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form an articulated body model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17 Keypoint Topology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Standard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defines 17 body keypoints used by most modern pose estimation models, including YOLOv8-pose, HRNet, and OpenPose (COCO variant).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16459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(0-4)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2860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Nose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Left Eye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Right Eye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Left Ear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Right Ear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1965960"/>
            <a:ext cx="192024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Body (5-10)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2860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Left Shoulder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Right Shoulder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Left Elbow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Right Elbow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 Left Wrist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Right Wrist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3749040" cy="2743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Body (11-16)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Left Hip    |    12  Right Hip    |    13  Left Knee    |    14  Right Knee    |    15  Left Ankle    |    16  Right Ankle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Skeleton Topology</a:t>
            </a:r>
            <a:endParaRPr lang="en-US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E61742-4D7D-73F3-A6EE-5C9481300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172" y="1287970"/>
            <a:ext cx="1628775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Keypoints are Detected — Heatmap Regression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137160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00584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194560" y="1005840"/>
            <a:ext cx="13716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005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100584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931920" y="1005840"/>
            <a:ext cx="137160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005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Heatmaps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per joint)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100584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69280" y="1005840"/>
            <a:ext cx="1371600" cy="7772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1005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100584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06640" y="1005840"/>
            <a:ext cx="137160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1005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10312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103120"/>
            <a:ext cx="64008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2514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extracts feature maps from the input image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keypoint, a separate heatmap is generated — a 2D probability map where brighter = higher confidence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peak location (argmax) of each heatmap gives the (x, y) coordinate of that keypoint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Sub-pixel refinement and confidence thresholding produce the final skeleton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10312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103120"/>
            <a:ext cx="40233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Heatmaps?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25603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regression of (x, y) coordinates is fragile — small errors compound. Heatmaps let the network express uncertainty spatially, making training more stable and predictions more accurate.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1901952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3703320"/>
            <a:ext cx="1901952" cy="2926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70332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Regression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02336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(x,y) directly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train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accurate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76288" y="3703320"/>
            <a:ext cx="1901952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876288" y="3703320"/>
            <a:ext cx="1901952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876288" y="370332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Regression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67728" y="402336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probability map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optimise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accuracy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Paradigms for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 Pose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 — the two fundamental design choices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 Approaches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Top-Down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868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First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508760"/>
            <a:ext cx="329184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1.  Detect each person — (bounding box)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32918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2.  Crop &amp; resize — each person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2918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3.  Run pose model — on each crop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per person, easier to handle occlusion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scales with number of people (N × inference)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HRNet, SimpleBaseline, ViTPose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68680"/>
            <a:ext cx="4023360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Bottom-Up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868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 First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1508760"/>
            <a:ext cx="32918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1.  Detect ALL keypoints — in the entire image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148840"/>
            <a:ext cx="3291840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2.  Group keypoints into — individual people (PAFs)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788920"/>
            <a:ext cx="3291840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3.  Assemble skeletons — from grouped joints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291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independent of number of people — constant time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handle crowded scenes, lower per-person accuracy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OpenPose, Lightweight OpenPose, DEKR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Model Landscape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14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914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914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914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914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914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371600"/>
            <a:ext cx="8412480" cy="685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137160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197" y="13716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OpenPose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13716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135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FPS (GPU)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1371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real-time multi-person; body + hands + face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148840"/>
            <a:ext cx="84124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2148840"/>
            <a:ext cx="54864" cy="685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197" y="2148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HRNet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63040" y="2148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77440" y="2148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2148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0" y="2148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~0.16 FPS (GPU)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accuracy; maintains high-res features throughout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926080"/>
            <a:ext cx="8412480" cy="685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29260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197" y="2926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63040" y="2926080"/>
            <a:ext cx="9144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77440" y="2926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0" y="2926080"/>
            <a:ext cx="9144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89120" y="2926080"/>
            <a:ext cx="9144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FPS (CPU)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0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Mobile-first; BlazePose architecture; 3D landmarks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703320"/>
            <a:ext cx="84124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" y="3703320"/>
            <a:ext cx="54864" cy="6858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1" name="Text 39"/>
          <p:cNvSpPr/>
          <p:nvPr/>
        </p:nvSpPr>
        <p:spPr>
          <a:xfrm>
            <a:off x="457197" y="37033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YOLOv8-Pose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463040" y="3703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377440" y="37033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74720" y="3703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89120" y="3703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FPS (GPU)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03520" y="3703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pose in one pass; best speed-accuracy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434844"/>
            <a:ext cx="9144000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4348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course, we focus on MediaPipe (mobile/lightweight) and YOLOv8-Pose (production speed + accuracy)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on-device, real-time 33-landmark body tracking</a:t>
            </a:r>
            <a:endParaRPr lang="en-US" sz="1600" dirty="0"/>
          </a:p>
        </p:txBody>
      </p:sp>
      <p:pic>
        <p:nvPicPr>
          <p:cNvPr id="6" name="Image 0" descr="/sessions/determined-fervent-pascal/mnt/AI-CV-Lecture/Session 12/mediapipe_example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256032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BlazePose —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Pipeline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71600"/>
            <a:ext cx="4023360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Person Detector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BlazeFace SSD architecture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image (224 × 224 × 3)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+ 2 virtual keypoints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keypoints (Vitruvian Man inspired):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Hip midpoint (body centre)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Circumscribing circle radius + rotation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runs on first frame, then tracks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71600"/>
            <a:ext cx="40233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Landmark 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8288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MobileNetV2-based CNN backbone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Cropped person (256 × 256)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landmarks × 5 values each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landmark: (x, y, z, visibility, presence)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x, y: normalised image coordinates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z: depth relative to hip midpoint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visibility: is the joint in frame?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presence: does the joint exist?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9319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2519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30+ FPS on mobile CPUs without GPU. The detector only runs when the person is lost, making subsequent frames extremely fast. Provides 3D landmarks (x, y, z) — rare for lightweight models.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— 33 Landmarks vs COCO 17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pic>
        <p:nvPicPr>
          <p:cNvPr id="8" name="Image 0" descr="/sessions/determined-fervent-pascal/mnt/AI-CV-Lecture/Session 12/mediapipe_land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4114800" cy="2331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3291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MediaPipe's 33-point body topology (source: Google)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Extra Landmarks over COCO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937760" y="1417320"/>
            <a:ext cx="34747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937760" y="141732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1435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20640" y="1709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(left/right), inner/outer eyes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37760" y="2194560"/>
            <a:ext cx="34747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4937760" y="2194560"/>
            <a:ext cx="54864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5"/>
          <p:cNvSpPr/>
          <p:nvPr/>
        </p:nvSpPr>
        <p:spPr>
          <a:xfrm>
            <a:off x="512064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2487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Pinky, index, thumb per hand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937760" y="2971800"/>
            <a:ext cx="34747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4937760" y="2971800"/>
            <a:ext cx="54864" cy="5943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2" name="Text 19"/>
          <p:cNvSpPr/>
          <p:nvPr/>
        </p:nvSpPr>
        <p:spPr>
          <a:xfrm>
            <a:off x="5120640" y="2990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20640" y="3264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Heel, foot index per foot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93776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937760" y="3977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hand and foot landmarks enable gesture recognition, sign language detection, and gait analysis — tasks impossible with just 17 keypoints.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YOLOv8-Pose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detection and pose — one model, one forward pass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YOLOv8-Pose —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E6CECBF-2F01-D33B-4521-16470E1B7B62}"/>
              </a:ext>
            </a:extLst>
          </p:cNvPr>
          <p:cNvGrpSpPr/>
          <p:nvPr/>
        </p:nvGrpSpPr>
        <p:grpSpPr>
          <a:xfrm>
            <a:off x="1097280" y="960120"/>
            <a:ext cx="6949440" cy="640080"/>
            <a:chOff x="365760" y="960120"/>
            <a:chExt cx="6949440" cy="640080"/>
          </a:xfrm>
        </p:grpSpPr>
        <p:sp>
          <p:nvSpPr>
            <p:cNvPr id="8" name="Shape 6"/>
            <p:cNvSpPr/>
            <p:nvPr/>
          </p:nvSpPr>
          <p:spPr>
            <a:xfrm>
              <a:off x="365760" y="960120"/>
              <a:ext cx="914400" cy="640080"/>
            </a:xfrm>
            <a:prstGeom prst="rect">
              <a:avLst/>
            </a:prstGeom>
            <a:solidFill>
              <a:srgbClr val="6366F1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1600200" y="960120"/>
              <a:ext cx="1371600" cy="64008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3291840" y="960120"/>
              <a:ext cx="1371600" cy="64008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4983480" y="960120"/>
              <a:ext cx="1097280" cy="640080"/>
            </a:xfrm>
            <a:prstGeom prst="rect">
              <a:avLst/>
            </a:prstGeom>
            <a:solidFill>
              <a:srgbClr val="E11D48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400800" y="960120"/>
              <a:ext cx="914400" cy="640080"/>
            </a:xfrm>
            <a:prstGeom prst="rect">
              <a:avLst/>
            </a:prstGeom>
            <a:solidFill>
              <a:srgbClr val="10B981"/>
            </a:solidFill>
            <a:ln/>
          </p:spPr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21F8BAF-1C5F-E08D-D335-F636EB43015C}"/>
                </a:ext>
              </a:extLst>
            </p:cNvPr>
            <p:cNvGrpSpPr/>
            <p:nvPr/>
          </p:nvGrpSpPr>
          <p:grpSpPr>
            <a:xfrm>
              <a:off x="365760" y="960120"/>
              <a:ext cx="6949440" cy="640080"/>
              <a:chOff x="365760" y="960120"/>
              <a:chExt cx="6949440" cy="640080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365760" y="960120"/>
                <a:ext cx="91440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Input</a:t>
                </a:r>
                <a:endParaRPr lang="en-US" sz="1000" dirty="0"/>
              </a:p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Image</a:t>
                </a:r>
                <a:endParaRPr lang="en-US" sz="10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280160" y="960120"/>
                <a:ext cx="32004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8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1600200" y="960120"/>
                <a:ext cx="137160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CSPDarknet53</a:t>
                </a:r>
                <a:endParaRPr lang="en-US" sz="1000" dirty="0"/>
              </a:p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Backbone</a:t>
                </a:r>
                <a:endParaRPr lang="en-US" sz="10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2971800" y="960120"/>
                <a:ext cx="32004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8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3291840" y="960120"/>
                <a:ext cx="137160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PANet</a:t>
                </a:r>
                <a:endParaRPr lang="en-US" sz="1000" dirty="0"/>
              </a:p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Neck (FPN)</a:t>
                </a:r>
                <a:endParaRPr lang="en-US" sz="100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4663440" y="960120"/>
                <a:ext cx="32004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80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4983480" y="960120"/>
                <a:ext cx="109728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Detection</a:t>
                </a:r>
                <a:endParaRPr lang="en-US" sz="1000" dirty="0"/>
              </a:p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Head</a:t>
                </a:r>
                <a:endParaRPr lang="en-US" sz="10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6080760" y="960120"/>
                <a:ext cx="32004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800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6400800" y="960120"/>
                <a:ext cx="91440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Pose</a:t>
                </a:r>
                <a:endParaRPr lang="en-US" sz="1000" dirty="0"/>
              </a:p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Head</a:t>
                </a:r>
                <a:endParaRPr lang="en-US" sz="1000" dirty="0"/>
              </a:p>
            </p:txBody>
          </p:sp>
        </p:grpSp>
      </p:grpSp>
      <p:sp>
        <p:nvSpPr>
          <p:cNvPr id="22" name="Text 20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forward pass outputs bounding boxes AND keypoints simultaneously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148840"/>
            <a:ext cx="2697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148840"/>
            <a:ext cx="26974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CSPDarknet53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260604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Cross-Stage Partial connections extract rich multi-scale features from the input image. Efficient architecture balances depth and computation.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148840"/>
            <a:ext cx="2697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148840"/>
            <a:ext cx="269748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Neck: PANet (FPN)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260604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Aggregation Network fuses features across multiple scales. Enables detection of both small and large persons in the same image.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148840"/>
            <a:ext cx="2697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148840"/>
            <a:ext cx="2697480" cy="3657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Heads: Detect + Pose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260604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head predicts bounding boxes + class. Pose head predicts 17 keypoints × 3 (x, y, confidence) per detected person.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343400"/>
            <a:ext cx="9144000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pose estimation as a branch of object detection — no separate person detector needed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YOLOv8-Pose — Model Variants &amp;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14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914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914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(50-95)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914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(ms)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914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YOLOv8n-pose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0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Mobile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YOLOv8s-pose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30.2B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331720"/>
            <a:ext cx="8412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YOLOv8m-pose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2336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~5.0ms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YOLOv8l-pose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28800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26080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168.6B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02336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~8.0ms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3337560"/>
            <a:ext cx="8412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YOLOv8x-pose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2880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69.4M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2608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263.2B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23360" y="3337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0352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~12ms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Accuracy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Shape 49"/>
          <p:cNvSpPr/>
          <p:nvPr/>
        </p:nvSpPr>
        <p:spPr>
          <a:xfrm>
            <a:off x="365760" y="397764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Speed-Accuracy Tradeoff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94360" y="42976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(n) runs on edge devices at 600+ FPS on GPU. Extra-large (x) achieves near-HRNet accuracy. In practice, the medium (m) variant offers the best balance for real-time production use.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vs YOLOv8-Pose — When to Use What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14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914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914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YOLOv8-Pose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841248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325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325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(detect → landmark)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94960" y="1325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(detect + pose)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755648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7556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1755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(body + face + hands + feet)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94960" y="17556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(COCO body standard)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185416"/>
            <a:ext cx="841248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1854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Support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21854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(x, y, z per landmark)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94960" y="21854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(2D only)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615184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6151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26151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person only (by default)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94960" y="26151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 native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044952"/>
            <a:ext cx="841248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044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(CPU)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77440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FPS (optimised for mobile)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94960" y="30449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~5-15 FPS (depends on variant)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474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(GPU)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77440" y="3474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(designed for CPU)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3474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100-600+ FPS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904488"/>
            <a:ext cx="841248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9044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77440" y="39044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apps, fitness, single user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94960" y="39044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Surveillance, sports, multi-person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343400"/>
            <a:ext cx="9144000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343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= best for single-person mobile apps  |  YOLOv8-Pose = best for multi-person production systems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is transforming fitness, sports, healthcare, gaming &amp; more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Pose Estimation is Used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14400"/>
            <a:ext cx="64008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97280"/>
            <a:ext cx="411480" cy="41148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&amp; Training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rep counting, form correction, virtual coaching apps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14400"/>
            <a:ext cx="64008" cy="16916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1097280"/>
            <a:ext cx="411480" cy="411480"/>
          </a:xfrm>
          <a:prstGeom prst="line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776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biomechanics, performance tracking, referee assist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14400"/>
            <a:ext cx="64008" cy="1691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1097280"/>
            <a:ext cx="411480" cy="411480"/>
          </a:xfrm>
          <a:prstGeom prst="line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Rehab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therapy tracking, gait analysis, posture correction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78892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788920"/>
            <a:ext cx="64008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2971800"/>
            <a:ext cx="411480" cy="411480"/>
          </a:xfrm>
          <a:prstGeom prst="lin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&amp; VR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35661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Full-body tracking for avatars, gesture-based interaction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278892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2788920"/>
            <a:ext cx="64008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3429000" y="2971800"/>
            <a:ext cx="411480" cy="411480"/>
          </a:xfrm>
          <a:prstGeom prst="lin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97764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29000" y="35661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capture for character animation, gesture-based controls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278892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2788920"/>
            <a:ext cx="64008" cy="16916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2971800"/>
            <a:ext cx="411480" cy="411480"/>
          </a:xfrm>
          <a:prstGeom prst="line">
            <a:avLst/>
          </a:prstGeom>
          <a:solidFill>
            <a:srgbClr val="64748B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580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&amp; Retail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09360" y="35661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recognition, fall detection, cashierless stores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for Pose Estimation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1440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987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OKS (Object Keypoint Similarity)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325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pose equivalent of IoU. Measures how close predicted keypoints are to ground truth, normalised by person scale and per-joint tolerance. Range: 0 (no match) to 1 (perfect).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48840"/>
            <a:ext cx="64008" cy="10515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2219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(Average Precision @ OKS)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5603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like detection mAP but using OKS instead of IoU. AP@0.50:0.95 is the primary COCO metric — averaged across 10 OKS thresholds.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64008" cy="10515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4564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PCK (Percentage of Correct Keypoints)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7947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keypoint is 'correct' if it falls within a threshold distance of ground truth (e.g., PCK@0.5 = within 50% of head segment length). Simpler but less standard than OKS.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460966"/>
            <a:ext cx="9144000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6096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OKS-based AP is the gold standard — used by COCO, PoseTrack, and all major benchmarks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Pose Estimation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4069080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914400"/>
            <a:ext cx="64008" cy="9601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parts hidden behind objects or other people — the model must infer invisible joints from context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069080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914400"/>
            <a:ext cx="64008" cy="960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Scenes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280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overlapping people make keypoint-to-person grouping extremely difficult (especially for bottom-up)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57400"/>
            <a:ext cx="4069080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057400"/>
            <a:ext cx="64008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Poses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Yoga, gymnastics, dance — extreme articulations outside typical training distributions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057400"/>
            <a:ext cx="4069080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057400"/>
            <a:ext cx="64008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/ Distant People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resolution makes keypoints ambiguous; multi-scale feature fusion (FPN) helps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4069080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200400"/>
            <a:ext cx="64008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Blur / Low Light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566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movement or poor lighting degrades feature quality — temporal models and augmentation help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200400"/>
            <a:ext cx="4069080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9160" y="3200400"/>
            <a:ext cx="64008" cy="9601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Self-Similarity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566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vs right confusion — the model may swap symmetric joints (left/right elbow)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343400"/>
            <a:ext cx="9144000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address these with data augmentation, multi-scale features, and temporal smoothing in video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— Hands-On Practice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 We Will...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54480"/>
            <a:ext cx="64008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645920"/>
            <a:ext cx="457200" cy="457200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on images &amp; webcam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33 landmarks, draw skeleton overlays, extract joint coordinates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59152"/>
            <a:ext cx="64008" cy="6400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450592"/>
            <a:ext cx="457200" cy="457200"/>
          </a:xfrm>
          <a:prstGeom prst="line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404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YOLOv8-Pose inference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2679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YOLOv8n-pose on images and video, compare multi-person detection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63824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163824"/>
            <a:ext cx="64008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255264"/>
            <a:ext cx="457200" cy="457200"/>
          </a:xfrm>
          <a:prstGeom prst="lin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4440" y="3209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&amp; compare outputs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34838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skeleton rendering, keypoint confidence analysis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968496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968496"/>
            <a:ext cx="6400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4059936"/>
            <a:ext cx="457200" cy="457200"/>
          </a:xfrm>
          <a:prstGeom prst="lin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440" y="4014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angle calculator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34440" y="42885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joint angles (e.g., elbow, knee) from keypoint coordinates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9204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 |  Keypoint &amp; Pose Estimation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914400"/>
            <a:ext cx="64008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14984"/>
            <a:ext cx="274320" cy="274320"/>
          </a:xfrm>
          <a:prstGeom prst="lin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05156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93268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 are semantic anchor points (joints) — a skeleton is keypoints + edges connecting them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1508760"/>
            <a:ext cx="841248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760" y="1508760"/>
            <a:ext cx="64008" cy="47548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609344"/>
            <a:ext cx="274320" cy="274320"/>
          </a:xfrm>
          <a:prstGeom prst="line">
            <a:avLst/>
          </a:prstGeom>
          <a:solidFill>
            <a:srgbClr val="E11D48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64592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05840" y="1527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regression is the dominant paradigm — predict a 2D probability map per joint, then take the peak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2103120"/>
            <a:ext cx="841248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5"/>
          <p:cNvSpPr/>
          <p:nvPr/>
        </p:nvSpPr>
        <p:spPr>
          <a:xfrm>
            <a:off x="365760" y="2103120"/>
            <a:ext cx="64008" cy="4754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6"/>
          <p:cNvSpPr/>
          <p:nvPr/>
        </p:nvSpPr>
        <p:spPr>
          <a:xfrm>
            <a:off x="548640" y="2203704"/>
            <a:ext cx="274320" cy="274320"/>
          </a:xfrm>
          <a:prstGeom prst="line">
            <a:avLst/>
          </a:prstGeom>
          <a:solidFill>
            <a:srgbClr val="6366F1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240280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212140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(detect person → estimate pose) is more accurate; bottom-up (detect all joints → group) is faster for crowds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2697480"/>
            <a:ext cx="841248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19"/>
          <p:cNvSpPr/>
          <p:nvPr/>
        </p:nvSpPr>
        <p:spPr>
          <a:xfrm>
            <a:off x="365760" y="2697480"/>
            <a:ext cx="64008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548640" y="2798064"/>
            <a:ext cx="274320" cy="274320"/>
          </a:xfrm>
          <a:prstGeom prst="line">
            <a:avLst/>
          </a:prstGeom>
          <a:solidFill>
            <a:srgbClr val="F59E0B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834640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05840" y="271576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excels on mobile with 33 3D landmarks and CPU-only inference at 30+ FPS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65760" y="3291840"/>
            <a:ext cx="841248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3"/>
          <p:cNvSpPr/>
          <p:nvPr/>
        </p:nvSpPr>
        <p:spPr>
          <a:xfrm>
            <a:off x="365760" y="3291840"/>
            <a:ext cx="64008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4"/>
          <p:cNvSpPr/>
          <p:nvPr/>
        </p:nvSpPr>
        <p:spPr>
          <a:xfrm>
            <a:off x="548640" y="3392424"/>
            <a:ext cx="274320" cy="274320"/>
          </a:xfrm>
          <a:prstGeom prst="line">
            <a:avLst/>
          </a:prstGeom>
          <a:solidFill>
            <a:srgbClr val="10B981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429000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05840" y="331012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YOLOv8-Pose combines detection and pose in one pass — ideal for multi-person, production-grade systems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365760" y="3886200"/>
            <a:ext cx="841248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Shape 27"/>
          <p:cNvSpPr/>
          <p:nvPr/>
        </p:nvSpPr>
        <p:spPr>
          <a:xfrm>
            <a:off x="365760" y="3886200"/>
            <a:ext cx="64008" cy="47548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5" name="Shape 28"/>
          <p:cNvSpPr/>
          <p:nvPr/>
        </p:nvSpPr>
        <p:spPr>
          <a:xfrm>
            <a:off x="548640" y="3986784"/>
            <a:ext cx="274320" cy="274320"/>
          </a:xfrm>
          <a:prstGeom prst="line">
            <a:avLst/>
          </a:prstGeom>
          <a:solidFill>
            <a:srgbClr val="E11D48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023360"/>
            <a:ext cx="201168" cy="20116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05840" y="390448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span fitness, sports analytics, healthcare, AR/VR, gaming, and surveillance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0" y="4343400"/>
            <a:ext cx="9144000" cy="41148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9" name="Text 3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OCR &amp; Text Detection — from pixels to readable text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2304</Words>
  <Application>Microsoft Office PowerPoint</Application>
  <PresentationFormat>On-screen Show (16:9)</PresentationFormat>
  <Paragraphs>438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12 — Keypoint &amp; Pose Estimation</dc:title>
  <dc:subject>PptxGenJS Presentation</dc:subject>
  <dc:creator>AI CV Course</dc:creator>
  <cp:lastModifiedBy>Shah Zeb</cp:lastModifiedBy>
  <cp:revision>2</cp:revision>
  <dcterms:created xsi:type="dcterms:W3CDTF">2026-05-18T16:22:27Z</dcterms:created>
  <dcterms:modified xsi:type="dcterms:W3CDTF">2026-05-18T16:43:52Z</dcterms:modified>
</cp:coreProperties>
</file>