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E2E"/>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0F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1417320"/>
            <a:ext cx="9144000" cy="320040"/>
          </a:xfrm>
          <a:prstGeom prst="rect">
            <a:avLst/>
          </a:prstGeom>
          <a:noFill/>
        </p:spPr>
        <p:txBody>
          <a:bodyPr wrap="square" lIns="0" rIns="0" tIns="0" bIns="0">
            <a:spAutoFit/>
          </a:bodyPr>
          <a:lstStyle/>
          <a:p>
            <a:pPr algn="l"/>
            <a:r>
              <a:rPr sz="1300" b="1" i="0">
                <a:solidFill>
                  <a:srgbClr val="8CE6C9"/>
                </a:solidFill>
                <a:latin typeface="Calibri"/>
              </a:rPr>
              <a:t>SESSION 40</a:t>
            </a:r>
          </a:p>
        </p:txBody>
      </p:sp>
      <p:sp>
        <p:nvSpPr>
          <p:cNvPr id="4" name="TextBox 3"/>
          <p:cNvSpPr txBox="1"/>
          <p:nvPr/>
        </p:nvSpPr>
        <p:spPr>
          <a:xfrm>
            <a:off x="1005840" y="1810512"/>
            <a:ext cx="10058400" cy="1005840"/>
          </a:xfrm>
          <a:prstGeom prst="rect">
            <a:avLst/>
          </a:prstGeom>
          <a:noFill/>
        </p:spPr>
        <p:txBody>
          <a:bodyPr wrap="square" lIns="0" rIns="0" tIns="0" bIns="0">
            <a:spAutoFit/>
          </a:bodyPr>
          <a:lstStyle/>
          <a:p>
            <a:pPr algn="l"/>
            <a:r>
              <a:rPr sz="5400" b="1" i="0">
                <a:solidFill>
                  <a:srgbClr val="FFFFFF"/>
                </a:solidFill>
                <a:latin typeface="Cambria"/>
              </a:rPr>
              <a:t>Vision-Language-Action Models</a:t>
            </a:r>
          </a:p>
        </p:txBody>
      </p:sp>
      <p:sp>
        <p:nvSpPr>
          <p:cNvPr id="5" name="TextBox 4"/>
          <p:cNvSpPr txBox="1"/>
          <p:nvPr/>
        </p:nvSpPr>
        <p:spPr>
          <a:xfrm>
            <a:off x="1005840" y="2926080"/>
            <a:ext cx="10058400" cy="411480"/>
          </a:xfrm>
          <a:prstGeom prst="rect">
            <a:avLst/>
          </a:prstGeom>
          <a:noFill/>
        </p:spPr>
        <p:txBody>
          <a:bodyPr wrap="square" lIns="0" rIns="0" tIns="0" bIns="0">
            <a:spAutoFit/>
          </a:bodyPr>
          <a:lstStyle/>
          <a:p>
            <a:pPr algn="l"/>
            <a:r>
              <a:rPr sz="1600" b="0" i="0">
                <a:solidFill>
                  <a:srgbClr val="8CE6C9"/>
                </a:solidFill>
                <a:latin typeface="Calibri"/>
              </a:rPr>
              <a:t>How robots go from seeing and hearing to doing</a:t>
            </a:r>
          </a:p>
        </p:txBody>
      </p:sp>
      <p:sp>
        <p:nvSpPr>
          <p:cNvPr id="6" name="TextBox 5"/>
          <p:cNvSpPr txBox="1"/>
          <p:nvPr/>
        </p:nvSpPr>
        <p:spPr>
          <a:xfrm>
            <a:off x="1005840" y="3456432"/>
            <a:ext cx="9601200" cy="502920"/>
          </a:xfrm>
          <a:prstGeom prst="rect">
            <a:avLst/>
          </a:prstGeom>
          <a:noFill/>
        </p:spPr>
        <p:txBody>
          <a:bodyPr wrap="square" lIns="0" rIns="0" tIns="0" bIns="0">
            <a:spAutoFit/>
          </a:bodyPr>
          <a:lstStyle/>
          <a:p>
            <a:pPr algn="l"/>
            <a:r>
              <a:rPr sz="1350" b="0" i="0">
                <a:solidFill>
                  <a:srgbClr val="9AB4B8"/>
                </a:solidFill>
                <a:latin typeface="Calibri"/>
              </a:rPr>
              <a:t>The models, training recipes and open problems behind today's generalist robot policies.</a:t>
            </a:r>
          </a:p>
        </p:txBody>
      </p:sp>
      <p:sp>
        <p:nvSpPr>
          <p:cNvPr id="7" name="TextBox 6"/>
          <p:cNvSpPr txBox="1"/>
          <p:nvPr/>
        </p:nvSpPr>
        <p:spPr>
          <a:xfrm>
            <a:off x="1005840" y="4434840"/>
            <a:ext cx="3383280" cy="256032"/>
          </a:xfrm>
          <a:prstGeom prst="rect">
            <a:avLst/>
          </a:prstGeom>
          <a:noFill/>
        </p:spPr>
        <p:txBody>
          <a:bodyPr wrap="square" lIns="0" rIns="0" tIns="0" bIns="0">
            <a:spAutoFit/>
          </a:bodyPr>
          <a:lstStyle/>
          <a:p>
            <a:pPr algn="l"/>
            <a:r>
              <a:rPr sz="1050" b="1" i="0">
                <a:solidFill>
                  <a:srgbClr val="02C39A"/>
                </a:solidFill>
                <a:latin typeface="Calibri"/>
              </a:rPr>
              <a:t>COMPUTER VISION &amp; AI SERIES</a:t>
            </a:r>
          </a:p>
        </p:txBody>
      </p:sp>
      <p:sp>
        <p:nvSpPr>
          <p:cNvPr id="8" name="TextBox 7"/>
          <p:cNvSpPr txBox="1"/>
          <p:nvPr/>
        </p:nvSpPr>
        <p:spPr>
          <a:xfrm>
            <a:off x="1005840" y="4709160"/>
            <a:ext cx="3383280" cy="292608"/>
          </a:xfrm>
          <a:prstGeom prst="rect">
            <a:avLst/>
          </a:prstGeom>
          <a:noFill/>
        </p:spPr>
        <p:txBody>
          <a:bodyPr wrap="square" lIns="0" rIns="0" tIns="0" bIns="0">
            <a:spAutoFit/>
          </a:bodyPr>
          <a:lstStyle/>
          <a:p>
            <a:pPr algn="l"/>
            <a:r>
              <a:rPr sz="1350" b="0" i="0">
                <a:solidFill>
                  <a:srgbClr val="D6E7E4"/>
                </a:solidFill>
                <a:latin typeface="Calibri"/>
              </a:rPr>
              <a:t>Final session · Robotics &amp; embodied AI</a:t>
            </a:r>
          </a:p>
        </p:txBody>
      </p:sp>
      <p:sp>
        <p:nvSpPr>
          <p:cNvPr id="9" name="TextBox 8"/>
          <p:cNvSpPr txBox="1"/>
          <p:nvPr/>
        </p:nvSpPr>
        <p:spPr>
          <a:xfrm>
            <a:off x="4572000" y="4434840"/>
            <a:ext cx="3383280" cy="256032"/>
          </a:xfrm>
          <a:prstGeom prst="rect">
            <a:avLst/>
          </a:prstGeom>
          <a:noFill/>
        </p:spPr>
        <p:txBody>
          <a:bodyPr wrap="square" lIns="0" rIns="0" tIns="0" bIns="0">
            <a:spAutoFit/>
          </a:bodyPr>
          <a:lstStyle/>
          <a:p>
            <a:pPr algn="l"/>
            <a:r>
              <a:rPr sz="1050" b="1" i="0">
                <a:solidFill>
                  <a:srgbClr val="02C39A"/>
                </a:solidFill>
                <a:latin typeface="Calibri"/>
              </a:rPr>
              <a:t>THEORY SESSION</a:t>
            </a:r>
          </a:p>
        </p:txBody>
      </p:sp>
      <p:sp>
        <p:nvSpPr>
          <p:cNvPr id="10" name="TextBox 9"/>
          <p:cNvSpPr txBox="1"/>
          <p:nvPr/>
        </p:nvSpPr>
        <p:spPr>
          <a:xfrm>
            <a:off x="4572000" y="4709160"/>
            <a:ext cx="3383280" cy="292608"/>
          </a:xfrm>
          <a:prstGeom prst="rect">
            <a:avLst/>
          </a:prstGeom>
          <a:noFill/>
        </p:spPr>
        <p:txBody>
          <a:bodyPr wrap="square" lIns="0" rIns="0" tIns="0" bIns="0">
            <a:spAutoFit/>
          </a:bodyPr>
          <a:lstStyle/>
          <a:p>
            <a:pPr algn="l"/>
            <a:r>
              <a:rPr sz="1350" b="0" i="0">
                <a:solidFill>
                  <a:srgbClr val="D6E7E4"/>
                </a:solidFill>
                <a:latin typeface="Calibri"/>
              </a:rPr>
              <a:t>Concepts first, no coding today</a:t>
            </a:r>
          </a:p>
        </p:txBody>
      </p:sp>
      <p:sp>
        <p:nvSpPr>
          <p:cNvPr id="11" name="TextBox 10"/>
          <p:cNvSpPr txBox="1"/>
          <p:nvPr/>
        </p:nvSpPr>
        <p:spPr>
          <a:xfrm>
            <a:off x="8138160" y="4434840"/>
            <a:ext cx="3383280" cy="256032"/>
          </a:xfrm>
          <a:prstGeom prst="rect">
            <a:avLst/>
          </a:prstGeom>
          <a:noFill/>
        </p:spPr>
        <p:txBody>
          <a:bodyPr wrap="square" lIns="0" rIns="0" tIns="0" bIns="0">
            <a:spAutoFit/>
          </a:bodyPr>
          <a:lstStyle/>
          <a:p>
            <a:pPr algn="l"/>
            <a:r>
              <a:rPr sz="1050" b="1" i="0">
                <a:solidFill>
                  <a:srgbClr val="02C39A"/>
                </a:solidFill>
                <a:latin typeface="Calibri"/>
              </a:rPr>
              <a:t>DURATION</a:t>
            </a:r>
          </a:p>
        </p:txBody>
      </p:sp>
      <p:sp>
        <p:nvSpPr>
          <p:cNvPr id="12" name="TextBox 11"/>
          <p:cNvSpPr txBox="1"/>
          <p:nvPr/>
        </p:nvSpPr>
        <p:spPr>
          <a:xfrm>
            <a:off x="8138160" y="4709160"/>
            <a:ext cx="3383280" cy="292608"/>
          </a:xfrm>
          <a:prstGeom prst="rect">
            <a:avLst/>
          </a:prstGeom>
          <a:noFill/>
        </p:spPr>
        <p:txBody>
          <a:bodyPr wrap="square" lIns="0" rIns="0" tIns="0" bIns="0">
            <a:spAutoFit/>
          </a:bodyPr>
          <a:lstStyle/>
          <a:p>
            <a:pPr algn="l"/>
            <a:r>
              <a:rPr sz="1350" b="0" i="0">
                <a:solidFill>
                  <a:srgbClr val="D6E7E4"/>
                </a:solidFill>
                <a:latin typeface="Calibri"/>
              </a:rPr>
              <a:t>60 minutes</a:t>
            </a:r>
          </a:p>
        </p:txBody>
      </p:sp>
      <p:sp>
        <p:nvSpPr>
          <p:cNvPr id="13" name="TextBox 12"/>
          <p:cNvSpPr txBox="1"/>
          <p:nvPr/>
        </p:nvSpPr>
        <p:spPr>
          <a:xfrm>
            <a:off x="1005840" y="5623560"/>
            <a:ext cx="10058400" cy="292608"/>
          </a:xfrm>
          <a:prstGeom prst="rect">
            <a:avLst/>
          </a:prstGeom>
          <a:noFill/>
        </p:spPr>
        <p:txBody>
          <a:bodyPr wrap="square" lIns="0" rIns="0" tIns="0" bIns="0">
            <a:spAutoFit/>
          </a:bodyPr>
          <a:lstStyle/>
          <a:p>
            <a:pPr algn="l"/>
            <a:r>
              <a:rPr sz="1200" b="0" i="0">
                <a:solidFill>
                  <a:srgbClr val="9AB4B8"/>
                </a:solidFill>
                <a:latin typeface="Calibri"/>
              </a:rPr>
              <a:t>Everything here is theory: the goal is to understand VLA models deeply enough to use, evaluate and discuss them.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ROADMAP</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From pixels and words to motor commands</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ounded Rectangle 4"/>
          <p:cNvSpPr/>
          <p:nvPr/>
        </p:nvSpPr>
        <p:spPr>
          <a:xfrm>
            <a:off x="777240" y="1847088"/>
            <a:ext cx="402336"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777240" y="1847088"/>
            <a:ext cx="402336" cy="402336"/>
          </a:xfrm>
          <a:prstGeom prst="rect">
            <a:avLst/>
          </a:prstGeom>
          <a:noFill/>
        </p:spPr>
        <p:txBody>
          <a:bodyPr wrap="square" lIns="0" rIns="0" tIns="0" bIns="0" anchor="ctr">
            <a:spAutoFit/>
          </a:bodyPr>
          <a:lstStyle/>
          <a:p>
            <a:pPr algn="ctr"/>
            <a:r>
              <a:rPr sz="1300" b="1" i="0">
                <a:solidFill>
                  <a:srgbClr val="FFFFFF"/>
                </a:solidFill>
                <a:latin typeface="Calibri"/>
              </a:rPr>
              <a:t>1</a:t>
            </a:r>
          </a:p>
        </p:txBody>
      </p:sp>
      <p:sp>
        <p:nvSpPr>
          <p:cNvPr id="7" name="TextBox 6"/>
          <p:cNvSpPr txBox="1"/>
          <p:nvPr/>
        </p:nvSpPr>
        <p:spPr>
          <a:xfrm>
            <a:off x="1380744" y="1828800"/>
            <a:ext cx="10003536" cy="274320"/>
          </a:xfrm>
          <a:prstGeom prst="rect">
            <a:avLst/>
          </a:prstGeom>
          <a:noFill/>
        </p:spPr>
        <p:txBody>
          <a:bodyPr wrap="square" lIns="0" rIns="0" tIns="0" bIns="0">
            <a:spAutoFit/>
          </a:bodyPr>
          <a:lstStyle/>
          <a:p>
            <a:pPr algn="l"/>
            <a:r>
              <a:rPr sz="1350" b="1" i="0">
                <a:solidFill>
                  <a:srgbClr val="12343B"/>
                </a:solidFill>
                <a:latin typeface="Calibri"/>
              </a:rPr>
              <a:t>What a VLA model is, and why we need one</a:t>
            </a:r>
          </a:p>
        </p:txBody>
      </p:sp>
      <p:sp>
        <p:nvSpPr>
          <p:cNvPr id="8" name="TextBox 7"/>
          <p:cNvSpPr txBox="1"/>
          <p:nvPr/>
        </p:nvSpPr>
        <p:spPr>
          <a:xfrm>
            <a:off x="1380744" y="2121408"/>
            <a:ext cx="10003536" cy="365760"/>
          </a:xfrm>
          <a:prstGeom prst="rect">
            <a:avLst/>
          </a:prstGeom>
          <a:noFill/>
        </p:spPr>
        <p:txBody>
          <a:bodyPr wrap="square" lIns="0" rIns="0" tIns="0" bIns="0">
            <a:spAutoFit/>
          </a:bodyPr>
          <a:lstStyle/>
          <a:p>
            <a:pPr algn="l"/>
            <a:r>
              <a:rPr sz="1250" b="0" i="0">
                <a:solidFill>
                  <a:srgbClr val="5A7A80"/>
                </a:solidFill>
                <a:latin typeface="Calibri"/>
              </a:rPr>
              <a:t>The gap between perceiving the world and acting in it.</a:t>
            </a:r>
          </a:p>
        </p:txBody>
      </p:sp>
      <p:sp>
        <p:nvSpPr>
          <p:cNvPr id="9" name="Rounded Rectangle 8"/>
          <p:cNvSpPr/>
          <p:nvPr/>
        </p:nvSpPr>
        <p:spPr>
          <a:xfrm>
            <a:off x="777240" y="2578608"/>
            <a:ext cx="402336"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777240" y="2578608"/>
            <a:ext cx="402336" cy="402336"/>
          </a:xfrm>
          <a:prstGeom prst="rect">
            <a:avLst/>
          </a:prstGeom>
          <a:noFill/>
        </p:spPr>
        <p:txBody>
          <a:bodyPr wrap="square" lIns="0" rIns="0" tIns="0" bIns="0" anchor="ctr">
            <a:spAutoFit/>
          </a:bodyPr>
          <a:lstStyle/>
          <a:p>
            <a:pPr algn="ctr"/>
            <a:r>
              <a:rPr sz="1300" b="1" i="0">
                <a:solidFill>
                  <a:srgbClr val="FFFFFF"/>
                </a:solidFill>
                <a:latin typeface="Calibri"/>
              </a:rPr>
              <a:t>2</a:t>
            </a:r>
          </a:p>
        </p:txBody>
      </p:sp>
      <p:sp>
        <p:nvSpPr>
          <p:cNvPr id="11" name="TextBox 10"/>
          <p:cNvSpPr txBox="1"/>
          <p:nvPr/>
        </p:nvSpPr>
        <p:spPr>
          <a:xfrm>
            <a:off x="1380744" y="2560320"/>
            <a:ext cx="10003536" cy="274320"/>
          </a:xfrm>
          <a:prstGeom prst="rect">
            <a:avLst/>
          </a:prstGeom>
          <a:noFill/>
        </p:spPr>
        <p:txBody>
          <a:bodyPr wrap="square" lIns="0" rIns="0" tIns="0" bIns="0">
            <a:spAutoFit/>
          </a:bodyPr>
          <a:lstStyle/>
          <a:p>
            <a:pPr algn="l"/>
            <a:r>
              <a:rPr sz="1350" b="1" i="0">
                <a:solidFill>
                  <a:srgbClr val="12343B"/>
                </a:solidFill>
                <a:latin typeface="Calibri"/>
              </a:rPr>
              <a:t>How VLA models are built</a:t>
            </a:r>
          </a:p>
        </p:txBody>
      </p:sp>
      <p:sp>
        <p:nvSpPr>
          <p:cNvPr id="12" name="TextBox 11"/>
          <p:cNvSpPr txBox="1"/>
          <p:nvPr/>
        </p:nvSpPr>
        <p:spPr>
          <a:xfrm>
            <a:off x="1380744" y="2852928"/>
            <a:ext cx="10003536" cy="365760"/>
          </a:xfrm>
          <a:prstGeom prst="rect">
            <a:avLst/>
          </a:prstGeom>
          <a:noFill/>
        </p:spPr>
        <p:txBody>
          <a:bodyPr wrap="square" lIns="0" rIns="0" tIns="0" bIns="0">
            <a:spAutoFit/>
          </a:bodyPr>
          <a:lstStyle/>
          <a:p>
            <a:pPr algn="l"/>
            <a:r>
              <a:rPr sz="1250" b="0" i="0">
                <a:solidFill>
                  <a:srgbClr val="5A7A80"/>
                </a:solidFill>
                <a:latin typeface="Calibri"/>
              </a:rPr>
              <a:t>Vision encoder, language backbone, fusion, and an action decoder.</a:t>
            </a:r>
          </a:p>
        </p:txBody>
      </p:sp>
      <p:sp>
        <p:nvSpPr>
          <p:cNvPr id="13" name="Rounded Rectangle 12"/>
          <p:cNvSpPr/>
          <p:nvPr/>
        </p:nvSpPr>
        <p:spPr>
          <a:xfrm>
            <a:off x="777240" y="3310128"/>
            <a:ext cx="402336"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777240" y="3310128"/>
            <a:ext cx="402336" cy="402336"/>
          </a:xfrm>
          <a:prstGeom prst="rect">
            <a:avLst/>
          </a:prstGeom>
          <a:noFill/>
        </p:spPr>
        <p:txBody>
          <a:bodyPr wrap="square" lIns="0" rIns="0" tIns="0" bIns="0" anchor="ctr">
            <a:spAutoFit/>
          </a:bodyPr>
          <a:lstStyle/>
          <a:p>
            <a:pPr algn="ctr"/>
            <a:r>
              <a:rPr sz="1300" b="1" i="0">
                <a:solidFill>
                  <a:srgbClr val="FFFFFF"/>
                </a:solidFill>
                <a:latin typeface="Calibri"/>
              </a:rPr>
              <a:t>3</a:t>
            </a:r>
          </a:p>
        </p:txBody>
      </p:sp>
      <p:sp>
        <p:nvSpPr>
          <p:cNvPr id="15" name="TextBox 14"/>
          <p:cNvSpPr txBox="1"/>
          <p:nvPr/>
        </p:nvSpPr>
        <p:spPr>
          <a:xfrm>
            <a:off x="1380744" y="3291840"/>
            <a:ext cx="10003536" cy="274320"/>
          </a:xfrm>
          <a:prstGeom prst="rect">
            <a:avLst/>
          </a:prstGeom>
          <a:noFill/>
        </p:spPr>
        <p:txBody>
          <a:bodyPr wrap="square" lIns="0" rIns="0" tIns="0" bIns="0">
            <a:spAutoFit/>
          </a:bodyPr>
          <a:lstStyle/>
          <a:p>
            <a:pPr algn="l"/>
            <a:r>
              <a:rPr sz="1350" b="1" i="0">
                <a:solidFill>
                  <a:srgbClr val="12343B"/>
                </a:solidFill>
                <a:latin typeface="Calibri"/>
              </a:rPr>
              <a:t>How they connect vision, language and action</a:t>
            </a:r>
          </a:p>
        </p:txBody>
      </p:sp>
      <p:sp>
        <p:nvSpPr>
          <p:cNvPr id="16" name="TextBox 15"/>
          <p:cNvSpPr txBox="1"/>
          <p:nvPr/>
        </p:nvSpPr>
        <p:spPr>
          <a:xfrm>
            <a:off x="1380744" y="3584448"/>
            <a:ext cx="10003536" cy="365760"/>
          </a:xfrm>
          <a:prstGeom prst="rect">
            <a:avLst/>
          </a:prstGeom>
          <a:noFill/>
        </p:spPr>
        <p:txBody>
          <a:bodyPr wrap="square" lIns="0" rIns="0" tIns="0" bIns="0">
            <a:spAutoFit/>
          </a:bodyPr>
          <a:lstStyle/>
          <a:p>
            <a:pPr algn="l"/>
            <a:r>
              <a:rPr sz="1250" b="0" i="0">
                <a:solidFill>
                  <a:srgbClr val="5A7A80"/>
                </a:solidFill>
                <a:latin typeface="Calibri"/>
              </a:rPr>
              <a:t>Tokens, continuous actions, chunking, closed-loop control.</a:t>
            </a:r>
          </a:p>
        </p:txBody>
      </p:sp>
      <p:sp>
        <p:nvSpPr>
          <p:cNvPr id="17" name="Rounded Rectangle 16"/>
          <p:cNvSpPr/>
          <p:nvPr/>
        </p:nvSpPr>
        <p:spPr>
          <a:xfrm>
            <a:off x="777240" y="4041648"/>
            <a:ext cx="402336"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777240" y="4041648"/>
            <a:ext cx="402336" cy="402336"/>
          </a:xfrm>
          <a:prstGeom prst="rect">
            <a:avLst/>
          </a:prstGeom>
          <a:noFill/>
        </p:spPr>
        <p:txBody>
          <a:bodyPr wrap="square" lIns="0" rIns="0" tIns="0" bIns="0" anchor="ctr">
            <a:spAutoFit/>
          </a:bodyPr>
          <a:lstStyle/>
          <a:p>
            <a:pPr algn="ctr"/>
            <a:r>
              <a:rPr sz="1300" b="1" i="0">
                <a:solidFill>
                  <a:srgbClr val="FFFFFF"/>
                </a:solidFill>
                <a:latin typeface="Calibri"/>
              </a:rPr>
              <a:t>4</a:t>
            </a:r>
          </a:p>
        </p:txBody>
      </p:sp>
      <p:sp>
        <p:nvSpPr>
          <p:cNvPr id="19" name="TextBox 18"/>
          <p:cNvSpPr txBox="1"/>
          <p:nvPr/>
        </p:nvSpPr>
        <p:spPr>
          <a:xfrm>
            <a:off x="1380744" y="4023360"/>
            <a:ext cx="10003536" cy="274320"/>
          </a:xfrm>
          <a:prstGeom prst="rect">
            <a:avLst/>
          </a:prstGeom>
          <a:noFill/>
        </p:spPr>
        <p:txBody>
          <a:bodyPr wrap="square" lIns="0" rIns="0" tIns="0" bIns="0">
            <a:spAutoFit/>
          </a:bodyPr>
          <a:lstStyle/>
          <a:p>
            <a:pPr algn="l"/>
            <a:r>
              <a:rPr sz="1350" b="1" i="0">
                <a:solidFill>
                  <a:srgbClr val="12343B"/>
                </a:solidFill>
                <a:latin typeface="Calibri"/>
              </a:rPr>
              <a:t>How they are trained</a:t>
            </a:r>
          </a:p>
        </p:txBody>
      </p:sp>
      <p:sp>
        <p:nvSpPr>
          <p:cNvPr id="20" name="TextBox 19"/>
          <p:cNvSpPr txBox="1"/>
          <p:nvPr/>
        </p:nvSpPr>
        <p:spPr>
          <a:xfrm>
            <a:off x="1380744" y="4315968"/>
            <a:ext cx="10003536" cy="365760"/>
          </a:xfrm>
          <a:prstGeom prst="rect">
            <a:avLst/>
          </a:prstGeom>
          <a:noFill/>
        </p:spPr>
        <p:txBody>
          <a:bodyPr wrap="square" lIns="0" rIns="0" tIns="0" bIns="0">
            <a:spAutoFit/>
          </a:bodyPr>
          <a:lstStyle/>
          <a:p>
            <a:pPr algn="l"/>
            <a:r>
              <a:rPr sz="1250" b="0" i="0">
                <a:solidFill>
                  <a:srgbClr val="5A7A80"/>
                </a:solidFill>
                <a:latin typeface="Calibri"/>
              </a:rPr>
              <a:t>Demonstrations, imitation learning, pretraining, fine-tuning, and RL.</a:t>
            </a:r>
          </a:p>
        </p:txBody>
      </p:sp>
      <p:sp>
        <p:nvSpPr>
          <p:cNvPr id="21" name="Rounded Rectangle 20"/>
          <p:cNvSpPr/>
          <p:nvPr/>
        </p:nvSpPr>
        <p:spPr>
          <a:xfrm>
            <a:off x="777240" y="4773168"/>
            <a:ext cx="402336"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777240" y="4773168"/>
            <a:ext cx="402336" cy="402336"/>
          </a:xfrm>
          <a:prstGeom prst="rect">
            <a:avLst/>
          </a:prstGeom>
          <a:noFill/>
        </p:spPr>
        <p:txBody>
          <a:bodyPr wrap="square" lIns="0" rIns="0" tIns="0" bIns="0" anchor="ctr">
            <a:spAutoFit/>
          </a:bodyPr>
          <a:lstStyle/>
          <a:p>
            <a:pPr algn="ctr"/>
            <a:r>
              <a:rPr sz="1300" b="1" i="0">
                <a:solidFill>
                  <a:srgbClr val="FFFFFF"/>
                </a:solidFill>
                <a:latin typeface="Calibri"/>
              </a:rPr>
              <a:t>5</a:t>
            </a:r>
          </a:p>
        </p:txBody>
      </p:sp>
      <p:sp>
        <p:nvSpPr>
          <p:cNvPr id="23" name="TextBox 22"/>
          <p:cNvSpPr txBox="1"/>
          <p:nvPr/>
        </p:nvSpPr>
        <p:spPr>
          <a:xfrm>
            <a:off x="1380744" y="4754880"/>
            <a:ext cx="10003536" cy="274320"/>
          </a:xfrm>
          <a:prstGeom prst="rect">
            <a:avLst/>
          </a:prstGeom>
          <a:noFill/>
        </p:spPr>
        <p:txBody>
          <a:bodyPr wrap="square" lIns="0" rIns="0" tIns="0" bIns="0">
            <a:spAutoFit/>
          </a:bodyPr>
          <a:lstStyle/>
          <a:p>
            <a:pPr algn="l"/>
            <a:r>
              <a:rPr sz="1350" b="1" i="0">
                <a:solidFill>
                  <a:srgbClr val="12343B"/>
                </a:solidFill>
                <a:latin typeface="Calibri"/>
              </a:rPr>
              <a:t>The models that define the field</a:t>
            </a:r>
          </a:p>
        </p:txBody>
      </p:sp>
      <p:sp>
        <p:nvSpPr>
          <p:cNvPr id="24" name="TextBox 23"/>
          <p:cNvSpPr txBox="1"/>
          <p:nvPr/>
        </p:nvSpPr>
        <p:spPr>
          <a:xfrm>
            <a:off x="1380744" y="5047488"/>
            <a:ext cx="10003536" cy="365760"/>
          </a:xfrm>
          <a:prstGeom prst="rect">
            <a:avLst/>
          </a:prstGeom>
          <a:noFill/>
        </p:spPr>
        <p:txBody>
          <a:bodyPr wrap="square" lIns="0" rIns="0" tIns="0" bIns="0">
            <a:spAutoFit/>
          </a:bodyPr>
          <a:lstStyle/>
          <a:p>
            <a:pPr algn="l"/>
            <a:r>
              <a:rPr sz="1250" b="0" i="0">
                <a:solidFill>
                  <a:srgbClr val="5A7A80"/>
                </a:solidFill>
                <a:latin typeface="Calibri"/>
              </a:rPr>
              <a:t>RT-1/2, OpenVLA, pi-0, GR00T N1, and how they compare.</a:t>
            </a:r>
          </a:p>
        </p:txBody>
      </p:sp>
      <p:sp>
        <p:nvSpPr>
          <p:cNvPr id="25" name="Rounded Rectangle 24"/>
          <p:cNvSpPr/>
          <p:nvPr/>
        </p:nvSpPr>
        <p:spPr>
          <a:xfrm>
            <a:off x="777240" y="5504688"/>
            <a:ext cx="402336" cy="402336"/>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777240" y="5504688"/>
            <a:ext cx="402336" cy="402336"/>
          </a:xfrm>
          <a:prstGeom prst="rect">
            <a:avLst/>
          </a:prstGeom>
          <a:noFill/>
        </p:spPr>
        <p:txBody>
          <a:bodyPr wrap="square" lIns="0" rIns="0" tIns="0" bIns="0" anchor="ctr">
            <a:spAutoFit/>
          </a:bodyPr>
          <a:lstStyle/>
          <a:p>
            <a:pPr algn="ctr"/>
            <a:r>
              <a:rPr sz="1300" b="1" i="0">
                <a:solidFill>
                  <a:srgbClr val="FFFFFF"/>
                </a:solidFill>
                <a:latin typeface="Calibri"/>
              </a:rPr>
              <a:t>6</a:t>
            </a:r>
          </a:p>
        </p:txBody>
      </p:sp>
      <p:sp>
        <p:nvSpPr>
          <p:cNvPr id="27" name="TextBox 26"/>
          <p:cNvSpPr txBox="1"/>
          <p:nvPr/>
        </p:nvSpPr>
        <p:spPr>
          <a:xfrm>
            <a:off x="1380744" y="5486400"/>
            <a:ext cx="10003536" cy="274320"/>
          </a:xfrm>
          <a:prstGeom prst="rect">
            <a:avLst/>
          </a:prstGeom>
          <a:noFill/>
        </p:spPr>
        <p:txBody>
          <a:bodyPr wrap="square" lIns="0" rIns="0" tIns="0" bIns="0">
            <a:spAutoFit/>
          </a:bodyPr>
          <a:lstStyle/>
          <a:p>
            <a:pPr algn="l"/>
            <a:r>
              <a:rPr sz="1350" b="1" i="0">
                <a:solidFill>
                  <a:srgbClr val="12343B"/>
                </a:solidFill>
                <a:latin typeface="Calibri"/>
              </a:rPr>
              <a:t>Where this is going</a:t>
            </a:r>
          </a:p>
        </p:txBody>
      </p:sp>
      <p:sp>
        <p:nvSpPr>
          <p:cNvPr id="28" name="TextBox 27"/>
          <p:cNvSpPr txBox="1"/>
          <p:nvPr/>
        </p:nvSpPr>
        <p:spPr>
          <a:xfrm>
            <a:off x="1380744" y="5779007"/>
            <a:ext cx="10003536" cy="365760"/>
          </a:xfrm>
          <a:prstGeom prst="rect">
            <a:avLst/>
          </a:prstGeom>
          <a:noFill/>
        </p:spPr>
        <p:txBody>
          <a:bodyPr wrap="square" lIns="0" rIns="0" tIns="0" bIns="0">
            <a:spAutoFit/>
          </a:bodyPr>
          <a:lstStyle/>
          <a:p>
            <a:pPr algn="l"/>
            <a:r>
              <a:rPr sz="1250" b="0" i="0">
                <a:solidFill>
                  <a:srgbClr val="5A7A80"/>
                </a:solidFill>
                <a:latin typeface="Calibri"/>
              </a:rPr>
              <a:t>Applications, hard open problems, and current research directions.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HOW THIS SESSION IS GROUNDED</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Built on a 2025 IEEE Access review of the field</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pic>
        <p:nvPicPr>
          <p:cNvPr id="5" name="Picture 4" descr="fig_survey_structure_kawaharazuka2025.png"/>
          <p:cNvPicPr>
            <a:picLocks noChangeAspect="1"/>
          </p:cNvPicPr>
          <p:nvPr/>
        </p:nvPicPr>
        <p:blipFill>
          <a:blip r:embed="rId2"/>
          <a:stretch>
            <a:fillRect/>
          </a:stretch>
        </p:blipFill>
        <p:spPr>
          <a:xfrm>
            <a:off x="786138" y="1783080"/>
            <a:ext cx="5971522" cy="3703320"/>
          </a:xfrm>
          <a:prstGeom prst="rect">
            <a:avLst/>
          </a:prstGeom>
        </p:spPr>
      </p:pic>
      <p:sp>
        <p:nvSpPr>
          <p:cNvPr id="6" name="TextBox 5"/>
          <p:cNvSpPr txBox="1"/>
          <p:nvPr/>
        </p:nvSpPr>
        <p:spPr>
          <a:xfrm>
            <a:off x="777240" y="5532120"/>
            <a:ext cx="5989320" cy="310896"/>
          </a:xfrm>
          <a:prstGeom prst="rect">
            <a:avLst/>
          </a:prstGeom>
          <a:noFill/>
        </p:spPr>
        <p:txBody>
          <a:bodyPr wrap="square" lIns="0" rIns="0" tIns="0" bIns="0">
            <a:spAutoFit/>
          </a:bodyPr>
          <a:lstStyle/>
          <a:p>
            <a:pPr algn="l">
              <a:lnSpc>
                <a:spcPct val="105000"/>
              </a:lnSpc>
            </a:pPr>
            <a:r>
              <a:rPr sz="950" b="0" i="0">
                <a:solidFill>
                  <a:srgbClr val="8FA9AE"/>
                </a:solidFill>
                <a:latin typeface="Calibri"/>
              </a:rPr>
              <a:t>Kawaharazuka, Oh, Yamada, Posner &amp; Zhu (2025), Vision-Language-Action Models for Robotics: A Review Towards Real-World Applications, IEEE Access, arXiv:2510.07077.</a:t>
            </a:r>
          </a:p>
        </p:txBody>
      </p:sp>
      <p:sp>
        <p:nvSpPr>
          <p:cNvPr id="7" name="Rounded Rectangle 6"/>
          <p:cNvSpPr/>
          <p:nvPr/>
        </p:nvSpPr>
        <p:spPr>
          <a:xfrm>
            <a:off x="7086600" y="1783080"/>
            <a:ext cx="4297680" cy="16916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7306056" y="2002536"/>
            <a:ext cx="3858768" cy="292608"/>
          </a:xfrm>
          <a:prstGeom prst="rect">
            <a:avLst/>
          </a:prstGeom>
          <a:noFill/>
        </p:spPr>
        <p:txBody>
          <a:bodyPr wrap="square" lIns="0" rIns="0" tIns="0" bIns="0">
            <a:spAutoFit/>
          </a:bodyPr>
          <a:lstStyle/>
          <a:p>
            <a:pPr algn="l"/>
            <a:r>
              <a:rPr sz="1350" b="1" i="0">
                <a:solidFill>
                  <a:srgbClr val="12343B"/>
                </a:solidFill>
                <a:latin typeface="Calibri"/>
              </a:rPr>
              <a:t>One survey, one shared vocabulary</a:t>
            </a:r>
          </a:p>
        </p:txBody>
      </p:sp>
      <p:sp>
        <p:nvSpPr>
          <p:cNvPr id="9" name="TextBox 8"/>
          <p:cNvSpPr txBox="1"/>
          <p:nvPr/>
        </p:nvSpPr>
        <p:spPr>
          <a:xfrm>
            <a:off x="7306056" y="2386584"/>
            <a:ext cx="3858768" cy="86868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This paper reviews VLA architectures, training strategies, datasets, robot platforms, evaluation and real deployments across the whole field. We follow its definitions and structure tonight so the terms you hear here match what you'll read in papers.</a:t>
            </a:r>
          </a:p>
        </p:txBody>
      </p:sp>
      <p:sp>
        <p:nvSpPr>
          <p:cNvPr id="10" name="Rounded Rectangle 9"/>
          <p:cNvSpPr/>
          <p:nvPr/>
        </p:nvSpPr>
        <p:spPr>
          <a:xfrm>
            <a:off x="7086600" y="3611880"/>
            <a:ext cx="4297680" cy="26060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7306056" y="3831336"/>
            <a:ext cx="3858768" cy="292608"/>
          </a:xfrm>
          <a:prstGeom prst="rect">
            <a:avLst/>
          </a:prstGeom>
          <a:noFill/>
        </p:spPr>
        <p:txBody>
          <a:bodyPr wrap="square" lIns="0" rIns="0" tIns="0" bIns="0">
            <a:spAutoFit/>
          </a:bodyPr>
          <a:lstStyle/>
          <a:p>
            <a:pPr algn="l"/>
            <a:r>
              <a:rPr sz="1350" b="1" i="0">
                <a:solidFill>
                  <a:srgbClr val="12343B"/>
                </a:solidFill>
                <a:latin typeface="Calibri"/>
              </a:rPr>
              <a:t>Why lean on a survey, not one paper</a:t>
            </a:r>
          </a:p>
        </p:txBody>
      </p:sp>
      <p:sp>
        <p:nvSpPr>
          <p:cNvPr id="12" name="TextBox 11"/>
          <p:cNvSpPr txBox="1"/>
          <p:nvPr/>
        </p:nvSpPr>
        <p:spPr>
          <a:xfrm>
            <a:off x="7306056" y="4215384"/>
            <a:ext cx="3858768" cy="178308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Any single VLA paper argues for its own design. A survey has to be honest about what's still unsettled: which action representation wins, how much data cross-embodiment transfer really needs, and what "safe" even means for a robot policy. That honesty is exactly what a first, practical introduction needs.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DEFINITION</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A model that turns pixels and words into motor commands</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ounded Rectangle 4"/>
          <p:cNvSpPr/>
          <p:nvPr/>
        </p:nvSpPr>
        <p:spPr>
          <a:xfrm>
            <a:off x="777240" y="1783080"/>
            <a:ext cx="10607040" cy="1417320"/>
          </a:xfrm>
          <a:prstGeom prst="roundRect">
            <a:avLst>
              <a:gd name="adj" fmla="val 6000"/>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1033271" y="1984248"/>
            <a:ext cx="10094976" cy="274320"/>
          </a:xfrm>
          <a:prstGeom prst="rect">
            <a:avLst/>
          </a:prstGeom>
          <a:noFill/>
        </p:spPr>
        <p:txBody>
          <a:bodyPr wrap="square" lIns="0" rIns="0" tIns="0" bIns="0">
            <a:spAutoFit/>
          </a:bodyPr>
          <a:lstStyle/>
          <a:p>
            <a:pPr algn="l"/>
            <a:r>
              <a:rPr sz="1250" b="1" i="0">
                <a:solidFill>
                  <a:srgbClr val="028090"/>
                </a:solidFill>
                <a:latin typeface="Calibri"/>
              </a:rPr>
              <a:t>Definition I.1 (Kawaharazuka et al., 2025)</a:t>
            </a:r>
          </a:p>
        </p:txBody>
      </p:sp>
      <p:sp>
        <p:nvSpPr>
          <p:cNvPr id="7" name="TextBox 6"/>
          <p:cNvSpPr txBox="1"/>
          <p:nvPr/>
        </p:nvSpPr>
        <p:spPr>
          <a:xfrm>
            <a:off x="1033271" y="2313432"/>
            <a:ext cx="10094976" cy="822960"/>
          </a:xfrm>
          <a:prstGeom prst="rect">
            <a:avLst/>
          </a:prstGeom>
          <a:noFill/>
        </p:spPr>
        <p:txBody>
          <a:bodyPr wrap="square" lIns="0" rIns="0" tIns="0" bIns="0">
            <a:spAutoFit/>
          </a:bodyPr>
          <a:lstStyle/>
          <a:p>
            <a:pPr algn="l">
              <a:lnSpc>
                <a:spcPct val="115000"/>
              </a:lnSpc>
            </a:pPr>
            <a:r>
              <a:rPr sz="1350" b="0" i="1">
                <a:solidFill>
                  <a:srgbClr val="12343B"/>
                </a:solidFill>
                <a:latin typeface="Calibri"/>
              </a:rPr>
              <a:t>“A Vision-Language-Action (VLA) model is a system that takes visual observations and natural language instructions as required inputs and may incorporate additional sensory modalities. It produces robot actions by directly generating control commands.”</a:t>
            </a:r>
          </a:p>
        </p:txBody>
      </p:sp>
      <p:sp>
        <p:nvSpPr>
          <p:cNvPr id="8" name="Rounded Rectangle 7"/>
          <p:cNvSpPr/>
          <p:nvPr/>
        </p:nvSpPr>
        <p:spPr>
          <a:xfrm>
            <a:off x="777240" y="3429000"/>
            <a:ext cx="3401568" cy="15087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96695" y="3648456"/>
            <a:ext cx="2962656" cy="292608"/>
          </a:xfrm>
          <a:prstGeom prst="rect">
            <a:avLst/>
          </a:prstGeom>
          <a:noFill/>
        </p:spPr>
        <p:txBody>
          <a:bodyPr wrap="square" lIns="0" rIns="0" tIns="0" bIns="0">
            <a:spAutoFit/>
          </a:bodyPr>
          <a:lstStyle/>
          <a:p>
            <a:pPr algn="l"/>
            <a:r>
              <a:rPr sz="1350" b="1" i="0">
                <a:solidFill>
                  <a:srgbClr val="12343B"/>
                </a:solidFill>
                <a:latin typeface="Calibri"/>
              </a:rPr>
              <a:t>Vision</a:t>
            </a:r>
          </a:p>
        </p:txBody>
      </p:sp>
      <p:sp>
        <p:nvSpPr>
          <p:cNvPr id="10" name="TextBox 9"/>
          <p:cNvSpPr txBox="1"/>
          <p:nvPr/>
        </p:nvSpPr>
        <p:spPr>
          <a:xfrm>
            <a:off x="996695" y="4032504"/>
            <a:ext cx="2962656" cy="68579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What the robot currently sees: one or more camera streams, sometimes depth or point clouds.</a:t>
            </a:r>
          </a:p>
        </p:txBody>
      </p:sp>
      <p:sp>
        <p:nvSpPr>
          <p:cNvPr id="11" name="Rounded Rectangle 10"/>
          <p:cNvSpPr/>
          <p:nvPr/>
        </p:nvSpPr>
        <p:spPr>
          <a:xfrm>
            <a:off x="4361688" y="3429000"/>
            <a:ext cx="3401568" cy="15087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4581144" y="3648456"/>
            <a:ext cx="2962656" cy="292608"/>
          </a:xfrm>
          <a:prstGeom prst="rect">
            <a:avLst/>
          </a:prstGeom>
          <a:noFill/>
        </p:spPr>
        <p:txBody>
          <a:bodyPr wrap="square" lIns="0" rIns="0" tIns="0" bIns="0">
            <a:spAutoFit/>
          </a:bodyPr>
          <a:lstStyle/>
          <a:p>
            <a:pPr algn="l"/>
            <a:r>
              <a:rPr sz="1350" b="1" i="0">
                <a:solidFill>
                  <a:srgbClr val="12343B"/>
                </a:solidFill>
                <a:latin typeface="Calibri"/>
              </a:rPr>
              <a:t>Language</a:t>
            </a:r>
          </a:p>
        </p:txBody>
      </p:sp>
      <p:sp>
        <p:nvSpPr>
          <p:cNvPr id="13" name="TextBox 12"/>
          <p:cNvSpPr txBox="1"/>
          <p:nvPr/>
        </p:nvSpPr>
        <p:spPr>
          <a:xfrm>
            <a:off x="4581144" y="4032504"/>
            <a:ext cx="2962656" cy="68579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What it's being asked to do: a free-form instruction, not a menu of preset commands.</a:t>
            </a:r>
          </a:p>
        </p:txBody>
      </p:sp>
      <p:sp>
        <p:nvSpPr>
          <p:cNvPr id="14" name="Rounded Rectangle 13"/>
          <p:cNvSpPr/>
          <p:nvPr/>
        </p:nvSpPr>
        <p:spPr>
          <a:xfrm>
            <a:off x="7946136" y="3429000"/>
            <a:ext cx="3401568" cy="15087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8165592" y="3648456"/>
            <a:ext cx="2962656" cy="292608"/>
          </a:xfrm>
          <a:prstGeom prst="rect">
            <a:avLst/>
          </a:prstGeom>
          <a:noFill/>
        </p:spPr>
        <p:txBody>
          <a:bodyPr wrap="square" lIns="0" rIns="0" tIns="0" bIns="0">
            <a:spAutoFit/>
          </a:bodyPr>
          <a:lstStyle/>
          <a:p>
            <a:pPr algn="l"/>
            <a:r>
              <a:rPr sz="1350" b="1" i="0">
                <a:solidFill>
                  <a:srgbClr val="12343B"/>
                </a:solidFill>
                <a:latin typeface="Calibri"/>
              </a:rPr>
              <a:t>Action</a:t>
            </a:r>
          </a:p>
        </p:txBody>
      </p:sp>
      <p:sp>
        <p:nvSpPr>
          <p:cNvPr id="16" name="TextBox 15"/>
          <p:cNvSpPr txBox="1"/>
          <p:nvPr/>
        </p:nvSpPr>
        <p:spPr>
          <a:xfrm>
            <a:off x="8165592" y="4032504"/>
            <a:ext cx="2962656" cy="68579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What comes out: a control command the robot can execute right now, not a caption or a plan.</a:t>
            </a:r>
          </a:p>
        </p:txBody>
      </p:sp>
      <p:sp>
        <p:nvSpPr>
          <p:cNvPr id="17" name="Rounded Rectangle 16"/>
          <p:cNvSpPr/>
          <p:nvPr/>
        </p:nvSpPr>
        <p:spPr>
          <a:xfrm>
            <a:off x="777240" y="5138928"/>
            <a:ext cx="10607040" cy="10515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996695" y="5358384"/>
            <a:ext cx="10168128" cy="292608"/>
          </a:xfrm>
          <a:prstGeom prst="rect">
            <a:avLst/>
          </a:prstGeom>
          <a:noFill/>
        </p:spPr>
        <p:txBody>
          <a:bodyPr wrap="square" lIns="0" rIns="0" tIns="0" bIns="0">
            <a:spAutoFit/>
          </a:bodyPr>
          <a:lstStyle/>
          <a:p>
            <a:pPr algn="l"/>
            <a:r>
              <a:rPr sz="1350" b="1" i="0">
                <a:solidFill>
                  <a:srgbClr val="12343B"/>
                </a:solidFill>
                <a:latin typeface="Calibri"/>
              </a:rPr>
              <a:t>The line that matters</a:t>
            </a:r>
          </a:p>
        </p:txBody>
      </p:sp>
      <p:sp>
        <p:nvSpPr>
          <p:cNvPr id="19" name="TextBox 18"/>
          <p:cNvSpPr txBox="1"/>
          <p:nvPr/>
        </p:nvSpPr>
        <p:spPr>
          <a:xfrm>
            <a:off x="996695" y="5742432"/>
            <a:ext cx="10168128" cy="22859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A system where a VLM only picks an index from a fixed set of pre-trained skills or motion primitives does not count as a VLA under this definition, however smart the picking is. A VLA has to generate the control command itself.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MOTIVATION</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Because scripted robots break the moment the world changes</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ounded Rectangle 4"/>
          <p:cNvSpPr/>
          <p:nvPr/>
        </p:nvSpPr>
        <p:spPr>
          <a:xfrm>
            <a:off x="777240" y="1783080"/>
            <a:ext cx="5230368" cy="23317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996695" y="2002536"/>
            <a:ext cx="4791456" cy="292608"/>
          </a:xfrm>
          <a:prstGeom prst="rect">
            <a:avLst/>
          </a:prstGeom>
          <a:noFill/>
        </p:spPr>
        <p:txBody>
          <a:bodyPr wrap="square" lIns="0" rIns="0" tIns="0" bIns="0">
            <a:spAutoFit/>
          </a:bodyPr>
          <a:lstStyle/>
          <a:p>
            <a:pPr algn="l"/>
            <a:r>
              <a:rPr sz="1350" b="1" i="0">
                <a:solidFill>
                  <a:srgbClr val="12343B"/>
                </a:solidFill>
                <a:latin typeface="Calibri"/>
              </a:rPr>
              <a:t>The classical answer</a:t>
            </a:r>
          </a:p>
        </p:txBody>
      </p:sp>
      <p:sp>
        <p:nvSpPr>
          <p:cNvPr id="7" name="TextBox 6"/>
          <p:cNvSpPr txBox="1"/>
          <p:nvPr/>
        </p:nvSpPr>
        <p:spPr>
          <a:xfrm>
            <a:off x="996695" y="2386584"/>
            <a:ext cx="4791456" cy="150876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See a bolt: run a bolt detector. Plan a grasp: run a grasp planner tuned to that bolt. Move there: run a motion planner tuned to that arm. Every stage is hand-built for one task, one object set, one robot, one environment.</a:t>
            </a:r>
          </a:p>
        </p:txBody>
      </p:sp>
      <p:sp>
        <p:nvSpPr>
          <p:cNvPr id="8" name="Rounded Rectangle 7"/>
          <p:cNvSpPr/>
          <p:nvPr/>
        </p:nvSpPr>
        <p:spPr>
          <a:xfrm>
            <a:off x="6144768" y="1783080"/>
            <a:ext cx="5230368" cy="23317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6364224" y="2002536"/>
            <a:ext cx="4791456" cy="292608"/>
          </a:xfrm>
          <a:prstGeom prst="rect">
            <a:avLst/>
          </a:prstGeom>
          <a:noFill/>
        </p:spPr>
        <p:txBody>
          <a:bodyPr wrap="square" lIns="0" rIns="0" tIns="0" bIns="0">
            <a:spAutoFit/>
          </a:bodyPr>
          <a:lstStyle/>
          <a:p>
            <a:pPr algn="l"/>
            <a:r>
              <a:rPr sz="1350" b="1" i="0">
                <a:solidFill>
                  <a:srgbClr val="12343B"/>
                </a:solidFill>
                <a:latin typeface="Calibri"/>
              </a:rPr>
              <a:t>The cost of that answer</a:t>
            </a:r>
          </a:p>
        </p:txBody>
      </p:sp>
      <p:sp>
        <p:nvSpPr>
          <p:cNvPr id="10" name="TextBox 9"/>
          <p:cNvSpPr txBox="1"/>
          <p:nvPr/>
        </p:nvSpPr>
        <p:spPr>
          <a:xfrm>
            <a:off x="6364224" y="2386584"/>
            <a:ext cx="4791456" cy="150876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Change the object, the lighting, the table height, or the robot, and some stage silently stops matching its assumptions. Coverage grows one narrow module at a time, and nothing you build for task A transfers to task B.</a:t>
            </a:r>
          </a:p>
        </p:txBody>
      </p:sp>
      <p:sp>
        <p:nvSpPr>
          <p:cNvPr id="11" name="Rounded Rectangle 10"/>
          <p:cNvSpPr/>
          <p:nvPr/>
        </p:nvSpPr>
        <p:spPr>
          <a:xfrm>
            <a:off x="777240" y="4315968"/>
            <a:ext cx="10607040" cy="1783080"/>
          </a:xfrm>
          <a:prstGeom prst="roundRect">
            <a:avLst>
              <a:gd name="adj" fmla="val 6000"/>
            </a:avLst>
          </a:prstGeom>
          <a:solidFill>
            <a:srgbClr val="0F3A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1033271" y="4517136"/>
            <a:ext cx="10094976" cy="292608"/>
          </a:xfrm>
          <a:prstGeom prst="rect">
            <a:avLst/>
          </a:prstGeom>
          <a:noFill/>
        </p:spPr>
        <p:txBody>
          <a:bodyPr wrap="square" lIns="0" rIns="0" tIns="0" bIns="0">
            <a:spAutoFit/>
          </a:bodyPr>
          <a:lstStyle/>
          <a:p>
            <a:pPr algn="l"/>
            <a:r>
              <a:rPr sz="1100" b="1" i="0">
                <a:solidFill>
                  <a:srgbClr val="02C39A"/>
                </a:solidFill>
                <a:latin typeface="Calibri"/>
              </a:rPr>
              <a:t>THE VLA BET</a:t>
            </a:r>
          </a:p>
        </p:txBody>
      </p:sp>
      <p:sp>
        <p:nvSpPr>
          <p:cNvPr id="13" name="TextBox 12"/>
          <p:cNvSpPr txBox="1"/>
          <p:nvPr/>
        </p:nvSpPr>
        <p:spPr>
          <a:xfrm>
            <a:off x="1033271" y="4846320"/>
            <a:ext cx="10094976" cy="1097280"/>
          </a:xfrm>
          <a:prstGeom prst="rect">
            <a:avLst/>
          </a:prstGeom>
          <a:noFill/>
        </p:spPr>
        <p:txBody>
          <a:bodyPr wrap="square" lIns="0" rIns="0" tIns="0" bIns="0">
            <a:spAutoFit/>
          </a:bodyPr>
          <a:lstStyle/>
          <a:p>
            <a:pPr algn="l"/>
            <a:r>
              <a:rPr sz="1300" b="0" i="0">
                <a:solidFill>
                  <a:srgbClr val="D6E7E4"/>
                </a:solidFill>
                <a:latin typeface="Calibri"/>
              </a:rPr>
              <a:t>Train one policy, end to end, on enough diverse vision-language-action data that it absorbs the pattern of “how instructions map to actions” rather than memorising one task. The same recipe that let language and vision models generalise from web-scale data is now being pointed at robots: fewer bespoke modules, more learned generalisation.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THE LINEAGE</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Three generations, each one closer to acting</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ounded Rectangle 4"/>
          <p:cNvSpPr/>
          <p:nvPr/>
        </p:nvSpPr>
        <p:spPr>
          <a:xfrm>
            <a:off x="777240" y="2148840"/>
            <a:ext cx="3246120" cy="23317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996695" y="2368296"/>
            <a:ext cx="2807208" cy="502920"/>
          </a:xfrm>
          <a:prstGeom prst="rect">
            <a:avLst/>
          </a:prstGeom>
          <a:noFill/>
        </p:spPr>
        <p:txBody>
          <a:bodyPr wrap="square" lIns="0" rIns="0" tIns="0" bIns="0">
            <a:spAutoFit/>
          </a:bodyPr>
          <a:lstStyle/>
          <a:p>
            <a:pPr algn="l"/>
            <a:r>
              <a:rPr sz="1500" b="1" i="0">
                <a:solidFill>
                  <a:srgbClr val="12343B"/>
                </a:solidFill>
                <a:latin typeface="Calibri"/>
              </a:rPr>
              <a:t>Computer Vision</a:t>
            </a:r>
          </a:p>
        </p:txBody>
      </p:sp>
      <p:sp>
        <p:nvSpPr>
          <p:cNvPr id="7" name="TextBox 6"/>
          <p:cNvSpPr txBox="1"/>
          <p:nvPr/>
        </p:nvSpPr>
        <p:spPr>
          <a:xfrm>
            <a:off x="996695" y="2926080"/>
            <a:ext cx="2807208" cy="777240"/>
          </a:xfrm>
          <a:prstGeom prst="rect">
            <a:avLst/>
          </a:prstGeom>
          <a:noFill/>
        </p:spPr>
        <p:txBody>
          <a:bodyPr wrap="square" lIns="0" rIns="0" tIns="0" bIns="0">
            <a:spAutoFit/>
          </a:bodyPr>
          <a:lstStyle/>
          <a:p>
            <a:pPr algn="l">
              <a:lnSpc>
                <a:spcPct val="115000"/>
              </a:lnSpc>
            </a:pPr>
            <a:r>
              <a:rPr sz="1250" b="0" i="0">
                <a:solidFill>
                  <a:srgbClr val="5A7A80"/>
                </a:solidFill>
                <a:latin typeface="Calibri"/>
              </a:rPr>
              <a:t>Label what's in the image.</a:t>
            </a:r>
          </a:p>
        </p:txBody>
      </p:sp>
      <p:sp>
        <p:nvSpPr>
          <p:cNvPr id="8" name="TextBox 7"/>
          <p:cNvSpPr txBox="1"/>
          <p:nvPr/>
        </p:nvSpPr>
        <p:spPr>
          <a:xfrm>
            <a:off x="996695" y="3931920"/>
            <a:ext cx="2807208" cy="457200"/>
          </a:xfrm>
          <a:prstGeom prst="rect">
            <a:avLst/>
          </a:prstGeom>
          <a:noFill/>
        </p:spPr>
        <p:txBody>
          <a:bodyPr wrap="square" lIns="0" rIns="0" tIns="0" bIns="0">
            <a:spAutoFit/>
          </a:bodyPr>
          <a:lstStyle/>
          <a:p>
            <a:pPr algn="l">
              <a:lnSpc>
                <a:spcPct val="110000"/>
              </a:lnSpc>
            </a:pPr>
            <a:r>
              <a:rPr sz="1100" b="1" i="0">
                <a:solidFill>
                  <a:srgbClr val="028090"/>
                </a:solidFill>
                <a:latin typeface="Calibri"/>
              </a:rPr>
              <a:t>ResNet, YOLO, ViT classification and detection</a:t>
            </a:r>
          </a:p>
        </p:txBody>
      </p:sp>
      <p:sp>
        <p:nvSpPr>
          <p:cNvPr id="9" name="Right Arrow 8"/>
          <p:cNvSpPr/>
          <p:nvPr/>
        </p:nvSpPr>
        <p:spPr>
          <a:xfrm>
            <a:off x="4041647" y="3154680"/>
            <a:ext cx="283464" cy="292608"/>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343400" y="2148840"/>
            <a:ext cx="3246120" cy="23317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4562856" y="2368296"/>
            <a:ext cx="2807208" cy="502920"/>
          </a:xfrm>
          <a:prstGeom prst="rect">
            <a:avLst/>
          </a:prstGeom>
          <a:noFill/>
        </p:spPr>
        <p:txBody>
          <a:bodyPr wrap="square" lIns="0" rIns="0" tIns="0" bIns="0">
            <a:spAutoFit/>
          </a:bodyPr>
          <a:lstStyle/>
          <a:p>
            <a:pPr algn="l"/>
            <a:r>
              <a:rPr sz="1500" b="1" i="0">
                <a:solidFill>
                  <a:srgbClr val="12343B"/>
                </a:solidFill>
                <a:latin typeface="Calibri"/>
              </a:rPr>
              <a:t>Vision-Language Models</a:t>
            </a:r>
          </a:p>
        </p:txBody>
      </p:sp>
      <p:sp>
        <p:nvSpPr>
          <p:cNvPr id="12" name="TextBox 11"/>
          <p:cNvSpPr txBox="1"/>
          <p:nvPr/>
        </p:nvSpPr>
        <p:spPr>
          <a:xfrm>
            <a:off x="4562856" y="2926080"/>
            <a:ext cx="2807208" cy="777240"/>
          </a:xfrm>
          <a:prstGeom prst="rect">
            <a:avLst/>
          </a:prstGeom>
          <a:noFill/>
        </p:spPr>
        <p:txBody>
          <a:bodyPr wrap="square" lIns="0" rIns="0" tIns="0" bIns="0">
            <a:spAutoFit/>
          </a:bodyPr>
          <a:lstStyle/>
          <a:p>
            <a:pPr algn="l">
              <a:lnSpc>
                <a:spcPct val="115000"/>
              </a:lnSpc>
            </a:pPr>
            <a:r>
              <a:rPr sz="1250" b="0" i="0">
                <a:solidFill>
                  <a:srgbClr val="5A7A80"/>
                </a:solidFill>
                <a:latin typeface="Calibri"/>
              </a:rPr>
              <a:t>Describe and reason about the image, in words.</a:t>
            </a:r>
          </a:p>
        </p:txBody>
      </p:sp>
      <p:sp>
        <p:nvSpPr>
          <p:cNvPr id="13" name="TextBox 12"/>
          <p:cNvSpPr txBox="1"/>
          <p:nvPr/>
        </p:nvSpPr>
        <p:spPr>
          <a:xfrm>
            <a:off x="4562856" y="3931920"/>
            <a:ext cx="2807208" cy="457200"/>
          </a:xfrm>
          <a:prstGeom prst="rect">
            <a:avLst/>
          </a:prstGeom>
          <a:noFill/>
        </p:spPr>
        <p:txBody>
          <a:bodyPr wrap="square" lIns="0" rIns="0" tIns="0" bIns="0">
            <a:spAutoFit/>
          </a:bodyPr>
          <a:lstStyle/>
          <a:p>
            <a:pPr algn="l">
              <a:lnSpc>
                <a:spcPct val="110000"/>
              </a:lnSpc>
            </a:pPr>
            <a:r>
              <a:rPr sz="1100" b="1" i="0">
                <a:solidFill>
                  <a:srgbClr val="028090"/>
                </a:solidFill>
                <a:latin typeface="Calibri"/>
              </a:rPr>
              <a:t>CLIP, GPT-4V, PaLI-X, Gemini</a:t>
            </a:r>
          </a:p>
        </p:txBody>
      </p:sp>
      <p:sp>
        <p:nvSpPr>
          <p:cNvPr id="14" name="Right Arrow 13"/>
          <p:cNvSpPr/>
          <p:nvPr/>
        </p:nvSpPr>
        <p:spPr>
          <a:xfrm>
            <a:off x="7607808" y="3154680"/>
            <a:ext cx="283464" cy="292608"/>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909560" y="2148840"/>
            <a:ext cx="3246120" cy="2331720"/>
          </a:xfrm>
          <a:prstGeom prst="roundRect">
            <a:avLst>
              <a:gd name="adj" fmla="val 6000"/>
            </a:avLst>
          </a:prstGeom>
          <a:solidFill>
            <a:srgbClr val="0F3A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8129016" y="2368296"/>
            <a:ext cx="2807208" cy="502920"/>
          </a:xfrm>
          <a:prstGeom prst="rect">
            <a:avLst/>
          </a:prstGeom>
          <a:noFill/>
        </p:spPr>
        <p:txBody>
          <a:bodyPr wrap="square" lIns="0" rIns="0" tIns="0" bIns="0">
            <a:spAutoFit/>
          </a:bodyPr>
          <a:lstStyle/>
          <a:p>
            <a:pPr algn="l"/>
            <a:r>
              <a:rPr sz="1500" b="1" i="0">
                <a:solidFill>
                  <a:srgbClr val="FFFFFF"/>
                </a:solidFill>
                <a:latin typeface="Calibri"/>
              </a:rPr>
              <a:t>Vision-Language-Action</a:t>
            </a:r>
          </a:p>
        </p:txBody>
      </p:sp>
      <p:sp>
        <p:nvSpPr>
          <p:cNvPr id="17" name="TextBox 16"/>
          <p:cNvSpPr txBox="1"/>
          <p:nvPr/>
        </p:nvSpPr>
        <p:spPr>
          <a:xfrm>
            <a:off x="8129016" y="2926080"/>
            <a:ext cx="2807208" cy="777240"/>
          </a:xfrm>
          <a:prstGeom prst="rect">
            <a:avLst/>
          </a:prstGeom>
          <a:noFill/>
        </p:spPr>
        <p:txBody>
          <a:bodyPr wrap="square" lIns="0" rIns="0" tIns="0" bIns="0">
            <a:spAutoFit/>
          </a:bodyPr>
          <a:lstStyle/>
          <a:p>
            <a:pPr algn="l">
              <a:lnSpc>
                <a:spcPct val="115000"/>
              </a:lnSpc>
            </a:pPr>
            <a:r>
              <a:rPr sz="1250" b="0" i="0">
                <a:solidFill>
                  <a:srgbClr val="D6E7E4"/>
                </a:solidFill>
                <a:latin typeface="Calibri"/>
              </a:rPr>
              <a:t>Act on the image: produce a motor command.</a:t>
            </a:r>
          </a:p>
        </p:txBody>
      </p:sp>
      <p:sp>
        <p:nvSpPr>
          <p:cNvPr id="18" name="TextBox 17"/>
          <p:cNvSpPr txBox="1"/>
          <p:nvPr/>
        </p:nvSpPr>
        <p:spPr>
          <a:xfrm>
            <a:off x="8129016" y="3931920"/>
            <a:ext cx="2807208" cy="457200"/>
          </a:xfrm>
          <a:prstGeom prst="rect">
            <a:avLst/>
          </a:prstGeom>
          <a:noFill/>
        </p:spPr>
        <p:txBody>
          <a:bodyPr wrap="square" lIns="0" rIns="0" tIns="0" bIns="0">
            <a:spAutoFit/>
          </a:bodyPr>
          <a:lstStyle/>
          <a:p>
            <a:pPr algn="l">
              <a:lnSpc>
                <a:spcPct val="110000"/>
              </a:lnSpc>
            </a:pPr>
            <a:r>
              <a:rPr sz="1100" b="1" i="0">
                <a:solidFill>
                  <a:srgbClr val="8CE6C9"/>
                </a:solidFill>
                <a:latin typeface="Calibri"/>
              </a:rPr>
              <a:t>RT-2, OpenVLA, pi-0, GR00T N1</a:t>
            </a:r>
          </a:p>
        </p:txBody>
      </p:sp>
      <p:sp>
        <p:nvSpPr>
          <p:cNvPr id="19" name="Rounded Rectangle 18"/>
          <p:cNvSpPr/>
          <p:nvPr/>
        </p:nvSpPr>
        <p:spPr>
          <a:xfrm>
            <a:off x="777240" y="4846320"/>
            <a:ext cx="10607040" cy="13258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996695" y="5065776"/>
            <a:ext cx="10168128" cy="292608"/>
          </a:xfrm>
          <a:prstGeom prst="rect">
            <a:avLst/>
          </a:prstGeom>
          <a:noFill/>
        </p:spPr>
        <p:txBody>
          <a:bodyPr wrap="square" lIns="0" rIns="0" tIns="0" bIns="0">
            <a:spAutoFit/>
          </a:bodyPr>
          <a:lstStyle/>
          <a:p>
            <a:pPr algn="l"/>
            <a:r>
              <a:rPr sz="1350" b="1" i="0">
                <a:solidFill>
                  <a:srgbClr val="12343B"/>
                </a:solidFill>
                <a:latin typeface="Calibri"/>
              </a:rPr>
              <a:t>What carries over at each step</a:t>
            </a:r>
          </a:p>
        </p:txBody>
      </p:sp>
      <p:sp>
        <p:nvSpPr>
          <p:cNvPr id="21" name="TextBox 20"/>
          <p:cNvSpPr txBox="1"/>
          <p:nvPr/>
        </p:nvSpPr>
        <p:spPr>
          <a:xfrm>
            <a:off x="996695" y="5449824"/>
            <a:ext cx="10168128" cy="50291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Vision brought convolutional and transformer backbones that turn pixels into features. Vision-language work added a shared embedding space where an image and a sentence can be compared directly. VLA reuses both, and simply adds one more output head: instead of stopping at a caption, the model keeps going until it has a number the robot's motors can use.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THE BUILDING BLOCK</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One shared space for pictures and sentences</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pic>
        <p:nvPicPr>
          <p:cNvPr id="5" name="Picture 4" descr="fig_clip_contrastive_radford2021.png"/>
          <p:cNvPicPr>
            <a:picLocks noChangeAspect="1"/>
          </p:cNvPicPr>
          <p:nvPr/>
        </p:nvPicPr>
        <p:blipFill>
          <a:blip r:embed="rId2"/>
          <a:stretch>
            <a:fillRect/>
          </a:stretch>
        </p:blipFill>
        <p:spPr>
          <a:xfrm>
            <a:off x="1421903" y="1783080"/>
            <a:ext cx="4471392" cy="3246120"/>
          </a:xfrm>
          <a:prstGeom prst="rect">
            <a:avLst/>
          </a:prstGeom>
        </p:spPr>
      </p:pic>
      <p:sp>
        <p:nvSpPr>
          <p:cNvPr id="6" name="TextBox 5"/>
          <p:cNvSpPr txBox="1"/>
          <p:nvPr/>
        </p:nvSpPr>
        <p:spPr>
          <a:xfrm>
            <a:off x="777240" y="5102352"/>
            <a:ext cx="5760720" cy="365760"/>
          </a:xfrm>
          <a:prstGeom prst="rect">
            <a:avLst/>
          </a:prstGeom>
          <a:noFill/>
        </p:spPr>
        <p:txBody>
          <a:bodyPr wrap="square" lIns="0" rIns="0" tIns="0" bIns="0">
            <a:spAutoFit/>
          </a:bodyPr>
          <a:lstStyle/>
          <a:p>
            <a:pPr algn="l">
              <a:lnSpc>
                <a:spcPct val="105000"/>
              </a:lnSpc>
            </a:pPr>
            <a:r>
              <a:rPr sz="950" b="0" i="0">
                <a:solidFill>
                  <a:srgbClr val="8FA9AE"/>
                </a:solidFill>
                <a:latin typeface="Calibri"/>
              </a:rPr>
              <a:t>Radford et al. (2021), Learning Transferable Visual Models From Natural Language Supervision, arXiv:2103.00020, Figure 1(1).</a:t>
            </a:r>
          </a:p>
        </p:txBody>
      </p:sp>
      <p:sp>
        <p:nvSpPr>
          <p:cNvPr id="7" name="Rounded Rectangle 6"/>
          <p:cNvSpPr/>
          <p:nvPr/>
        </p:nvSpPr>
        <p:spPr>
          <a:xfrm>
            <a:off x="6812280" y="1783080"/>
            <a:ext cx="4572000" cy="16916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7031736" y="2002536"/>
            <a:ext cx="4133087" cy="292608"/>
          </a:xfrm>
          <a:prstGeom prst="rect">
            <a:avLst/>
          </a:prstGeom>
          <a:noFill/>
        </p:spPr>
        <p:txBody>
          <a:bodyPr wrap="square" lIns="0" rIns="0" tIns="0" bIns="0">
            <a:spAutoFit/>
          </a:bodyPr>
          <a:lstStyle/>
          <a:p>
            <a:pPr algn="l"/>
            <a:r>
              <a:rPr sz="1350" b="1" i="0">
                <a:solidFill>
                  <a:srgbClr val="12343B"/>
                </a:solidFill>
                <a:latin typeface="Calibri"/>
              </a:rPr>
              <a:t>Contrastive pretraining</a:t>
            </a:r>
          </a:p>
        </p:txBody>
      </p:sp>
      <p:sp>
        <p:nvSpPr>
          <p:cNvPr id="9" name="TextBox 8"/>
          <p:cNvSpPr txBox="1"/>
          <p:nvPr/>
        </p:nvSpPr>
        <p:spPr>
          <a:xfrm>
            <a:off x="7031736" y="2386584"/>
            <a:ext cx="4133087" cy="86868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CLIP trains an image encoder and a text encoder together on hundreds of millions of (image, caption) pairs, pulling matching pairs together and pushing mismatched pairs apart in one shared embedding space.</a:t>
            </a:r>
          </a:p>
        </p:txBody>
      </p:sp>
      <p:sp>
        <p:nvSpPr>
          <p:cNvPr id="10" name="Rounded Rectangle 9"/>
          <p:cNvSpPr/>
          <p:nvPr/>
        </p:nvSpPr>
        <p:spPr>
          <a:xfrm>
            <a:off x="6812280" y="3611880"/>
            <a:ext cx="4572000" cy="26060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7031736" y="3831336"/>
            <a:ext cx="4133087" cy="292608"/>
          </a:xfrm>
          <a:prstGeom prst="rect">
            <a:avLst/>
          </a:prstGeom>
          <a:noFill/>
        </p:spPr>
        <p:txBody>
          <a:bodyPr wrap="square" lIns="0" rIns="0" tIns="0" bIns="0">
            <a:spAutoFit/>
          </a:bodyPr>
          <a:lstStyle/>
          <a:p>
            <a:pPr algn="l"/>
            <a:r>
              <a:rPr sz="1350" b="1" i="0">
                <a:solidFill>
                  <a:srgbClr val="12343B"/>
                </a:solidFill>
                <a:latin typeface="Calibri"/>
              </a:rPr>
              <a:t>Why VLA models inherit this</a:t>
            </a:r>
          </a:p>
        </p:txBody>
      </p:sp>
      <p:sp>
        <p:nvSpPr>
          <p:cNvPr id="12" name="TextBox 11"/>
          <p:cNvSpPr txBox="1"/>
          <p:nvPr/>
        </p:nvSpPr>
        <p:spPr>
          <a:xfrm>
            <a:off x="7031736" y="4215384"/>
            <a:ext cx="4133087" cy="178308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Once images and text live in the same space, a sentence can steer what the model attends to in a picture: “the red mug” selects a region without any hand-written rule. This is the mechanism VLA models lean on for language conditioning: swap the instruction, and the same image drives a different action, because the language moved where attention lands.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TELLING THEM APART</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A VLM describes the world. A VLA changes it.</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TextBox 4"/>
          <p:cNvSpPr txBox="1"/>
          <p:nvPr/>
        </p:nvSpPr>
        <p:spPr>
          <a:xfrm>
            <a:off x="2606040" y="1737360"/>
            <a:ext cx="4709160" cy="274320"/>
          </a:xfrm>
          <a:prstGeom prst="rect">
            <a:avLst/>
          </a:prstGeom>
          <a:noFill/>
        </p:spPr>
        <p:txBody>
          <a:bodyPr wrap="square" lIns="0" rIns="0" tIns="0" bIns="0">
            <a:spAutoFit/>
          </a:bodyPr>
          <a:lstStyle/>
          <a:p>
            <a:pPr algn="l"/>
            <a:r>
              <a:rPr sz="1200" b="1" i="0">
                <a:solidFill>
                  <a:srgbClr val="028090"/>
                </a:solidFill>
                <a:latin typeface="Calibri"/>
              </a:rPr>
              <a:t>VISION-LANGUAGE MODEL</a:t>
            </a:r>
          </a:p>
        </p:txBody>
      </p:sp>
      <p:sp>
        <p:nvSpPr>
          <p:cNvPr id="6" name="TextBox 5"/>
          <p:cNvSpPr txBox="1"/>
          <p:nvPr/>
        </p:nvSpPr>
        <p:spPr>
          <a:xfrm>
            <a:off x="7452360" y="1737360"/>
            <a:ext cx="4709160" cy="274320"/>
          </a:xfrm>
          <a:prstGeom prst="rect">
            <a:avLst/>
          </a:prstGeom>
          <a:noFill/>
        </p:spPr>
        <p:txBody>
          <a:bodyPr wrap="square" lIns="0" rIns="0" tIns="0" bIns="0">
            <a:spAutoFit/>
          </a:bodyPr>
          <a:lstStyle/>
          <a:p>
            <a:pPr algn="l"/>
            <a:r>
              <a:rPr sz="1200" b="1" i="0">
                <a:solidFill>
                  <a:srgbClr val="C15B4E"/>
                </a:solidFill>
                <a:latin typeface="Calibri"/>
              </a:rPr>
              <a:t>VISION-LANGUAGE-ACTION MODEL</a:t>
            </a:r>
          </a:p>
        </p:txBody>
      </p:sp>
      <p:sp>
        <p:nvSpPr>
          <p:cNvPr id="7" name="TextBox 6"/>
          <p:cNvSpPr txBox="1"/>
          <p:nvPr/>
        </p:nvSpPr>
        <p:spPr>
          <a:xfrm>
            <a:off x="777240" y="2103120"/>
            <a:ext cx="1691640" cy="731520"/>
          </a:xfrm>
          <a:prstGeom prst="rect">
            <a:avLst/>
          </a:prstGeom>
          <a:noFill/>
        </p:spPr>
        <p:txBody>
          <a:bodyPr wrap="square" lIns="0" rIns="0" tIns="0" bIns="0">
            <a:spAutoFit/>
          </a:bodyPr>
          <a:lstStyle/>
          <a:p>
            <a:pPr algn="l"/>
            <a:r>
              <a:rPr sz="1200" b="1" i="0">
                <a:solidFill>
                  <a:srgbClr val="12343B"/>
                </a:solidFill>
                <a:latin typeface="Calibri"/>
              </a:rPr>
              <a:t>Input</a:t>
            </a:r>
          </a:p>
        </p:txBody>
      </p:sp>
      <p:sp>
        <p:nvSpPr>
          <p:cNvPr id="8" name="Rounded Rectangle 7"/>
          <p:cNvSpPr/>
          <p:nvPr/>
        </p:nvSpPr>
        <p:spPr>
          <a:xfrm>
            <a:off x="2606040" y="2066543"/>
            <a:ext cx="4709160" cy="7315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2752344" y="2212848"/>
            <a:ext cx="4416552" cy="438911"/>
          </a:xfrm>
          <a:prstGeom prst="rect">
            <a:avLst/>
          </a:prstGeom>
          <a:noFill/>
        </p:spPr>
        <p:txBody>
          <a:bodyPr wrap="square" lIns="0" rIns="0" tIns="0" bIns="0">
            <a:spAutoFit/>
          </a:bodyPr>
          <a:lstStyle/>
          <a:p>
            <a:pPr algn="l">
              <a:lnSpc>
                <a:spcPct val="112000"/>
              </a:lnSpc>
            </a:pPr>
            <a:r>
              <a:rPr sz="1150" b="0" i="0">
                <a:solidFill>
                  <a:srgbClr val="5A7A80"/>
                </a:solidFill>
                <a:latin typeface="Calibri"/>
              </a:rPr>
              <a:t>Image and text (and often a chat history)</a:t>
            </a:r>
          </a:p>
        </p:txBody>
      </p:sp>
      <p:sp>
        <p:nvSpPr>
          <p:cNvPr id="10" name="Rounded Rectangle 9"/>
          <p:cNvSpPr/>
          <p:nvPr/>
        </p:nvSpPr>
        <p:spPr>
          <a:xfrm>
            <a:off x="7452360" y="2066543"/>
            <a:ext cx="4709160" cy="7315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7598664" y="2212848"/>
            <a:ext cx="4416552" cy="438911"/>
          </a:xfrm>
          <a:prstGeom prst="rect">
            <a:avLst/>
          </a:prstGeom>
          <a:noFill/>
        </p:spPr>
        <p:txBody>
          <a:bodyPr wrap="square" lIns="0" rIns="0" tIns="0" bIns="0">
            <a:spAutoFit/>
          </a:bodyPr>
          <a:lstStyle/>
          <a:p>
            <a:pPr algn="l">
              <a:lnSpc>
                <a:spcPct val="112000"/>
              </a:lnSpc>
            </a:pPr>
            <a:r>
              <a:rPr sz="1150" b="0" i="0">
                <a:solidFill>
                  <a:srgbClr val="5A7A80"/>
                </a:solidFill>
                <a:latin typeface="Calibri"/>
              </a:rPr>
              <a:t>Image, text, and usually proprioception: joint angles, gripper state</a:t>
            </a:r>
          </a:p>
        </p:txBody>
      </p:sp>
      <p:sp>
        <p:nvSpPr>
          <p:cNvPr id="12" name="TextBox 11"/>
          <p:cNvSpPr txBox="1"/>
          <p:nvPr/>
        </p:nvSpPr>
        <p:spPr>
          <a:xfrm>
            <a:off x="777240" y="2953512"/>
            <a:ext cx="1691640" cy="731520"/>
          </a:xfrm>
          <a:prstGeom prst="rect">
            <a:avLst/>
          </a:prstGeom>
          <a:noFill/>
        </p:spPr>
        <p:txBody>
          <a:bodyPr wrap="square" lIns="0" rIns="0" tIns="0" bIns="0">
            <a:spAutoFit/>
          </a:bodyPr>
          <a:lstStyle/>
          <a:p>
            <a:pPr algn="l"/>
            <a:r>
              <a:rPr sz="1200" b="1" i="0">
                <a:solidFill>
                  <a:srgbClr val="12343B"/>
                </a:solidFill>
                <a:latin typeface="Calibri"/>
              </a:rPr>
              <a:t>Output</a:t>
            </a:r>
          </a:p>
        </p:txBody>
      </p:sp>
      <p:sp>
        <p:nvSpPr>
          <p:cNvPr id="13" name="Rounded Rectangle 12"/>
          <p:cNvSpPr/>
          <p:nvPr/>
        </p:nvSpPr>
        <p:spPr>
          <a:xfrm>
            <a:off x="2606040" y="2916936"/>
            <a:ext cx="4709160" cy="7315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2752344" y="3063240"/>
            <a:ext cx="4416552" cy="438911"/>
          </a:xfrm>
          <a:prstGeom prst="rect">
            <a:avLst/>
          </a:prstGeom>
          <a:noFill/>
        </p:spPr>
        <p:txBody>
          <a:bodyPr wrap="square" lIns="0" rIns="0" tIns="0" bIns="0">
            <a:spAutoFit/>
          </a:bodyPr>
          <a:lstStyle/>
          <a:p>
            <a:pPr algn="l">
              <a:lnSpc>
                <a:spcPct val="112000"/>
              </a:lnSpc>
            </a:pPr>
            <a:r>
              <a:rPr sz="1150" b="0" i="0">
                <a:solidFill>
                  <a:srgbClr val="5A7A80"/>
                </a:solidFill>
                <a:latin typeface="Calibri"/>
              </a:rPr>
              <a:t>More text: a caption, an answer, a plan in words</a:t>
            </a:r>
          </a:p>
        </p:txBody>
      </p:sp>
      <p:sp>
        <p:nvSpPr>
          <p:cNvPr id="15" name="Rounded Rectangle 14"/>
          <p:cNvSpPr/>
          <p:nvPr/>
        </p:nvSpPr>
        <p:spPr>
          <a:xfrm>
            <a:off x="7452360" y="2916936"/>
            <a:ext cx="4709160" cy="7315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7598664" y="3063240"/>
            <a:ext cx="4416552" cy="438911"/>
          </a:xfrm>
          <a:prstGeom prst="rect">
            <a:avLst/>
          </a:prstGeom>
          <a:noFill/>
        </p:spPr>
        <p:txBody>
          <a:bodyPr wrap="square" lIns="0" rIns="0" tIns="0" bIns="0">
            <a:spAutoFit/>
          </a:bodyPr>
          <a:lstStyle/>
          <a:p>
            <a:pPr algn="l">
              <a:lnSpc>
                <a:spcPct val="112000"/>
              </a:lnSpc>
            </a:pPr>
            <a:r>
              <a:rPr sz="1150" b="0" i="0">
                <a:solidFill>
                  <a:srgbClr val="5A7A80"/>
                </a:solidFill>
                <a:latin typeface="Calibri"/>
              </a:rPr>
              <a:t>A control command: joint deltas, end-effector pose, or a gripper signal</a:t>
            </a:r>
          </a:p>
        </p:txBody>
      </p:sp>
      <p:sp>
        <p:nvSpPr>
          <p:cNvPr id="17" name="TextBox 16"/>
          <p:cNvSpPr txBox="1"/>
          <p:nvPr/>
        </p:nvSpPr>
        <p:spPr>
          <a:xfrm>
            <a:off x="777240" y="3803904"/>
            <a:ext cx="1691640" cy="731520"/>
          </a:xfrm>
          <a:prstGeom prst="rect">
            <a:avLst/>
          </a:prstGeom>
          <a:noFill/>
        </p:spPr>
        <p:txBody>
          <a:bodyPr wrap="square" lIns="0" rIns="0" tIns="0" bIns="0">
            <a:spAutoFit/>
          </a:bodyPr>
          <a:lstStyle/>
          <a:p>
            <a:pPr algn="l"/>
            <a:r>
              <a:rPr sz="1200" b="1" i="0">
                <a:solidFill>
                  <a:srgbClr val="12343B"/>
                </a:solidFill>
                <a:latin typeface="Calibri"/>
              </a:rPr>
              <a:t>Runs as</a:t>
            </a:r>
          </a:p>
        </p:txBody>
      </p:sp>
      <p:sp>
        <p:nvSpPr>
          <p:cNvPr id="18" name="Rounded Rectangle 17"/>
          <p:cNvSpPr/>
          <p:nvPr/>
        </p:nvSpPr>
        <p:spPr>
          <a:xfrm>
            <a:off x="2606040" y="3767328"/>
            <a:ext cx="4709160" cy="7315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2752344" y="3913632"/>
            <a:ext cx="4416552" cy="438911"/>
          </a:xfrm>
          <a:prstGeom prst="rect">
            <a:avLst/>
          </a:prstGeom>
          <a:noFill/>
        </p:spPr>
        <p:txBody>
          <a:bodyPr wrap="square" lIns="0" rIns="0" tIns="0" bIns="0">
            <a:spAutoFit/>
          </a:bodyPr>
          <a:lstStyle/>
          <a:p>
            <a:pPr algn="l">
              <a:lnSpc>
                <a:spcPct val="112000"/>
              </a:lnSpc>
            </a:pPr>
            <a:r>
              <a:rPr sz="1150" b="0" i="0">
                <a:solidFill>
                  <a:srgbClr val="5A7A80"/>
                </a:solidFill>
                <a:latin typeface="Calibri"/>
              </a:rPr>
              <a:t>One shot, or a back-and-forth conversation</a:t>
            </a:r>
          </a:p>
        </p:txBody>
      </p:sp>
      <p:sp>
        <p:nvSpPr>
          <p:cNvPr id="20" name="Rounded Rectangle 19"/>
          <p:cNvSpPr/>
          <p:nvPr/>
        </p:nvSpPr>
        <p:spPr>
          <a:xfrm>
            <a:off x="7452360" y="3767328"/>
            <a:ext cx="4709160" cy="7315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7598664" y="3913632"/>
            <a:ext cx="4416552" cy="438911"/>
          </a:xfrm>
          <a:prstGeom prst="rect">
            <a:avLst/>
          </a:prstGeom>
          <a:noFill/>
        </p:spPr>
        <p:txBody>
          <a:bodyPr wrap="square" lIns="0" rIns="0" tIns="0" bIns="0">
            <a:spAutoFit/>
          </a:bodyPr>
          <a:lstStyle/>
          <a:p>
            <a:pPr algn="l">
              <a:lnSpc>
                <a:spcPct val="112000"/>
              </a:lnSpc>
            </a:pPr>
            <a:r>
              <a:rPr sz="1150" b="0" i="0">
                <a:solidFill>
                  <a:srgbClr val="5A7A80"/>
                </a:solidFill>
                <a:latin typeface="Calibri"/>
              </a:rPr>
              <a:t>A closed loop, re-issuing actions many times a second</a:t>
            </a:r>
          </a:p>
        </p:txBody>
      </p:sp>
      <p:sp>
        <p:nvSpPr>
          <p:cNvPr id="22" name="TextBox 21"/>
          <p:cNvSpPr txBox="1"/>
          <p:nvPr/>
        </p:nvSpPr>
        <p:spPr>
          <a:xfrm>
            <a:off x="777240" y="4654296"/>
            <a:ext cx="1691640" cy="731520"/>
          </a:xfrm>
          <a:prstGeom prst="rect">
            <a:avLst/>
          </a:prstGeom>
          <a:noFill/>
        </p:spPr>
        <p:txBody>
          <a:bodyPr wrap="square" lIns="0" rIns="0" tIns="0" bIns="0">
            <a:spAutoFit/>
          </a:bodyPr>
          <a:lstStyle/>
          <a:p>
            <a:pPr algn="l"/>
            <a:r>
              <a:rPr sz="1200" b="1" i="0">
                <a:solidFill>
                  <a:srgbClr val="12343B"/>
                </a:solidFill>
                <a:latin typeface="Calibri"/>
              </a:rPr>
              <a:t>Judged by</a:t>
            </a:r>
          </a:p>
        </p:txBody>
      </p:sp>
      <p:sp>
        <p:nvSpPr>
          <p:cNvPr id="23" name="Rounded Rectangle 22"/>
          <p:cNvSpPr/>
          <p:nvPr/>
        </p:nvSpPr>
        <p:spPr>
          <a:xfrm>
            <a:off x="2606040" y="4617720"/>
            <a:ext cx="4709160" cy="7315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xtBox 23"/>
          <p:cNvSpPr txBox="1"/>
          <p:nvPr/>
        </p:nvSpPr>
        <p:spPr>
          <a:xfrm>
            <a:off x="2752344" y="4764024"/>
            <a:ext cx="4416552" cy="438911"/>
          </a:xfrm>
          <a:prstGeom prst="rect">
            <a:avLst/>
          </a:prstGeom>
          <a:noFill/>
        </p:spPr>
        <p:txBody>
          <a:bodyPr wrap="square" lIns="0" rIns="0" tIns="0" bIns="0">
            <a:spAutoFit/>
          </a:bodyPr>
          <a:lstStyle/>
          <a:p>
            <a:pPr algn="l">
              <a:lnSpc>
                <a:spcPct val="112000"/>
              </a:lnSpc>
            </a:pPr>
            <a:r>
              <a:rPr sz="1150" b="0" i="0">
                <a:solidFill>
                  <a:srgbClr val="5A7A80"/>
                </a:solidFill>
                <a:latin typeface="Calibri"/>
              </a:rPr>
              <a:t>How accurate or helpful the text is</a:t>
            </a:r>
          </a:p>
        </p:txBody>
      </p:sp>
      <p:sp>
        <p:nvSpPr>
          <p:cNvPr id="25" name="Rounded Rectangle 24"/>
          <p:cNvSpPr/>
          <p:nvPr/>
        </p:nvSpPr>
        <p:spPr>
          <a:xfrm>
            <a:off x="7452360" y="4617720"/>
            <a:ext cx="4709160" cy="7315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7598664" y="4764024"/>
            <a:ext cx="4416552" cy="438911"/>
          </a:xfrm>
          <a:prstGeom prst="rect">
            <a:avLst/>
          </a:prstGeom>
          <a:noFill/>
        </p:spPr>
        <p:txBody>
          <a:bodyPr wrap="square" lIns="0" rIns="0" tIns="0" bIns="0">
            <a:spAutoFit/>
          </a:bodyPr>
          <a:lstStyle/>
          <a:p>
            <a:pPr algn="l">
              <a:lnSpc>
                <a:spcPct val="112000"/>
              </a:lnSpc>
            </a:pPr>
            <a:r>
              <a:rPr sz="1150" b="0" i="0">
                <a:solidFill>
                  <a:srgbClr val="5A7A80"/>
                </a:solidFill>
                <a:latin typeface="Calibri"/>
              </a:rPr>
              <a:t>Whether the task actually gets done in the physical world</a:t>
            </a:r>
          </a:p>
        </p:txBody>
      </p:sp>
      <p:sp>
        <p:nvSpPr>
          <p:cNvPr id="27" name="TextBox 26"/>
          <p:cNvSpPr txBox="1"/>
          <p:nvPr/>
        </p:nvSpPr>
        <p:spPr>
          <a:xfrm>
            <a:off x="777240" y="5559551"/>
            <a:ext cx="10607040" cy="502920"/>
          </a:xfrm>
          <a:prstGeom prst="rect">
            <a:avLst/>
          </a:prstGeom>
          <a:noFill/>
        </p:spPr>
        <p:txBody>
          <a:bodyPr wrap="square" lIns="0" rIns="0" tIns="0" bIns="0">
            <a:spAutoFit/>
          </a:bodyPr>
          <a:lstStyle/>
          <a:p>
            <a:pPr algn="l"/>
            <a:r>
              <a:rPr sz="1150" b="0" i="1">
                <a:solidFill>
                  <a:srgbClr val="5A7A80"/>
                </a:solidFill>
                <a:latin typeface="Calibri"/>
              </a:rPr>
              <a:t>The grey area: a system that uses a VLM to pick from a fixed menu of skills (SayCan-style) sits between the two, more on that in a few slides.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THE BIG PICTURE</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One loop, running many times a second</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ounded Rectangle 4"/>
          <p:cNvSpPr/>
          <p:nvPr/>
        </p:nvSpPr>
        <p:spPr>
          <a:xfrm>
            <a:off x="868680" y="2148840"/>
            <a:ext cx="2331720" cy="12344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1051560" y="2331720"/>
            <a:ext cx="1965960" cy="292608"/>
          </a:xfrm>
          <a:prstGeom prst="rect">
            <a:avLst/>
          </a:prstGeom>
          <a:noFill/>
        </p:spPr>
        <p:txBody>
          <a:bodyPr wrap="square" lIns="0" rIns="0" tIns="0" bIns="0">
            <a:spAutoFit/>
          </a:bodyPr>
          <a:lstStyle/>
          <a:p>
            <a:pPr algn="l"/>
            <a:r>
              <a:rPr sz="1400" b="1" i="0">
                <a:solidFill>
                  <a:srgbClr val="12343B"/>
                </a:solidFill>
                <a:latin typeface="Calibri"/>
              </a:rPr>
              <a:t>Observe</a:t>
            </a:r>
          </a:p>
        </p:txBody>
      </p:sp>
      <p:sp>
        <p:nvSpPr>
          <p:cNvPr id="7" name="TextBox 6"/>
          <p:cNvSpPr txBox="1"/>
          <p:nvPr/>
        </p:nvSpPr>
        <p:spPr>
          <a:xfrm>
            <a:off x="1051560" y="2679192"/>
            <a:ext cx="1965960" cy="594360"/>
          </a:xfrm>
          <a:prstGeom prst="rect">
            <a:avLst/>
          </a:prstGeom>
          <a:noFill/>
        </p:spPr>
        <p:txBody>
          <a:bodyPr wrap="square" lIns="0" rIns="0" tIns="0" bIns="0">
            <a:spAutoFit/>
          </a:bodyPr>
          <a:lstStyle/>
          <a:p>
            <a:pPr algn="l">
              <a:lnSpc>
                <a:spcPct val="110000"/>
              </a:lnSpc>
            </a:pPr>
            <a:r>
              <a:rPr sz="1150" b="0" i="0">
                <a:solidFill>
                  <a:srgbClr val="5A7A80"/>
                </a:solidFill>
                <a:latin typeface="Calibri"/>
              </a:rPr>
              <a:t>Camera image(s)</a:t>
            </a:r>
          </a:p>
          <a:p>
            <a:pPr algn="l">
              <a:lnSpc>
                <a:spcPct val="110000"/>
              </a:lnSpc>
            </a:pPr>
            <a:r>
              <a:rPr sz="1150" b="0" i="0">
                <a:solidFill>
                  <a:srgbClr val="5A7A80"/>
                </a:solidFill>
                <a:latin typeface="Calibri"/>
              </a:rPr>
              <a:t>+ proprioception</a:t>
            </a:r>
          </a:p>
        </p:txBody>
      </p:sp>
      <p:sp>
        <p:nvSpPr>
          <p:cNvPr id="8" name="Right Arrow 7"/>
          <p:cNvSpPr/>
          <p:nvPr/>
        </p:nvSpPr>
        <p:spPr>
          <a:xfrm>
            <a:off x="3227832" y="2647188"/>
            <a:ext cx="329184" cy="237744"/>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84448" y="2148840"/>
            <a:ext cx="2331720" cy="1234440"/>
          </a:xfrm>
          <a:prstGeom prst="roundRect">
            <a:avLst>
              <a:gd name="adj" fmla="val 6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3767328" y="2331720"/>
            <a:ext cx="1965960" cy="292608"/>
          </a:xfrm>
          <a:prstGeom prst="rect">
            <a:avLst/>
          </a:prstGeom>
          <a:noFill/>
        </p:spPr>
        <p:txBody>
          <a:bodyPr wrap="square" lIns="0" rIns="0" tIns="0" bIns="0">
            <a:spAutoFit/>
          </a:bodyPr>
          <a:lstStyle/>
          <a:p>
            <a:pPr algn="l"/>
            <a:r>
              <a:rPr sz="1400" b="1" i="0">
                <a:solidFill>
                  <a:srgbClr val="FFFFFF"/>
                </a:solidFill>
                <a:latin typeface="Calibri"/>
              </a:rPr>
              <a:t>Understand</a:t>
            </a:r>
          </a:p>
        </p:txBody>
      </p:sp>
      <p:sp>
        <p:nvSpPr>
          <p:cNvPr id="11" name="TextBox 10"/>
          <p:cNvSpPr txBox="1"/>
          <p:nvPr/>
        </p:nvSpPr>
        <p:spPr>
          <a:xfrm>
            <a:off x="3767328" y="2679192"/>
            <a:ext cx="1965960" cy="594360"/>
          </a:xfrm>
          <a:prstGeom prst="rect">
            <a:avLst/>
          </a:prstGeom>
          <a:noFill/>
        </p:spPr>
        <p:txBody>
          <a:bodyPr wrap="square" lIns="0" rIns="0" tIns="0" bIns="0">
            <a:spAutoFit/>
          </a:bodyPr>
          <a:lstStyle/>
          <a:p>
            <a:pPr algn="l">
              <a:lnSpc>
                <a:spcPct val="110000"/>
              </a:lnSpc>
            </a:pPr>
            <a:r>
              <a:rPr sz="1150" b="0" i="0">
                <a:solidFill>
                  <a:srgbClr val="D6E7E4"/>
                </a:solidFill>
                <a:latin typeface="Calibri"/>
              </a:rPr>
              <a:t>VLA model reads</a:t>
            </a:r>
          </a:p>
          <a:p>
            <a:pPr algn="l">
              <a:lnSpc>
                <a:spcPct val="110000"/>
              </a:lnSpc>
            </a:pPr>
            <a:r>
              <a:rPr sz="1150" b="0" i="0">
                <a:solidFill>
                  <a:srgbClr val="D6E7E4"/>
                </a:solidFill>
                <a:latin typeface="Calibri"/>
              </a:rPr>
              <a:t>image + instruction</a:t>
            </a:r>
          </a:p>
        </p:txBody>
      </p:sp>
      <p:sp>
        <p:nvSpPr>
          <p:cNvPr id="12" name="Right Arrow 11"/>
          <p:cNvSpPr/>
          <p:nvPr/>
        </p:nvSpPr>
        <p:spPr>
          <a:xfrm>
            <a:off x="5943600" y="2647188"/>
            <a:ext cx="329184" cy="237744"/>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00216" y="2148840"/>
            <a:ext cx="2331720" cy="12344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6483096" y="2331720"/>
            <a:ext cx="1965960" cy="292608"/>
          </a:xfrm>
          <a:prstGeom prst="rect">
            <a:avLst/>
          </a:prstGeom>
          <a:noFill/>
        </p:spPr>
        <p:txBody>
          <a:bodyPr wrap="square" lIns="0" rIns="0" tIns="0" bIns="0">
            <a:spAutoFit/>
          </a:bodyPr>
          <a:lstStyle/>
          <a:p>
            <a:pPr algn="l"/>
            <a:r>
              <a:rPr sz="1400" b="1" i="0">
                <a:solidFill>
                  <a:srgbClr val="12343B"/>
                </a:solidFill>
                <a:latin typeface="Calibri"/>
              </a:rPr>
              <a:t>Act</a:t>
            </a:r>
          </a:p>
        </p:txBody>
      </p:sp>
      <p:sp>
        <p:nvSpPr>
          <p:cNvPr id="15" name="TextBox 14"/>
          <p:cNvSpPr txBox="1"/>
          <p:nvPr/>
        </p:nvSpPr>
        <p:spPr>
          <a:xfrm>
            <a:off x="6483096" y="2679192"/>
            <a:ext cx="1965960" cy="594360"/>
          </a:xfrm>
          <a:prstGeom prst="rect">
            <a:avLst/>
          </a:prstGeom>
          <a:noFill/>
        </p:spPr>
        <p:txBody>
          <a:bodyPr wrap="square" lIns="0" rIns="0" tIns="0" bIns="0">
            <a:spAutoFit/>
          </a:bodyPr>
          <a:lstStyle/>
          <a:p>
            <a:pPr algn="l">
              <a:lnSpc>
                <a:spcPct val="110000"/>
              </a:lnSpc>
            </a:pPr>
            <a:r>
              <a:rPr sz="1150" b="0" i="0">
                <a:solidFill>
                  <a:srgbClr val="5A7A80"/>
                </a:solidFill>
                <a:latin typeface="Calibri"/>
              </a:rPr>
              <a:t>Emits the next</a:t>
            </a:r>
          </a:p>
          <a:p>
            <a:pPr algn="l">
              <a:lnSpc>
                <a:spcPct val="110000"/>
              </a:lnSpc>
            </a:pPr>
            <a:r>
              <a:rPr sz="1150" b="0" i="0">
                <a:solidFill>
                  <a:srgbClr val="5A7A80"/>
                </a:solidFill>
                <a:latin typeface="Calibri"/>
              </a:rPr>
              <a:t>action (chunk)</a:t>
            </a:r>
          </a:p>
        </p:txBody>
      </p:sp>
      <p:sp>
        <p:nvSpPr>
          <p:cNvPr id="16" name="Right Arrow 15"/>
          <p:cNvSpPr/>
          <p:nvPr/>
        </p:nvSpPr>
        <p:spPr>
          <a:xfrm>
            <a:off x="8659367" y="2647188"/>
            <a:ext cx="329184" cy="237744"/>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015984" y="2148840"/>
            <a:ext cx="2331720" cy="12344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9198863" y="2331720"/>
            <a:ext cx="1965960" cy="292608"/>
          </a:xfrm>
          <a:prstGeom prst="rect">
            <a:avLst/>
          </a:prstGeom>
          <a:noFill/>
        </p:spPr>
        <p:txBody>
          <a:bodyPr wrap="square" lIns="0" rIns="0" tIns="0" bIns="0">
            <a:spAutoFit/>
          </a:bodyPr>
          <a:lstStyle/>
          <a:p>
            <a:pPr algn="l"/>
            <a:r>
              <a:rPr sz="1400" b="1" i="0">
                <a:solidFill>
                  <a:srgbClr val="12343B"/>
                </a:solidFill>
                <a:latin typeface="Calibri"/>
              </a:rPr>
              <a:t>Move</a:t>
            </a:r>
          </a:p>
        </p:txBody>
      </p:sp>
      <p:sp>
        <p:nvSpPr>
          <p:cNvPr id="19" name="TextBox 18"/>
          <p:cNvSpPr txBox="1"/>
          <p:nvPr/>
        </p:nvSpPr>
        <p:spPr>
          <a:xfrm>
            <a:off x="9198863" y="2679192"/>
            <a:ext cx="1965960" cy="594360"/>
          </a:xfrm>
          <a:prstGeom prst="rect">
            <a:avLst/>
          </a:prstGeom>
          <a:noFill/>
        </p:spPr>
        <p:txBody>
          <a:bodyPr wrap="square" lIns="0" rIns="0" tIns="0" bIns="0">
            <a:spAutoFit/>
          </a:bodyPr>
          <a:lstStyle/>
          <a:p>
            <a:pPr algn="l">
              <a:lnSpc>
                <a:spcPct val="110000"/>
              </a:lnSpc>
            </a:pPr>
            <a:r>
              <a:rPr sz="1150" b="0" i="0">
                <a:solidFill>
                  <a:srgbClr val="5A7A80"/>
                </a:solidFill>
                <a:latin typeface="Calibri"/>
              </a:rPr>
              <a:t>Robot executes,</a:t>
            </a:r>
          </a:p>
          <a:p>
            <a:pPr algn="l">
              <a:lnSpc>
                <a:spcPct val="110000"/>
              </a:lnSpc>
            </a:pPr>
            <a:r>
              <a:rPr sz="1150" b="0" i="0">
                <a:solidFill>
                  <a:srgbClr val="5A7A80"/>
                </a:solidFill>
                <a:latin typeface="Calibri"/>
              </a:rPr>
              <a:t>world changes</a:t>
            </a:r>
          </a:p>
        </p:txBody>
      </p:sp>
      <p:cxnSp>
        <p:nvCxnSpPr>
          <p:cNvPr id="20" name="Connector 19"/>
          <p:cNvCxnSpPr/>
          <p:nvPr/>
        </p:nvCxnSpPr>
        <p:spPr>
          <a:xfrm>
            <a:off x="10181844" y="3429000"/>
            <a:ext cx="0" cy="457200"/>
          </a:xfrm>
          <a:prstGeom prst="line">
            <a:avLst/>
          </a:prstGeom>
          <a:ln w="22225">
            <a:solidFill>
              <a:srgbClr val="028090"/>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2034539" y="3886200"/>
            <a:ext cx="8147305" cy="0"/>
          </a:xfrm>
          <a:prstGeom prst="line">
            <a:avLst/>
          </a:prstGeom>
          <a:ln w="22225">
            <a:solidFill>
              <a:srgbClr val="028090"/>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2034539" y="3429000"/>
            <a:ext cx="0" cy="457200"/>
          </a:xfrm>
          <a:prstGeom prst="line">
            <a:avLst/>
          </a:prstGeom>
          <a:ln w="22225">
            <a:solidFill>
              <a:srgbClr val="028090"/>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868680" y="3950208"/>
            <a:ext cx="10058400" cy="274320"/>
          </a:xfrm>
          <a:prstGeom prst="rect">
            <a:avLst/>
          </a:prstGeom>
          <a:noFill/>
        </p:spPr>
        <p:txBody>
          <a:bodyPr wrap="square" lIns="0" rIns="0" tIns="0" bIns="0">
            <a:spAutoFit/>
          </a:bodyPr>
          <a:lstStyle/>
          <a:p>
            <a:pPr algn="l"/>
            <a:r>
              <a:rPr sz="1100" b="0" i="1">
                <a:solidFill>
                  <a:srgbClr val="028090"/>
                </a:solidFill>
                <a:latin typeface="Calibri"/>
              </a:rPr>
              <a:t>closed loop: the next observation already reflects the last action</a:t>
            </a:r>
          </a:p>
        </p:txBody>
      </p:sp>
      <p:sp>
        <p:nvSpPr>
          <p:cNvPr id="24" name="Rounded Rectangle 23"/>
          <p:cNvSpPr/>
          <p:nvPr/>
        </p:nvSpPr>
        <p:spPr>
          <a:xfrm>
            <a:off x="777240" y="5074920"/>
            <a:ext cx="10607040" cy="11887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TextBox 24"/>
          <p:cNvSpPr txBox="1"/>
          <p:nvPr/>
        </p:nvSpPr>
        <p:spPr>
          <a:xfrm>
            <a:off x="996695" y="5294376"/>
            <a:ext cx="10168128" cy="292608"/>
          </a:xfrm>
          <a:prstGeom prst="rect">
            <a:avLst/>
          </a:prstGeom>
          <a:noFill/>
        </p:spPr>
        <p:txBody>
          <a:bodyPr wrap="square" lIns="0" rIns="0" tIns="0" bIns="0">
            <a:spAutoFit/>
          </a:bodyPr>
          <a:lstStyle/>
          <a:p>
            <a:pPr algn="l"/>
            <a:r>
              <a:rPr sz="1350" b="1" i="0">
                <a:solidFill>
                  <a:srgbClr val="12343B"/>
                </a:solidFill>
                <a:latin typeface="Calibri"/>
              </a:rPr>
              <a:t>Frequency is a design choice</a:t>
            </a:r>
          </a:p>
        </p:txBody>
      </p:sp>
      <p:sp>
        <p:nvSpPr>
          <p:cNvPr id="26" name="TextBox 25"/>
          <p:cNvSpPr txBox="1"/>
          <p:nvPr/>
        </p:nvSpPr>
        <p:spPr>
          <a:xfrm>
            <a:off x="996695" y="5678424"/>
            <a:ext cx="10168128" cy="36575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RT-1 re-plans at 3 Hz; GR00T N1's fast action module runs at 120 Hz. Slower loops need longer, smoother action chunks per step; faster loops can react sooner but cost more compute per second.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BUILDING BLOCKS · 1 OF 4</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The vision encoder: turning pixels into tokens</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ounded Rectangle 4"/>
          <p:cNvSpPr/>
          <p:nvPr/>
        </p:nvSpPr>
        <p:spPr>
          <a:xfrm>
            <a:off x="777240" y="1783080"/>
            <a:ext cx="5074920" cy="42062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996695" y="2002536"/>
            <a:ext cx="4636008" cy="292608"/>
          </a:xfrm>
          <a:prstGeom prst="rect">
            <a:avLst/>
          </a:prstGeom>
          <a:noFill/>
        </p:spPr>
        <p:txBody>
          <a:bodyPr wrap="square" lIns="0" rIns="0" tIns="0" bIns="0">
            <a:spAutoFit/>
          </a:bodyPr>
          <a:lstStyle/>
          <a:p>
            <a:pPr algn="l"/>
            <a:r>
              <a:rPr sz="1350" b="1" i="0">
                <a:solidFill>
                  <a:srgbClr val="12343B"/>
                </a:solidFill>
                <a:latin typeface="Calibri"/>
              </a:rPr>
              <a:t>Patchify, then embed</a:t>
            </a:r>
          </a:p>
        </p:txBody>
      </p:sp>
      <p:sp>
        <p:nvSpPr>
          <p:cNvPr id="7" name="TextBox 6"/>
          <p:cNvSpPr txBox="1"/>
          <p:nvPr/>
        </p:nvSpPr>
        <p:spPr>
          <a:xfrm>
            <a:off x="996695" y="2386584"/>
            <a:ext cx="4636008" cy="338327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The image is cut into a grid of small patches (a Vision Transformer, ViT, typically uses 16x16 pixel patches). Each patch is flattened and projected into a vector, so a 224x224 image becomes a sequence of a few hundred “visual tokens”, the same kind of object a language model expects as input. This is visual tokenization: the bridge that lets a single transformer read images and text side by side.</a:t>
            </a:r>
          </a:p>
        </p:txBody>
      </p:sp>
      <p:sp>
        <p:nvSpPr>
          <p:cNvPr id="8" name="Rounded Rectangle 7"/>
          <p:cNvSpPr/>
          <p:nvPr/>
        </p:nvSpPr>
        <p:spPr>
          <a:xfrm>
            <a:off x="6035040" y="1783080"/>
            <a:ext cx="5349240" cy="20116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6254496" y="2002536"/>
            <a:ext cx="4910327" cy="292608"/>
          </a:xfrm>
          <a:prstGeom prst="rect">
            <a:avLst/>
          </a:prstGeom>
          <a:noFill/>
        </p:spPr>
        <p:txBody>
          <a:bodyPr wrap="square" lIns="0" rIns="0" tIns="0" bIns="0">
            <a:spAutoFit/>
          </a:bodyPr>
          <a:lstStyle/>
          <a:p>
            <a:pPr algn="l"/>
            <a:r>
              <a:rPr sz="1350" b="1" i="0">
                <a:solidFill>
                  <a:srgbClr val="12343B"/>
                </a:solidFill>
                <a:latin typeface="Calibri"/>
              </a:rPr>
              <a:t>Which encoder, in practice</a:t>
            </a:r>
          </a:p>
        </p:txBody>
      </p:sp>
      <p:sp>
        <p:nvSpPr>
          <p:cNvPr id="10" name="TextBox 9"/>
          <p:cNvSpPr txBox="1"/>
          <p:nvPr/>
        </p:nvSpPr>
        <p:spPr>
          <a:xfrm>
            <a:off x="6254496" y="2386584"/>
            <a:ext cx="4910327" cy="118872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CLIP ViT (language-aligned, used since RT-2), SigLIP (a stronger contrastive variant), and DINOv2 (self-supervised, very sensitive to spatial detail). OpenVLA fuses SigLIP and DINOv2 together for both semantics and precise geometry.</a:t>
            </a:r>
          </a:p>
        </p:txBody>
      </p:sp>
      <p:sp>
        <p:nvSpPr>
          <p:cNvPr id="11" name="Rounded Rectangle 10"/>
          <p:cNvSpPr/>
          <p:nvPr/>
        </p:nvSpPr>
        <p:spPr>
          <a:xfrm>
            <a:off x="6035040" y="3977639"/>
            <a:ext cx="5349240" cy="20116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254496" y="4197096"/>
            <a:ext cx="4910327" cy="292608"/>
          </a:xfrm>
          <a:prstGeom prst="rect">
            <a:avLst/>
          </a:prstGeom>
          <a:noFill/>
        </p:spPr>
        <p:txBody>
          <a:bodyPr wrap="square" lIns="0" rIns="0" tIns="0" bIns="0">
            <a:spAutoFit/>
          </a:bodyPr>
          <a:lstStyle/>
          <a:p>
            <a:pPr algn="l"/>
            <a:r>
              <a:rPr sz="1350" b="1" i="0">
                <a:solidFill>
                  <a:srgbClr val="12343B"/>
                </a:solidFill>
                <a:latin typeface="Calibri"/>
              </a:rPr>
              <a:t>Why it matters for control</a:t>
            </a:r>
          </a:p>
        </p:txBody>
      </p:sp>
      <p:sp>
        <p:nvSpPr>
          <p:cNvPr id="13" name="TextBox 12"/>
          <p:cNvSpPr txBox="1"/>
          <p:nvPr/>
        </p:nvSpPr>
        <p:spPr>
          <a:xfrm>
            <a:off x="6254496" y="4581144"/>
            <a:ext cx="4910327" cy="118872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A captioning model can get away with coarse features. A robot cannot: it needs to know precisely where the mug's handle is, not just that a mug is present. This is why VLA vision encoders are chosen and sometimes fine-tuned for spatial precision, not just recognition.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BUILDING BLOCKS · 2 OF 4</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The language backbone: borrowed knowledge, not built from scratch</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ounded Rectangle 4"/>
          <p:cNvSpPr/>
          <p:nvPr/>
        </p:nvSpPr>
        <p:spPr>
          <a:xfrm>
            <a:off x="777240" y="1783080"/>
            <a:ext cx="10607040" cy="15087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996695" y="2002536"/>
            <a:ext cx="10168128" cy="292608"/>
          </a:xfrm>
          <a:prstGeom prst="rect">
            <a:avLst/>
          </a:prstGeom>
          <a:noFill/>
        </p:spPr>
        <p:txBody>
          <a:bodyPr wrap="square" lIns="0" rIns="0" tIns="0" bIns="0">
            <a:spAutoFit/>
          </a:bodyPr>
          <a:lstStyle/>
          <a:p>
            <a:pPr algn="l"/>
            <a:r>
              <a:rPr sz="1350" b="1" i="0">
                <a:solidFill>
                  <a:srgbClr val="12343B"/>
                </a:solidFill>
                <a:latin typeface="Calibri"/>
              </a:rPr>
              <a:t>The core move of modern VLA design</a:t>
            </a:r>
          </a:p>
        </p:txBody>
      </p:sp>
      <p:sp>
        <p:nvSpPr>
          <p:cNvPr id="7" name="TextBox 6"/>
          <p:cNvSpPr txBox="1"/>
          <p:nvPr/>
        </p:nvSpPr>
        <p:spPr>
          <a:xfrm>
            <a:off x="996695" y="2386584"/>
            <a:ext cx="10168128" cy="68580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Instead of training a robot policy from zero, start from a language or vision-language model that has already read a huge slice of the internet: PaLI-X and PaLM-E for RT-2, Llama 2 7B for OpenVLA. The robot-specific training then adapts that backbone rather than replacing it.</a:t>
            </a:r>
          </a:p>
        </p:txBody>
      </p:sp>
      <p:sp>
        <p:nvSpPr>
          <p:cNvPr id="8" name="Rounded Rectangle 7"/>
          <p:cNvSpPr/>
          <p:nvPr/>
        </p:nvSpPr>
        <p:spPr>
          <a:xfrm>
            <a:off x="777240" y="3520440"/>
            <a:ext cx="3401568" cy="24231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96695" y="3739896"/>
            <a:ext cx="2962656" cy="292608"/>
          </a:xfrm>
          <a:prstGeom prst="rect">
            <a:avLst/>
          </a:prstGeom>
          <a:noFill/>
        </p:spPr>
        <p:txBody>
          <a:bodyPr wrap="square" lIns="0" rIns="0" tIns="0" bIns="0">
            <a:spAutoFit/>
          </a:bodyPr>
          <a:lstStyle/>
          <a:p>
            <a:pPr algn="l"/>
            <a:r>
              <a:rPr sz="1350" b="1" i="0">
                <a:solidFill>
                  <a:srgbClr val="12343B"/>
                </a:solidFill>
                <a:latin typeface="Calibri"/>
              </a:rPr>
              <a:t>What it contributes</a:t>
            </a:r>
          </a:p>
        </p:txBody>
      </p:sp>
      <p:sp>
        <p:nvSpPr>
          <p:cNvPr id="10" name="TextBox 9"/>
          <p:cNvSpPr txBox="1"/>
          <p:nvPr/>
        </p:nvSpPr>
        <p:spPr>
          <a:xfrm>
            <a:off x="996695" y="4123944"/>
            <a:ext cx="2962656" cy="160020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Semantic knowledge: what a whisk is for, that a rock can serve as a hammer, what “near” versus “on” means.</a:t>
            </a:r>
          </a:p>
        </p:txBody>
      </p:sp>
      <p:sp>
        <p:nvSpPr>
          <p:cNvPr id="11" name="Rounded Rectangle 10"/>
          <p:cNvSpPr/>
          <p:nvPr/>
        </p:nvSpPr>
        <p:spPr>
          <a:xfrm>
            <a:off x="4361688" y="3520440"/>
            <a:ext cx="3401568" cy="24231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4581144" y="3739896"/>
            <a:ext cx="2962656" cy="292608"/>
          </a:xfrm>
          <a:prstGeom prst="rect">
            <a:avLst/>
          </a:prstGeom>
          <a:noFill/>
        </p:spPr>
        <p:txBody>
          <a:bodyPr wrap="square" lIns="0" rIns="0" tIns="0" bIns="0">
            <a:spAutoFit/>
          </a:bodyPr>
          <a:lstStyle/>
          <a:p>
            <a:pPr algn="l"/>
            <a:r>
              <a:rPr sz="1350" b="1" i="0">
                <a:solidFill>
                  <a:srgbClr val="12343B"/>
                </a:solidFill>
                <a:latin typeface="Calibri"/>
              </a:rPr>
              <a:t>What it costs</a:t>
            </a:r>
          </a:p>
        </p:txBody>
      </p:sp>
      <p:sp>
        <p:nvSpPr>
          <p:cNvPr id="13" name="TextBox 12"/>
          <p:cNvSpPr txBox="1"/>
          <p:nvPr/>
        </p:nvSpPr>
        <p:spPr>
          <a:xfrm>
            <a:off x="4581144" y="4123944"/>
            <a:ext cx="2962656" cy="160020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Billions of parameters built for language, now asked to also emit precise, low-level numbers, which is not their native job.</a:t>
            </a:r>
          </a:p>
        </p:txBody>
      </p:sp>
      <p:sp>
        <p:nvSpPr>
          <p:cNvPr id="14" name="Rounded Rectangle 13"/>
          <p:cNvSpPr/>
          <p:nvPr/>
        </p:nvSpPr>
        <p:spPr>
          <a:xfrm>
            <a:off x="7946136" y="3520440"/>
            <a:ext cx="3401568" cy="24231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8165592" y="3739896"/>
            <a:ext cx="2962656" cy="292608"/>
          </a:xfrm>
          <a:prstGeom prst="rect">
            <a:avLst/>
          </a:prstGeom>
          <a:noFill/>
        </p:spPr>
        <p:txBody>
          <a:bodyPr wrap="square" lIns="0" rIns="0" tIns="0" bIns="0">
            <a:spAutoFit/>
          </a:bodyPr>
          <a:lstStyle/>
          <a:p>
            <a:pPr algn="l"/>
            <a:r>
              <a:rPr sz="1350" b="1" i="0">
                <a:solidFill>
                  <a:srgbClr val="12343B"/>
                </a:solidFill>
                <a:latin typeface="Calibri"/>
              </a:rPr>
              <a:t>How VLAs adapt it</a:t>
            </a:r>
          </a:p>
        </p:txBody>
      </p:sp>
      <p:sp>
        <p:nvSpPr>
          <p:cNvPr id="16" name="TextBox 15"/>
          <p:cNvSpPr txBox="1"/>
          <p:nvPr/>
        </p:nvSpPr>
        <p:spPr>
          <a:xfrm>
            <a:off x="8165592" y="4123944"/>
            <a:ext cx="2962656" cy="160020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Fine-tuning (often parameter-efficient, e.g. LoRA) so the backbone keeps its knowledge while learning to end sentences in actions.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BUILDING BLOCKS · 3 OF 4</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Multimodal fusion: getting vision and language to talk</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ounded Rectangle 4"/>
          <p:cNvSpPr/>
          <p:nvPr/>
        </p:nvSpPr>
        <p:spPr>
          <a:xfrm>
            <a:off x="777240" y="1783080"/>
            <a:ext cx="10607040" cy="1298448"/>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1014984" y="1965960"/>
            <a:ext cx="6766560" cy="292608"/>
          </a:xfrm>
          <a:prstGeom prst="rect">
            <a:avLst/>
          </a:prstGeom>
          <a:noFill/>
        </p:spPr>
        <p:txBody>
          <a:bodyPr wrap="square" lIns="0" rIns="0" tIns="0" bIns="0">
            <a:spAutoFit/>
          </a:bodyPr>
          <a:lstStyle/>
          <a:p>
            <a:pPr algn="l"/>
            <a:r>
              <a:rPr sz="1350" b="1" i="0">
                <a:solidFill>
                  <a:srgbClr val="12343B"/>
                </a:solidFill>
                <a:latin typeface="Calibri"/>
              </a:rPr>
              <a:t>Early fusion / token concatenation</a:t>
            </a:r>
          </a:p>
        </p:txBody>
      </p:sp>
      <p:sp>
        <p:nvSpPr>
          <p:cNvPr id="7" name="TextBox 6"/>
          <p:cNvSpPr txBox="1"/>
          <p:nvPr/>
        </p:nvSpPr>
        <p:spPr>
          <a:xfrm>
            <a:off x="1014984" y="2295144"/>
            <a:ext cx="6766560" cy="685800"/>
          </a:xfrm>
          <a:prstGeom prst="rect">
            <a:avLst/>
          </a:prstGeom>
          <a:noFill/>
        </p:spPr>
        <p:txBody>
          <a:bodyPr wrap="square" lIns="0" rIns="0" tIns="0" bIns="0">
            <a:spAutoFit/>
          </a:bodyPr>
          <a:lstStyle/>
          <a:p>
            <a:pPr algn="l">
              <a:lnSpc>
                <a:spcPct val="112000"/>
              </a:lnSpc>
            </a:pPr>
            <a:r>
              <a:rPr sz="1200" b="0" i="0">
                <a:solidFill>
                  <a:srgbClr val="5A7A80"/>
                </a:solidFill>
                <a:latin typeface="Calibri"/>
              </a:rPr>
              <a:t>Visual tokens and language tokens are simply placed in the same sequence and fed through one transformer together.</a:t>
            </a:r>
          </a:p>
        </p:txBody>
      </p:sp>
      <p:sp>
        <p:nvSpPr>
          <p:cNvPr id="8" name="Rounded Rectangle 7"/>
          <p:cNvSpPr/>
          <p:nvPr/>
        </p:nvSpPr>
        <p:spPr>
          <a:xfrm>
            <a:off x="8275320" y="2240280"/>
            <a:ext cx="2880360" cy="384048"/>
          </a:xfrm>
          <a:prstGeom prst="roundRect">
            <a:avLst>
              <a:gd name="adj" fmla="val 50000"/>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8275320" y="2240280"/>
            <a:ext cx="2880360" cy="384048"/>
          </a:xfrm>
          <a:prstGeom prst="rect">
            <a:avLst/>
          </a:prstGeom>
          <a:noFill/>
        </p:spPr>
        <p:txBody>
          <a:bodyPr wrap="square" lIns="0" rIns="0" tIns="0" bIns="0" anchor="ctr">
            <a:spAutoFit/>
          </a:bodyPr>
          <a:lstStyle/>
          <a:p>
            <a:pPr algn="ctr"/>
            <a:r>
              <a:rPr sz="1100" b="1" i="0">
                <a:solidFill>
                  <a:srgbClr val="028090"/>
                </a:solidFill>
                <a:latin typeface="Calibri"/>
              </a:rPr>
              <a:t>RT-2, OpenVLA</a:t>
            </a:r>
          </a:p>
        </p:txBody>
      </p:sp>
      <p:sp>
        <p:nvSpPr>
          <p:cNvPr id="10" name="Rounded Rectangle 9"/>
          <p:cNvSpPr/>
          <p:nvPr/>
        </p:nvSpPr>
        <p:spPr>
          <a:xfrm>
            <a:off x="777240" y="3264408"/>
            <a:ext cx="10607040" cy="1298448"/>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1014984" y="3447288"/>
            <a:ext cx="6766560" cy="292608"/>
          </a:xfrm>
          <a:prstGeom prst="rect">
            <a:avLst/>
          </a:prstGeom>
          <a:noFill/>
        </p:spPr>
        <p:txBody>
          <a:bodyPr wrap="square" lIns="0" rIns="0" tIns="0" bIns="0">
            <a:spAutoFit/>
          </a:bodyPr>
          <a:lstStyle/>
          <a:p>
            <a:pPr algn="l"/>
            <a:r>
              <a:rPr sz="1350" b="1" i="0">
                <a:solidFill>
                  <a:srgbClr val="12343B"/>
                </a:solidFill>
                <a:latin typeface="Calibri"/>
              </a:rPr>
              <a:t>Feature-wise conditioning (FiLM)</a:t>
            </a:r>
          </a:p>
        </p:txBody>
      </p:sp>
      <p:sp>
        <p:nvSpPr>
          <p:cNvPr id="12" name="TextBox 11"/>
          <p:cNvSpPr txBox="1"/>
          <p:nvPr/>
        </p:nvSpPr>
        <p:spPr>
          <a:xfrm>
            <a:off x="1014984" y="3776472"/>
            <a:ext cx="6766560" cy="685800"/>
          </a:xfrm>
          <a:prstGeom prst="rect">
            <a:avLst/>
          </a:prstGeom>
          <a:noFill/>
        </p:spPr>
        <p:txBody>
          <a:bodyPr wrap="square" lIns="0" rIns="0" tIns="0" bIns="0">
            <a:spAutoFit/>
          </a:bodyPr>
          <a:lstStyle/>
          <a:p>
            <a:pPr algn="l">
              <a:lnSpc>
                <a:spcPct val="112000"/>
              </a:lnSpc>
            </a:pPr>
            <a:r>
              <a:rPr sz="1200" b="0" i="0">
                <a:solidFill>
                  <a:srgbClr val="5A7A80"/>
                </a:solidFill>
                <a:latin typeface="Calibri"/>
              </a:rPr>
              <a:t>Language features rescale and shift the vision network's activations layer by layer, steering perception before fusion even finishes.</a:t>
            </a:r>
          </a:p>
        </p:txBody>
      </p:sp>
      <p:sp>
        <p:nvSpPr>
          <p:cNvPr id="13" name="Rounded Rectangle 12"/>
          <p:cNvSpPr/>
          <p:nvPr/>
        </p:nvSpPr>
        <p:spPr>
          <a:xfrm>
            <a:off x="8275320" y="3721608"/>
            <a:ext cx="2880360" cy="384048"/>
          </a:xfrm>
          <a:prstGeom prst="roundRect">
            <a:avLst>
              <a:gd name="adj" fmla="val 50000"/>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8275320" y="3721608"/>
            <a:ext cx="2880360" cy="384048"/>
          </a:xfrm>
          <a:prstGeom prst="rect">
            <a:avLst/>
          </a:prstGeom>
          <a:noFill/>
        </p:spPr>
        <p:txBody>
          <a:bodyPr wrap="square" lIns="0" rIns="0" tIns="0" bIns="0" anchor="ctr">
            <a:spAutoFit/>
          </a:bodyPr>
          <a:lstStyle/>
          <a:p>
            <a:pPr algn="ctr"/>
            <a:r>
              <a:rPr sz="1100" b="1" i="0">
                <a:solidFill>
                  <a:srgbClr val="028090"/>
                </a:solidFill>
                <a:latin typeface="Calibri"/>
              </a:rPr>
              <a:t>RT-1</a:t>
            </a:r>
          </a:p>
        </p:txBody>
      </p:sp>
      <p:sp>
        <p:nvSpPr>
          <p:cNvPr id="15" name="Rounded Rectangle 14"/>
          <p:cNvSpPr/>
          <p:nvPr/>
        </p:nvSpPr>
        <p:spPr>
          <a:xfrm>
            <a:off x="777240" y="4745736"/>
            <a:ext cx="10607040" cy="1298448"/>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1014984" y="4928616"/>
            <a:ext cx="6766560" cy="292608"/>
          </a:xfrm>
          <a:prstGeom prst="rect">
            <a:avLst/>
          </a:prstGeom>
          <a:noFill/>
        </p:spPr>
        <p:txBody>
          <a:bodyPr wrap="square" lIns="0" rIns="0" tIns="0" bIns="0">
            <a:spAutoFit/>
          </a:bodyPr>
          <a:lstStyle/>
          <a:p>
            <a:pPr algn="l"/>
            <a:r>
              <a:rPr sz="1350" b="1" i="0">
                <a:solidFill>
                  <a:srgbClr val="12343B"/>
                </a:solidFill>
                <a:latin typeface="Calibri"/>
              </a:rPr>
              <a:t>Cross-attention between systems</a:t>
            </a:r>
          </a:p>
        </p:txBody>
      </p:sp>
      <p:sp>
        <p:nvSpPr>
          <p:cNvPr id="17" name="TextBox 16"/>
          <p:cNvSpPr txBox="1"/>
          <p:nvPr/>
        </p:nvSpPr>
        <p:spPr>
          <a:xfrm>
            <a:off x="1014984" y="5257800"/>
            <a:ext cx="6766560" cy="685800"/>
          </a:xfrm>
          <a:prstGeom prst="rect">
            <a:avLst/>
          </a:prstGeom>
          <a:noFill/>
        </p:spPr>
        <p:txBody>
          <a:bodyPr wrap="square" lIns="0" rIns="0" tIns="0" bIns="0">
            <a:spAutoFit/>
          </a:bodyPr>
          <a:lstStyle/>
          <a:p>
            <a:pPr algn="l">
              <a:lnSpc>
                <a:spcPct val="112000"/>
              </a:lnSpc>
            </a:pPr>
            <a:r>
              <a:rPr sz="1200" b="0" i="0">
                <a:solidFill>
                  <a:srgbClr val="5A7A80"/>
                </a:solidFill>
                <a:latin typeface="Calibri"/>
              </a:rPr>
              <a:t>A fast action module cross-attends into a slower vision-language module's output tokens, rather than sharing one sequence.</a:t>
            </a:r>
          </a:p>
        </p:txBody>
      </p:sp>
      <p:sp>
        <p:nvSpPr>
          <p:cNvPr id="18" name="Rounded Rectangle 17"/>
          <p:cNvSpPr/>
          <p:nvPr/>
        </p:nvSpPr>
        <p:spPr>
          <a:xfrm>
            <a:off x="8275320" y="5202936"/>
            <a:ext cx="2880360" cy="384048"/>
          </a:xfrm>
          <a:prstGeom prst="roundRect">
            <a:avLst>
              <a:gd name="adj" fmla="val 50000"/>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TextBox 18"/>
          <p:cNvSpPr txBox="1"/>
          <p:nvPr/>
        </p:nvSpPr>
        <p:spPr>
          <a:xfrm>
            <a:off x="8275320" y="5202936"/>
            <a:ext cx="2880360" cy="384048"/>
          </a:xfrm>
          <a:prstGeom prst="rect">
            <a:avLst/>
          </a:prstGeom>
          <a:noFill/>
        </p:spPr>
        <p:txBody>
          <a:bodyPr wrap="square" lIns="0" rIns="0" tIns="0" bIns="0" anchor="ctr">
            <a:spAutoFit/>
          </a:bodyPr>
          <a:lstStyle/>
          <a:p>
            <a:pPr algn="ctr"/>
            <a:r>
              <a:rPr sz="1100" b="1" i="0">
                <a:solidFill>
                  <a:srgbClr val="028090"/>
                </a:solidFill>
                <a:latin typeface="Calibri"/>
              </a:rPr>
              <a:t>GR00T N1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BUILDING BLOCKS · 4 OF 4</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The action decoder: where a plan finally becomes a number</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ounded Rectangle 4"/>
          <p:cNvSpPr/>
          <p:nvPr/>
        </p:nvSpPr>
        <p:spPr>
          <a:xfrm>
            <a:off x="777240" y="1783080"/>
            <a:ext cx="10607040" cy="12344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996695" y="2002536"/>
            <a:ext cx="10168128" cy="292608"/>
          </a:xfrm>
          <a:prstGeom prst="rect">
            <a:avLst/>
          </a:prstGeom>
          <a:noFill/>
        </p:spPr>
        <p:txBody>
          <a:bodyPr wrap="square" lIns="0" rIns="0" tIns="0" bIns="0">
            <a:spAutoFit/>
          </a:bodyPr>
          <a:lstStyle/>
          <a:p>
            <a:pPr algn="l"/>
            <a:r>
              <a:rPr sz="1350" b="1" i="0">
                <a:solidFill>
                  <a:srgbClr val="12343B"/>
                </a:solidFill>
                <a:latin typeface="Calibri"/>
              </a:rPr>
              <a:t>The one part vision-language models never needed</a:t>
            </a:r>
          </a:p>
        </p:txBody>
      </p:sp>
      <p:sp>
        <p:nvSpPr>
          <p:cNvPr id="7" name="TextBox 6"/>
          <p:cNvSpPr txBox="1"/>
          <p:nvPr/>
        </p:nvSpPr>
        <p:spPr>
          <a:xfrm>
            <a:off x="996695" y="2386584"/>
            <a:ext cx="10168128" cy="41148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A VLM's decoder predicts the next word. A VLA's action decoder has to predict something a motor controller can execute, right now, at the right physical scale. Three families dominate current designs, and the rest of this section works through each one.</a:t>
            </a:r>
          </a:p>
        </p:txBody>
      </p:sp>
      <p:sp>
        <p:nvSpPr>
          <p:cNvPr id="8" name="Rounded Rectangle 7"/>
          <p:cNvSpPr/>
          <p:nvPr/>
        </p:nvSpPr>
        <p:spPr>
          <a:xfrm>
            <a:off x="777240" y="3246120"/>
            <a:ext cx="3401568" cy="26060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ectangle 8"/>
          <p:cNvSpPr/>
          <p:nvPr/>
        </p:nvSpPr>
        <p:spPr>
          <a:xfrm>
            <a:off x="777240" y="3246120"/>
            <a:ext cx="91440" cy="26060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51560" y="3474720"/>
            <a:ext cx="3017520" cy="502920"/>
          </a:xfrm>
          <a:prstGeom prst="rect">
            <a:avLst/>
          </a:prstGeom>
          <a:noFill/>
        </p:spPr>
        <p:txBody>
          <a:bodyPr wrap="square" lIns="0" rIns="0" tIns="0" bIns="0">
            <a:spAutoFit/>
          </a:bodyPr>
          <a:lstStyle/>
          <a:p>
            <a:pPr algn="l"/>
            <a:r>
              <a:rPr sz="1450" b="1" i="0">
                <a:solidFill>
                  <a:srgbClr val="12343B"/>
                </a:solidFill>
                <a:latin typeface="Calibri"/>
              </a:rPr>
              <a:t>Discrete tokens</a:t>
            </a:r>
          </a:p>
        </p:txBody>
      </p:sp>
      <p:sp>
        <p:nvSpPr>
          <p:cNvPr id="11" name="TextBox 10"/>
          <p:cNvSpPr txBox="1"/>
          <p:nvPr/>
        </p:nvSpPr>
        <p:spPr>
          <a:xfrm>
            <a:off x="1051560" y="4041648"/>
            <a:ext cx="3017520" cy="1554480"/>
          </a:xfrm>
          <a:prstGeom prst="rect">
            <a:avLst/>
          </a:prstGeom>
          <a:noFill/>
        </p:spPr>
        <p:txBody>
          <a:bodyPr wrap="square" lIns="0" rIns="0" tIns="0" bIns="0">
            <a:spAutoFit/>
          </a:bodyPr>
          <a:lstStyle/>
          <a:p>
            <a:pPr algn="l">
              <a:lnSpc>
                <a:spcPct val="115000"/>
              </a:lnSpc>
            </a:pPr>
            <a:r>
              <a:rPr sz="1250" b="0" i="0">
                <a:solidFill>
                  <a:srgbClr val="5A7A80"/>
                </a:solidFill>
                <a:latin typeface="Calibri"/>
              </a:rPr>
              <a:t>Bin each action dimension (often 256 bins) and predict bin IDs like words.</a:t>
            </a:r>
          </a:p>
        </p:txBody>
      </p:sp>
      <p:sp>
        <p:nvSpPr>
          <p:cNvPr id="12" name="Rounded Rectangle 11"/>
          <p:cNvSpPr/>
          <p:nvPr/>
        </p:nvSpPr>
        <p:spPr>
          <a:xfrm>
            <a:off x="4361688" y="3246120"/>
            <a:ext cx="3401568" cy="26060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ectangle 12"/>
          <p:cNvSpPr/>
          <p:nvPr/>
        </p:nvSpPr>
        <p:spPr>
          <a:xfrm>
            <a:off x="4361688" y="3246120"/>
            <a:ext cx="91440" cy="2606040"/>
          </a:xfrm>
          <a:prstGeom prst="rect">
            <a:avLst/>
          </a:prstGeom>
          <a:solidFill>
            <a:srgbClr val="02C3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36007" y="3474720"/>
            <a:ext cx="3017520" cy="502920"/>
          </a:xfrm>
          <a:prstGeom prst="rect">
            <a:avLst/>
          </a:prstGeom>
          <a:noFill/>
        </p:spPr>
        <p:txBody>
          <a:bodyPr wrap="square" lIns="0" rIns="0" tIns="0" bIns="0">
            <a:spAutoFit/>
          </a:bodyPr>
          <a:lstStyle/>
          <a:p>
            <a:pPr algn="l"/>
            <a:r>
              <a:rPr sz="1450" b="1" i="0">
                <a:solidFill>
                  <a:srgbClr val="12343B"/>
                </a:solidFill>
                <a:latin typeface="Calibri"/>
              </a:rPr>
              <a:t>Continuous regression</a:t>
            </a:r>
          </a:p>
        </p:txBody>
      </p:sp>
      <p:sp>
        <p:nvSpPr>
          <p:cNvPr id="15" name="TextBox 14"/>
          <p:cNvSpPr txBox="1"/>
          <p:nvPr/>
        </p:nvSpPr>
        <p:spPr>
          <a:xfrm>
            <a:off x="4636007" y="4041648"/>
            <a:ext cx="3017520" cy="1554480"/>
          </a:xfrm>
          <a:prstGeom prst="rect">
            <a:avLst/>
          </a:prstGeom>
          <a:noFill/>
        </p:spPr>
        <p:txBody>
          <a:bodyPr wrap="square" lIns="0" rIns="0" tIns="0" bIns="0">
            <a:spAutoFit/>
          </a:bodyPr>
          <a:lstStyle/>
          <a:p>
            <a:pPr algn="l">
              <a:lnSpc>
                <a:spcPct val="115000"/>
              </a:lnSpc>
            </a:pPr>
            <a:r>
              <a:rPr sz="1250" b="0" i="0">
                <a:solidFill>
                  <a:srgbClr val="5A7A80"/>
                </a:solidFill>
                <a:latin typeface="Calibri"/>
              </a:rPr>
              <a:t>An MLP head maps hidden features straight to real-valued actions.</a:t>
            </a:r>
          </a:p>
        </p:txBody>
      </p:sp>
      <p:sp>
        <p:nvSpPr>
          <p:cNvPr id="16" name="Rounded Rectangle 15"/>
          <p:cNvSpPr/>
          <p:nvPr/>
        </p:nvSpPr>
        <p:spPr>
          <a:xfrm>
            <a:off x="7946136" y="3246120"/>
            <a:ext cx="3401568" cy="26060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ectangle 16"/>
          <p:cNvSpPr/>
          <p:nvPr/>
        </p:nvSpPr>
        <p:spPr>
          <a:xfrm>
            <a:off x="7946136" y="3246120"/>
            <a:ext cx="91440" cy="2606040"/>
          </a:xfrm>
          <a:prstGeom prst="rect">
            <a:avLst/>
          </a:prstGeom>
          <a:solidFill>
            <a:srgbClr val="C15B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0456" y="3474720"/>
            <a:ext cx="3017520" cy="502920"/>
          </a:xfrm>
          <a:prstGeom prst="rect">
            <a:avLst/>
          </a:prstGeom>
          <a:noFill/>
        </p:spPr>
        <p:txBody>
          <a:bodyPr wrap="square" lIns="0" rIns="0" tIns="0" bIns="0">
            <a:spAutoFit/>
          </a:bodyPr>
          <a:lstStyle/>
          <a:p>
            <a:pPr algn="l"/>
            <a:r>
              <a:rPr sz="1450" b="1" i="0">
                <a:solidFill>
                  <a:srgbClr val="12343B"/>
                </a:solidFill>
                <a:latin typeface="Calibri"/>
              </a:rPr>
              <a:t>Diffusion / flow matching</a:t>
            </a:r>
          </a:p>
        </p:txBody>
      </p:sp>
      <p:sp>
        <p:nvSpPr>
          <p:cNvPr id="19" name="TextBox 18"/>
          <p:cNvSpPr txBox="1"/>
          <p:nvPr/>
        </p:nvSpPr>
        <p:spPr>
          <a:xfrm>
            <a:off x="8220456" y="4041648"/>
            <a:ext cx="3017520" cy="1554480"/>
          </a:xfrm>
          <a:prstGeom prst="rect">
            <a:avLst/>
          </a:prstGeom>
          <a:noFill/>
        </p:spPr>
        <p:txBody>
          <a:bodyPr wrap="square" lIns="0" rIns="0" tIns="0" bIns="0">
            <a:spAutoFit/>
          </a:bodyPr>
          <a:lstStyle/>
          <a:p>
            <a:pPr algn="l">
              <a:lnSpc>
                <a:spcPct val="115000"/>
              </a:lnSpc>
            </a:pPr>
            <a:r>
              <a:rPr sz="1250" b="0" i="0">
                <a:solidFill>
                  <a:srgbClr val="5A7A80"/>
                </a:solidFill>
                <a:latin typeface="Calibri"/>
              </a:rPr>
              <a:t>Iteratively denoise a sample into a smooth, multi-modal action.</a:t>
            </a:r>
          </a:p>
        </p:txBody>
      </p:sp>
      <p:sp>
        <p:nvSpPr>
          <p:cNvPr id="20" name="TextBox 19"/>
          <p:cNvSpPr txBox="1"/>
          <p:nvPr/>
        </p:nvSpPr>
        <p:spPr>
          <a:xfrm>
            <a:off x="777240" y="5989320"/>
            <a:ext cx="10607040" cy="320040"/>
          </a:xfrm>
          <a:prstGeom prst="rect">
            <a:avLst/>
          </a:prstGeom>
          <a:noFill/>
        </p:spPr>
        <p:txBody>
          <a:bodyPr wrap="square" lIns="0" rIns="0" tIns="0" bIns="0">
            <a:spAutoFit/>
          </a:bodyPr>
          <a:lstStyle/>
          <a:p>
            <a:pPr algn="l"/>
            <a:r>
              <a:rPr sz="1150" b="0" i="1">
                <a:solidFill>
                  <a:srgbClr val="028090"/>
                </a:solidFill>
                <a:latin typeface="Calibri"/>
              </a:rPr>
              <a:t>Next: we open each of these up, with the models that made them popular.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PUTTING IT TOGETHER</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The same picture, a different instruction, a different action</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ounded Rectangle 4"/>
          <p:cNvSpPr/>
          <p:nvPr/>
        </p:nvSpPr>
        <p:spPr>
          <a:xfrm>
            <a:off x="777240" y="1783080"/>
            <a:ext cx="4892040" cy="1874519"/>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1005840" y="1965960"/>
            <a:ext cx="4434840" cy="274320"/>
          </a:xfrm>
          <a:prstGeom prst="rect">
            <a:avLst/>
          </a:prstGeom>
          <a:noFill/>
        </p:spPr>
        <p:txBody>
          <a:bodyPr wrap="square" lIns="0" rIns="0" tIns="0" bIns="0">
            <a:spAutoFit/>
          </a:bodyPr>
          <a:lstStyle/>
          <a:p>
            <a:pPr algn="l"/>
            <a:r>
              <a:rPr sz="1150" b="1" i="0">
                <a:solidFill>
                  <a:srgbClr val="12343B"/>
                </a:solidFill>
                <a:latin typeface="Calibri"/>
              </a:rPr>
              <a:t>Scene: an arm over a table with a red mug and a blue mug</a:t>
            </a:r>
          </a:p>
        </p:txBody>
      </p:sp>
      <p:sp>
        <p:nvSpPr>
          <p:cNvPr id="7" name="TextBox 6"/>
          <p:cNvSpPr txBox="1"/>
          <p:nvPr/>
        </p:nvSpPr>
        <p:spPr>
          <a:xfrm>
            <a:off x="1005840" y="2331720"/>
            <a:ext cx="4434840" cy="1188720"/>
          </a:xfrm>
          <a:prstGeom prst="rect">
            <a:avLst/>
          </a:prstGeom>
          <a:noFill/>
        </p:spPr>
        <p:txBody>
          <a:bodyPr wrap="square" lIns="0" rIns="0" tIns="0" bIns="0">
            <a:spAutoFit/>
          </a:bodyPr>
          <a:lstStyle/>
          <a:p>
            <a:pPr algn="l">
              <a:lnSpc>
                <a:spcPct val="135000"/>
              </a:lnSpc>
            </a:pPr>
            <a:r>
              <a:rPr sz="1300" b="0" i="0">
                <a:solidFill>
                  <a:srgbClr val="028090"/>
                </a:solidFill>
                <a:latin typeface="Calibri"/>
              </a:rPr>
              <a:t>“Pick up the red mug”</a:t>
            </a:r>
          </a:p>
          <a:p>
            <a:pPr algn="l">
              <a:lnSpc>
                <a:spcPct val="135000"/>
              </a:lnSpc>
            </a:pPr>
            <a:r>
              <a:rPr sz="1300" b="0" i="0">
                <a:solidFill>
                  <a:srgbClr val="028090"/>
                </a:solidFill>
                <a:latin typeface="Calibri"/>
              </a:rPr>
              <a:t>“Pick up the blue mug”</a:t>
            </a:r>
          </a:p>
          <a:p>
            <a:pPr algn="l">
              <a:lnSpc>
                <a:spcPct val="135000"/>
              </a:lnSpc>
            </a:pPr>
            <a:r>
              <a:rPr sz="1300" b="0" i="0">
                <a:solidFill>
                  <a:srgbClr val="028090"/>
                </a:solidFill>
                <a:latin typeface="Calibri"/>
              </a:rPr>
              <a:t>“Push the red mug toward the blue one”</a:t>
            </a:r>
          </a:p>
        </p:txBody>
      </p:sp>
      <p:sp>
        <p:nvSpPr>
          <p:cNvPr id="8" name="Right Arrow 7"/>
          <p:cNvSpPr/>
          <p:nvPr/>
        </p:nvSpPr>
        <p:spPr>
          <a:xfrm>
            <a:off x="5806440" y="2606040"/>
            <a:ext cx="502920" cy="292608"/>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446520" y="1783080"/>
            <a:ext cx="4937760" cy="1874519"/>
          </a:xfrm>
          <a:prstGeom prst="roundRect">
            <a:avLst>
              <a:gd name="adj" fmla="val 6000"/>
            </a:avLst>
          </a:prstGeom>
          <a:solidFill>
            <a:srgbClr val="0F3A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6675120" y="1965960"/>
            <a:ext cx="4480560" cy="274320"/>
          </a:xfrm>
          <a:prstGeom prst="rect">
            <a:avLst/>
          </a:prstGeom>
          <a:noFill/>
        </p:spPr>
        <p:txBody>
          <a:bodyPr wrap="square" lIns="0" rIns="0" tIns="0" bIns="0">
            <a:spAutoFit/>
          </a:bodyPr>
          <a:lstStyle/>
          <a:p>
            <a:pPr algn="l"/>
            <a:r>
              <a:rPr sz="1150" b="1" i="0">
                <a:solidFill>
                  <a:srgbClr val="8CE6C9"/>
                </a:solidFill>
                <a:latin typeface="Calibri"/>
              </a:rPr>
              <a:t>Same vision tokens, different conditioning</a:t>
            </a:r>
          </a:p>
        </p:txBody>
      </p:sp>
      <p:sp>
        <p:nvSpPr>
          <p:cNvPr id="11" name="TextBox 10"/>
          <p:cNvSpPr txBox="1"/>
          <p:nvPr/>
        </p:nvSpPr>
        <p:spPr>
          <a:xfrm>
            <a:off x="6675120" y="2331720"/>
            <a:ext cx="4480560" cy="1188720"/>
          </a:xfrm>
          <a:prstGeom prst="rect">
            <a:avLst/>
          </a:prstGeom>
          <a:noFill/>
        </p:spPr>
        <p:txBody>
          <a:bodyPr wrap="square" lIns="0" rIns="0" tIns="0" bIns="0">
            <a:spAutoFit/>
          </a:bodyPr>
          <a:lstStyle/>
          <a:p>
            <a:pPr algn="l">
              <a:lnSpc>
                <a:spcPct val="120000"/>
              </a:lnSpc>
            </a:pPr>
            <a:r>
              <a:rPr sz="1250" b="0" i="0">
                <a:solidFill>
                  <a:srgbClr val="D6E7E4"/>
                </a:solidFill>
                <a:latin typeface="Calibri"/>
              </a:rPr>
              <a:t>Three different action sequences come out, aimed at three different points in the same image, because language conditioning changes which pixels the policy attends to and what it does once it gets there.</a:t>
            </a:r>
          </a:p>
        </p:txBody>
      </p:sp>
      <p:sp>
        <p:nvSpPr>
          <p:cNvPr id="12" name="Rounded Rectangle 11"/>
          <p:cNvSpPr/>
          <p:nvPr/>
        </p:nvSpPr>
        <p:spPr>
          <a:xfrm>
            <a:off x="777240" y="3931920"/>
            <a:ext cx="10607040" cy="22402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996695" y="4151376"/>
            <a:ext cx="10168128" cy="292608"/>
          </a:xfrm>
          <a:prstGeom prst="rect">
            <a:avLst/>
          </a:prstGeom>
          <a:noFill/>
        </p:spPr>
        <p:txBody>
          <a:bodyPr wrap="square" lIns="0" rIns="0" tIns="0" bIns="0">
            <a:spAutoFit/>
          </a:bodyPr>
          <a:lstStyle/>
          <a:p>
            <a:pPr algn="l"/>
            <a:r>
              <a:rPr sz="1350" b="1" i="0">
                <a:solidFill>
                  <a:srgbClr val="12343B"/>
                </a:solidFill>
                <a:latin typeface="Calibri"/>
              </a:rPr>
              <a:t>Language conditioning, precisely</a:t>
            </a:r>
          </a:p>
        </p:txBody>
      </p:sp>
      <p:sp>
        <p:nvSpPr>
          <p:cNvPr id="14" name="TextBox 13"/>
          <p:cNvSpPr txBox="1"/>
          <p:nvPr/>
        </p:nvSpPr>
        <p:spPr>
          <a:xfrm>
            <a:off x="996695" y="4535424"/>
            <a:ext cx="10168128" cy="141732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Every component you just saw exists to make this possible: a vision encoder that preserves “where”, a language backbone that understands “which one and what to do”, a fusion mechanism that lets language re-weight what vision reports, and an action decoder that turns the fused representation into a trajectory. Policy learning, in this framing, is just learning the function from (image, instruction, robot state) to action, end to end, from data, rather than writing that function by hand for every case.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ACTION REPRESENTATION · DISCRETE</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Treat an action like one more word in the sentence</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pic>
        <p:nvPicPr>
          <p:cNvPr id="5" name="Picture 4" descr="fig_rt2_overview_zitkovich2023.png"/>
          <p:cNvPicPr>
            <a:picLocks noChangeAspect="1"/>
          </p:cNvPicPr>
          <p:nvPr/>
        </p:nvPicPr>
        <p:blipFill>
          <a:blip r:embed="rId2"/>
          <a:stretch>
            <a:fillRect/>
          </a:stretch>
        </p:blipFill>
        <p:spPr>
          <a:xfrm>
            <a:off x="777240" y="2017915"/>
            <a:ext cx="6903720" cy="2593568"/>
          </a:xfrm>
          <a:prstGeom prst="rect">
            <a:avLst/>
          </a:prstGeom>
        </p:spPr>
      </p:pic>
      <p:sp>
        <p:nvSpPr>
          <p:cNvPr id="6" name="TextBox 5"/>
          <p:cNvSpPr txBox="1"/>
          <p:nvPr/>
        </p:nvSpPr>
        <p:spPr>
          <a:xfrm>
            <a:off x="777240" y="4892040"/>
            <a:ext cx="6903720" cy="365760"/>
          </a:xfrm>
          <a:prstGeom prst="rect">
            <a:avLst/>
          </a:prstGeom>
          <a:noFill/>
        </p:spPr>
        <p:txBody>
          <a:bodyPr wrap="square" lIns="0" rIns="0" tIns="0" bIns="0">
            <a:spAutoFit/>
          </a:bodyPr>
          <a:lstStyle/>
          <a:p>
            <a:pPr algn="l">
              <a:lnSpc>
                <a:spcPct val="105000"/>
              </a:lnSpc>
            </a:pPr>
            <a:r>
              <a:rPr sz="950" b="0" i="0">
                <a:solidFill>
                  <a:srgbClr val="8FA9AE"/>
                </a:solidFill>
                <a:latin typeface="Calibri"/>
              </a:rPr>
              <a:t>Zitkovich et al. (2023), RT-2: Vision-Language-Action Models Transfer Web Knowledge to Robotic Control, arXiv:2307.15818, Figure 1.</a:t>
            </a:r>
          </a:p>
        </p:txBody>
      </p:sp>
      <p:sp>
        <p:nvSpPr>
          <p:cNvPr id="7" name="Rounded Rectangle 6"/>
          <p:cNvSpPr/>
          <p:nvPr/>
        </p:nvSpPr>
        <p:spPr>
          <a:xfrm>
            <a:off x="7863840" y="1783080"/>
            <a:ext cx="3520440" cy="21031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8083296" y="2002536"/>
            <a:ext cx="3081528" cy="292608"/>
          </a:xfrm>
          <a:prstGeom prst="rect">
            <a:avLst/>
          </a:prstGeom>
          <a:noFill/>
        </p:spPr>
        <p:txBody>
          <a:bodyPr wrap="square" lIns="0" rIns="0" tIns="0" bIns="0">
            <a:spAutoFit/>
          </a:bodyPr>
          <a:lstStyle/>
          <a:p>
            <a:pPr algn="l"/>
            <a:r>
              <a:rPr sz="1350" b="1" i="0">
                <a:solidFill>
                  <a:srgbClr val="12343B"/>
                </a:solidFill>
                <a:latin typeface="Calibri"/>
              </a:rPr>
              <a:t>The trick</a:t>
            </a:r>
          </a:p>
        </p:txBody>
      </p:sp>
      <p:sp>
        <p:nvSpPr>
          <p:cNvPr id="9" name="TextBox 8"/>
          <p:cNvSpPr txBox="1"/>
          <p:nvPr/>
        </p:nvSpPr>
        <p:spPr>
          <a:xfrm>
            <a:off x="8083296" y="2386584"/>
            <a:ext cx="3081528" cy="128016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Split each of the 8 action numbers (3D position, 3D rotation, gripper, terminate) into 256 bins, and write the bin IDs as a short string: “132 114 128 5 25 156”. Now an action is just text.</a:t>
            </a:r>
          </a:p>
        </p:txBody>
      </p:sp>
      <p:sp>
        <p:nvSpPr>
          <p:cNvPr id="10" name="Rounded Rectangle 9"/>
          <p:cNvSpPr/>
          <p:nvPr/>
        </p:nvSpPr>
        <p:spPr>
          <a:xfrm>
            <a:off x="7863840" y="3977639"/>
            <a:ext cx="3520440" cy="20116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8083296" y="4197096"/>
            <a:ext cx="3081528" cy="292608"/>
          </a:xfrm>
          <a:prstGeom prst="rect">
            <a:avLst/>
          </a:prstGeom>
          <a:noFill/>
        </p:spPr>
        <p:txBody>
          <a:bodyPr wrap="square" lIns="0" rIns="0" tIns="0" bIns="0">
            <a:spAutoFit/>
          </a:bodyPr>
          <a:lstStyle/>
          <a:p>
            <a:pPr algn="l"/>
            <a:r>
              <a:rPr sz="1350" b="1" i="0">
                <a:solidFill>
                  <a:srgbClr val="12343B"/>
                </a:solidFill>
                <a:latin typeface="Calibri"/>
              </a:rPr>
              <a:t>Why that's clever</a:t>
            </a:r>
          </a:p>
        </p:txBody>
      </p:sp>
      <p:sp>
        <p:nvSpPr>
          <p:cNvPr id="12" name="TextBox 11"/>
          <p:cNvSpPr txBox="1"/>
          <p:nvPr/>
        </p:nvSpPr>
        <p:spPr>
          <a:xfrm>
            <a:off x="8083296" y="4581144"/>
            <a:ext cx="3081528" cy="118872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The model needs no new output head: it reuses the same tokenizer and next-token prediction loss it already had for language, which is exactly what let RT-2 train on web data and robot data together.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ACTION REPRESENTATION · CONTINUOUS</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When there is more than one right answer</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pic>
        <p:nvPicPr>
          <p:cNvPr id="5" name="Picture 4" descr="fig_diffusionpolicy_representations_chi2023.png"/>
          <p:cNvPicPr>
            <a:picLocks noChangeAspect="1"/>
          </p:cNvPicPr>
          <p:nvPr/>
        </p:nvPicPr>
        <p:blipFill>
          <a:blip r:embed="rId2"/>
          <a:stretch>
            <a:fillRect/>
          </a:stretch>
        </p:blipFill>
        <p:spPr>
          <a:xfrm>
            <a:off x="777240" y="1834413"/>
            <a:ext cx="10607040" cy="2229052"/>
          </a:xfrm>
          <a:prstGeom prst="rect">
            <a:avLst/>
          </a:prstGeom>
        </p:spPr>
      </p:pic>
      <p:sp>
        <p:nvSpPr>
          <p:cNvPr id="6" name="TextBox 5"/>
          <p:cNvSpPr txBox="1"/>
          <p:nvPr/>
        </p:nvSpPr>
        <p:spPr>
          <a:xfrm>
            <a:off x="777240" y="4187952"/>
            <a:ext cx="10607040" cy="329184"/>
          </a:xfrm>
          <a:prstGeom prst="rect">
            <a:avLst/>
          </a:prstGeom>
          <a:noFill/>
        </p:spPr>
        <p:txBody>
          <a:bodyPr wrap="square" lIns="0" rIns="0" tIns="0" bIns="0">
            <a:spAutoFit/>
          </a:bodyPr>
          <a:lstStyle/>
          <a:p>
            <a:pPr algn="l">
              <a:lnSpc>
                <a:spcPct val="105000"/>
              </a:lnSpc>
            </a:pPr>
            <a:r>
              <a:rPr sz="950" b="0" i="0">
                <a:solidFill>
                  <a:srgbClr val="8FA9AE"/>
                </a:solidFill>
                <a:latin typeface="Calibri"/>
              </a:rPr>
              <a:t>Chi et al. (2023/2024), Diffusion Policy: Visuomotor Policy Learning via Action Diffusion, arXiv:2303.04137, Figure 1.</a:t>
            </a:r>
          </a:p>
        </p:txBody>
      </p:sp>
      <p:sp>
        <p:nvSpPr>
          <p:cNvPr id="7" name="Rounded Rectangle 6"/>
          <p:cNvSpPr/>
          <p:nvPr/>
        </p:nvSpPr>
        <p:spPr>
          <a:xfrm>
            <a:off x="777240" y="4553712"/>
            <a:ext cx="5212080" cy="16916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96695" y="4773168"/>
            <a:ext cx="4773168" cy="292608"/>
          </a:xfrm>
          <a:prstGeom prst="rect">
            <a:avLst/>
          </a:prstGeom>
          <a:noFill/>
        </p:spPr>
        <p:txBody>
          <a:bodyPr wrap="square" lIns="0" rIns="0" tIns="0" bIns="0">
            <a:spAutoFit/>
          </a:bodyPr>
          <a:lstStyle/>
          <a:p>
            <a:pPr algn="l"/>
            <a:r>
              <a:rPr sz="1350" b="1" i="0">
                <a:solidFill>
                  <a:srgbClr val="12343B"/>
                </a:solidFill>
                <a:latin typeface="Calibri"/>
              </a:rPr>
              <a:t>The problem binning and regression share</a:t>
            </a:r>
          </a:p>
        </p:txBody>
      </p:sp>
      <p:sp>
        <p:nvSpPr>
          <p:cNvPr id="9" name="TextBox 8"/>
          <p:cNvSpPr txBox="1"/>
          <p:nvPr/>
        </p:nvSpPr>
        <p:spPr>
          <a:xfrm>
            <a:off x="996695" y="5157216"/>
            <a:ext cx="4773168" cy="868680"/>
          </a:xfrm>
          <a:prstGeom prst="rect">
            <a:avLst/>
          </a:prstGeom>
          <a:noFill/>
        </p:spPr>
        <p:txBody>
          <a:bodyPr wrap="square" lIns="0" rIns="0" tIns="0" bIns="0">
            <a:spAutoFit/>
          </a:bodyPr>
          <a:lstStyle/>
          <a:p>
            <a:pPr algn="l">
              <a:lnSpc>
                <a:spcPct val="112000"/>
              </a:lnSpc>
            </a:pPr>
            <a:r>
              <a:rPr sz="1200" b="0" i="0">
                <a:solidFill>
                  <a:srgbClr val="5A7A80"/>
                </a:solidFill>
                <a:latin typeface="Calibri"/>
              </a:rPr>
              <a:t>Go around an obstacle left or right: both work, but the average of the two goes straight through it. A single discrete token or a single regressed vector cannot represent “two good options”, only one blurred, bad one.</a:t>
            </a:r>
          </a:p>
        </p:txBody>
      </p:sp>
      <p:sp>
        <p:nvSpPr>
          <p:cNvPr id="10" name="Rounded Rectangle 9"/>
          <p:cNvSpPr/>
          <p:nvPr/>
        </p:nvSpPr>
        <p:spPr>
          <a:xfrm>
            <a:off x="6126480" y="4553712"/>
            <a:ext cx="5257800" cy="16916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345936" y="4773168"/>
            <a:ext cx="4818888" cy="292608"/>
          </a:xfrm>
          <a:prstGeom prst="rect">
            <a:avLst/>
          </a:prstGeom>
          <a:noFill/>
        </p:spPr>
        <p:txBody>
          <a:bodyPr wrap="square" lIns="0" rIns="0" tIns="0" bIns="0">
            <a:spAutoFit/>
          </a:bodyPr>
          <a:lstStyle/>
          <a:p>
            <a:pPr algn="l"/>
            <a:r>
              <a:rPr sz="1350" b="1" i="0">
                <a:solidFill>
                  <a:srgbClr val="12343B"/>
                </a:solidFill>
                <a:latin typeface="Calibri"/>
              </a:rPr>
              <a:t>The diffusion / flow-matching fix</a:t>
            </a:r>
          </a:p>
        </p:txBody>
      </p:sp>
      <p:sp>
        <p:nvSpPr>
          <p:cNvPr id="12" name="TextBox 11"/>
          <p:cNvSpPr txBox="1"/>
          <p:nvPr/>
        </p:nvSpPr>
        <p:spPr>
          <a:xfrm>
            <a:off x="6345936" y="5157216"/>
            <a:ext cx="4818888" cy="868680"/>
          </a:xfrm>
          <a:prstGeom prst="rect">
            <a:avLst/>
          </a:prstGeom>
          <a:noFill/>
        </p:spPr>
        <p:txBody>
          <a:bodyPr wrap="square" lIns="0" rIns="0" tIns="0" bIns="0">
            <a:spAutoFit/>
          </a:bodyPr>
          <a:lstStyle/>
          <a:p>
            <a:pPr algn="l">
              <a:lnSpc>
                <a:spcPct val="112000"/>
              </a:lnSpc>
            </a:pPr>
            <a:r>
              <a:rPr sz="1200" b="0" i="0">
                <a:solidFill>
                  <a:srgbClr val="5A7A80"/>
                </a:solidFill>
                <a:latin typeface="Calibri"/>
              </a:rPr>
              <a:t>Start from noise and iteratively refine it toward a plausible action, conditioned on the scene. This models the full distribution of good actions, not just its average. Flow matching (used by pi-0) reaches the same goal with a straighter, faster path than diffusion's many small denoising steps.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ACTION REPRESENTATION · CHUNKING</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Predict a short future, not just the next instant</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TextBox 4"/>
          <p:cNvSpPr txBox="1"/>
          <p:nvPr/>
        </p:nvSpPr>
        <p:spPr>
          <a:xfrm>
            <a:off x="777240" y="1874519"/>
            <a:ext cx="10607040" cy="365760"/>
          </a:xfrm>
          <a:prstGeom prst="rect">
            <a:avLst/>
          </a:prstGeom>
          <a:noFill/>
        </p:spPr>
        <p:txBody>
          <a:bodyPr wrap="square" lIns="0" rIns="0" tIns="0" bIns="0">
            <a:spAutoFit/>
          </a:bodyPr>
          <a:lstStyle/>
          <a:p>
            <a:pPr algn="l"/>
            <a:r>
              <a:rPr sz="1250" b="1" i="0">
                <a:solidFill>
                  <a:srgbClr val="5A7A80"/>
                </a:solidFill>
                <a:latin typeface="Calibri"/>
              </a:rPr>
              <a:t>Without chunking: one action per model call</a:t>
            </a:r>
          </a:p>
        </p:txBody>
      </p:sp>
      <p:sp>
        <p:nvSpPr>
          <p:cNvPr id="6" name="Rounded Rectangle 5"/>
          <p:cNvSpPr/>
          <p:nvPr/>
        </p:nvSpPr>
        <p:spPr>
          <a:xfrm>
            <a:off x="777240" y="2240280"/>
            <a:ext cx="1554480" cy="5486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TextBox 6"/>
          <p:cNvSpPr txBox="1"/>
          <p:nvPr/>
        </p:nvSpPr>
        <p:spPr>
          <a:xfrm>
            <a:off x="777240" y="2240280"/>
            <a:ext cx="1554480" cy="548640"/>
          </a:xfrm>
          <a:prstGeom prst="rect">
            <a:avLst/>
          </a:prstGeom>
          <a:noFill/>
        </p:spPr>
        <p:txBody>
          <a:bodyPr wrap="square" lIns="0" rIns="0" tIns="0" bIns="0" anchor="ctr">
            <a:spAutoFit/>
          </a:bodyPr>
          <a:lstStyle/>
          <a:p>
            <a:pPr algn="ctr"/>
            <a:r>
              <a:rPr sz="1300" b="1" i="0">
                <a:solidFill>
                  <a:srgbClr val="5A7A80"/>
                </a:solidFill>
                <a:latin typeface="Calibri"/>
              </a:rPr>
              <a:t>a₁</a:t>
            </a:r>
          </a:p>
        </p:txBody>
      </p:sp>
      <p:sp>
        <p:nvSpPr>
          <p:cNvPr id="8" name="Rounded Rectangle 7"/>
          <p:cNvSpPr/>
          <p:nvPr/>
        </p:nvSpPr>
        <p:spPr>
          <a:xfrm>
            <a:off x="2560320" y="2240280"/>
            <a:ext cx="1554480" cy="5486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2560320" y="2240280"/>
            <a:ext cx="1554480" cy="548640"/>
          </a:xfrm>
          <a:prstGeom prst="rect">
            <a:avLst/>
          </a:prstGeom>
          <a:noFill/>
        </p:spPr>
        <p:txBody>
          <a:bodyPr wrap="square" lIns="0" rIns="0" tIns="0" bIns="0" anchor="ctr">
            <a:spAutoFit/>
          </a:bodyPr>
          <a:lstStyle/>
          <a:p>
            <a:pPr algn="ctr"/>
            <a:r>
              <a:rPr sz="1300" b="1" i="0">
                <a:solidFill>
                  <a:srgbClr val="5A7A80"/>
                </a:solidFill>
                <a:latin typeface="Calibri"/>
              </a:rPr>
              <a:t>a₂</a:t>
            </a:r>
          </a:p>
        </p:txBody>
      </p:sp>
      <p:sp>
        <p:nvSpPr>
          <p:cNvPr id="10" name="Rounded Rectangle 9"/>
          <p:cNvSpPr/>
          <p:nvPr/>
        </p:nvSpPr>
        <p:spPr>
          <a:xfrm>
            <a:off x="4343400" y="2240280"/>
            <a:ext cx="1554480" cy="5486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4343400" y="2240280"/>
            <a:ext cx="1554480" cy="548640"/>
          </a:xfrm>
          <a:prstGeom prst="rect">
            <a:avLst/>
          </a:prstGeom>
          <a:noFill/>
        </p:spPr>
        <p:txBody>
          <a:bodyPr wrap="square" lIns="0" rIns="0" tIns="0" bIns="0" anchor="ctr">
            <a:spAutoFit/>
          </a:bodyPr>
          <a:lstStyle/>
          <a:p>
            <a:pPr algn="ctr"/>
            <a:r>
              <a:rPr sz="1300" b="1" i="0">
                <a:solidFill>
                  <a:srgbClr val="5A7A80"/>
                </a:solidFill>
                <a:latin typeface="Calibri"/>
              </a:rPr>
              <a:t>a₃</a:t>
            </a:r>
          </a:p>
        </p:txBody>
      </p:sp>
      <p:sp>
        <p:nvSpPr>
          <p:cNvPr id="12" name="Rounded Rectangle 11"/>
          <p:cNvSpPr/>
          <p:nvPr/>
        </p:nvSpPr>
        <p:spPr>
          <a:xfrm>
            <a:off x="6126479" y="2240280"/>
            <a:ext cx="1554480" cy="5486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6126479" y="2240280"/>
            <a:ext cx="1554480" cy="548640"/>
          </a:xfrm>
          <a:prstGeom prst="rect">
            <a:avLst/>
          </a:prstGeom>
          <a:noFill/>
        </p:spPr>
        <p:txBody>
          <a:bodyPr wrap="square" lIns="0" rIns="0" tIns="0" bIns="0" anchor="ctr">
            <a:spAutoFit/>
          </a:bodyPr>
          <a:lstStyle/>
          <a:p>
            <a:pPr algn="ctr"/>
            <a:r>
              <a:rPr sz="1300" b="1" i="0">
                <a:solidFill>
                  <a:srgbClr val="5A7A80"/>
                </a:solidFill>
                <a:latin typeface="Calibri"/>
              </a:rPr>
              <a:t>a₄</a:t>
            </a:r>
          </a:p>
        </p:txBody>
      </p:sp>
      <p:sp>
        <p:nvSpPr>
          <p:cNvPr id="14" name="Rounded Rectangle 13"/>
          <p:cNvSpPr/>
          <p:nvPr/>
        </p:nvSpPr>
        <p:spPr>
          <a:xfrm>
            <a:off x="7909560" y="2240280"/>
            <a:ext cx="1554480" cy="5486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7909560" y="2240280"/>
            <a:ext cx="1554480" cy="548640"/>
          </a:xfrm>
          <a:prstGeom prst="rect">
            <a:avLst/>
          </a:prstGeom>
          <a:noFill/>
        </p:spPr>
        <p:txBody>
          <a:bodyPr wrap="square" lIns="0" rIns="0" tIns="0" bIns="0" anchor="ctr">
            <a:spAutoFit/>
          </a:bodyPr>
          <a:lstStyle/>
          <a:p>
            <a:pPr algn="ctr"/>
            <a:r>
              <a:rPr sz="1300" b="1" i="0">
                <a:solidFill>
                  <a:srgbClr val="5A7A80"/>
                </a:solidFill>
                <a:latin typeface="Calibri"/>
              </a:rPr>
              <a:t>a₅</a:t>
            </a:r>
          </a:p>
        </p:txBody>
      </p:sp>
      <p:sp>
        <p:nvSpPr>
          <p:cNvPr id="16" name="Rounded Rectangle 15"/>
          <p:cNvSpPr/>
          <p:nvPr/>
        </p:nvSpPr>
        <p:spPr>
          <a:xfrm>
            <a:off x="9692640" y="2240280"/>
            <a:ext cx="1554480" cy="5486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9692640" y="2240280"/>
            <a:ext cx="1554480" cy="548640"/>
          </a:xfrm>
          <a:prstGeom prst="rect">
            <a:avLst/>
          </a:prstGeom>
          <a:noFill/>
        </p:spPr>
        <p:txBody>
          <a:bodyPr wrap="square" lIns="0" rIns="0" tIns="0" bIns="0" anchor="ctr">
            <a:spAutoFit/>
          </a:bodyPr>
          <a:lstStyle/>
          <a:p>
            <a:pPr algn="ctr"/>
            <a:r>
              <a:rPr sz="1300" b="1" i="0">
                <a:solidFill>
                  <a:srgbClr val="5A7A80"/>
                </a:solidFill>
                <a:latin typeface="Calibri"/>
              </a:rPr>
              <a:t>a₆</a:t>
            </a:r>
          </a:p>
        </p:txBody>
      </p:sp>
      <p:sp>
        <p:nvSpPr>
          <p:cNvPr id="18" name="TextBox 17"/>
          <p:cNvSpPr txBox="1"/>
          <p:nvPr/>
        </p:nvSpPr>
        <p:spPr>
          <a:xfrm>
            <a:off x="777240" y="2971800"/>
            <a:ext cx="10607040" cy="365760"/>
          </a:xfrm>
          <a:prstGeom prst="rect">
            <a:avLst/>
          </a:prstGeom>
          <a:noFill/>
        </p:spPr>
        <p:txBody>
          <a:bodyPr wrap="square" lIns="0" rIns="0" tIns="0" bIns="0">
            <a:spAutoFit/>
          </a:bodyPr>
          <a:lstStyle/>
          <a:p>
            <a:pPr algn="l"/>
            <a:r>
              <a:rPr sz="1250" b="1" i="0">
                <a:solidFill>
                  <a:srgbClr val="12343B"/>
                </a:solidFill>
                <a:latin typeface="Calibri"/>
              </a:rPr>
              <a:t>With chunking: predict k actions at once, then re-plan</a:t>
            </a:r>
          </a:p>
        </p:txBody>
      </p:sp>
      <p:sp>
        <p:nvSpPr>
          <p:cNvPr id="19" name="Rounded Rectangle 18"/>
          <p:cNvSpPr/>
          <p:nvPr/>
        </p:nvSpPr>
        <p:spPr>
          <a:xfrm>
            <a:off x="777240" y="3337560"/>
            <a:ext cx="996696" cy="548640"/>
          </a:xfrm>
          <a:prstGeom prst="roundRect">
            <a:avLst>
              <a:gd name="adj" fmla="val 6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777240" y="3337560"/>
            <a:ext cx="996696" cy="548640"/>
          </a:xfrm>
          <a:prstGeom prst="rect">
            <a:avLst/>
          </a:prstGeom>
          <a:noFill/>
        </p:spPr>
        <p:txBody>
          <a:bodyPr wrap="square" lIns="0" rIns="0" tIns="0" bIns="0" anchor="ctr">
            <a:spAutoFit/>
          </a:bodyPr>
          <a:lstStyle/>
          <a:p>
            <a:pPr algn="ctr"/>
            <a:r>
              <a:rPr sz="1300" b="1" i="0">
                <a:solidFill>
                  <a:srgbClr val="FFFFFF"/>
                </a:solidFill>
                <a:latin typeface="Calibri"/>
              </a:rPr>
              <a:t>a₁</a:t>
            </a:r>
          </a:p>
        </p:txBody>
      </p:sp>
      <p:sp>
        <p:nvSpPr>
          <p:cNvPr id="21" name="Rounded Rectangle 20"/>
          <p:cNvSpPr/>
          <p:nvPr/>
        </p:nvSpPr>
        <p:spPr>
          <a:xfrm>
            <a:off x="1828800" y="3337560"/>
            <a:ext cx="996696" cy="548640"/>
          </a:xfrm>
          <a:prstGeom prst="roundRect">
            <a:avLst>
              <a:gd name="adj" fmla="val 6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TextBox 21"/>
          <p:cNvSpPr txBox="1"/>
          <p:nvPr/>
        </p:nvSpPr>
        <p:spPr>
          <a:xfrm>
            <a:off x="1828800" y="3337560"/>
            <a:ext cx="996696" cy="548640"/>
          </a:xfrm>
          <a:prstGeom prst="rect">
            <a:avLst/>
          </a:prstGeom>
          <a:noFill/>
        </p:spPr>
        <p:txBody>
          <a:bodyPr wrap="square" lIns="0" rIns="0" tIns="0" bIns="0" anchor="ctr">
            <a:spAutoFit/>
          </a:bodyPr>
          <a:lstStyle/>
          <a:p>
            <a:pPr algn="ctr"/>
            <a:r>
              <a:rPr sz="1300" b="1" i="0">
                <a:solidFill>
                  <a:srgbClr val="FFFFFF"/>
                </a:solidFill>
                <a:latin typeface="Calibri"/>
              </a:rPr>
              <a:t>a₂</a:t>
            </a:r>
          </a:p>
        </p:txBody>
      </p:sp>
      <p:sp>
        <p:nvSpPr>
          <p:cNvPr id="23" name="Rounded Rectangle 22"/>
          <p:cNvSpPr/>
          <p:nvPr/>
        </p:nvSpPr>
        <p:spPr>
          <a:xfrm>
            <a:off x="2880360" y="3337560"/>
            <a:ext cx="996696" cy="548640"/>
          </a:xfrm>
          <a:prstGeom prst="roundRect">
            <a:avLst>
              <a:gd name="adj" fmla="val 6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xtBox 23"/>
          <p:cNvSpPr txBox="1"/>
          <p:nvPr/>
        </p:nvSpPr>
        <p:spPr>
          <a:xfrm>
            <a:off x="2880360" y="3337560"/>
            <a:ext cx="996696" cy="548640"/>
          </a:xfrm>
          <a:prstGeom prst="rect">
            <a:avLst/>
          </a:prstGeom>
          <a:noFill/>
        </p:spPr>
        <p:txBody>
          <a:bodyPr wrap="square" lIns="0" rIns="0" tIns="0" bIns="0" anchor="ctr">
            <a:spAutoFit/>
          </a:bodyPr>
          <a:lstStyle/>
          <a:p>
            <a:pPr algn="ctr"/>
            <a:r>
              <a:rPr sz="1300" b="1" i="0">
                <a:solidFill>
                  <a:srgbClr val="FFFFFF"/>
                </a:solidFill>
                <a:latin typeface="Calibri"/>
              </a:rPr>
              <a:t>a₃</a:t>
            </a:r>
          </a:p>
        </p:txBody>
      </p:sp>
      <p:sp>
        <p:nvSpPr>
          <p:cNvPr id="25" name="Rounded Rectangle 24"/>
          <p:cNvSpPr/>
          <p:nvPr/>
        </p:nvSpPr>
        <p:spPr>
          <a:xfrm>
            <a:off x="3931920" y="3337560"/>
            <a:ext cx="996696" cy="548640"/>
          </a:xfrm>
          <a:prstGeom prst="roundRect">
            <a:avLst>
              <a:gd name="adj" fmla="val 6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xtBox 25"/>
          <p:cNvSpPr txBox="1"/>
          <p:nvPr/>
        </p:nvSpPr>
        <p:spPr>
          <a:xfrm>
            <a:off x="3931920" y="3337560"/>
            <a:ext cx="996696" cy="548640"/>
          </a:xfrm>
          <a:prstGeom prst="rect">
            <a:avLst/>
          </a:prstGeom>
          <a:noFill/>
        </p:spPr>
        <p:txBody>
          <a:bodyPr wrap="square" lIns="0" rIns="0" tIns="0" bIns="0" anchor="ctr">
            <a:spAutoFit/>
          </a:bodyPr>
          <a:lstStyle/>
          <a:p>
            <a:pPr algn="ctr"/>
            <a:r>
              <a:rPr sz="1300" b="1" i="0">
                <a:solidFill>
                  <a:srgbClr val="FFFFFF"/>
                </a:solidFill>
                <a:latin typeface="Calibri"/>
              </a:rPr>
              <a:t>a₄</a:t>
            </a:r>
          </a:p>
        </p:txBody>
      </p:sp>
      <p:sp>
        <p:nvSpPr>
          <p:cNvPr id="27" name="Rounded Rectangle 26"/>
          <p:cNvSpPr/>
          <p:nvPr/>
        </p:nvSpPr>
        <p:spPr>
          <a:xfrm>
            <a:off x="4983480" y="3337560"/>
            <a:ext cx="996696" cy="548640"/>
          </a:xfrm>
          <a:prstGeom prst="roundRect">
            <a:avLst>
              <a:gd name="adj" fmla="val 6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TextBox 27"/>
          <p:cNvSpPr txBox="1"/>
          <p:nvPr/>
        </p:nvSpPr>
        <p:spPr>
          <a:xfrm>
            <a:off x="4983480" y="3337560"/>
            <a:ext cx="996696" cy="548640"/>
          </a:xfrm>
          <a:prstGeom prst="rect">
            <a:avLst/>
          </a:prstGeom>
          <a:noFill/>
        </p:spPr>
        <p:txBody>
          <a:bodyPr wrap="square" lIns="0" rIns="0" tIns="0" bIns="0" anchor="ctr">
            <a:spAutoFit/>
          </a:bodyPr>
          <a:lstStyle/>
          <a:p>
            <a:pPr algn="ctr"/>
            <a:r>
              <a:rPr sz="1300" b="1" i="0">
                <a:solidFill>
                  <a:srgbClr val="FFFFFF"/>
                </a:solidFill>
                <a:latin typeface="Calibri"/>
              </a:rPr>
              <a:t>a₅</a:t>
            </a:r>
          </a:p>
        </p:txBody>
      </p:sp>
      <p:sp>
        <p:nvSpPr>
          <p:cNvPr id="29" name="Rounded Rectangle 28"/>
          <p:cNvSpPr/>
          <p:nvPr/>
        </p:nvSpPr>
        <p:spPr>
          <a:xfrm>
            <a:off x="6035040" y="3337560"/>
            <a:ext cx="996696" cy="548640"/>
          </a:xfrm>
          <a:prstGeom prst="roundRect">
            <a:avLst>
              <a:gd name="adj" fmla="val 6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xtBox 29"/>
          <p:cNvSpPr txBox="1"/>
          <p:nvPr/>
        </p:nvSpPr>
        <p:spPr>
          <a:xfrm>
            <a:off x="6035040" y="3337560"/>
            <a:ext cx="996696" cy="548640"/>
          </a:xfrm>
          <a:prstGeom prst="rect">
            <a:avLst/>
          </a:prstGeom>
          <a:noFill/>
        </p:spPr>
        <p:txBody>
          <a:bodyPr wrap="square" lIns="0" rIns="0" tIns="0" bIns="0" anchor="ctr">
            <a:spAutoFit/>
          </a:bodyPr>
          <a:lstStyle/>
          <a:p>
            <a:pPr algn="ctr"/>
            <a:r>
              <a:rPr sz="1300" b="1" i="0">
                <a:solidFill>
                  <a:srgbClr val="FFFFFF"/>
                </a:solidFill>
                <a:latin typeface="Calibri"/>
              </a:rPr>
              <a:t>a₆</a:t>
            </a:r>
          </a:p>
        </p:txBody>
      </p:sp>
      <p:sp>
        <p:nvSpPr>
          <p:cNvPr id="31" name="TextBox 30"/>
          <p:cNvSpPr txBox="1"/>
          <p:nvPr/>
        </p:nvSpPr>
        <p:spPr>
          <a:xfrm>
            <a:off x="7178040" y="3337560"/>
            <a:ext cx="4114800" cy="548640"/>
          </a:xfrm>
          <a:prstGeom prst="rect">
            <a:avLst/>
          </a:prstGeom>
          <a:noFill/>
        </p:spPr>
        <p:txBody>
          <a:bodyPr wrap="square" lIns="0" rIns="0" tIns="0" bIns="0" anchor="ctr">
            <a:spAutoFit/>
          </a:bodyPr>
          <a:lstStyle/>
          <a:p>
            <a:pPr algn="l"/>
            <a:r>
              <a:rPr sz="1150" b="0" i="1">
                <a:solidFill>
                  <a:srgbClr val="028090"/>
                </a:solidFill>
                <a:latin typeface="Calibri"/>
              </a:rPr>
              <a:t>← one chunk, one forward pass</a:t>
            </a:r>
          </a:p>
        </p:txBody>
      </p:sp>
      <p:sp>
        <p:nvSpPr>
          <p:cNvPr id="32" name="Rounded Rectangle 31"/>
          <p:cNvSpPr/>
          <p:nvPr/>
        </p:nvSpPr>
        <p:spPr>
          <a:xfrm>
            <a:off x="777240" y="4160520"/>
            <a:ext cx="5166360" cy="19659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xtBox 32"/>
          <p:cNvSpPr txBox="1"/>
          <p:nvPr/>
        </p:nvSpPr>
        <p:spPr>
          <a:xfrm>
            <a:off x="996695" y="4379976"/>
            <a:ext cx="4727448" cy="292608"/>
          </a:xfrm>
          <a:prstGeom prst="rect">
            <a:avLst/>
          </a:prstGeom>
          <a:noFill/>
        </p:spPr>
        <p:txBody>
          <a:bodyPr wrap="square" lIns="0" rIns="0" tIns="0" bIns="0">
            <a:spAutoFit/>
          </a:bodyPr>
          <a:lstStyle/>
          <a:p>
            <a:pPr algn="l"/>
            <a:r>
              <a:rPr sz="1350" b="1" i="0">
                <a:solidFill>
                  <a:srgbClr val="12343B"/>
                </a:solidFill>
                <a:latin typeface="Calibri"/>
              </a:rPr>
              <a:t>Why it helps</a:t>
            </a:r>
          </a:p>
        </p:txBody>
      </p:sp>
      <p:sp>
        <p:nvSpPr>
          <p:cNvPr id="34" name="TextBox 33"/>
          <p:cNvSpPr txBox="1"/>
          <p:nvPr/>
        </p:nvSpPr>
        <p:spPr>
          <a:xfrm>
            <a:off x="996695" y="4764024"/>
            <a:ext cx="4727448" cy="114299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Predicting k steps ahead shrinks the effective planning horizon by a factor of k, which is exactly where imitation learning's compounding errors bite hardest. It also produces smoother motion than re-deciding from scratch every instant.</a:t>
            </a:r>
          </a:p>
        </p:txBody>
      </p:sp>
      <p:sp>
        <p:nvSpPr>
          <p:cNvPr id="35" name="Rounded Rectangle 34"/>
          <p:cNvSpPr/>
          <p:nvPr/>
        </p:nvSpPr>
        <p:spPr>
          <a:xfrm>
            <a:off x="6126480" y="4160520"/>
            <a:ext cx="5257800" cy="19659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xtBox 35"/>
          <p:cNvSpPr txBox="1"/>
          <p:nvPr/>
        </p:nvSpPr>
        <p:spPr>
          <a:xfrm>
            <a:off x="6345936" y="4379976"/>
            <a:ext cx="4818888" cy="292608"/>
          </a:xfrm>
          <a:prstGeom prst="rect">
            <a:avLst/>
          </a:prstGeom>
          <a:noFill/>
        </p:spPr>
        <p:txBody>
          <a:bodyPr wrap="square" lIns="0" rIns="0" tIns="0" bIns="0">
            <a:spAutoFit/>
          </a:bodyPr>
          <a:lstStyle/>
          <a:p>
            <a:pPr algn="l"/>
            <a:r>
              <a:rPr sz="1350" b="1" i="0">
                <a:solidFill>
                  <a:srgbClr val="12343B"/>
                </a:solidFill>
                <a:latin typeface="Calibri"/>
              </a:rPr>
              <a:t>Action Chunking with Transformers (ACT)</a:t>
            </a:r>
          </a:p>
        </p:txBody>
      </p:sp>
      <p:sp>
        <p:nvSpPr>
          <p:cNvPr id="37" name="TextBox 36"/>
          <p:cNvSpPr txBox="1"/>
          <p:nvPr/>
        </p:nvSpPr>
        <p:spPr>
          <a:xfrm>
            <a:off x="6345936" y="4764024"/>
            <a:ext cx="4818888" cy="114299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Zhao, Kumar, Levine &amp; Finn's ACT policy (used with the ALOHA rig) predicts chunks of 90 actions at 50 Hz, then blends overlapping chunks (temporal ensembling) for smoothness. Result: 80–90% success on fine manipulation from just 50 demonstrations, about 10 minutes of data collection.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PUTTING THE PIECES IN MOTION</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A policy is just a learned function you keep calling</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ounded Rectangle 4"/>
          <p:cNvSpPr/>
          <p:nvPr/>
        </p:nvSpPr>
        <p:spPr>
          <a:xfrm>
            <a:off x="777240" y="1783080"/>
            <a:ext cx="10607040" cy="12344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996695" y="2002536"/>
            <a:ext cx="10168128" cy="292608"/>
          </a:xfrm>
          <a:prstGeom prst="rect">
            <a:avLst/>
          </a:prstGeom>
          <a:noFill/>
        </p:spPr>
        <p:txBody>
          <a:bodyPr wrap="square" lIns="0" rIns="0" tIns="0" bIns="0">
            <a:spAutoFit/>
          </a:bodyPr>
          <a:lstStyle/>
          <a:p>
            <a:pPr algn="l"/>
            <a:r>
              <a:rPr sz="1350" b="1" i="0">
                <a:solidFill>
                  <a:srgbClr val="12343B"/>
                </a:solidFill>
                <a:latin typeface="Calibri"/>
              </a:rPr>
              <a:t>Policy learning, defined</a:t>
            </a:r>
          </a:p>
        </p:txBody>
      </p:sp>
      <p:sp>
        <p:nvSpPr>
          <p:cNvPr id="7" name="TextBox 6"/>
          <p:cNvSpPr txBox="1"/>
          <p:nvPr/>
        </p:nvSpPr>
        <p:spPr>
          <a:xfrm>
            <a:off x="996695" y="2386584"/>
            <a:ext cx="10168128" cy="41148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A policy π(action | observation, instruction) maps what the robot currently perceives and is asked to do, to what it should do next. “Learning the policy” means fitting that function's parameters from data, rather than programming it rule by rule.</a:t>
            </a:r>
          </a:p>
        </p:txBody>
      </p:sp>
      <p:sp>
        <p:nvSpPr>
          <p:cNvPr id="8" name="Rounded Rectangle 7"/>
          <p:cNvSpPr/>
          <p:nvPr/>
        </p:nvSpPr>
        <p:spPr>
          <a:xfrm>
            <a:off x="777240" y="3200400"/>
            <a:ext cx="5166360" cy="16002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96695" y="3419856"/>
            <a:ext cx="4727448" cy="292608"/>
          </a:xfrm>
          <a:prstGeom prst="rect">
            <a:avLst/>
          </a:prstGeom>
          <a:noFill/>
        </p:spPr>
        <p:txBody>
          <a:bodyPr wrap="square" lIns="0" rIns="0" tIns="0" bIns="0">
            <a:spAutoFit/>
          </a:bodyPr>
          <a:lstStyle/>
          <a:p>
            <a:pPr algn="l"/>
            <a:r>
              <a:rPr sz="1350" b="1" i="0">
                <a:solidFill>
                  <a:srgbClr val="12343B"/>
                </a:solidFill>
                <a:latin typeface="Calibri"/>
              </a:rPr>
              <a:t>Open loop</a:t>
            </a:r>
          </a:p>
        </p:txBody>
      </p:sp>
      <p:sp>
        <p:nvSpPr>
          <p:cNvPr id="10" name="TextBox 9"/>
          <p:cNvSpPr txBox="1"/>
          <p:nvPr/>
        </p:nvSpPr>
        <p:spPr>
          <a:xfrm>
            <a:off x="996695" y="3803904"/>
            <a:ext cx="4727448" cy="77723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Compute a plan once, then execute it blindly to the end. Fast, but any small error or bump compounds with nothing to correct it.</a:t>
            </a:r>
          </a:p>
        </p:txBody>
      </p:sp>
      <p:sp>
        <p:nvSpPr>
          <p:cNvPr id="11" name="Rounded Rectangle 10"/>
          <p:cNvSpPr/>
          <p:nvPr/>
        </p:nvSpPr>
        <p:spPr>
          <a:xfrm>
            <a:off x="6190488" y="3200400"/>
            <a:ext cx="5166360" cy="16002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409944" y="3419856"/>
            <a:ext cx="4727448" cy="292608"/>
          </a:xfrm>
          <a:prstGeom prst="rect">
            <a:avLst/>
          </a:prstGeom>
          <a:noFill/>
        </p:spPr>
        <p:txBody>
          <a:bodyPr wrap="square" lIns="0" rIns="0" tIns="0" bIns="0">
            <a:spAutoFit/>
          </a:bodyPr>
          <a:lstStyle/>
          <a:p>
            <a:pPr algn="l"/>
            <a:r>
              <a:rPr sz="1350" b="1" i="0">
                <a:solidFill>
                  <a:srgbClr val="12343B"/>
                </a:solidFill>
                <a:latin typeface="Calibri"/>
              </a:rPr>
              <a:t>Closed loop</a:t>
            </a:r>
          </a:p>
        </p:txBody>
      </p:sp>
      <p:sp>
        <p:nvSpPr>
          <p:cNvPr id="13" name="TextBox 12"/>
          <p:cNvSpPr txBox="1"/>
          <p:nvPr/>
        </p:nvSpPr>
        <p:spPr>
          <a:xfrm>
            <a:off x="6409944" y="3803904"/>
            <a:ext cx="4727448" cy="77723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Re-observe after every action or chunk, and re-plan from the new state. Slower per step, but self-correcting, which is what almost every real VLA does.</a:t>
            </a:r>
          </a:p>
        </p:txBody>
      </p:sp>
      <p:sp>
        <p:nvSpPr>
          <p:cNvPr id="14" name="Rounded Rectangle 13"/>
          <p:cNvSpPr/>
          <p:nvPr/>
        </p:nvSpPr>
        <p:spPr>
          <a:xfrm>
            <a:off x="777240" y="4983480"/>
            <a:ext cx="10607040" cy="12344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996695" y="5202936"/>
            <a:ext cx="10168128" cy="292608"/>
          </a:xfrm>
          <a:prstGeom prst="rect">
            <a:avLst/>
          </a:prstGeom>
          <a:noFill/>
        </p:spPr>
        <p:txBody>
          <a:bodyPr wrap="square" lIns="0" rIns="0" tIns="0" bIns="0">
            <a:spAutoFit/>
          </a:bodyPr>
          <a:lstStyle/>
          <a:p>
            <a:pPr algn="l"/>
            <a:r>
              <a:rPr sz="1350" b="1" i="0">
                <a:solidFill>
                  <a:srgbClr val="12343B"/>
                </a:solidFill>
                <a:latin typeface="Calibri"/>
              </a:rPr>
              <a:t>Behavioral cloning, the default way to fit π</a:t>
            </a:r>
          </a:p>
        </p:txBody>
      </p:sp>
      <p:sp>
        <p:nvSpPr>
          <p:cNvPr id="16" name="TextBox 15"/>
          <p:cNvSpPr txBox="1"/>
          <p:nvPr/>
        </p:nvSpPr>
        <p:spPr>
          <a:xfrm>
            <a:off x="996695" y="5586984"/>
            <a:ext cx="10168128" cy="41147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Treat the demonstrations as (observation, action) pairs and train the policy with ordinary supervised learning: minimise the distance between the model's predicted action and the action the human actually took. It is simple, stable, and exactly what almost every VLA we'll name tonight starts from.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HOW VLA MODELS ARE TRAINED</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Four stages, not always all used, rarely used alone</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ounded Rectangle 4"/>
          <p:cNvSpPr/>
          <p:nvPr/>
        </p:nvSpPr>
        <p:spPr>
          <a:xfrm>
            <a:off x="777240" y="2148840"/>
            <a:ext cx="2487168" cy="19659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960120" y="2350008"/>
            <a:ext cx="2121408" cy="365760"/>
          </a:xfrm>
          <a:prstGeom prst="rect">
            <a:avLst/>
          </a:prstGeom>
          <a:noFill/>
        </p:spPr>
        <p:txBody>
          <a:bodyPr wrap="square" lIns="0" rIns="0" tIns="0" bIns="0">
            <a:spAutoFit/>
          </a:bodyPr>
          <a:lstStyle/>
          <a:p>
            <a:pPr algn="l"/>
            <a:r>
              <a:rPr sz="1400" b="1" i="0">
                <a:solidFill>
                  <a:srgbClr val="12343B"/>
                </a:solidFill>
                <a:latin typeface="Calibri"/>
              </a:rPr>
              <a:t>1. Collect</a:t>
            </a:r>
          </a:p>
        </p:txBody>
      </p:sp>
      <p:sp>
        <p:nvSpPr>
          <p:cNvPr id="7" name="TextBox 6"/>
          <p:cNvSpPr txBox="1"/>
          <p:nvPr/>
        </p:nvSpPr>
        <p:spPr>
          <a:xfrm>
            <a:off x="960120" y="2807208"/>
            <a:ext cx="2121408" cy="1188720"/>
          </a:xfrm>
          <a:prstGeom prst="rect">
            <a:avLst/>
          </a:prstGeom>
          <a:noFill/>
        </p:spPr>
        <p:txBody>
          <a:bodyPr wrap="square" lIns="0" rIns="0" tIns="0" bIns="0">
            <a:spAutoFit/>
          </a:bodyPr>
          <a:lstStyle/>
          <a:p>
            <a:pPr algn="l">
              <a:lnSpc>
                <a:spcPct val="115000"/>
              </a:lnSpc>
            </a:pPr>
            <a:r>
              <a:rPr sz="1150" b="0" i="0">
                <a:solidFill>
                  <a:srgbClr val="5A7A80"/>
                </a:solidFill>
                <a:latin typeface="Calibri"/>
              </a:rPr>
              <a:t>Human demonstrations via teleoperation, plus web and video data</a:t>
            </a:r>
          </a:p>
        </p:txBody>
      </p:sp>
      <p:sp>
        <p:nvSpPr>
          <p:cNvPr id="8" name="Right Arrow 7"/>
          <p:cNvSpPr/>
          <p:nvPr/>
        </p:nvSpPr>
        <p:spPr>
          <a:xfrm>
            <a:off x="3273552" y="3012948"/>
            <a:ext cx="237744" cy="237744"/>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20440" y="2148840"/>
            <a:ext cx="2487168" cy="19659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3703320" y="2350008"/>
            <a:ext cx="2121408" cy="365760"/>
          </a:xfrm>
          <a:prstGeom prst="rect">
            <a:avLst/>
          </a:prstGeom>
          <a:noFill/>
        </p:spPr>
        <p:txBody>
          <a:bodyPr wrap="square" lIns="0" rIns="0" tIns="0" bIns="0">
            <a:spAutoFit/>
          </a:bodyPr>
          <a:lstStyle/>
          <a:p>
            <a:pPr algn="l"/>
            <a:r>
              <a:rPr sz="1400" b="1" i="0">
                <a:solidFill>
                  <a:srgbClr val="12343B"/>
                </a:solidFill>
                <a:latin typeface="Calibri"/>
              </a:rPr>
              <a:t>2. Pretrain</a:t>
            </a:r>
          </a:p>
        </p:txBody>
      </p:sp>
      <p:sp>
        <p:nvSpPr>
          <p:cNvPr id="11" name="TextBox 10"/>
          <p:cNvSpPr txBox="1"/>
          <p:nvPr/>
        </p:nvSpPr>
        <p:spPr>
          <a:xfrm>
            <a:off x="3703320" y="2807208"/>
            <a:ext cx="2121408" cy="1188720"/>
          </a:xfrm>
          <a:prstGeom prst="rect">
            <a:avLst/>
          </a:prstGeom>
          <a:noFill/>
        </p:spPr>
        <p:txBody>
          <a:bodyPr wrap="square" lIns="0" rIns="0" tIns="0" bIns="0">
            <a:spAutoFit/>
          </a:bodyPr>
          <a:lstStyle/>
          <a:p>
            <a:pPr algn="l">
              <a:lnSpc>
                <a:spcPct val="115000"/>
              </a:lnSpc>
            </a:pPr>
            <a:r>
              <a:rPr sz="1150" b="0" i="0">
                <a:solidFill>
                  <a:srgbClr val="5A7A80"/>
                </a:solidFill>
                <a:latin typeface="Calibri"/>
              </a:rPr>
              <a:t>Internet-scale vision-language data + broad cross-embodiment robot data</a:t>
            </a:r>
          </a:p>
        </p:txBody>
      </p:sp>
      <p:sp>
        <p:nvSpPr>
          <p:cNvPr id="12" name="Right Arrow 11"/>
          <p:cNvSpPr/>
          <p:nvPr/>
        </p:nvSpPr>
        <p:spPr>
          <a:xfrm>
            <a:off x="6016752" y="3012948"/>
            <a:ext cx="237744" cy="237744"/>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2148840"/>
            <a:ext cx="2487168" cy="19659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6446520" y="2350008"/>
            <a:ext cx="2121408" cy="365760"/>
          </a:xfrm>
          <a:prstGeom prst="rect">
            <a:avLst/>
          </a:prstGeom>
          <a:noFill/>
        </p:spPr>
        <p:txBody>
          <a:bodyPr wrap="square" lIns="0" rIns="0" tIns="0" bIns="0">
            <a:spAutoFit/>
          </a:bodyPr>
          <a:lstStyle/>
          <a:p>
            <a:pPr algn="l"/>
            <a:r>
              <a:rPr sz="1400" b="1" i="0">
                <a:solidFill>
                  <a:srgbClr val="12343B"/>
                </a:solidFill>
                <a:latin typeface="Calibri"/>
              </a:rPr>
              <a:t>3. Fine-tune</a:t>
            </a:r>
          </a:p>
        </p:txBody>
      </p:sp>
      <p:sp>
        <p:nvSpPr>
          <p:cNvPr id="15" name="TextBox 14"/>
          <p:cNvSpPr txBox="1"/>
          <p:nvPr/>
        </p:nvSpPr>
        <p:spPr>
          <a:xfrm>
            <a:off x="6446520" y="2807208"/>
            <a:ext cx="2121408" cy="1188720"/>
          </a:xfrm>
          <a:prstGeom prst="rect">
            <a:avLst/>
          </a:prstGeom>
          <a:noFill/>
        </p:spPr>
        <p:txBody>
          <a:bodyPr wrap="square" lIns="0" rIns="0" tIns="0" bIns="0">
            <a:spAutoFit/>
          </a:bodyPr>
          <a:lstStyle/>
          <a:p>
            <a:pPr algn="l">
              <a:lnSpc>
                <a:spcPct val="115000"/>
              </a:lnSpc>
            </a:pPr>
            <a:r>
              <a:rPr sz="1150" b="0" i="0">
                <a:solidFill>
                  <a:srgbClr val="5A7A80"/>
                </a:solidFill>
                <a:latin typeface="Calibri"/>
              </a:rPr>
              <a:t>Adapt to your robot, workspace and tasks; often parameter-efficient</a:t>
            </a:r>
          </a:p>
        </p:txBody>
      </p:sp>
      <p:sp>
        <p:nvSpPr>
          <p:cNvPr id="16" name="Right Arrow 15"/>
          <p:cNvSpPr/>
          <p:nvPr/>
        </p:nvSpPr>
        <p:spPr>
          <a:xfrm>
            <a:off x="8759952" y="3012948"/>
            <a:ext cx="237744" cy="237744"/>
          </a:xfrm>
          <a:prstGeom prst="right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006840" y="2148840"/>
            <a:ext cx="2487168" cy="1965960"/>
          </a:xfrm>
          <a:prstGeom prst="roundRect">
            <a:avLst>
              <a:gd name="adj" fmla="val 6000"/>
            </a:avLst>
          </a:prstGeom>
          <a:solidFill>
            <a:srgbClr val="0F3A3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9189719" y="2350008"/>
            <a:ext cx="2121408" cy="365760"/>
          </a:xfrm>
          <a:prstGeom prst="rect">
            <a:avLst/>
          </a:prstGeom>
          <a:noFill/>
        </p:spPr>
        <p:txBody>
          <a:bodyPr wrap="square" lIns="0" rIns="0" tIns="0" bIns="0">
            <a:spAutoFit/>
          </a:bodyPr>
          <a:lstStyle/>
          <a:p>
            <a:pPr algn="l"/>
            <a:r>
              <a:rPr sz="1400" b="1" i="0">
                <a:solidFill>
                  <a:srgbClr val="FFFFFF"/>
                </a:solidFill>
                <a:latin typeface="Calibri"/>
              </a:rPr>
              <a:t>4. Deploy (+RL)</a:t>
            </a:r>
          </a:p>
        </p:txBody>
      </p:sp>
      <p:sp>
        <p:nvSpPr>
          <p:cNvPr id="19" name="TextBox 18"/>
          <p:cNvSpPr txBox="1"/>
          <p:nvPr/>
        </p:nvSpPr>
        <p:spPr>
          <a:xfrm>
            <a:off x="9189719" y="2807208"/>
            <a:ext cx="2121408" cy="1188720"/>
          </a:xfrm>
          <a:prstGeom prst="rect">
            <a:avLst/>
          </a:prstGeom>
          <a:noFill/>
        </p:spPr>
        <p:txBody>
          <a:bodyPr wrap="square" lIns="0" rIns="0" tIns="0" bIns="0">
            <a:spAutoFit/>
          </a:bodyPr>
          <a:lstStyle/>
          <a:p>
            <a:pPr algn="l">
              <a:lnSpc>
                <a:spcPct val="115000"/>
              </a:lnSpc>
            </a:pPr>
            <a:r>
              <a:rPr sz="1150" b="0" i="0">
                <a:solidFill>
                  <a:srgbClr val="D6E7E4"/>
                </a:solidFill>
                <a:latin typeface="Calibri"/>
              </a:rPr>
              <a:t>Run closed loop; occasionally refine further with reinforcement learning</a:t>
            </a:r>
          </a:p>
        </p:txBody>
      </p:sp>
      <p:sp>
        <p:nvSpPr>
          <p:cNvPr id="20" name="Rounded Rectangle 19"/>
          <p:cNvSpPr/>
          <p:nvPr/>
        </p:nvSpPr>
        <p:spPr>
          <a:xfrm>
            <a:off x="777240" y="4434840"/>
            <a:ext cx="10607040" cy="17830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996695" y="4654296"/>
            <a:ext cx="10168128" cy="292608"/>
          </a:xfrm>
          <a:prstGeom prst="rect">
            <a:avLst/>
          </a:prstGeom>
          <a:noFill/>
        </p:spPr>
        <p:txBody>
          <a:bodyPr wrap="square" lIns="0" rIns="0" tIns="0" bIns="0">
            <a:spAutoFit/>
          </a:bodyPr>
          <a:lstStyle/>
          <a:p>
            <a:pPr algn="l"/>
            <a:r>
              <a:rPr sz="1350" b="1" i="0">
                <a:solidFill>
                  <a:srgbClr val="12343B"/>
                </a:solidFill>
                <a:latin typeface="Calibri"/>
              </a:rPr>
              <a:t>The honest version</a:t>
            </a:r>
          </a:p>
        </p:txBody>
      </p:sp>
      <p:sp>
        <p:nvSpPr>
          <p:cNvPr id="22" name="TextBox 21"/>
          <p:cNvSpPr txBox="1"/>
          <p:nvPr/>
        </p:nvSpPr>
        <p:spPr>
          <a:xfrm>
            <a:off x="996695" y="5038344"/>
            <a:ext cx="10168128" cy="96011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In practice these blur together: pi-0.5 calls its recipe co-training, mixing demonstration data, web data and semantic labels in one training run rather than strict sequential stages. The four-stage picture is a teaching device; treat it as a checklist of ingredients a serious VLA recipe needs, not a rigid order every model follows. We'll walk through each ingredient on the next few slides.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STAGE 1 · DEMONSTRATIONS</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Someone has to show the robot what to do, first</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pic>
        <p:nvPicPr>
          <p:cNvPr id="5" name="Picture 4" descr="fig_aloha_hardware_zhao2023.png"/>
          <p:cNvPicPr>
            <a:picLocks noChangeAspect="1"/>
          </p:cNvPicPr>
          <p:nvPr/>
        </p:nvPicPr>
        <p:blipFill>
          <a:blip r:embed="rId2"/>
          <a:stretch>
            <a:fillRect/>
          </a:stretch>
        </p:blipFill>
        <p:spPr>
          <a:xfrm>
            <a:off x="777240" y="2529938"/>
            <a:ext cx="6675120" cy="2072442"/>
          </a:xfrm>
          <a:prstGeom prst="rect">
            <a:avLst/>
          </a:prstGeom>
        </p:spPr>
      </p:pic>
      <p:sp>
        <p:nvSpPr>
          <p:cNvPr id="6" name="TextBox 5"/>
          <p:cNvSpPr txBox="1"/>
          <p:nvPr/>
        </p:nvSpPr>
        <p:spPr>
          <a:xfrm>
            <a:off x="777240" y="5413248"/>
            <a:ext cx="6675120" cy="365760"/>
          </a:xfrm>
          <a:prstGeom prst="rect">
            <a:avLst/>
          </a:prstGeom>
          <a:noFill/>
        </p:spPr>
        <p:txBody>
          <a:bodyPr wrap="square" lIns="0" rIns="0" tIns="0" bIns="0">
            <a:spAutoFit/>
          </a:bodyPr>
          <a:lstStyle/>
          <a:p>
            <a:pPr algn="l">
              <a:lnSpc>
                <a:spcPct val="105000"/>
              </a:lnSpc>
            </a:pPr>
            <a:r>
              <a:rPr sz="950" b="0" i="0">
                <a:solidFill>
                  <a:srgbClr val="8FA9AE"/>
                </a:solidFill>
                <a:latin typeface="Calibri"/>
              </a:rPr>
              <a:t>Zhao, Kumar, Levine &amp; Finn (2023), Learning Fine-Grained Bimanual Manipulation with Low-Cost Hardware, arXiv:2304.13705, Figure 1.</a:t>
            </a:r>
          </a:p>
        </p:txBody>
      </p:sp>
      <p:sp>
        <p:nvSpPr>
          <p:cNvPr id="7" name="Rounded Rectangle 6"/>
          <p:cNvSpPr/>
          <p:nvPr/>
        </p:nvSpPr>
        <p:spPr>
          <a:xfrm>
            <a:off x="7635240" y="1783080"/>
            <a:ext cx="3749039" cy="17830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7854696" y="2002536"/>
            <a:ext cx="3310127" cy="292608"/>
          </a:xfrm>
          <a:prstGeom prst="rect">
            <a:avLst/>
          </a:prstGeom>
          <a:noFill/>
        </p:spPr>
        <p:txBody>
          <a:bodyPr wrap="square" lIns="0" rIns="0" tIns="0" bIns="0">
            <a:spAutoFit/>
          </a:bodyPr>
          <a:lstStyle/>
          <a:p>
            <a:pPr algn="l"/>
            <a:r>
              <a:rPr sz="1350" b="1" i="0">
                <a:solidFill>
                  <a:srgbClr val="12343B"/>
                </a:solidFill>
                <a:latin typeface="Calibri"/>
              </a:rPr>
              <a:t>Teleoperation</a:t>
            </a:r>
          </a:p>
        </p:txBody>
      </p:sp>
      <p:sp>
        <p:nvSpPr>
          <p:cNvPr id="9" name="TextBox 8"/>
          <p:cNvSpPr txBox="1"/>
          <p:nvPr/>
        </p:nvSpPr>
        <p:spPr>
          <a:xfrm>
            <a:off x="7854696" y="2386584"/>
            <a:ext cx="3310127" cy="96012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A human backdrives a leader arm; a follower arm mirrors the motion while cameras and joint encoders log (observation, action) pairs. ALOHA does this for under $20,000 in hardware.</a:t>
            </a:r>
          </a:p>
        </p:txBody>
      </p:sp>
      <p:sp>
        <p:nvSpPr>
          <p:cNvPr id="10" name="Rounded Rectangle 9"/>
          <p:cNvSpPr/>
          <p:nvPr/>
        </p:nvSpPr>
        <p:spPr>
          <a:xfrm>
            <a:off x="7635240" y="3703320"/>
            <a:ext cx="3749039" cy="22860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7854696" y="3922776"/>
            <a:ext cx="3310127" cy="292608"/>
          </a:xfrm>
          <a:prstGeom prst="rect">
            <a:avLst/>
          </a:prstGeom>
          <a:noFill/>
        </p:spPr>
        <p:txBody>
          <a:bodyPr wrap="square" lIns="0" rIns="0" tIns="0" bIns="0">
            <a:spAutoFit/>
          </a:bodyPr>
          <a:lstStyle/>
          <a:p>
            <a:pPr algn="l"/>
            <a:r>
              <a:rPr sz="1350" b="1" i="0">
                <a:solidFill>
                  <a:srgbClr val="12343B"/>
                </a:solidFill>
                <a:latin typeface="Calibri"/>
              </a:rPr>
              <a:t>Expensive, but the ground truth</a:t>
            </a:r>
          </a:p>
        </p:txBody>
      </p:sp>
      <p:sp>
        <p:nvSpPr>
          <p:cNvPr id="12" name="TextBox 11"/>
          <p:cNvSpPr txBox="1"/>
          <p:nvPr/>
        </p:nvSpPr>
        <p:spPr>
          <a:xfrm>
            <a:off x="7854696" y="4306824"/>
            <a:ext cx="3310127" cy="146303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Every demonstration needs a person, in the loop, in real time. It doesn't scale like internet text does, which is precisely why pretraining tries to borrow as much as possible from data that isn't a teleoperated demonstration: web images, human videos, other robots' logs.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STAGE 1 CONTINUED · LEARNING FROM DEMOS</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Small errors, uncorrected, become big ones</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ounded Rectangle 4"/>
          <p:cNvSpPr/>
          <p:nvPr/>
        </p:nvSpPr>
        <p:spPr>
          <a:xfrm>
            <a:off x="777240" y="1783080"/>
            <a:ext cx="10607040" cy="11887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996695" y="2002536"/>
            <a:ext cx="10168128" cy="292608"/>
          </a:xfrm>
          <a:prstGeom prst="rect">
            <a:avLst/>
          </a:prstGeom>
          <a:noFill/>
        </p:spPr>
        <p:txBody>
          <a:bodyPr wrap="square" lIns="0" rIns="0" tIns="0" bIns="0">
            <a:spAutoFit/>
          </a:bodyPr>
          <a:lstStyle/>
          <a:p>
            <a:pPr algn="l"/>
            <a:r>
              <a:rPr sz="1350" b="1" i="0">
                <a:solidFill>
                  <a:srgbClr val="12343B"/>
                </a:solidFill>
                <a:latin typeface="Calibri"/>
              </a:rPr>
              <a:t>The compounding error problem</a:t>
            </a:r>
          </a:p>
        </p:txBody>
      </p:sp>
      <p:sp>
        <p:nvSpPr>
          <p:cNvPr id="7" name="TextBox 6"/>
          <p:cNvSpPr txBox="1"/>
          <p:nvPr/>
        </p:nvSpPr>
        <p:spPr>
          <a:xfrm>
            <a:off x="996695" y="2386584"/>
            <a:ext cx="10168128" cy="36576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Behavioral cloning only ever sees states a competent demonstrator visited. The moment the learned policy drifts even slightly off that distribution, it enters territory it never trained on, makes a worse decision, drifts further, and the error snowballs.</a:t>
            </a:r>
          </a:p>
        </p:txBody>
      </p:sp>
      <p:sp>
        <p:nvSpPr>
          <p:cNvPr id="8" name="Rounded Rectangle 7"/>
          <p:cNvSpPr/>
          <p:nvPr/>
        </p:nvSpPr>
        <p:spPr>
          <a:xfrm>
            <a:off x="914400" y="3246120"/>
            <a:ext cx="1417320" cy="7772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14400" y="3246120"/>
            <a:ext cx="1417320" cy="777240"/>
          </a:xfrm>
          <a:prstGeom prst="rect">
            <a:avLst/>
          </a:prstGeom>
          <a:noFill/>
        </p:spPr>
        <p:txBody>
          <a:bodyPr wrap="square" lIns="0" rIns="0" tIns="0" bIns="0" anchor="ctr">
            <a:spAutoFit/>
          </a:bodyPr>
          <a:lstStyle/>
          <a:p>
            <a:pPr algn="ctr"/>
            <a:r>
              <a:rPr sz="1100" b="1" i="0">
                <a:solidFill>
                  <a:srgbClr val="028090"/>
                </a:solidFill>
                <a:latin typeface="Calibri"/>
              </a:rPr>
              <a:t>start</a:t>
            </a:r>
          </a:p>
        </p:txBody>
      </p:sp>
      <p:sp>
        <p:nvSpPr>
          <p:cNvPr id="10" name="Right Arrow 9"/>
          <p:cNvSpPr/>
          <p:nvPr/>
        </p:nvSpPr>
        <p:spPr>
          <a:xfrm>
            <a:off x="2350008" y="3520439"/>
            <a:ext cx="502920" cy="219456"/>
          </a:xfrm>
          <a:prstGeom prst="rightArrow">
            <a:avLst/>
          </a:prstGeom>
          <a:solidFill>
            <a:srgbClr val="5A7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743200" y="3246120"/>
            <a:ext cx="1417320" cy="7772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2743200" y="3246120"/>
            <a:ext cx="1417320" cy="777240"/>
          </a:xfrm>
          <a:prstGeom prst="rect">
            <a:avLst/>
          </a:prstGeom>
          <a:noFill/>
        </p:spPr>
        <p:txBody>
          <a:bodyPr wrap="square" lIns="0" rIns="0" tIns="0" bIns="0" anchor="ctr">
            <a:spAutoFit/>
          </a:bodyPr>
          <a:lstStyle/>
          <a:p>
            <a:pPr algn="ctr"/>
            <a:r>
              <a:rPr sz="1100" b="1" i="0">
                <a:solidFill>
                  <a:srgbClr val="028090"/>
                </a:solidFill>
                <a:latin typeface="Calibri"/>
              </a:rPr>
              <a:t>tiny</a:t>
            </a:r>
          </a:p>
          <a:p>
            <a:pPr algn="ctr"/>
            <a:r>
              <a:rPr sz="1100" b="1" i="0">
                <a:solidFill>
                  <a:srgbClr val="028090"/>
                </a:solidFill>
                <a:latin typeface="Calibri"/>
              </a:rPr>
              <a:t>error</a:t>
            </a:r>
          </a:p>
        </p:txBody>
      </p:sp>
      <p:sp>
        <p:nvSpPr>
          <p:cNvPr id="13" name="Right Arrow 12"/>
          <p:cNvSpPr/>
          <p:nvPr/>
        </p:nvSpPr>
        <p:spPr>
          <a:xfrm>
            <a:off x="4178808" y="3520439"/>
            <a:ext cx="502920" cy="219456"/>
          </a:xfrm>
          <a:prstGeom prst="rightArrow">
            <a:avLst/>
          </a:prstGeom>
          <a:solidFill>
            <a:srgbClr val="5A7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663440" y="3246120"/>
            <a:ext cx="1417320" cy="777240"/>
          </a:xfrm>
          <a:prstGeom prst="roundRect">
            <a:avLst>
              <a:gd name="adj" fmla="val 6000"/>
            </a:avLst>
          </a:prstGeom>
          <a:solidFill>
            <a:srgbClr val="FBEC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4663440" y="3246120"/>
            <a:ext cx="1417320" cy="777240"/>
          </a:xfrm>
          <a:prstGeom prst="rect">
            <a:avLst/>
          </a:prstGeom>
          <a:noFill/>
        </p:spPr>
        <p:txBody>
          <a:bodyPr wrap="square" lIns="0" rIns="0" tIns="0" bIns="0" anchor="ctr">
            <a:spAutoFit/>
          </a:bodyPr>
          <a:lstStyle/>
          <a:p>
            <a:pPr algn="ctr"/>
            <a:r>
              <a:rPr sz="1100" b="1" i="0">
                <a:solidFill>
                  <a:srgbClr val="C15B4E"/>
                </a:solidFill>
                <a:latin typeface="Calibri"/>
              </a:rPr>
              <a:t>off-</a:t>
            </a:r>
          </a:p>
          <a:p>
            <a:pPr algn="ctr"/>
            <a:r>
              <a:rPr sz="1100" b="1" i="0">
                <a:solidFill>
                  <a:srgbClr val="C15B4E"/>
                </a:solidFill>
                <a:latin typeface="Calibri"/>
              </a:rPr>
              <a:t>distribution</a:t>
            </a:r>
          </a:p>
        </p:txBody>
      </p:sp>
      <p:sp>
        <p:nvSpPr>
          <p:cNvPr id="16" name="Right Arrow 15"/>
          <p:cNvSpPr/>
          <p:nvPr/>
        </p:nvSpPr>
        <p:spPr>
          <a:xfrm>
            <a:off x="6099048" y="3520439"/>
            <a:ext cx="502920" cy="219456"/>
          </a:xfrm>
          <a:prstGeom prst="rightArrow">
            <a:avLst/>
          </a:prstGeom>
          <a:solidFill>
            <a:srgbClr val="5A7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675120" y="3246120"/>
            <a:ext cx="1417320" cy="777240"/>
          </a:xfrm>
          <a:prstGeom prst="roundRect">
            <a:avLst>
              <a:gd name="adj" fmla="val 6000"/>
            </a:avLst>
          </a:prstGeom>
          <a:solidFill>
            <a:srgbClr val="FBEC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6675120" y="3246120"/>
            <a:ext cx="1417320" cy="777240"/>
          </a:xfrm>
          <a:prstGeom prst="rect">
            <a:avLst/>
          </a:prstGeom>
          <a:noFill/>
        </p:spPr>
        <p:txBody>
          <a:bodyPr wrap="square" lIns="0" rIns="0" tIns="0" bIns="0" anchor="ctr">
            <a:spAutoFit/>
          </a:bodyPr>
          <a:lstStyle/>
          <a:p>
            <a:pPr algn="ctr"/>
            <a:r>
              <a:rPr sz="1100" b="1" i="0">
                <a:solidFill>
                  <a:srgbClr val="C15B4E"/>
                </a:solidFill>
                <a:latin typeface="Calibri"/>
              </a:rPr>
              <a:t>worse</a:t>
            </a:r>
          </a:p>
          <a:p>
            <a:pPr algn="ctr"/>
            <a:r>
              <a:rPr sz="1100" b="1" i="0">
                <a:solidFill>
                  <a:srgbClr val="C15B4E"/>
                </a:solidFill>
                <a:latin typeface="Calibri"/>
              </a:rPr>
              <a:t>decision</a:t>
            </a:r>
          </a:p>
        </p:txBody>
      </p:sp>
      <p:sp>
        <p:nvSpPr>
          <p:cNvPr id="19" name="Right Arrow 18"/>
          <p:cNvSpPr/>
          <p:nvPr/>
        </p:nvSpPr>
        <p:spPr>
          <a:xfrm>
            <a:off x="8110727" y="3520439"/>
            <a:ext cx="502920" cy="219456"/>
          </a:xfrm>
          <a:prstGeom prst="rightArrow">
            <a:avLst/>
          </a:prstGeom>
          <a:solidFill>
            <a:srgbClr val="5A7A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778240" y="3246120"/>
            <a:ext cx="1417320" cy="777240"/>
          </a:xfrm>
          <a:prstGeom prst="roundRect">
            <a:avLst>
              <a:gd name="adj" fmla="val 6000"/>
            </a:avLst>
          </a:prstGeom>
          <a:solidFill>
            <a:srgbClr val="FBECE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8778240" y="3246120"/>
            <a:ext cx="1417320" cy="777240"/>
          </a:xfrm>
          <a:prstGeom prst="rect">
            <a:avLst/>
          </a:prstGeom>
          <a:noFill/>
        </p:spPr>
        <p:txBody>
          <a:bodyPr wrap="square" lIns="0" rIns="0" tIns="0" bIns="0" anchor="ctr">
            <a:spAutoFit/>
          </a:bodyPr>
          <a:lstStyle/>
          <a:p>
            <a:pPr algn="ctr"/>
            <a:r>
              <a:rPr sz="1100" b="1" i="0">
                <a:solidFill>
                  <a:srgbClr val="C15B4E"/>
                </a:solidFill>
                <a:latin typeface="Calibri"/>
              </a:rPr>
              <a:t>task</a:t>
            </a:r>
          </a:p>
          <a:p>
            <a:pPr algn="ctr"/>
            <a:r>
              <a:rPr sz="1100" b="1" i="0">
                <a:solidFill>
                  <a:srgbClr val="C15B4E"/>
                </a:solidFill>
                <a:latin typeface="Calibri"/>
              </a:rPr>
              <a:t>fails</a:t>
            </a:r>
          </a:p>
        </p:txBody>
      </p:sp>
      <p:sp>
        <p:nvSpPr>
          <p:cNvPr id="22" name="Rounded Rectangle 21"/>
          <p:cNvSpPr/>
          <p:nvPr/>
        </p:nvSpPr>
        <p:spPr>
          <a:xfrm>
            <a:off x="777240" y="4434840"/>
            <a:ext cx="10607040" cy="17830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xtBox 22"/>
          <p:cNvSpPr txBox="1"/>
          <p:nvPr/>
        </p:nvSpPr>
        <p:spPr>
          <a:xfrm>
            <a:off x="996695" y="4654296"/>
            <a:ext cx="10168128" cy="292608"/>
          </a:xfrm>
          <a:prstGeom prst="rect">
            <a:avLst/>
          </a:prstGeom>
          <a:noFill/>
        </p:spPr>
        <p:txBody>
          <a:bodyPr wrap="square" lIns="0" rIns="0" tIns="0" bIns="0">
            <a:spAutoFit/>
          </a:bodyPr>
          <a:lstStyle/>
          <a:p>
            <a:pPr algn="l"/>
            <a:r>
              <a:rPr sz="1350" b="1" i="0">
                <a:solidFill>
                  <a:srgbClr val="12343B"/>
                </a:solidFill>
                <a:latin typeface="Calibri"/>
              </a:rPr>
              <a:t>How today's VLAs push back on this</a:t>
            </a:r>
          </a:p>
        </p:txBody>
      </p:sp>
      <p:sp>
        <p:nvSpPr>
          <p:cNvPr id="24" name="TextBox 23"/>
          <p:cNvSpPr txBox="1"/>
          <p:nvPr/>
        </p:nvSpPr>
        <p:spPr>
          <a:xfrm>
            <a:off x="996695" y="5038344"/>
            <a:ext cx="10168128" cy="96011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Action chunking shortens the horizon between re-plans. Temporal ensembling smooths across overlapping chunks. Training on more diverse trajectories, including some recoveries and near-misses, teaches the policy what to do when it isn't perfectly on track. None of these fully solve the problem, which is why it resurfaces later as an open research direction.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STAGE 2 · PRETRAINING</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Breadth first, specialise later</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pic>
        <p:nvPicPr>
          <p:cNvPr id="5" name="Picture 4" descr="fig_rt1_scale_examples_brohan2022.png"/>
          <p:cNvPicPr>
            <a:picLocks noChangeAspect="1"/>
          </p:cNvPicPr>
          <p:nvPr/>
        </p:nvPicPr>
        <p:blipFill>
          <a:blip r:embed="rId2"/>
          <a:stretch>
            <a:fillRect/>
          </a:stretch>
        </p:blipFill>
        <p:spPr>
          <a:xfrm>
            <a:off x="777240" y="2031656"/>
            <a:ext cx="10607040" cy="1194486"/>
          </a:xfrm>
          <a:prstGeom prst="rect">
            <a:avLst/>
          </a:prstGeom>
        </p:spPr>
      </p:pic>
      <p:sp>
        <p:nvSpPr>
          <p:cNvPr id="6" name="TextBox 5"/>
          <p:cNvSpPr txBox="1"/>
          <p:nvPr/>
        </p:nvSpPr>
        <p:spPr>
          <a:xfrm>
            <a:off x="777240" y="3529584"/>
            <a:ext cx="10607040" cy="329184"/>
          </a:xfrm>
          <a:prstGeom prst="rect">
            <a:avLst/>
          </a:prstGeom>
          <a:noFill/>
        </p:spPr>
        <p:txBody>
          <a:bodyPr wrap="square" lIns="0" rIns="0" tIns="0" bIns="0">
            <a:spAutoFit/>
          </a:bodyPr>
          <a:lstStyle/>
          <a:p>
            <a:pPr algn="l">
              <a:lnSpc>
                <a:spcPct val="105000"/>
              </a:lnSpc>
            </a:pPr>
            <a:r>
              <a:rPr sz="950" b="0" i="0">
                <a:solidFill>
                  <a:srgbClr val="8FA9AE"/>
                </a:solidFill>
                <a:latin typeface="Calibri"/>
              </a:rPr>
              <a:t>Brohan et al. (2022), RT-1: Robotics Transformer for Real-World Control at Scale, arXiv:2212.06817, Figure 1(b).</a:t>
            </a:r>
          </a:p>
        </p:txBody>
      </p:sp>
      <p:sp>
        <p:nvSpPr>
          <p:cNvPr id="7" name="Rounded Rectangle 6"/>
          <p:cNvSpPr/>
          <p:nvPr/>
        </p:nvSpPr>
        <p:spPr>
          <a:xfrm>
            <a:off x="777240" y="4041648"/>
            <a:ext cx="5166360" cy="21031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96695" y="4261104"/>
            <a:ext cx="4727448" cy="292608"/>
          </a:xfrm>
          <a:prstGeom prst="rect">
            <a:avLst/>
          </a:prstGeom>
          <a:noFill/>
        </p:spPr>
        <p:txBody>
          <a:bodyPr wrap="square" lIns="0" rIns="0" tIns="0" bIns="0">
            <a:spAutoFit/>
          </a:bodyPr>
          <a:lstStyle/>
          <a:p>
            <a:pPr algn="l"/>
            <a:r>
              <a:rPr sz="1350" b="1" i="0">
                <a:solidFill>
                  <a:srgbClr val="12343B"/>
                </a:solidFill>
                <a:latin typeface="Calibri"/>
              </a:rPr>
              <a:t>Co-fine-tuning on web + robot data</a:t>
            </a:r>
          </a:p>
        </p:txBody>
      </p:sp>
      <p:sp>
        <p:nvSpPr>
          <p:cNvPr id="9" name="TextBox 8"/>
          <p:cNvSpPr txBox="1"/>
          <p:nvPr/>
        </p:nvSpPr>
        <p:spPr>
          <a:xfrm>
            <a:off x="996695" y="4645152"/>
            <a:ext cx="4727448" cy="128015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RT-2 trains on internet vision-question-answering data and robot trajectories in the same run, so the model never has to “forget” its web knowledge to learn actions; the two objectives are optimised together.</a:t>
            </a:r>
          </a:p>
        </p:txBody>
      </p:sp>
      <p:sp>
        <p:nvSpPr>
          <p:cNvPr id="10" name="Rounded Rectangle 9"/>
          <p:cNvSpPr/>
          <p:nvPr/>
        </p:nvSpPr>
        <p:spPr>
          <a:xfrm>
            <a:off x="6126480" y="4041648"/>
            <a:ext cx="5257800" cy="21031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345936" y="4261104"/>
            <a:ext cx="4818888" cy="292608"/>
          </a:xfrm>
          <a:prstGeom prst="rect">
            <a:avLst/>
          </a:prstGeom>
          <a:noFill/>
        </p:spPr>
        <p:txBody>
          <a:bodyPr wrap="square" lIns="0" rIns="0" tIns="0" bIns="0">
            <a:spAutoFit/>
          </a:bodyPr>
          <a:lstStyle/>
          <a:p>
            <a:pPr algn="l"/>
            <a:r>
              <a:rPr sz="1350" b="1" i="0">
                <a:solidFill>
                  <a:srgbClr val="12343B"/>
                </a:solidFill>
                <a:latin typeface="Calibri"/>
              </a:rPr>
              <a:t>Cross-embodiment pretraining</a:t>
            </a:r>
          </a:p>
        </p:txBody>
      </p:sp>
      <p:sp>
        <p:nvSpPr>
          <p:cNvPr id="12" name="TextBox 11"/>
          <p:cNvSpPr txBox="1"/>
          <p:nvPr/>
        </p:nvSpPr>
        <p:spPr>
          <a:xfrm>
            <a:off x="6345936" y="4645152"/>
            <a:ext cx="4818888" cy="128015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Rather than pretrain on one robot, pool trajectories from many robots and labs (Open X-Embodiment, pi-0's cross-embodiment dataset). A policy that has already seen many bodies adapts to a new one with far less task-specific data.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STAGE 3 · ADAPTING TO YOUR ROBOT</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You rarely need to move all the weights</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ounded Rectangle 4"/>
          <p:cNvSpPr/>
          <p:nvPr/>
        </p:nvSpPr>
        <p:spPr>
          <a:xfrm>
            <a:off x="777240" y="1783080"/>
            <a:ext cx="3401568" cy="24231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996695" y="2002536"/>
            <a:ext cx="2962656" cy="292608"/>
          </a:xfrm>
          <a:prstGeom prst="rect">
            <a:avLst/>
          </a:prstGeom>
          <a:noFill/>
        </p:spPr>
        <p:txBody>
          <a:bodyPr wrap="square" lIns="0" rIns="0" tIns="0" bIns="0">
            <a:spAutoFit/>
          </a:bodyPr>
          <a:lstStyle/>
          <a:p>
            <a:pPr algn="l"/>
            <a:r>
              <a:rPr sz="1350" b="1" i="0">
                <a:solidFill>
                  <a:srgbClr val="12343B"/>
                </a:solidFill>
                <a:latin typeface="Calibri"/>
              </a:rPr>
              <a:t>Full fine-tuning</a:t>
            </a:r>
          </a:p>
        </p:txBody>
      </p:sp>
      <p:sp>
        <p:nvSpPr>
          <p:cNvPr id="7" name="TextBox 6"/>
          <p:cNvSpPr txBox="1"/>
          <p:nvPr/>
        </p:nvSpPr>
        <p:spPr>
          <a:xfrm>
            <a:off x="996695" y="2386584"/>
            <a:ext cx="2962656" cy="160020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Update every parameter on your task's data. Strongest ceiling, most compute and most demonstrations needed.</a:t>
            </a:r>
          </a:p>
        </p:txBody>
      </p:sp>
      <p:sp>
        <p:nvSpPr>
          <p:cNvPr id="8" name="Rounded Rectangle 7"/>
          <p:cNvSpPr/>
          <p:nvPr/>
        </p:nvSpPr>
        <p:spPr>
          <a:xfrm>
            <a:off x="4361688" y="1783080"/>
            <a:ext cx="3401568" cy="24231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4581144" y="2002536"/>
            <a:ext cx="2962656" cy="292608"/>
          </a:xfrm>
          <a:prstGeom prst="rect">
            <a:avLst/>
          </a:prstGeom>
          <a:noFill/>
        </p:spPr>
        <p:txBody>
          <a:bodyPr wrap="square" lIns="0" rIns="0" tIns="0" bIns="0">
            <a:spAutoFit/>
          </a:bodyPr>
          <a:lstStyle/>
          <a:p>
            <a:pPr algn="l"/>
            <a:r>
              <a:rPr sz="1350" b="1" i="0">
                <a:solidFill>
                  <a:srgbClr val="12343B"/>
                </a:solidFill>
                <a:latin typeface="Calibri"/>
              </a:rPr>
              <a:t>Parameter-efficient (LoRA)</a:t>
            </a:r>
          </a:p>
        </p:txBody>
      </p:sp>
      <p:sp>
        <p:nvSpPr>
          <p:cNvPr id="10" name="TextBox 9"/>
          <p:cNvSpPr txBox="1"/>
          <p:nvPr/>
        </p:nvSpPr>
        <p:spPr>
          <a:xfrm>
            <a:off x="4581144" y="2386584"/>
            <a:ext cx="2962656" cy="160020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Freeze the backbone, train small low-rank adapters. OpenVLA matches full fine-tuning while touching only 1.4% of parameters.</a:t>
            </a:r>
          </a:p>
        </p:txBody>
      </p:sp>
      <p:sp>
        <p:nvSpPr>
          <p:cNvPr id="11" name="Rounded Rectangle 10"/>
          <p:cNvSpPr/>
          <p:nvPr/>
        </p:nvSpPr>
        <p:spPr>
          <a:xfrm>
            <a:off x="7946136" y="1783080"/>
            <a:ext cx="3401568" cy="24231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8165592" y="2002536"/>
            <a:ext cx="2962656" cy="292608"/>
          </a:xfrm>
          <a:prstGeom prst="rect">
            <a:avLst/>
          </a:prstGeom>
          <a:noFill/>
        </p:spPr>
        <p:txBody>
          <a:bodyPr wrap="square" lIns="0" rIns="0" tIns="0" bIns="0">
            <a:spAutoFit/>
          </a:bodyPr>
          <a:lstStyle/>
          <a:p>
            <a:pPr algn="l"/>
            <a:r>
              <a:rPr sz="1350" b="1" i="0">
                <a:solidFill>
                  <a:srgbClr val="12343B"/>
                </a:solidFill>
                <a:latin typeface="Calibri"/>
              </a:rPr>
              <a:t>Efficient post-training</a:t>
            </a:r>
          </a:p>
        </p:txBody>
      </p:sp>
      <p:sp>
        <p:nvSpPr>
          <p:cNvPr id="13" name="TextBox 12"/>
          <p:cNvSpPr txBox="1"/>
          <p:nvPr/>
        </p:nvSpPr>
        <p:spPr>
          <a:xfrm>
            <a:off x="8165592" y="2386584"/>
            <a:ext cx="2962656" cy="160020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pi-0.5-style: a short, targeted round of high-quality data for one new skill, on top of an already broad base policy.</a:t>
            </a:r>
          </a:p>
        </p:txBody>
      </p:sp>
      <p:sp>
        <p:nvSpPr>
          <p:cNvPr id="14" name="Rounded Rectangle 13"/>
          <p:cNvSpPr/>
          <p:nvPr/>
        </p:nvSpPr>
        <p:spPr>
          <a:xfrm>
            <a:off x="777240" y="4434840"/>
            <a:ext cx="10607040" cy="17830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996695" y="4654296"/>
            <a:ext cx="10168128" cy="292608"/>
          </a:xfrm>
          <a:prstGeom prst="rect">
            <a:avLst/>
          </a:prstGeom>
          <a:noFill/>
        </p:spPr>
        <p:txBody>
          <a:bodyPr wrap="square" lIns="0" rIns="0" tIns="0" bIns="0">
            <a:spAutoFit/>
          </a:bodyPr>
          <a:lstStyle/>
          <a:p>
            <a:pPr algn="l"/>
            <a:r>
              <a:rPr sz="1350" b="1" i="0">
                <a:solidFill>
                  <a:srgbClr val="12343B"/>
                </a:solidFill>
                <a:latin typeface="Calibri"/>
              </a:rPr>
              <a:t>Efficiency at serving time, too</a:t>
            </a:r>
          </a:p>
        </p:txBody>
      </p:sp>
      <p:sp>
        <p:nvSpPr>
          <p:cNvPr id="16" name="TextBox 15"/>
          <p:cNvSpPr txBox="1"/>
          <p:nvPr/>
        </p:nvSpPr>
        <p:spPr>
          <a:xfrm>
            <a:off x="996695" y="5038344"/>
            <a:ext cx="10168128" cy="96011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OpenVLA's team also showed a 7B-parameter VLA can be served quantized on a single consumer GPU without losing success rate, which is what separates “a model that works in a paper” from “a model you can actually run next to the robot”. Fine-tuning strategy and deployment footprint end up being the same conversation in practice.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STAGE 4 (SOMETIMES) · REINFORCEMENT LEARNING</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Today's VLAs mostly imitate; RL is the frontier</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ounded Rectangle 4"/>
          <p:cNvSpPr/>
          <p:nvPr/>
        </p:nvSpPr>
        <p:spPr>
          <a:xfrm>
            <a:off x="777240" y="1783080"/>
            <a:ext cx="10607040" cy="14173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996695" y="2002536"/>
            <a:ext cx="10168128" cy="292608"/>
          </a:xfrm>
          <a:prstGeom prst="rect">
            <a:avLst/>
          </a:prstGeom>
          <a:noFill/>
        </p:spPr>
        <p:txBody>
          <a:bodyPr wrap="square" lIns="0" rIns="0" tIns="0" bIns="0">
            <a:spAutoFit/>
          </a:bodyPr>
          <a:lstStyle/>
          <a:p>
            <a:pPr algn="l"/>
            <a:r>
              <a:rPr sz="1350" b="1" i="0">
                <a:solidFill>
                  <a:srgbClr val="12343B"/>
                </a:solidFill>
                <a:latin typeface="Calibri"/>
              </a:rPr>
              <a:t>Why imitation learning still dominates</a:t>
            </a:r>
          </a:p>
        </p:txBody>
      </p:sp>
      <p:sp>
        <p:nvSpPr>
          <p:cNvPr id="7" name="TextBox 6"/>
          <p:cNvSpPr txBox="1"/>
          <p:nvPr/>
        </p:nvSpPr>
        <p:spPr>
          <a:xfrm>
            <a:off x="996695" y="2386584"/>
            <a:ext cx="10168128" cy="59436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Reinforcement learning needs a reward signal and many trial-and-error attempts. On a physical robot that's slow, it wears out hardware, and a bad exploratory action can be unsafe. Behavioral cloning sidesteps all three problems by learning directly from successful human demonstrations.</a:t>
            </a:r>
          </a:p>
        </p:txBody>
      </p:sp>
      <p:sp>
        <p:nvSpPr>
          <p:cNvPr id="8" name="Rounded Rectangle 7"/>
          <p:cNvSpPr/>
          <p:nvPr/>
        </p:nvSpPr>
        <p:spPr>
          <a:xfrm>
            <a:off x="777240" y="3383280"/>
            <a:ext cx="3401568" cy="26517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96695" y="3602736"/>
            <a:ext cx="2962656" cy="292608"/>
          </a:xfrm>
          <a:prstGeom prst="rect">
            <a:avLst/>
          </a:prstGeom>
          <a:noFill/>
        </p:spPr>
        <p:txBody>
          <a:bodyPr wrap="square" lIns="0" rIns="0" tIns="0" bIns="0">
            <a:spAutoFit/>
          </a:bodyPr>
          <a:lstStyle/>
          <a:p>
            <a:pPr algn="l"/>
            <a:r>
              <a:rPr sz="1350" b="1" i="0">
                <a:solidFill>
                  <a:srgbClr val="12343B"/>
                </a:solidFill>
                <a:latin typeface="Calibri"/>
              </a:rPr>
              <a:t>Where RL shows up today</a:t>
            </a:r>
          </a:p>
        </p:txBody>
      </p:sp>
      <p:sp>
        <p:nvSpPr>
          <p:cNvPr id="10" name="TextBox 9"/>
          <p:cNvSpPr txBox="1"/>
          <p:nvPr/>
        </p:nvSpPr>
        <p:spPr>
          <a:xfrm>
            <a:off x="996695" y="3986784"/>
            <a:ext cx="2962656" cy="182879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Refining a policy past the demonstrator's own skill ceiling; simulation-based RL, then transferred to the real robot.</a:t>
            </a:r>
          </a:p>
        </p:txBody>
      </p:sp>
      <p:sp>
        <p:nvSpPr>
          <p:cNvPr id="11" name="Rounded Rectangle 10"/>
          <p:cNvSpPr/>
          <p:nvPr/>
        </p:nvSpPr>
        <p:spPr>
          <a:xfrm>
            <a:off x="4361688" y="3383280"/>
            <a:ext cx="3401568" cy="26517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4581144" y="3602736"/>
            <a:ext cx="2962656" cy="292608"/>
          </a:xfrm>
          <a:prstGeom prst="rect">
            <a:avLst/>
          </a:prstGeom>
          <a:noFill/>
        </p:spPr>
        <p:txBody>
          <a:bodyPr wrap="square" lIns="0" rIns="0" tIns="0" bIns="0">
            <a:spAutoFit/>
          </a:bodyPr>
          <a:lstStyle/>
          <a:p>
            <a:pPr algn="l"/>
            <a:r>
              <a:rPr sz="1350" b="1" i="0">
                <a:solidFill>
                  <a:srgbClr val="12343B"/>
                </a:solidFill>
                <a:latin typeface="Calibri"/>
              </a:rPr>
              <a:t>A frontier, not a fixture</a:t>
            </a:r>
          </a:p>
        </p:txBody>
      </p:sp>
      <p:sp>
        <p:nvSpPr>
          <p:cNvPr id="13" name="TextBox 12"/>
          <p:cNvSpPr txBox="1"/>
          <p:nvPr/>
        </p:nvSpPr>
        <p:spPr>
          <a:xfrm>
            <a:off x="4581144" y="3986784"/>
            <a:ext cx="2962656" cy="182879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The IEEE Access survey names “moving beyond pure behavioral cloning” toward RL integration as an open future direction, not settled practice.</a:t>
            </a:r>
          </a:p>
        </p:txBody>
      </p:sp>
      <p:sp>
        <p:nvSpPr>
          <p:cNvPr id="14" name="Rounded Rectangle 13"/>
          <p:cNvSpPr/>
          <p:nvPr/>
        </p:nvSpPr>
        <p:spPr>
          <a:xfrm>
            <a:off x="7946136" y="3383280"/>
            <a:ext cx="3401568" cy="26517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8165592" y="3602736"/>
            <a:ext cx="2962656" cy="292608"/>
          </a:xfrm>
          <a:prstGeom prst="rect">
            <a:avLst/>
          </a:prstGeom>
          <a:noFill/>
        </p:spPr>
        <p:txBody>
          <a:bodyPr wrap="square" lIns="0" rIns="0" tIns="0" bIns="0">
            <a:spAutoFit/>
          </a:bodyPr>
          <a:lstStyle/>
          <a:p>
            <a:pPr algn="l"/>
            <a:r>
              <a:rPr sz="1350" b="1" i="0">
                <a:solidFill>
                  <a:srgbClr val="12343B"/>
                </a:solidFill>
                <a:latin typeface="Calibri"/>
              </a:rPr>
              <a:t>The practical middle ground</a:t>
            </a:r>
          </a:p>
        </p:txBody>
      </p:sp>
      <p:sp>
        <p:nvSpPr>
          <p:cNvPr id="16" name="TextBox 15"/>
          <p:cNvSpPr txBox="1"/>
          <p:nvPr/>
        </p:nvSpPr>
        <p:spPr>
          <a:xfrm>
            <a:off x="8165592" y="3986784"/>
            <a:ext cx="2962656" cy="182879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Preference-based fine-tuning and automated success/failure labelling let some RL-flavoured signal in without full trial-and-error on hardware.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SCALE</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Robot data is nowhere near web-scale, and that's the point</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pic>
        <p:nvPicPr>
          <p:cNvPr id="5" name="Picture 4" descr="fig_openx_collage_oneill2023.png"/>
          <p:cNvPicPr>
            <a:picLocks noChangeAspect="1"/>
          </p:cNvPicPr>
          <p:nvPr/>
        </p:nvPicPr>
        <p:blipFill>
          <a:blip r:embed="rId2"/>
          <a:stretch>
            <a:fillRect/>
          </a:stretch>
        </p:blipFill>
        <p:spPr>
          <a:xfrm>
            <a:off x="777240" y="2490521"/>
            <a:ext cx="6903720" cy="1922676"/>
          </a:xfrm>
          <a:prstGeom prst="rect">
            <a:avLst/>
          </a:prstGeom>
        </p:spPr>
      </p:pic>
      <p:sp>
        <p:nvSpPr>
          <p:cNvPr id="6" name="TextBox 5"/>
          <p:cNvSpPr txBox="1"/>
          <p:nvPr/>
        </p:nvSpPr>
        <p:spPr>
          <a:xfrm>
            <a:off x="777240" y="5166360"/>
            <a:ext cx="6903720" cy="365760"/>
          </a:xfrm>
          <a:prstGeom prst="rect">
            <a:avLst/>
          </a:prstGeom>
          <a:noFill/>
        </p:spPr>
        <p:txBody>
          <a:bodyPr wrap="square" lIns="0" rIns="0" tIns="0" bIns="0">
            <a:spAutoFit/>
          </a:bodyPr>
          <a:lstStyle/>
          <a:p>
            <a:pPr algn="l">
              <a:lnSpc>
                <a:spcPct val="105000"/>
              </a:lnSpc>
            </a:pPr>
            <a:r>
              <a:rPr sz="950" b="0" i="0">
                <a:solidFill>
                  <a:srgbClr val="8FA9AE"/>
                </a:solidFill>
                <a:latin typeface="Calibri"/>
              </a:rPr>
              <a:t>O'Neill et al. (2023), Open X-Embodiment: Robotic Learning Datasets and RT-X Models, arXiv:2310.08864, Figure 1.</a:t>
            </a:r>
          </a:p>
        </p:txBody>
      </p:sp>
      <p:sp>
        <p:nvSpPr>
          <p:cNvPr id="7" name="Rounded Rectangle 6"/>
          <p:cNvSpPr/>
          <p:nvPr/>
        </p:nvSpPr>
        <p:spPr>
          <a:xfrm>
            <a:off x="7863840" y="1783080"/>
            <a:ext cx="3520440" cy="21031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8083296" y="2002536"/>
            <a:ext cx="3081528" cy="292608"/>
          </a:xfrm>
          <a:prstGeom prst="rect">
            <a:avLst/>
          </a:prstGeom>
          <a:noFill/>
        </p:spPr>
        <p:txBody>
          <a:bodyPr wrap="square" lIns="0" rIns="0" tIns="0" bIns="0">
            <a:spAutoFit/>
          </a:bodyPr>
          <a:lstStyle/>
          <a:p>
            <a:pPr algn="l"/>
            <a:r>
              <a:rPr sz="1350" b="1" i="0">
                <a:solidFill>
                  <a:srgbClr val="12343B"/>
                </a:solidFill>
                <a:latin typeface="Calibri"/>
              </a:rPr>
              <a:t>Open X-Embodiment, by the numbers</a:t>
            </a:r>
          </a:p>
        </p:txBody>
      </p:sp>
      <p:sp>
        <p:nvSpPr>
          <p:cNvPr id="9" name="TextBox 8"/>
          <p:cNvSpPr txBox="1"/>
          <p:nvPr/>
        </p:nvSpPr>
        <p:spPr>
          <a:xfrm>
            <a:off x="8083296" y="2386584"/>
            <a:ext cx="3081528" cy="128016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21 institutions pooled 60 existing datasets into over 1 million trajectories across 22 robot embodiments and 527 distinct skills, the largest open cross-robot dataset to date.</a:t>
            </a:r>
          </a:p>
        </p:txBody>
      </p:sp>
      <p:sp>
        <p:nvSpPr>
          <p:cNvPr id="10" name="Rounded Rectangle 9"/>
          <p:cNvSpPr/>
          <p:nvPr/>
        </p:nvSpPr>
        <p:spPr>
          <a:xfrm>
            <a:off x="7863840" y="3977639"/>
            <a:ext cx="3520440" cy="20116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8083296" y="4197096"/>
            <a:ext cx="3081528" cy="292608"/>
          </a:xfrm>
          <a:prstGeom prst="rect">
            <a:avLst/>
          </a:prstGeom>
          <a:noFill/>
        </p:spPr>
        <p:txBody>
          <a:bodyPr wrap="square" lIns="0" rIns="0" tIns="0" bIns="0">
            <a:spAutoFit/>
          </a:bodyPr>
          <a:lstStyle/>
          <a:p>
            <a:pPr algn="l"/>
            <a:r>
              <a:rPr sz="1350" b="1" i="0">
                <a:solidFill>
                  <a:srgbClr val="12343B"/>
                </a:solidFill>
                <a:latin typeface="Calibri"/>
              </a:rPr>
              <a:t>Still small, next to vision</a:t>
            </a:r>
          </a:p>
        </p:txBody>
      </p:sp>
      <p:sp>
        <p:nvSpPr>
          <p:cNvPr id="12" name="TextBox 11"/>
          <p:cNvSpPr txBox="1"/>
          <p:nvPr/>
        </p:nvSpPr>
        <p:spPr>
          <a:xfrm>
            <a:off x="8083296" y="4581144"/>
            <a:ext cx="3081528" cy="118872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CLIP trained on hundreds of millions of images. The biggest robot manipulation datasets sit at 100k to 1M examples. That three-to-four-order-of-magnitude gap is the field's central constraint.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DATA REQUIREMENTS</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Four datasets that shaped the field</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ectangle 4"/>
          <p:cNvSpPr/>
          <p:nvPr/>
        </p:nvSpPr>
        <p:spPr>
          <a:xfrm>
            <a:off x="777240" y="1783080"/>
            <a:ext cx="10607040"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41832" y="1783080"/>
            <a:ext cx="2688336" cy="502920"/>
          </a:xfrm>
          <a:prstGeom prst="rect">
            <a:avLst/>
          </a:prstGeom>
          <a:noFill/>
        </p:spPr>
        <p:txBody>
          <a:bodyPr wrap="square" lIns="0" rIns="0" tIns="0" bIns="0" anchor="ctr">
            <a:spAutoFit/>
          </a:bodyPr>
          <a:lstStyle/>
          <a:p>
            <a:pPr algn="l"/>
            <a:r>
              <a:rPr sz="1250" b="1" i="0">
                <a:solidFill>
                  <a:srgbClr val="FFFFFF"/>
                </a:solidFill>
                <a:latin typeface="Calibri"/>
              </a:rPr>
              <a:t>Dataset</a:t>
            </a:r>
          </a:p>
        </p:txBody>
      </p:sp>
      <p:sp>
        <p:nvSpPr>
          <p:cNvPr id="7" name="TextBox 6"/>
          <p:cNvSpPr txBox="1"/>
          <p:nvPr/>
        </p:nvSpPr>
        <p:spPr>
          <a:xfrm>
            <a:off x="3959352" y="1783080"/>
            <a:ext cx="2505456" cy="502920"/>
          </a:xfrm>
          <a:prstGeom prst="rect">
            <a:avLst/>
          </a:prstGeom>
          <a:noFill/>
        </p:spPr>
        <p:txBody>
          <a:bodyPr wrap="square" lIns="0" rIns="0" tIns="0" bIns="0" anchor="ctr">
            <a:spAutoFit/>
          </a:bodyPr>
          <a:lstStyle/>
          <a:p>
            <a:pPr algn="l"/>
            <a:r>
              <a:rPr sz="1250" b="1" i="0">
                <a:solidFill>
                  <a:srgbClr val="FFFFFF"/>
                </a:solidFill>
                <a:latin typeface="Calibri"/>
              </a:rPr>
              <a:t>Scale</a:t>
            </a:r>
          </a:p>
        </p:txBody>
      </p:sp>
      <p:sp>
        <p:nvSpPr>
          <p:cNvPr id="8" name="TextBox 7"/>
          <p:cNvSpPr txBox="1"/>
          <p:nvPr/>
        </p:nvSpPr>
        <p:spPr>
          <a:xfrm>
            <a:off x="6793992" y="1783080"/>
            <a:ext cx="4425696" cy="502920"/>
          </a:xfrm>
          <a:prstGeom prst="rect">
            <a:avLst/>
          </a:prstGeom>
          <a:noFill/>
        </p:spPr>
        <p:txBody>
          <a:bodyPr wrap="square" lIns="0" rIns="0" tIns="0" bIns="0" anchor="ctr">
            <a:spAutoFit/>
          </a:bodyPr>
          <a:lstStyle/>
          <a:p>
            <a:pPr algn="l"/>
            <a:r>
              <a:rPr sz="1250" b="1" i="0">
                <a:solidFill>
                  <a:srgbClr val="FFFFFF"/>
                </a:solidFill>
                <a:latin typeface="Calibri"/>
              </a:rPr>
              <a:t>What it added</a:t>
            </a:r>
          </a:p>
        </p:txBody>
      </p:sp>
      <p:sp>
        <p:nvSpPr>
          <p:cNvPr id="9" name="Rectangle 8"/>
          <p:cNvSpPr/>
          <p:nvPr/>
        </p:nvSpPr>
        <p:spPr>
          <a:xfrm>
            <a:off x="777240" y="2286000"/>
            <a:ext cx="10607040" cy="1005840"/>
          </a:xfrm>
          <a:prstGeom prst="rect">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359152"/>
            <a:ext cx="2688336" cy="859536"/>
          </a:xfrm>
          <a:prstGeom prst="rect">
            <a:avLst/>
          </a:prstGeom>
          <a:noFill/>
        </p:spPr>
        <p:txBody>
          <a:bodyPr wrap="square" lIns="0" rIns="0" tIns="0" bIns="0" anchor="ctr">
            <a:spAutoFit/>
          </a:bodyPr>
          <a:lstStyle/>
          <a:p>
            <a:pPr algn="l">
              <a:lnSpc>
                <a:spcPct val="110000"/>
              </a:lnSpc>
            </a:pPr>
            <a:r>
              <a:rPr sz="1100" b="0" i="0">
                <a:solidFill>
                  <a:srgbClr val="12343B"/>
                </a:solidFill>
                <a:latin typeface="Calibri"/>
              </a:rPr>
              <a:t>RT-1 dataset</a:t>
            </a:r>
          </a:p>
        </p:txBody>
      </p:sp>
      <p:sp>
        <p:nvSpPr>
          <p:cNvPr id="11" name="TextBox 10"/>
          <p:cNvSpPr txBox="1"/>
          <p:nvPr/>
        </p:nvSpPr>
        <p:spPr>
          <a:xfrm>
            <a:off x="3959352" y="2359152"/>
            <a:ext cx="2505456" cy="859536"/>
          </a:xfrm>
          <a:prstGeom prst="rect">
            <a:avLst/>
          </a:prstGeom>
          <a:noFill/>
        </p:spPr>
        <p:txBody>
          <a:bodyPr wrap="square" lIns="0" rIns="0" tIns="0" bIns="0" anchor="ctr">
            <a:spAutoFit/>
          </a:bodyPr>
          <a:lstStyle/>
          <a:p>
            <a:pPr algn="l">
              <a:lnSpc>
                <a:spcPct val="110000"/>
              </a:lnSpc>
            </a:pPr>
            <a:r>
              <a:rPr sz="1100" b="0" i="0">
                <a:solidFill>
                  <a:srgbClr val="12343B"/>
                </a:solidFill>
                <a:latin typeface="Calibri"/>
              </a:rPr>
              <a:t>130k episodes, 13 robots, 17 months</a:t>
            </a:r>
          </a:p>
        </p:txBody>
      </p:sp>
      <p:sp>
        <p:nvSpPr>
          <p:cNvPr id="12" name="TextBox 11"/>
          <p:cNvSpPr txBox="1"/>
          <p:nvPr/>
        </p:nvSpPr>
        <p:spPr>
          <a:xfrm>
            <a:off x="6793992" y="2359152"/>
            <a:ext cx="4425696" cy="859536"/>
          </a:xfrm>
          <a:prstGeom prst="rect">
            <a:avLst/>
          </a:prstGeom>
          <a:noFill/>
        </p:spPr>
        <p:txBody>
          <a:bodyPr wrap="square" lIns="0" rIns="0" tIns="0" bIns="0" anchor="ctr">
            <a:spAutoFit/>
          </a:bodyPr>
          <a:lstStyle/>
          <a:p>
            <a:pPr algn="l">
              <a:lnSpc>
                <a:spcPct val="110000"/>
              </a:lnSpc>
            </a:pPr>
            <a:r>
              <a:rPr sz="1100" b="0" i="0">
                <a:solidFill>
                  <a:srgbClr val="12343B"/>
                </a:solidFill>
                <a:latin typeface="Calibri"/>
              </a:rPr>
              <a:t>First demonstration that a single transformer policy generalises across a large, diverse, single-embodiment kitchen dataset.</a:t>
            </a:r>
          </a:p>
        </p:txBody>
      </p:sp>
      <p:sp>
        <p:nvSpPr>
          <p:cNvPr id="13" name="Rectangle 12"/>
          <p:cNvSpPr/>
          <p:nvPr/>
        </p:nvSpPr>
        <p:spPr>
          <a:xfrm>
            <a:off x="777240" y="3291840"/>
            <a:ext cx="10607040" cy="1005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3364992"/>
            <a:ext cx="2688336" cy="859536"/>
          </a:xfrm>
          <a:prstGeom prst="rect">
            <a:avLst/>
          </a:prstGeom>
          <a:noFill/>
        </p:spPr>
        <p:txBody>
          <a:bodyPr wrap="square" lIns="0" rIns="0" tIns="0" bIns="0" anchor="ctr">
            <a:spAutoFit/>
          </a:bodyPr>
          <a:lstStyle/>
          <a:p>
            <a:pPr algn="l">
              <a:lnSpc>
                <a:spcPct val="110000"/>
              </a:lnSpc>
            </a:pPr>
            <a:r>
              <a:rPr sz="1100" b="0" i="0">
                <a:solidFill>
                  <a:srgbClr val="12343B"/>
                </a:solidFill>
                <a:latin typeface="Calibri"/>
              </a:rPr>
              <a:t>Open X-Embodiment</a:t>
            </a:r>
          </a:p>
        </p:txBody>
      </p:sp>
      <p:sp>
        <p:nvSpPr>
          <p:cNvPr id="15" name="TextBox 14"/>
          <p:cNvSpPr txBox="1"/>
          <p:nvPr/>
        </p:nvSpPr>
        <p:spPr>
          <a:xfrm>
            <a:off x="3959352" y="3364992"/>
            <a:ext cx="2505456" cy="859536"/>
          </a:xfrm>
          <a:prstGeom prst="rect">
            <a:avLst/>
          </a:prstGeom>
          <a:noFill/>
        </p:spPr>
        <p:txBody>
          <a:bodyPr wrap="square" lIns="0" rIns="0" tIns="0" bIns="0" anchor="ctr">
            <a:spAutoFit/>
          </a:bodyPr>
          <a:lstStyle/>
          <a:p>
            <a:pPr algn="l">
              <a:lnSpc>
                <a:spcPct val="110000"/>
              </a:lnSpc>
            </a:pPr>
            <a:r>
              <a:rPr sz="1100" b="0" i="0">
                <a:solidFill>
                  <a:srgbClr val="12343B"/>
                </a:solidFill>
                <a:latin typeface="Calibri"/>
              </a:rPr>
              <a:t>1M+ trajectories, 22 embodiments, 527 skills</a:t>
            </a:r>
          </a:p>
        </p:txBody>
      </p:sp>
      <p:sp>
        <p:nvSpPr>
          <p:cNvPr id="16" name="TextBox 15"/>
          <p:cNvSpPr txBox="1"/>
          <p:nvPr/>
        </p:nvSpPr>
        <p:spPr>
          <a:xfrm>
            <a:off x="6793992" y="3364992"/>
            <a:ext cx="4425696" cy="859536"/>
          </a:xfrm>
          <a:prstGeom prst="rect">
            <a:avLst/>
          </a:prstGeom>
          <a:noFill/>
        </p:spPr>
        <p:txBody>
          <a:bodyPr wrap="square" lIns="0" rIns="0" tIns="0" bIns="0" anchor="ctr">
            <a:spAutoFit/>
          </a:bodyPr>
          <a:lstStyle/>
          <a:p>
            <a:pPr algn="l">
              <a:lnSpc>
                <a:spcPct val="110000"/>
              </a:lnSpc>
            </a:pPr>
            <a:r>
              <a:rPr sz="1100" b="0" i="0">
                <a:solidFill>
                  <a:srgbClr val="12343B"/>
                </a:solidFill>
                <a:latin typeface="Calibri"/>
              </a:rPr>
              <a:t>Pooled 60 labs' datasets into one cross-embodiment corpus, enabling RT-X and OpenVLA-style pretraining.</a:t>
            </a:r>
          </a:p>
        </p:txBody>
      </p:sp>
      <p:sp>
        <p:nvSpPr>
          <p:cNvPr id="17" name="Rectangle 16"/>
          <p:cNvSpPr/>
          <p:nvPr/>
        </p:nvSpPr>
        <p:spPr>
          <a:xfrm>
            <a:off x="777240" y="4297680"/>
            <a:ext cx="10607040" cy="1005840"/>
          </a:xfrm>
          <a:prstGeom prst="rect">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2" y="4370832"/>
            <a:ext cx="2688336" cy="859536"/>
          </a:xfrm>
          <a:prstGeom prst="rect">
            <a:avLst/>
          </a:prstGeom>
          <a:noFill/>
        </p:spPr>
        <p:txBody>
          <a:bodyPr wrap="square" lIns="0" rIns="0" tIns="0" bIns="0" anchor="ctr">
            <a:spAutoFit/>
          </a:bodyPr>
          <a:lstStyle/>
          <a:p>
            <a:pPr algn="l">
              <a:lnSpc>
                <a:spcPct val="110000"/>
              </a:lnSpc>
            </a:pPr>
            <a:r>
              <a:rPr sz="1100" b="0" i="0">
                <a:solidFill>
                  <a:srgbClr val="12343B"/>
                </a:solidFill>
                <a:latin typeface="Calibri"/>
              </a:rPr>
              <a:t>DROID</a:t>
            </a:r>
          </a:p>
        </p:txBody>
      </p:sp>
      <p:sp>
        <p:nvSpPr>
          <p:cNvPr id="19" name="TextBox 18"/>
          <p:cNvSpPr txBox="1"/>
          <p:nvPr/>
        </p:nvSpPr>
        <p:spPr>
          <a:xfrm>
            <a:off x="3959352" y="4370832"/>
            <a:ext cx="2505456" cy="859536"/>
          </a:xfrm>
          <a:prstGeom prst="rect">
            <a:avLst/>
          </a:prstGeom>
          <a:noFill/>
        </p:spPr>
        <p:txBody>
          <a:bodyPr wrap="square" lIns="0" rIns="0" tIns="0" bIns="0" anchor="ctr">
            <a:spAutoFit/>
          </a:bodyPr>
          <a:lstStyle/>
          <a:p>
            <a:pPr algn="l">
              <a:lnSpc>
                <a:spcPct val="110000"/>
              </a:lnSpc>
            </a:pPr>
            <a:r>
              <a:rPr sz="1100" b="0" i="0">
                <a:solidFill>
                  <a:srgbClr val="12343B"/>
                </a:solidFill>
                <a:latin typeface="Calibri"/>
              </a:rPr>
              <a:t>76k demonstrations, 564 scenes, 86 tasks</a:t>
            </a:r>
          </a:p>
        </p:txBody>
      </p:sp>
      <p:sp>
        <p:nvSpPr>
          <p:cNvPr id="20" name="TextBox 19"/>
          <p:cNvSpPr txBox="1"/>
          <p:nvPr/>
        </p:nvSpPr>
        <p:spPr>
          <a:xfrm>
            <a:off x="6793992" y="4370832"/>
            <a:ext cx="4425696" cy="859536"/>
          </a:xfrm>
          <a:prstGeom prst="rect">
            <a:avLst/>
          </a:prstGeom>
          <a:noFill/>
        </p:spPr>
        <p:txBody>
          <a:bodyPr wrap="square" lIns="0" rIns="0" tIns="0" bIns="0" anchor="ctr">
            <a:spAutoFit/>
          </a:bodyPr>
          <a:lstStyle/>
          <a:p>
            <a:pPr algn="l">
              <a:lnSpc>
                <a:spcPct val="110000"/>
              </a:lnSpc>
            </a:pPr>
            <a:r>
              <a:rPr sz="1100" b="0" i="0">
                <a:solidFill>
                  <a:srgbClr val="12343B"/>
                </a:solidFill>
                <a:latin typeface="Calibri"/>
              </a:rPr>
              <a:t>Diverse, in-the-wild homes and offices rather than a single lab, targeting real-world visual variety.</a:t>
            </a:r>
          </a:p>
        </p:txBody>
      </p:sp>
      <p:sp>
        <p:nvSpPr>
          <p:cNvPr id="21" name="Rectangle 20"/>
          <p:cNvSpPr/>
          <p:nvPr/>
        </p:nvSpPr>
        <p:spPr>
          <a:xfrm>
            <a:off x="777240" y="5303520"/>
            <a:ext cx="10607040" cy="10058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41832" y="5376672"/>
            <a:ext cx="2688336" cy="859536"/>
          </a:xfrm>
          <a:prstGeom prst="rect">
            <a:avLst/>
          </a:prstGeom>
          <a:noFill/>
        </p:spPr>
        <p:txBody>
          <a:bodyPr wrap="square" lIns="0" rIns="0" tIns="0" bIns="0" anchor="ctr">
            <a:spAutoFit/>
          </a:bodyPr>
          <a:lstStyle/>
          <a:p>
            <a:pPr algn="l">
              <a:lnSpc>
                <a:spcPct val="110000"/>
              </a:lnSpc>
            </a:pPr>
            <a:r>
              <a:rPr sz="1100" b="0" i="0">
                <a:solidFill>
                  <a:srgbClr val="12343B"/>
                </a:solidFill>
                <a:latin typeface="Calibri"/>
              </a:rPr>
              <a:t>BridgeData</a:t>
            </a:r>
          </a:p>
        </p:txBody>
      </p:sp>
      <p:sp>
        <p:nvSpPr>
          <p:cNvPr id="23" name="TextBox 22"/>
          <p:cNvSpPr txBox="1"/>
          <p:nvPr/>
        </p:nvSpPr>
        <p:spPr>
          <a:xfrm>
            <a:off x="3959352" y="5376672"/>
            <a:ext cx="2505456" cy="859536"/>
          </a:xfrm>
          <a:prstGeom prst="rect">
            <a:avLst/>
          </a:prstGeom>
          <a:noFill/>
        </p:spPr>
        <p:txBody>
          <a:bodyPr wrap="square" lIns="0" rIns="0" tIns="0" bIns="0" anchor="ctr">
            <a:spAutoFit/>
          </a:bodyPr>
          <a:lstStyle/>
          <a:p>
            <a:pPr algn="l">
              <a:lnSpc>
                <a:spcPct val="110000"/>
              </a:lnSpc>
            </a:pPr>
            <a:r>
              <a:rPr sz="1100" b="0" i="0">
                <a:solidFill>
                  <a:srgbClr val="12343B"/>
                </a:solidFill>
                <a:latin typeface="Calibri"/>
              </a:rPr>
              <a:t>Tens of thousands of trajectories, low-cost arms</a:t>
            </a:r>
          </a:p>
        </p:txBody>
      </p:sp>
      <p:sp>
        <p:nvSpPr>
          <p:cNvPr id="24" name="TextBox 23"/>
          <p:cNvSpPr txBox="1"/>
          <p:nvPr/>
        </p:nvSpPr>
        <p:spPr>
          <a:xfrm>
            <a:off x="6793992" y="5376672"/>
            <a:ext cx="4425696" cy="859536"/>
          </a:xfrm>
          <a:prstGeom prst="rect">
            <a:avLst/>
          </a:prstGeom>
          <a:noFill/>
        </p:spPr>
        <p:txBody>
          <a:bodyPr wrap="square" lIns="0" rIns="0" tIns="0" bIns="0" anchor="ctr">
            <a:spAutoFit/>
          </a:bodyPr>
          <a:lstStyle/>
          <a:p>
            <a:pPr algn="l">
              <a:lnSpc>
                <a:spcPct val="110000"/>
              </a:lnSpc>
            </a:pPr>
            <a:r>
              <a:rPr sz="1100" b="0" i="0">
                <a:solidFill>
                  <a:srgbClr val="12343B"/>
                </a:solidFill>
                <a:latin typeface="Calibri"/>
              </a:rPr>
              <a:t>Widely reused benchmark for evaluating generalisation on affordable hardware, common in academic VLA papers.</a:t>
            </a:r>
          </a:p>
        </p:txBody>
      </p:sp>
      <p:cxnSp>
        <p:nvCxnSpPr>
          <p:cNvPr id="25" name="Connector 24"/>
          <p:cNvCxnSpPr/>
          <p:nvPr/>
        </p:nvCxnSpPr>
        <p:spPr>
          <a:xfrm>
            <a:off x="777240" y="1783080"/>
            <a:ext cx="0" cy="4526280"/>
          </a:xfrm>
          <a:prstGeom prst="line">
            <a:avLst/>
          </a:prstGeom>
          <a:ln w="12700">
            <a:solidFill>
              <a:srgbClr val="D6E7E4"/>
            </a:solidFill>
          </a:ln>
          <a:effectLst/>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1384280" y="1783080"/>
            <a:ext cx="0" cy="4526280"/>
          </a:xfrm>
          <a:prstGeom prst="line">
            <a:avLst/>
          </a:prstGeom>
          <a:ln w="12700">
            <a:solidFill>
              <a:srgbClr val="D6E7E4"/>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THE LANDSCAPE</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The field's timeline, from one 2025 survey</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pic>
        <p:nvPicPr>
          <p:cNvPr id="5" name="Picture 4" descr="fig_survey_timeline_kawaharazuka2025.png"/>
          <p:cNvPicPr>
            <a:picLocks noChangeAspect="1"/>
          </p:cNvPicPr>
          <p:nvPr/>
        </p:nvPicPr>
        <p:blipFill>
          <a:blip r:embed="rId2"/>
          <a:stretch>
            <a:fillRect/>
          </a:stretch>
        </p:blipFill>
        <p:spPr>
          <a:xfrm>
            <a:off x="2357905" y="1783080"/>
            <a:ext cx="7445709" cy="4160520"/>
          </a:xfrm>
          <a:prstGeom prst="rect">
            <a:avLst/>
          </a:prstGeom>
        </p:spPr>
      </p:pic>
      <p:sp>
        <p:nvSpPr>
          <p:cNvPr id="6" name="TextBox 5"/>
          <p:cNvSpPr txBox="1"/>
          <p:nvPr/>
        </p:nvSpPr>
        <p:spPr>
          <a:xfrm>
            <a:off x="777240" y="5989320"/>
            <a:ext cx="10607040" cy="320040"/>
          </a:xfrm>
          <a:prstGeom prst="rect">
            <a:avLst/>
          </a:prstGeom>
          <a:noFill/>
        </p:spPr>
        <p:txBody>
          <a:bodyPr wrap="square" lIns="0" rIns="0" tIns="0" bIns="0">
            <a:spAutoFit/>
          </a:bodyPr>
          <a:lstStyle/>
          <a:p>
            <a:pPr algn="l">
              <a:lnSpc>
                <a:spcPct val="105000"/>
              </a:lnSpc>
            </a:pPr>
            <a:r>
              <a:rPr sz="950" b="0" i="0">
                <a:solidFill>
                  <a:srgbClr val="8FA9AE"/>
                </a:solidFill>
                <a:latin typeface="Calibri"/>
              </a:rPr>
              <a:t>Kawaharazuka, Oh, Yamada, Posner &amp; Zhu (2025), IEEE Access, arXiv:2510.07077, Figure 2 (“Timeline of major VLA models”).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WELL-KNOWN SYSTEMS · 1</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RT-1 and RT-2: from a robot transformer to a web-scale one</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pic>
        <p:nvPicPr>
          <p:cNvPr id="5" name="Picture 4" descr="fig_rt1_architecture_brohan2022.png"/>
          <p:cNvPicPr>
            <a:picLocks noChangeAspect="1"/>
          </p:cNvPicPr>
          <p:nvPr/>
        </p:nvPicPr>
        <p:blipFill>
          <a:blip r:embed="rId2"/>
          <a:stretch>
            <a:fillRect/>
          </a:stretch>
        </p:blipFill>
        <p:spPr>
          <a:xfrm>
            <a:off x="777240" y="1860309"/>
            <a:ext cx="10607040" cy="1720060"/>
          </a:xfrm>
          <a:prstGeom prst="rect">
            <a:avLst/>
          </a:prstGeom>
        </p:spPr>
      </p:pic>
      <p:sp>
        <p:nvSpPr>
          <p:cNvPr id="6" name="TextBox 5"/>
          <p:cNvSpPr txBox="1"/>
          <p:nvPr/>
        </p:nvSpPr>
        <p:spPr>
          <a:xfrm>
            <a:off x="777240" y="3675887"/>
            <a:ext cx="10607040" cy="292608"/>
          </a:xfrm>
          <a:prstGeom prst="rect">
            <a:avLst/>
          </a:prstGeom>
          <a:noFill/>
        </p:spPr>
        <p:txBody>
          <a:bodyPr wrap="square" lIns="0" rIns="0" tIns="0" bIns="0">
            <a:spAutoFit/>
          </a:bodyPr>
          <a:lstStyle/>
          <a:p>
            <a:pPr algn="l">
              <a:lnSpc>
                <a:spcPct val="105000"/>
              </a:lnSpc>
            </a:pPr>
            <a:r>
              <a:rPr sz="950" b="0" i="0">
                <a:solidFill>
                  <a:srgbClr val="8FA9AE"/>
                </a:solidFill>
                <a:latin typeface="Calibri"/>
              </a:rPr>
              <a:t>Brohan et al. (2022), RT-1: Robotics Transformer for Real-World Control at Scale, arXiv:2212.06817, Figure 1(a).</a:t>
            </a:r>
          </a:p>
        </p:txBody>
      </p:sp>
      <p:sp>
        <p:nvSpPr>
          <p:cNvPr id="7" name="Rounded Rectangle 6"/>
          <p:cNvSpPr/>
          <p:nvPr/>
        </p:nvSpPr>
        <p:spPr>
          <a:xfrm>
            <a:off x="777240" y="4160520"/>
            <a:ext cx="5212080" cy="2084831"/>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96695" y="4379976"/>
            <a:ext cx="4773168" cy="292608"/>
          </a:xfrm>
          <a:prstGeom prst="rect">
            <a:avLst/>
          </a:prstGeom>
          <a:noFill/>
        </p:spPr>
        <p:txBody>
          <a:bodyPr wrap="square" lIns="0" rIns="0" tIns="0" bIns="0">
            <a:spAutoFit/>
          </a:bodyPr>
          <a:lstStyle/>
          <a:p>
            <a:pPr algn="l"/>
            <a:r>
              <a:rPr sz="1350" b="1" i="0">
                <a:solidFill>
                  <a:srgbClr val="12343B"/>
                </a:solidFill>
                <a:latin typeface="Calibri"/>
              </a:rPr>
              <a:t>RT-1 (2022)</a:t>
            </a:r>
          </a:p>
        </p:txBody>
      </p:sp>
      <p:sp>
        <p:nvSpPr>
          <p:cNvPr id="9" name="TextBox 8"/>
          <p:cNvSpPr txBox="1"/>
          <p:nvPr/>
        </p:nvSpPr>
        <p:spPr>
          <a:xfrm>
            <a:off x="996695" y="4764024"/>
            <a:ext cx="4773168" cy="1261871"/>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A compact transformer trained end-to-end on 130k robot demonstrations, tokenizing images and actions together. Runs at 3Hz, fast enough for closed-loop control, and became the backbone architecture the rest of the field iterated on.</a:t>
            </a:r>
          </a:p>
        </p:txBody>
      </p:sp>
      <p:sp>
        <p:nvSpPr>
          <p:cNvPr id="10" name="Rounded Rectangle 9"/>
          <p:cNvSpPr/>
          <p:nvPr/>
        </p:nvSpPr>
        <p:spPr>
          <a:xfrm>
            <a:off x="6126480" y="4160520"/>
            <a:ext cx="5257800" cy="2084831"/>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345936" y="4379976"/>
            <a:ext cx="4818888" cy="292608"/>
          </a:xfrm>
          <a:prstGeom prst="rect">
            <a:avLst/>
          </a:prstGeom>
          <a:noFill/>
        </p:spPr>
        <p:txBody>
          <a:bodyPr wrap="square" lIns="0" rIns="0" tIns="0" bIns="0">
            <a:spAutoFit/>
          </a:bodyPr>
          <a:lstStyle/>
          <a:p>
            <a:pPr algn="l"/>
            <a:r>
              <a:rPr sz="1350" b="1" i="0">
                <a:solidFill>
                  <a:srgbClr val="12343B"/>
                </a:solidFill>
                <a:latin typeface="Calibri"/>
              </a:rPr>
              <a:t>RT-2 (2023)</a:t>
            </a:r>
          </a:p>
        </p:txBody>
      </p:sp>
      <p:sp>
        <p:nvSpPr>
          <p:cNvPr id="12" name="TextBox 11"/>
          <p:cNvSpPr txBox="1"/>
          <p:nvPr/>
        </p:nvSpPr>
        <p:spPr>
          <a:xfrm>
            <a:off x="6345936" y="4764024"/>
            <a:ext cx="4818888" cy="1261871"/>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Takes a web-pretrained vision-language model and co-fine-tunes it on the same kind of robot data, representing actions as text tokens. Inherits internet-scale semantic knowledge, so it can follow instructions about objects never seen in robot demonstrations.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WELL-KNOWN SYSTEMS · 2</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OpenVLA: an open recipe the field could build on</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pic>
        <p:nvPicPr>
          <p:cNvPr id="5" name="Picture 4" descr="fig_openvla_overview_kim2024.png"/>
          <p:cNvPicPr>
            <a:picLocks noChangeAspect="1"/>
          </p:cNvPicPr>
          <p:nvPr/>
        </p:nvPicPr>
        <p:blipFill>
          <a:blip r:embed="rId2"/>
          <a:stretch>
            <a:fillRect/>
          </a:stretch>
        </p:blipFill>
        <p:spPr>
          <a:xfrm>
            <a:off x="777240" y="2142040"/>
            <a:ext cx="6309360" cy="3213998"/>
          </a:xfrm>
          <a:prstGeom prst="rect">
            <a:avLst/>
          </a:prstGeom>
        </p:spPr>
      </p:pic>
      <p:sp>
        <p:nvSpPr>
          <p:cNvPr id="6" name="TextBox 5"/>
          <p:cNvSpPr txBox="1"/>
          <p:nvPr/>
        </p:nvSpPr>
        <p:spPr>
          <a:xfrm>
            <a:off x="777240" y="5760720"/>
            <a:ext cx="6309360" cy="502920"/>
          </a:xfrm>
          <a:prstGeom prst="rect">
            <a:avLst/>
          </a:prstGeom>
          <a:noFill/>
        </p:spPr>
        <p:txBody>
          <a:bodyPr wrap="square" lIns="0" rIns="0" tIns="0" bIns="0">
            <a:spAutoFit/>
          </a:bodyPr>
          <a:lstStyle/>
          <a:p>
            <a:pPr algn="l">
              <a:lnSpc>
                <a:spcPct val="105000"/>
              </a:lnSpc>
            </a:pPr>
            <a:r>
              <a:rPr sz="950" b="0" i="0">
                <a:solidFill>
                  <a:srgbClr val="8FA9AE"/>
                </a:solidFill>
                <a:latin typeface="Calibri"/>
              </a:rPr>
              <a:t>Kim, Pertsch, Karamcheti et al. (2024), OpenVLA: An Open-Source Vision-Language-Action Model, arXiv:2406.09246, Figure 1.</a:t>
            </a:r>
          </a:p>
        </p:txBody>
      </p:sp>
      <p:sp>
        <p:nvSpPr>
          <p:cNvPr id="7" name="Rounded Rectangle 6"/>
          <p:cNvSpPr/>
          <p:nvPr/>
        </p:nvSpPr>
        <p:spPr>
          <a:xfrm>
            <a:off x="7269480" y="1783080"/>
            <a:ext cx="4114800" cy="19202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7488936" y="2002536"/>
            <a:ext cx="3675887" cy="292608"/>
          </a:xfrm>
          <a:prstGeom prst="rect">
            <a:avLst/>
          </a:prstGeom>
          <a:noFill/>
        </p:spPr>
        <p:txBody>
          <a:bodyPr wrap="square" lIns="0" rIns="0" tIns="0" bIns="0">
            <a:spAutoFit/>
          </a:bodyPr>
          <a:lstStyle/>
          <a:p>
            <a:pPr algn="l"/>
            <a:r>
              <a:rPr sz="1350" b="1" i="0">
                <a:solidFill>
                  <a:srgbClr val="12343B"/>
                </a:solidFill>
                <a:latin typeface="Calibri"/>
              </a:rPr>
              <a:t>7B parameters, fully open</a:t>
            </a:r>
          </a:p>
        </p:txBody>
      </p:sp>
      <p:sp>
        <p:nvSpPr>
          <p:cNvPr id="9" name="TextBox 8"/>
          <p:cNvSpPr txBox="1"/>
          <p:nvPr/>
        </p:nvSpPr>
        <p:spPr>
          <a:xfrm>
            <a:off x="7488936" y="2386584"/>
            <a:ext cx="3675887" cy="109728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SigLIP + DINOv2 visual features feeding a Llama 2 7B backbone, trained on 970k Open X-Embodiment episodes. Open weights, open training code, unlike RT-2.</a:t>
            </a:r>
          </a:p>
        </p:txBody>
      </p:sp>
      <p:sp>
        <p:nvSpPr>
          <p:cNvPr id="10" name="Rounded Rectangle 9"/>
          <p:cNvSpPr/>
          <p:nvPr/>
        </p:nvSpPr>
        <p:spPr>
          <a:xfrm>
            <a:off x="7269480" y="3840480"/>
            <a:ext cx="4114800" cy="24231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7488936" y="4059936"/>
            <a:ext cx="3675887" cy="292608"/>
          </a:xfrm>
          <a:prstGeom prst="rect">
            <a:avLst/>
          </a:prstGeom>
          <a:noFill/>
        </p:spPr>
        <p:txBody>
          <a:bodyPr wrap="square" lIns="0" rIns="0" tIns="0" bIns="0">
            <a:spAutoFit/>
          </a:bodyPr>
          <a:lstStyle/>
          <a:p>
            <a:pPr algn="l"/>
            <a:r>
              <a:rPr sz="1350" b="1" i="0">
                <a:solidFill>
                  <a:srgbClr val="12343B"/>
                </a:solidFill>
                <a:latin typeface="Calibri"/>
              </a:rPr>
              <a:t>Why it mattered</a:t>
            </a:r>
          </a:p>
        </p:txBody>
      </p:sp>
      <p:sp>
        <p:nvSpPr>
          <p:cNvPr id="12" name="TextBox 11"/>
          <p:cNvSpPr txBox="1"/>
          <p:nvPr/>
        </p:nvSpPr>
        <p:spPr>
          <a:xfrm>
            <a:off x="7488936" y="4443984"/>
            <a:ext cx="3675887" cy="160019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Matched or beat RT-2-X (55B parameters) on real-robot generalisation tasks at a fraction of the size, and showed LoRA fine-tuning on a new robot could match full fine-tuning at 1.4% of the trainable parameters. It became a common baseline other papers fine-tune from.</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WELL-KNOWN SYSTEMS · 3</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pi-0 and pi-0.5: flow matching for dexterous, long tasks</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pic>
        <p:nvPicPr>
          <p:cNvPr id="5" name="Picture 4" descr="fig_pi0_overview_black2024.png"/>
          <p:cNvPicPr>
            <a:picLocks noChangeAspect="1"/>
          </p:cNvPicPr>
          <p:nvPr/>
        </p:nvPicPr>
        <p:blipFill>
          <a:blip r:embed="rId2"/>
          <a:stretch>
            <a:fillRect/>
          </a:stretch>
        </p:blipFill>
        <p:spPr>
          <a:xfrm>
            <a:off x="777240" y="2103307"/>
            <a:ext cx="6720840" cy="3291464"/>
          </a:xfrm>
          <a:prstGeom prst="rect">
            <a:avLst/>
          </a:prstGeom>
        </p:spPr>
      </p:pic>
      <p:sp>
        <p:nvSpPr>
          <p:cNvPr id="6" name="TextBox 5"/>
          <p:cNvSpPr txBox="1"/>
          <p:nvPr/>
        </p:nvSpPr>
        <p:spPr>
          <a:xfrm>
            <a:off x="777240" y="5760720"/>
            <a:ext cx="6720840" cy="502920"/>
          </a:xfrm>
          <a:prstGeom prst="rect">
            <a:avLst/>
          </a:prstGeom>
          <a:noFill/>
        </p:spPr>
        <p:txBody>
          <a:bodyPr wrap="square" lIns="0" rIns="0" tIns="0" bIns="0">
            <a:spAutoFit/>
          </a:bodyPr>
          <a:lstStyle/>
          <a:p>
            <a:pPr algn="l">
              <a:lnSpc>
                <a:spcPct val="105000"/>
              </a:lnSpc>
            </a:pPr>
            <a:r>
              <a:rPr sz="950" b="0" i="0">
                <a:solidFill>
                  <a:srgbClr val="8FA9AE"/>
                </a:solidFill>
                <a:latin typeface="Calibri"/>
              </a:rPr>
              <a:t>Black et al., Physical Intelligence (2024), pi_0: A Vision-Language-Action Flow Model for General Robot Control, arXiv:2410.24164, Figure 1.</a:t>
            </a:r>
          </a:p>
        </p:txBody>
      </p:sp>
      <p:sp>
        <p:nvSpPr>
          <p:cNvPr id="7" name="Rounded Rectangle 6"/>
          <p:cNvSpPr/>
          <p:nvPr/>
        </p:nvSpPr>
        <p:spPr>
          <a:xfrm>
            <a:off x="7680960" y="1783080"/>
            <a:ext cx="3703320" cy="21031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7900416" y="2002536"/>
            <a:ext cx="3264408" cy="292608"/>
          </a:xfrm>
          <a:prstGeom prst="rect">
            <a:avLst/>
          </a:prstGeom>
          <a:noFill/>
        </p:spPr>
        <p:txBody>
          <a:bodyPr wrap="square" lIns="0" rIns="0" tIns="0" bIns="0">
            <a:spAutoFit/>
          </a:bodyPr>
          <a:lstStyle/>
          <a:p>
            <a:pPr algn="l"/>
            <a:r>
              <a:rPr sz="1350" b="1" i="0">
                <a:solidFill>
                  <a:srgbClr val="12343B"/>
                </a:solidFill>
                <a:latin typeface="Calibri"/>
              </a:rPr>
              <a:t>Flow matching, not diffusion</a:t>
            </a:r>
          </a:p>
        </p:txBody>
      </p:sp>
      <p:sp>
        <p:nvSpPr>
          <p:cNvPr id="9" name="TextBox 8"/>
          <p:cNvSpPr txBox="1"/>
          <p:nvPr/>
        </p:nvSpPr>
        <p:spPr>
          <a:xfrm>
            <a:off x="7900416" y="2386584"/>
            <a:ext cx="3264408" cy="128016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Generates continuous, high-frequency action chunks by flow matching rather than step-by-step denoising, aimed at contact-rich tasks like folding laundry.</a:t>
            </a:r>
          </a:p>
        </p:txBody>
      </p:sp>
      <p:sp>
        <p:nvSpPr>
          <p:cNvPr id="10" name="Rounded Rectangle 9"/>
          <p:cNvSpPr/>
          <p:nvPr/>
        </p:nvSpPr>
        <p:spPr>
          <a:xfrm>
            <a:off x="7680960" y="4023360"/>
            <a:ext cx="3703320" cy="22402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7900416" y="4242816"/>
            <a:ext cx="3264408" cy="292608"/>
          </a:xfrm>
          <a:prstGeom prst="rect">
            <a:avLst/>
          </a:prstGeom>
          <a:noFill/>
        </p:spPr>
        <p:txBody>
          <a:bodyPr wrap="square" lIns="0" rIns="0" tIns="0" bIns="0">
            <a:spAutoFit/>
          </a:bodyPr>
          <a:lstStyle/>
          <a:p>
            <a:pPr algn="l"/>
            <a:r>
              <a:rPr sz="1350" b="1" i="0">
                <a:solidFill>
                  <a:srgbClr val="12343B"/>
                </a:solidFill>
                <a:latin typeface="Calibri"/>
              </a:rPr>
              <a:t>pi-0.5: co-training for the home</a:t>
            </a:r>
          </a:p>
        </p:txBody>
      </p:sp>
      <p:sp>
        <p:nvSpPr>
          <p:cNvPr id="12" name="TextBox 11"/>
          <p:cNvSpPr txBox="1"/>
          <p:nvPr/>
        </p:nvSpPr>
        <p:spPr>
          <a:xfrm>
            <a:off x="7900416" y="4626864"/>
            <a:ext cx="3264408" cy="141732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The follow-up adds heterogeneous co-training (web data, other robots' data, and a smaller amount of target-home data together) so the policy generalises to homes never seen during training, not just objects.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WELL-KNOWN SYSTEMS · 4</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GR00T N1: a foundation model for humanoids</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pic>
        <p:nvPicPr>
          <p:cNvPr id="5" name="Picture 4" descr="fig_gr00t_datapyramid_nvidia2025.png"/>
          <p:cNvPicPr>
            <a:picLocks noChangeAspect="1"/>
          </p:cNvPicPr>
          <p:nvPr/>
        </p:nvPicPr>
        <p:blipFill>
          <a:blip r:embed="rId2"/>
          <a:stretch>
            <a:fillRect/>
          </a:stretch>
        </p:blipFill>
        <p:spPr>
          <a:xfrm>
            <a:off x="777240" y="2084317"/>
            <a:ext cx="5943600" cy="3329445"/>
          </a:xfrm>
          <a:prstGeom prst="rect">
            <a:avLst/>
          </a:prstGeom>
        </p:spPr>
      </p:pic>
      <p:sp>
        <p:nvSpPr>
          <p:cNvPr id="6" name="TextBox 5"/>
          <p:cNvSpPr txBox="1"/>
          <p:nvPr/>
        </p:nvSpPr>
        <p:spPr>
          <a:xfrm>
            <a:off x="777240" y="5760720"/>
            <a:ext cx="5943600" cy="502920"/>
          </a:xfrm>
          <a:prstGeom prst="rect">
            <a:avLst/>
          </a:prstGeom>
          <a:noFill/>
        </p:spPr>
        <p:txBody>
          <a:bodyPr wrap="square" lIns="0" rIns="0" tIns="0" bIns="0">
            <a:spAutoFit/>
          </a:bodyPr>
          <a:lstStyle/>
          <a:p>
            <a:pPr algn="l">
              <a:lnSpc>
                <a:spcPct val="105000"/>
              </a:lnSpc>
            </a:pPr>
            <a:r>
              <a:rPr sz="950" b="0" i="0">
                <a:solidFill>
                  <a:srgbClr val="8FA9AE"/>
                </a:solidFill>
                <a:latin typeface="Calibri"/>
              </a:rPr>
              <a:t>NVIDIA (2025), GR00T N1: An Open Foundation Model for Generalist Humanoid Robots, arXiv:2503.14734, Figure 1.</a:t>
            </a:r>
          </a:p>
        </p:txBody>
      </p:sp>
      <p:sp>
        <p:nvSpPr>
          <p:cNvPr id="7" name="Rounded Rectangle 6"/>
          <p:cNvSpPr/>
          <p:nvPr/>
        </p:nvSpPr>
        <p:spPr>
          <a:xfrm>
            <a:off x="6903720" y="1783080"/>
            <a:ext cx="4480560" cy="19659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7123176" y="2002536"/>
            <a:ext cx="4041648" cy="292608"/>
          </a:xfrm>
          <a:prstGeom prst="rect">
            <a:avLst/>
          </a:prstGeom>
          <a:noFill/>
        </p:spPr>
        <p:txBody>
          <a:bodyPr wrap="square" lIns="0" rIns="0" tIns="0" bIns="0">
            <a:spAutoFit/>
          </a:bodyPr>
          <a:lstStyle/>
          <a:p>
            <a:pPr algn="l"/>
            <a:r>
              <a:rPr sz="1350" b="1" i="0">
                <a:solidFill>
                  <a:srgbClr val="12343B"/>
                </a:solidFill>
                <a:latin typeface="Calibri"/>
              </a:rPr>
              <a:t>A dual-system architecture</a:t>
            </a:r>
          </a:p>
        </p:txBody>
      </p:sp>
      <p:sp>
        <p:nvSpPr>
          <p:cNvPr id="9" name="TextBox 8"/>
          <p:cNvSpPr txBox="1"/>
          <p:nvPr/>
        </p:nvSpPr>
        <p:spPr>
          <a:xfrm>
            <a:off x="7123176" y="2386584"/>
            <a:ext cx="4041648" cy="114300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A slower vision-language “system 2” for reasoning about the scene and instruction, paired with a fast diffusion-based “system 1” action head, cross-attention connecting the two, running at up to 120Hz.</a:t>
            </a:r>
          </a:p>
        </p:txBody>
      </p:sp>
      <p:sp>
        <p:nvSpPr>
          <p:cNvPr id="10" name="Rounded Rectangle 9"/>
          <p:cNvSpPr/>
          <p:nvPr/>
        </p:nvSpPr>
        <p:spPr>
          <a:xfrm>
            <a:off x="6903720" y="3886200"/>
            <a:ext cx="4480560" cy="23774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7123176" y="4105656"/>
            <a:ext cx="4041648" cy="292608"/>
          </a:xfrm>
          <a:prstGeom prst="rect">
            <a:avLst/>
          </a:prstGeom>
          <a:noFill/>
        </p:spPr>
        <p:txBody>
          <a:bodyPr wrap="square" lIns="0" rIns="0" tIns="0" bIns="0">
            <a:spAutoFit/>
          </a:bodyPr>
          <a:lstStyle/>
          <a:p>
            <a:pPr algn="l"/>
            <a:r>
              <a:rPr sz="1350" b="1" i="0">
                <a:solidFill>
                  <a:srgbClr val="12343B"/>
                </a:solidFill>
                <a:latin typeface="Calibri"/>
              </a:rPr>
              <a:t>The data pyramid</a:t>
            </a:r>
          </a:p>
        </p:txBody>
      </p:sp>
      <p:sp>
        <p:nvSpPr>
          <p:cNvPr id="12" name="TextBox 11"/>
          <p:cNvSpPr txBox="1"/>
          <p:nvPr/>
        </p:nvSpPr>
        <p:spPr>
          <a:xfrm>
            <a:off x="7123176" y="4489704"/>
            <a:ext cx="4041648" cy="155448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Built on a broad base of web data and human videos, a middle layer of simulated and synthetically generated robot data, and a small top layer of real humanoid teleoperation data, deliberately using the cheapest data where it can and the most expensive only where it must.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WELL-KNOWN SYSTEMS · 5</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CogACT, and the wider field</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pic>
        <p:nvPicPr>
          <p:cNvPr id="5" name="Picture 4" descr="fig_cogact_realrobot_li2024.png"/>
          <p:cNvPicPr>
            <a:picLocks noChangeAspect="1"/>
          </p:cNvPicPr>
          <p:nvPr/>
        </p:nvPicPr>
        <p:blipFill>
          <a:blip r:embed="rId2"/>
          <a:stretch>
            <a:fillRect/>
          </a:stretch>
        </p:blipFill>
        <p:spPr>
          <a:xfrm>
            <a:off x="777240" y="1788954"/>
            <a:ext cx="5349240" cy="1862770"/>
          </a:xfrm>
          <a:prstGeom prst="rect">
            <a:avLst/>
          </a:prstGeom>
        </p:spPr>
      </p:pic>
      <p:sp>
        <p:nvSpPr>
          <p:cNvPr id="6" name="TextBox 5"/>
          <p:cNvSpPr txBox="1"/>
          <p:nvPr/>
        </p:nvSpPr>
        <p:spPr>
          <a:xfrm>
            <a:off x="777240" y="3730752"/>
            <a:ext cx="5349240" cy="502920"/>
          </a:xfrm>
          <a:prstGeom prst="rect">
            <a:avLst/>
          </a:prstGeom>
          <a:noFill/>
        </p:spPr>
        <p:txBody>
          <a:bodyPr wrap="square" lIns="0" rIns="0" tIns="0" bIns="0">
            <a:spAutoFit/>
          </a:bodyPr>
          <a:lstStyle/>
          <a:p>
            <a:pPr algn="l">
              <a:lnSpc>
                <a:spcPct val="105000"/>
              </a:lnSpc>
            </a:pPr>
            <a:r>
              <a:rPr sz="950" b="0" i="0">
                <a:solidFill>
                  <a:srgbClr val="8FA9AE"/>
                </a:solidFill>
                <a:latin typeface="Calibri"/>
              </a:rPr>
              <a:t>Li et al. (2024), CogACT: A Foundation Model for Vision-Language-Action Modeling, arXiv:2411.19650, Figure 1(c).</a:t>
            </a:r>
          </a:p>
        </p:txBody>
      </p:sp>
      <p:sp>
        <p:nvSpPr>
          <p:cNvPr id="7" name="Rounded Rectangle 6"/>
          <p:cNvSpPr/>
          <p:nvPr/>
        </p:nvSpPr>
        <p:spPr>
          <a:xfrm>
            <a:off x="777240" y="4343400"/>
            <a:ext cx="5349240" cy="1874519"/>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96695" y="4562856"/>
            <a:ext cx="4910327" cy="292608"/>
          </a:xfrm>
          <a:prstGeom prst="rect">
            <a:avLst/>
          </a:prstGeom>
          <a:noFill/>
        </p:spPr>
        <p:txBody>
          <a:bodyPr wrap="square" lIns="0" rIns="0" tIns="0" bIns="0">
            <a:spAutoFit/>
          </a:bodyPr>
          <a:lstStyle/>
          <a:p>
            <a:pPr algn="l"/>
            <a:r>
              <a:rPr sz="1350" b="1" i="0">
                <a:solidFill>
                  <a:srgbClr val="12343B"/>
                </a:solidFill>
                <a:latin typeface="Calibri"/>
              </a:rPr>
              <a:t>Real-world grounding</a:t>
            </a:r>
          </a:p>
        </p:txBody>
      </p:sp>
      <p:sp>
        <p:nvSpPr>
          <p:cNvPr id="9" name="TextBox 8"/>
          <p:cNvSpPr txBox="1"/>
          <p:nvPr/>
        </p:nvSpPr>
        <p:spPr>
          <a:xfrm>
            <a:off x="996695" y="4946904"/>
            <a:ext cx="4910327" cy="105155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CogACT was evaluated on a real Realman arm, not just in simulation. The strip above shows two full task rollouts, picking and placing small objects, frame by frame, which is the standard way robotics papers demonstrate a policy actually works on hardware.</a:t>
            </a:r>
          </a:p>
        </p:txBody>
      </p:sp>
      <p:sp>
        <p:nvSpPr>
          <p:cNvPr id="10" name="Rounded Rectangle 9"/>
          <p:cNvSpPr/>
          <p:nvPr/>
        </p:nvSpPr>
        <p:spPr>
          <a:xfrm>
            <a:off x="6355080" y="1783080"/>
            <a:ext cx="5029200" cy="15087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574536" y="2002536"/>
            <a:ext cx="4590288" cy="292608"/>
          </a:xfrm>
          <a:prstGeom prst="rect">
            <a:avLst/>
          </a:prstGeom>
          <a:noFill/>
        </p:spPr>
        <p:txBody>
          <a:bodyPr wrap="square" lIns="0" rIns="0" tIns="0" bIns="0">
            <a:spAutoFit/>
          </a:bodyPr>
          <a:lstStyle/>
          <a:p>
            <a:pPr algn="l"/>
            <a:r>
              <a:rPr sz="1350" b="1" i="0">
                <a:solidFill>
                  <a:srgbClr val="12343B"/>
                </a:solidFill>
                <a:latin typeface="Calibri"/>
              </a:rPr>
              <a:t>CogACT</a:t>
            </a:r>
          </a:p>
        </p:txBody>
      </p:sp>
      <p:sp>
        <p:nvSpPr>
          <p:cNvPr id="12" name="TextBox 11"/>
          <p:cNvSpPr txBox="1"/>
          <p:nvPr/>
        </p:nvSpPr>
        <p:spPr>
          <a:xfrm>
            <a:off x="6574536" y="2386584"/>
            <a:ext cx="4590288" cy="68580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Separates “what to do” (a VLM) from “how to move” (a dedicated diffusion action module), arguing this split outperforms bolting a simple action head onto a VLM.</a:t>
            </a:r>
          </a:p>
        </p:txBody>
      </p:sp>
      <p:sp>
        <p:nvSpPr>
          <p:cNvPr id="13" name="Rounded Rectangle 12"/>
          <p:cNvSpPr/>
          <p:nvPr/>
        </p:nvSpPr>
        <p:spPr>
          <a:xfrm>
            <a:off x="6355080" y="3429000"/>
            <a:ext cx="5029200" cy="14173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6574536" y="3648456"/>
            <a:ext cx="4590288" cy="292608"/>
          </a:xfrm>
          <a:prstGeom prst="rect">
            <a:avLst/>
          </a:prstGeom>
          <a:noFill/>
        </p:spPr>
        <p:txBody>
          <a:bodyPr wrap="square" lIns="0" rIns="0" tIns="0" bIns="0">
            <a:spAutoFit/>
          </a:bodyPr>
          <a:lstStyle/>
          <a:p>
            <a:pPr algn="l"/>
            <a:r>
              <a:rPr sz="1350" b="1" i="0">
                <a:solidFill>
                  <a:srgbClr val="12343B"/>
                </a:solidFill>
                <a:latin typeface="Calibri"/>
              </a:rPr>
              <a:t>Octo</a:t>
            </a:r>
          </a:p>
        </p:txBody>
      </p:sp>
      <p:sp>
        <p:nvSpPr>
          <p:cNvPr id="15" name="TextBox 14"/>
          <p:cNvSpPr txBox="1"/>
          <p:nvPr/>
        </p:nvSpPr>
        <p:spPr>
          <a:xfrm>
            <a:off x="6574536" y="4032504"/>
            <a:ext cx="4590288" cy="59435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An open, transformer-based generalist policy trained across many embodiments, designed to be easy to fine-tune to a new robot with a small amount of data.</a:t>
            </a:r>
          </a:p>
        </p:txBody>
      </p:sp>
      <p:sp>
        <p:nvSpPr>
          <p:cNvPr id="16" name="Rounded Rectangle 15"/>
          <p:cNvSpPr/>
          <p:nvPr/>
        </p:nvSpPr>
        <p:spPr>
          <a:xfrm>
            <a:off x="6355080" y="4983480"/>
            <a:ext cx="5029200" cy="12344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xtBox 16"/>
          <p:cNvSpPr txBox="1"/>
          <p:nvPr/>
        </p:nvSpPr>
        <p:spPr>
          <a:xfrm>
            <a:off x="6574536" y="5202936"/>
            <a:ext cx="4590288" cy="292608"/>
          </a:xfrm>
          <a:prstGeom prst="rect">
            <a:avLst/>
          </a:prstGeom>
          <a:noFill/>
        </p:spPr>
        <p:txBody>
          <a:bodyPr wrap="square" lIns="0" rIns="0" tIns="0" bIns="0">
            <a:spAutoFit/>
          </a:bodyPr>
          <a:lstStyle/>
          <a:p>
            <a:pPr algn="l"/>
            <a:r>
              <a:rPr sz="1350" b="1" i="0">
                <a:solidFill>
                  <a:srgbClr val="12343B"/>
                </a:solidFill>
                <a:latin typeface="Calibri"/>
              </a:rPr>
              <a:t>SayCan and the earlier bridge</a:t>
            </a:r>
          </a:p>
        </p:txBody>
      </p:sp>
      <p:sp>
        <p:nvSpPr>
          <p:cNvPr id="18" name="TextBox 17"/>
          <p:cNvSpPr txBox="1"/>
          <p:nvPr/>
        </p:nvSpPr>
        <p:spPr>
          <a:xfrm>
            <a:off x="6574536" y="5586984"/>
            <a:ext cx="4590288" cy="41147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Paired an LLM's task-planning with a robot's learned skills before end-to-end VLAs existed, shown in more detail two slides ahead.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RECAP</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The models this session has walked through</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ectangle 4"/>
          <p:cNvSpPr/>
          <p:nvPr/>
        </p:nvSpPr>
        <p:spPr>
          <a:xfrm>
            <a:off x="777240" y="1691640"/>
            <a:ext cx="10607040" cy="45720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91640"/>
            <a:ext cx="3474720" cy="457200"/>
          </a:xfrm>
          <a:prstGeom prst="rect">
            <a:avLst/>
          </a:prstGeom>
          <a:noFill/>
        </p:spPr>
        <p:txBody>
          <a:bodyPr wrap="square" lIns="0" rIns="0" tIns="0" bIns="0" anchor="ctr">
            <a:spAutoFit/>
          </a:bodyPr>
          <a:lstStyle/>
          <a:p>
            <a:pPr algn="l"/>
            <a:r>
              <a:rPr sz="1150" b="1" i="0">
                <a:solidFill>
                  <a:srgbClr val="FFFFFF"/>
                </a:solidFill>
                <a:latin typeface="Calibri"/>
              </a:rPr>
              <a:t>Model</a:t>
            </a:r>
          </a:p>
        </p:txBody>
      </p:sp>
      <p:sp>
        <p:nvSpPr>
          <p:cNvPr id="7" name="TextBox 6"/>
          <p:cNvSpPr txBox="1"/>
          <p:nvPr/>
        </p:nvSpPr>
        <p:spPr>
          <a:xfrm>
            <a:off x="4663440" y="1691640"/>
            <a:ext cx="1005839" cy="457200"/>
          </a:xfrm>
          <a:prstGeom prst="rect">
            <a:avLst/>
          </a:prstGeom>
          <a:noFill/>
        </p:spPr>
        <p:txBody>
          <a:bodyPr wrap="square" lIns="0" rIns="0" tIns="0" bIns="0" anchor="ctr">
            <a:spAutoFit/>
          </a:bodyPr>
          <a:lstStyle/>
          <a:p>
            <a:pPr algn="l"/>
            <a:r>
              <a:rPr sz="1150" b="1" i="0">
                <a:solidFill>
                  <a:srgbClr val="FFFFFF"/>
                </a:solidFill>
                <a:latin typeface="Calibri"/>
              </a:rPr>
              <a:t>Year</a:t>
            </a:r>
          </a:p>
        </p:txBody>
      </p:sp>
      <p:sp>
        <p:nvSpPr>
          <p:cNvPr id="8" name="TextBox 7"/>
          <p:cNvSpPr txBox="1"/>
          <p:nvPr/>
        </p:nvSpPr>
        <p:spPr>
          <a:xfrm>
            <a:off x="5943600" y="1691640"/>
            <a:ext cx="5303520" cy="457200"/>
          </a:xfrm>
          <a:prstGeom prst="rect">
            <a:avLst/>
          </a:prstGeom>
          <a:noFill/>
        </p:spPr>
        <p:txBody>
          <a:bodyPr wrap="square" lIns="0" rIns="0" tIns="0" bIns="0" anchor="ctr">
            <a:spAutoFit/>
          </a:bodyPr>
          <a:lstStyle/>
          <a:p>
            <a:pPr algn="l"/>
            <a:r>
              <a:rPr sz="1150" b="1" i="0">
                <a:solidFill>
                  <a:srgbClr val="FFFFFF"/>
                </a:solidFill>
                <a:latin typeface="Calibri"/>
              </a:rPr>
              <a:t>Signature idea</a:t>
            </a:r>
          </a:p>
        </p:txBody>
      </p:sp>
      <p:sp>
        <p:nvSpPr>
          <p:cNvPr id="9" name="Rectangle 8"/>
          <p:cNvSpPr/>
          <p:nvPr/>
        </p:nvSpPr>
        <p:spPr>
          <a:xfrm>
            <a:off x="777240" y="2148840"/>
            <a:ext cx="10607040" cy="434340"/>
          </a:xfrm>
          <a:prstGeom prst="rect">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148840"/>
            <a:ext cx="3474720" cy="434340"/>
          </a:xfrm>
          <a:prstGeom prst="rect">
            <a:avLst/>
          </a:prstGeom>
          <a:noFill/>
        </p:spPr>
        <p:txBody>
          <a:bodyPr wrap="square" lIns="0" rIns="0" tIns="0" bIns="0" anchor="ctr">
            <a:spAutoFit/>
          </a:bodyPr>
          <a:lstStyle/>
          <a:p>
            <a:pPr algn="l"/>
            <a:r>
              <a:rPr sz="1050" b="0" i="0">
                <a:solidFill>
                  <a:srgbClr val="12343B"/>
                </a:solidFill>
                <a:latin typeface="Calibri"/>
              </a:rPr>
              <a:t>RT-1</a:t>
            </a:r>
          </a:p>
        </p:txBody>
      </p:sp>
      <p:sp>
        <p:nvSpPr>
          <p:cNvPr id="11" name="TextBox 10"/>
          <p:cNvSpPr txBox="1"/>
          <p:nvPr/>
        </p:nvSpPr>
        <p:spPr>
          <a:xfrm>
            <a:off x="4663440" y="2148840"/>
            <a:ext cx="1005839" cy="434340"/>
          </a:xfrm>
          <a:prstGeom prst="rect">
            <a:avLst/>
          </a:prstGeom>
          <a:noFill/>
        </p:spPr>
        <p:txBody>
          <a:bodyPr wrap="square" lIns="0" rIns="0" tIns="0" bIns="0" anchor="ctr">
            <a:spAutoFit/>
          </a:bodyPr>
          <a:lstStyle/>
          <a:p>
            <a:pPr algn="l"/>
            <a:r>
              <a:rPr sz="1050" b="0" i="0">
                <a:solidFill>
                  <a:srgbClr val="12343B"/>
                </a:solidFill>
                <a:latin typeface="Calibri"/>
              </a:rPr>
              <a:t>2022</a:t>
            </a:r>
          </a:p>
        </p:txBody>
      </p:sp>
      <p:sp>
        <p:nvSpPr>
          <p:cNvPr id="12" name="TextBox 11"/>
          <p:cNvSpPr txBox="1"/>
          <p:nvPr/>
        </p:nvSpPr>
        <p:spPr>
          <a:xfrm>
            <a:off x="5943600" y="2148840"/>
            <a:ext cx="5303520" cy="434340"/>
          </a:xfrm>
          <a:prstGeom prst="rect">
            <a:avLst/>
          </a:prstGeom>
          <a:noFill/>
        </p:spPr>
        <p:txBody>
          <a:bodyPr wrap="square" lIns="0" rIns="0" tIns="0" bIns="0" anchor="ctr">
            <a:spAutoFit/>
          </a:bodyPr>
          <a:lstStyle/>
          <a:p>
            <a:pPr algn="l"/>
            <a:r>
              <a:rPr sz="1050" b="0" i="0">
                <a:solidFill>
                  <a:srgbClr val="12343B"/>
                </a:solidFill>
                <a:latin typeface="Calibri"/>
              </a:rPr>
              <a:t>Compact transformer, 130k demos, real-time control</a:t>
            </a:r>
          </a:p>
        </p:txBody>
      </p:sp>
      <p:sp>
        <p:nvSpPr>
          <p:cNvPr id="13" name="Rectangle 12"/>
          <p:cNvSpPr/>
          <p:nvPr/>
        </p:nvSpPr>
        <p:spPr>
          <a:xfrm>
            <a:off x="777240" y="2583180"/>
            <a:ext cx="10607040" cy="4343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2583180"/>
            <a:ext cx="3474720" cy="434340"/>
          </a:xfrm>
          <a:prstGeom prst="rect">
            <a:avLst/>
          </a:prstGeom>
          <a:noFill/>
        </p:spPr>
        <p:txBody>
          <a:bodyPr wrap="square" lIns="0" rIns="0" tIns="0" bIns="0" anchor="ctr">
            <a:spAutoFit/>
          </a:bodyPr>
          <a:lstStyle/>
          <a:p>
            <a:pPr algn="l"/>
            <a:r>
              <a:rPr sz="1050" b="0" i="0">
                <a:solidFill>
                  <a:srgbClr val="12343B"/>
                </a:solidFill>
                <a:latin typeface="Calibri"/>
              </a:rPr>
              <a:t>RT-2</a:t>
            </a:r>
          </a:p>
        </p:txBody>
      </p:sp>
      <p:sp>
        <p:nvSpPr>
          <p:cNvPr id="15" name="TextBox 14"/>
          <p:cNvSpPr txBox="1"/>
          <p:nvPr/>
        </p:nvSpPr>
        <p:spPr>
          <a:xfrm>
            <a:off x="4663440" y="2583180"/>
            <a:ext cx="1005839" cy="434340"/>
          </a:xfrm>
          <a:prstGeom prst="rect">
            <a:avLst/>
          </a:prstGeom>
          <a:noFill/>
        </p:spPr>
        <p:txBody>
          <a:bodyPr wrap="square" lIns="0" rIns="0" tIns="0" bIns="0" anchor="ctr">
            <a:spAutoFit/>
          </a:bodyPr>
          <a:lstStyle/>
          <a:p>
            <a:pPr algn="l"/>
            <a:r>
              <a:rPr sz="1050" b="0" i="0">
                <a:solidFill>
                  <a:srgbClr val="12343B"/>
                </a:solidFill>
                <a:latin typeface="Calibri"/>
              </a:rPr>
              <a:t>2023</a:t>
            </a:r>
          </a:p>
        </p:txBody>
      </p:sp>
      <p:sp>
        <p:nvSpPr>
          <p:cNvPr id="16" name="TextBox 15"/>
          <p:cNvSpPr txBox="1"/>
          <p:nvPr/>
        </p:nvSpPr>
        <p:spPr>
          <a:xfrm>
            <a:off x="5943600" y="2583180"/>
            <a:ext cx="5303520" cy="434340"/>
          </a:xfrm>
          <a:prstGeom prst="rect">
            <a:avLst/>
          </a:prstGeom>
          <a:noFill/>
        </p:spPr>
        <p:txBody>
          <a:bodyPr wrap="square" lIns="0" rIns="0" tIns="0" bIns="0" anchor="ctr">
            <a:spAutoFit/>
          </a:bodyPr>
          <a:lstStyle/>
          <a:p>
            <a:pPr algn="l"/>
            <a:r>
              <a:rPr sz="1050" b="0" i="0">
                <a:solidFill>
                  <a:srgbClr val="12343B"/>
                </a:solidFill>
                <a:latin typeface="Calibri"/>
              </a:rPr>
              <a:t>Web-pretrained VLM co-fine-tuned, actions as text tokens</a:t>
            </a:r>
          </a:p>
        </p:txBody>
      </p:sp>
      <p:sp>
        <p:nvSpPr>
          <p:cNvPr id="17" name="Rectangle 16"/>
          <p:cNvSpPr/>
          <p:nvPr/>
        </p:nvSpPr>
        <p:spPr>
          <a:xfrm>
            <a:off x="777240" y="3017520"/>
            <a:ext cx="10607040" cy="434340"/>
          </a:xfrm>
          <a:prstGeom prst="rect">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017520"/>
            <a:ext cx="3474720" cy="434340"/>
          </a:xfrm>
          <a:prstGeom prst="rect">
            <a:avLst/>
          </a:prstGeom>
          <a:noFill/>
        </p:spPr>
        <p:txBody>
          <a:bodyPr wrap="square" lIns="0" rIns="0" tIns="0" bIns="0" anchor="ctr">
            <a:spAutoFit/>
          </a:bodyPr>
          <a:lstStyle/>
          <a:p>
            <a:pPr algn="l"/>
            <a:r>
              <a:rPr sz="1050" b="0" i="0">
                <a:solidFill>
                  <a:srgbClr val="12343B"/>
                </a:solidFill>
                <a:latin typeface="Calibri"/>
              </a:rPr>
              <a:t>Open X-Embodiment / RT-X</a:t>
            </a:r>
          </a:p>
        </p:txBody>
      </p:sp>
      <p:sp>
        <p:nvSpPr>
          <p:cNvPr id="19" name="TextBox 18"/>
          <p:cNvSpPr txBox="1"/>
          <p:nvPr/>
        </p:nvSpPr>
        <p:spPr>
          <a:xfrm>
            <a:off x="4663440" y="3017520"/>
            <a:ext cx="1005839" cy="434340"/>
          </a:xfrm>
          <a:prstGeom prst="rect">
            <a:avLst/>
          </a:prstGeom>
          <a:noFill/>
        </p:spPr>
        <p:txBody>
          <a:bodyPr wrap="square" lIns="0" rIns="0" tIns="0" bIns="0" anchor="ctr">
            <a:spAutoFit/>
          </a:bodyPr>
          <a:lstStyle/>
          <a:p>
            <a:pPr algn="l"/>
            <a:r>
              <a:rPr sz="1050" b="0" i="0">
                <a:solidFill>
                  <a:srgbClr val="12343B"/>
                </a:solidFill>
                <a:latin typeface="Calibri"/>
              </a:rPr>
              <a:t>2023</a:t>
            </a:r>
          </a:p>
        </p:txBody>
      </p:sp>
      <p:sp>
        <p:nvSpPr>
          <p:cNvPr id="20" name="TextBox 19"/>
          <p:cNvSpPr txBox="1"/>
          <p:nvPr/>
        </p:nvSpPr>
        <p:spPr>
          <a:xfrm>
            <a:off x="5943600" y="3017520"/>
            <a:ext cx="5303520" cy="434340"/>
          </a:xfrm>
          <a:prstGeom prst="rect">
            <a:avLst/>
          </a:prstGeom>
          <a:noFill/>
        </p:spPr>
        <p:txBody>
          <a:bodyPr wrap="square" lIns="0" rIns="0" tIns="0" bIns="0" anchor="ctr">
            <a:spAutoFit/>
          </a:bodyPr>
          <a:lstStyle/>
          <a:p>
            <a:pPr algn="l"/>
            <a:r>
              <a:rPr sz="1050" b="0" i="0">
                <a:solidFill>
                  <a:srgbClr val="12343B"/>
                </a:solidFill>
                <a:latin typeface="Calibri"/>
              </a:rPr>
              <a:t>Cross-embodiment data pooling at scale</a:t>
            </a:r>
          </a:p>
        </p:txBody>
      </p:sp>
      <p:sp>
        <p:nvSpPr>
          <p:cNvPr id="21" name="Rectangle 20"/>
          <p:cNvSpPr/>
          <p:nvPr/>
        </p:nvSpPr>
        <p:spPr>
          <a:xfrm>
            <a:off x="777240" y="3451860"/>
            <a:ext cx="10607040" cy="4343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 y="3451860"/>
            <a:ext cx="3474720" cy="434340"/>
          </a:xfrm>
          <a:prstGeom prst="rect">
            <a:avLst/>
          </a:prstGeom>
          <a:noFill/>
        </p:spPr>
        <p:txBody>
          <a:bodyPr wrap="square" lIns="0" rIns="0" tIns="0" bIns="0" anchor="ctr">
            <a:spAutoFit/>
          </a:bodyPr>
          <a:lstStyle/>
          <a:p>
            <a:pPr algn="l"/>
            <a:r>
              <a:rPr sz="1050" b="0" i="0">
                <a:solidFill>
                  <a:srgbClr val="12343B"/>
                </a:solidFill>
                <a:latin typeface="Calibri"/>
              </a:rPr>
              <a:t>OpenVLA</a:t>
            </a:r>
          </a:p>
        </p:txBody>
      </p:sp>
      <p:sp>
        <p:nvSpPr>
          <p:cNvPr id="23" name="TextBox 22"/>
          <p:cNvSpPr txBox="1"/>
          <p:nvPr/>
        </p:nvSpPr>
        <p:spPr>
          <a:xfrm>
            <a:off x="4663440" y="3451860"/>
            <a:ext cx="1005839" cy="434340"/>
          </a:xfrm>
          <a:prstGeom prst="rect">
            <a:avLst/>
          </a:prstGeom>
          <a:noFill/>
        </p:spPr>
        <p:txBody>
          <a:bodyPr wrap="square" lIns="0" rIns="0" tIns="0" bIns="0" anchor="ctr">
            <a:spAutoFit/>
          </a:bodyPr>
          <a:lstStyle/>
          <a:p>
            <a:pPr algn="l"/>
            <a:r>
              <a:rPr sz="1050" b="0" i="0">
                <a:solidFill>
                  <a:srgbClr val="12343B"/>
                </a:solidFill>
                <a:latin typeface="Calibri"/>
              </a:rPr>
              <a:t>2024</a:t>
            </a:r>
          </a:p>
        </p:txBody>
      </p:sp>
      <p:sp>
        <p:nvSpPr>
          <p:cNvPr id="24" name="TextBox 23"/>
          <p:cNvSpPr txBox="1"/>
          <p:nvPr/>
        </p:nvSpPr>
        <p:spPr>
          <a:xfrm>
            <a:off x="5943600" y="3451860"/>
            <a:ext cx="5303520" cy="434340"/>
          </a:xfrm>
          <a:prstGeom prst="rect">
            <a:avLst/>
          </a:prstGeom>
          <a:noFill/>
        </p:spPr>
        <p:txBody>
          <a:bodyPr wrap="square" lIns="0" rIns="0" tIns="0" bIns="0" anchor="ctr">
            <a:spAutoFit/>
          </a:bodyPr>
          <a:lstStyle/>
          <a:p>
            <a:pPr algn="l"/>
            <a:r>
              <a:rPr sz="1050" b="0" i="0">
                <a:solidFill>
                  <a:srgbClr val="12343B"/>
                </a:solidFill>
                <a:latin typeface="Calibri"/>
              </a:rPr>
              <a:t>Open 7B model matching much larger closed ones</a:t>
            </a:r>
          </a:p>
        </p:txBody>
      </p:sp>
      <p:sp>
        <p:nvSpPr>
          <p:cNvPr id="25" name="Rectangle 24"/>
          <p:cNvSpPr/>
          <p:nvPr/>
        </p:nvSpPr>
        <p:spPr>
          <a:xfrm>
            <a:off x="777240" y="3886200"/>
            <a:ext cx="10607040" cy="434340"/>
          </a:xfrm>
          <a:prstGeom prst="rect">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3886200"/>
            <a:ext cx="3474720" cy="434340"/>
          </a:xfrm>
          <a:prstGeom prst="rect">
            <a:avLst/>
          </a:prstGeom>
          <a:noFill/>
        </p:spPr>
        <p:txBody>
          <a:bodyPr wrap="square" lIns="0" rIns="0" tIns="0" bIns="0" anchor="ctr">
            <a:spAutoFit/>
          </a:bodyPr>
          <a:lstStyle/>
          <a:p>
            <a:pPr algn="l"/>
            <a:r>
              <a:rPr sz="1050" b="0" i="0">
                <a:solidFill>
                  <a:srgbClr val="12343B"/>
                </a:solidFill>
                <a:latin typeface="Calibri"/>
              </a:rPr>
              <a:t>ACT (ALOHA)</a:t>
            </a:r>
          </a:p>
        </p:txBody>
      </p:sp>
      <p:sp>
        <p:nvSpPr>
          <p:cNvPr id="27" name="TextBox 26"/>
          <p:cNvSpPr txBox="1"/>
          <p:nvPr/>
        </p:nvSpPr>
        <p:spPr>
          <a:xfrm>
            <a:off x="4663440" y="3886200"/>
            <a:ext cx="1005839" cy="434340"/>
          </a:xfrm>
          <a:prstGeom prst="rect">
            <a:avLst/>
          </a:prstGeom>
          <a:noFill/>
        </p:spPr>
        <p:txBody>
          <a:bodyPr wrap="square" lIns="0" rIns="0" tIns="0" bIns="0" anchor="ctr">
            <a:spAutoFit/>
          </a:bodyPr>
          <a:lstStyle/>
          <a:p>
            <a:pPr algn="l"/>
            <a:r>
              <a:rPr sz="1050" b="0" i="0">
                <a:solidFill>
                  <a:srgbClr val="12343B"/>
                </a:solidFill>
                <a:latin typeface="Calibri"/>
              </a:rPr>
              <a:t>2023</a:t>
            </a:r>
          </a:p>
        </p:txBody>
      </p:sp>
      <p:sp>
        <p:nvSpPr>
          <p:cNvPr id="28" name="TextBox 27"/>
          <p:cNvSpPr txBox="1"/>
          <p:nvPr/>
        </p:nvSpPr>
        <p:spPr>
          <a:xfrm>
            <a:off x="5943600" y="3886200"/>
            <a:ext cx="5303520" cy="434340"/>
          </a:xfrm>
          <a:prstGeom prst="rect">
            <a:avLst/>
          </a:prstGeom>
          <a:noFill/>
        </p:spPr>
        <p:txBody>
          <a:bodyPr wrap="square" lIns="0" rIns="0" tIns="0" bIns="0" anchor="ctr">
            <a:spAutoFit/>
          </a:bodyPr>
          <a:lstStyle/>
          <a:p>
            <a:pPr algn="l"/>
            <a:r>
              <a:rPr sz="1050" b="0" i="0">
                <a:solidFill>
                  <a:srgbClr val="12343B"/>
                </a:solidFill>
                <a:latin typeface="Calibri"/>
              </a:rPr>
              <a:t>Action chunking for bimanual manipulation from ~50 demos</a:t>
            </a:r>
          </a:p>
        </p:txBody>
      </p:sp>
      <p:sp>
        <p:nvSpPr>
          <p:cNvPr id="29" name="Rectangle 28"/>
          <p:cNvSpPr/>
          <p:nvPr/>
        </p:nvSpPr>
        <p:spPr>
          <a:xfrm>
            <a:off x="777240" y="4320540"/>
            <a:ext cx="10607040" cy="4343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4400" y="4320540"/>
            <a:ext cx="3474720" cy="434340"/>
          </a:xfrm>
          <a:prstGeom prst="rect">
            <a:avLst/>
          </a:prstGeom>
          <a:noFill/>
        </p:spPr>
        <p:txBody>
          <a:bodyPr wrap="square" lIns="0" rIns="0" tIns="0" bIns="0" anchor="ctr">
            <a:spAutoFit/>
          </a:bodyPr>
          <a:lstStyle/>
          <a:p>
            <a:pPr algn="l"/>
            <a:r>
              <a:rPr sz="1050" b="0" i="0">
                <a:solidFill>
                  <a:srgbClr val="12343B"/>
                </a:solidFill>
                <a:latin typeface="Calibri"/>
              </a:rPr>
              <a:t>Diffusion Policy</a:t>
            </a:r>
          </a:p>
        </p:txBody>
      </p:sp>
      <p:sp>
        <p:nvSpPr>
          <p:cNvPr id="31" name="TextBox 30"/>
          <p:cNvSpPr txBox="1"/>
          <p:nvPr/>
        </p:nvSpPr>
        <p:spPr>
          <a:xfrm>
            <a:off x="4663440" y="4320540"/>
            <a:ext cx="1005839" cy="434340"/>
          </a:xfrm>
          <a:prstGeom prst="rect">
            <a:avLst/>
          </a:prstGeom>
          <a:noFill/>
        </p:spPr>
        <p:txBody>
          <a:bodyPr wrap="square" lIns="0" rIns="0" tIns="0" bIns="0" anchor="ctr">
            <a:spAutoFit/>
          </a:bodyPr>
          <a:lstStyle/>
          <a:p>
            <a:pPr algn="l"/>
            <a:r>
              <a:rPr sz="1050" b="0" i="0">
                <a:solidFill>
                  <a:srgbClr val="12343B"/>
                </a:solidFill>
                <a:latin typeface="Calibri"/>
              </a:rPr>
              <a:t>2023</a:t>
            </a:r>
          </a:p>
        </p:txBody>
      </p:sp>
      <p:sp>
        <p:nvSpPr>
          <p:cNvPr id="32" name="TextBox 31"/>
          <p:cNvSpPr txBox="1"/>
          <p:nvPr/>
        </p:nvSpPr>
        <p:spPr>
          <a:xfrm>
            <a:off x="5943600" y="4320540"/>
            <a:ext cx="5303520" cy="434340"/>
          </a:xfrm>
          <a:prstGeom prst="rect">
            <a:avLst/>
          </a:prstGeom>
          <a:noFill/>
        </p:spPr>
        <p:txBody>
          <a:bodyPr wrap="square" lIns="0" rIns="0" tIns="0" bIns="0" anchor="ctr">
            <a:spAutoFit/>
          </a:bodyPr>
          <a:lstStyle/>
          <a:p>
            <a:pPr algn="l"/>
            <a:r>
              <a:rPr sz="1050" b="0" i="0">
                <a:solidFill>
                  <a:srgbClr val="12343B"/>
                </a:solidFill>
                <a:latin typeface="Calibri"/>
              </a:rPr>
              <a:t>Generative modelling of the full action distribution</a:t>
            </a:r>
          </a:p>
        </p:txBody>
      </p:sp>
      <p:sp>
        <p:nvSpPr>
          <p:cNvPr id="33" name="Rectangle 32"/>
          <p:cNvSpPr/>
          <p:nvPr/>
        </p:nvSpPr>
        <p:spPr>
          <a:xfrm>
            <a:off x="777240" y="4754879"/>
            <a:ext cx="10607040" cy="434340"/>
          </a:xfrm>
          <a:prstGeom prst="rect">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4754879"/>
            <a:ext cx="3474720" cy="434340"/>
          </a:xfrm>
          <a:prstGeom prst="rect">
            <a:avLst/>
          </a:prstGeom>
          <a:noFill/>
        </p:spPr>
        <p:txBody>
          <a:bodyPr wrap="square" lIns="0" rIns="0" tIns="0" bIns="0" anchor="ctr">
            <a:spAutoFit/>
          </a:bodyPr>
          <a:lstStyle/>
          <a:p>
            <a:pPr algn="l"/>
            <a:r>
              <a:rPr sz="1050" b="0" i="0">
                <a:solidFill>
                  <a:srgbClr val="12343B"/>
                </a:solidFill>
                <a:latin typeface="Calibri"/>
              </a:rPr>
              <a:t>pi-0 / pi-0.5</a:t>
            </a:r>
          </a:p>
        </p:txBody>
      </p:sp>
      <p:sp>
        <p:nvSpPr>
          <p:cNvPr id="35" name="TextBox 34"/>
          <p:cNvSpPr txBox="1"/>
          <p:nvPr/>
        </p:nvSpPr>
        <p:spPr>
          <a:xfrm>
            <a:off x="4663440" y="4754879"/>
            <a:ext cx="1005839" cy="434340"/>
          </a:xfrm>
          <a:prstGeom prst="rect">
            <a:avLst/>
          </a:prstGeom>
          <a:noFill/>
        </p:spPr>
        <p:txBody>
          <a:bodyPr wrap="square" lIns="0" rIns="0" tIns="0" bIns="0" anchor="ctr">
            <a:spAutoFit/>
          </a:bodyPr>
          <a:lstStyle/>
          <a:p>
            <a:pPr algn="l"/>
            <a:r>
              <a:rPr sz="1050" b="0" i="0">
                <a:solidFill>
                  <a:srgbClr val="12343B"/>
                </a:solidFill>
                <a:latin typeface="Calibri"/>
              </a:rPr>
              <a:t>2024</a:t>
            </a:r>
          </a:p>
        </p:txBody>
      </p:sp>
      <p:sp>
        <p:nvSpPr>
          <p:cNvPr id="36" name="TextBox 35"/>
          <p:cNvSpPr txBox="1"/>
          <p:nvPr/>
        </p:nvSpPr>
        <p:spPr>
          <a:xfrm>
            <a:off x="5943600" y="4754879"/>
            <a:ext cx="5303520" cy="434340"/>
          </a:xfrm>
          <a:prstGeom prst="rect">
            <a:avLst/>
          </a:prstGeom>
          <a:noFill/>
        </p:spPr>
        <p:txBody>
          <a:bodyPr wrap="square" lIns="0" rIns="0" tIns="0" bIns="0" anchor="ctr">
            <a:spAutoFit/>
          </a:bodyPr>
          <a:lstStyle/>
          <a:p>
            <a:pPr algn="l"/>
            <a:r>
              <a:rPr sz="1050" b="0" i="0">
                <a:solidFill>
                  <a:srgbClr val="12343B"/>
                </a:solidFill>
                <a:latin typeface="Calibri"/>
              </a:rPr>
              <a:t>Flow matching plus heterogeneous co-training</a:t>
            </a:r>
          </a:p>
        </p:txBody>
      </p:sp>
      <p:sp>
        <p:nvSpPr>
          <p:cNvPr id="37" name="Rectangle 36"/>
          <p:cNvSpPr/>
          <p:nvPr/>
        </p:nvSpPr>
        <p:spPr>
          <a:xfrm>
            <a:off x="777240" y="5189219"/>
            <a:ext cx="10607040" cy="4343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400" y="5189219"/>
            <a:ext cx="3474720" cy="434340"/>
          </a:xfrm>
          <a:prstGeom prst="rect">
            <a:avLst/>
          </a:prstGeom>
          <a:noFill/>
        </p:spPr>
        <p:txBody>
          <a:bodyPr wrap="square" lIns="0" rIns="0" tIns="0" bIns="0" anchor="ctr">
            <a:spAutoFit/>
          </a:bodyPr>
          <a:lstStyle/>
          <a:p>
            <a:pPr algn="l"/>
            <a:r>
              <a:rPr sz="1050" b="0" i="0">
                <a:solidFill>
                  <a:srgbClr val="12343B"/>
                </a:solidFill>
                <a:latin typeface="Calibri"/>
              </a:rPr>
              <a:t>GR00T N1</a:t>
            </a:r>
          </a:p>
        </p:txBody>
      </p:sp>
      <p:sp>
        <p:nvSpPr>
          <p:cNvPr id="39" name="TextBox 38"/>
          <p:cNvSpPr txBox="1"/>
          <p:nvPr/>
        </p:nvSpPr>
        <p:spPr>
          <a:xfrm>
            <a:off x="4663440" y="5189219"/>
            <a:ext cx="1005839" cy="434340"/>
          </a:xfrm>
          <a:prstGeom prst="rect">
            <a:avLst/>
          </a:prstGeom>
          <a:noFill/>
        </p:spPr>
        <p:txBody>
          <a:bodyPr wrap="square" lIns="0" rIns="0" tIns="0" bIns="0" anchor="ctr">
            <a:spAutoFit/>
          </a:bodyPr>
          <a:lstStyle/>
          <a:p>
            <a:pPr algn="l"/>
            <a:r>
              <a:rPr sz="1050" b="0" i="0">
                <a:solidFill>
                  <a:srgbClr val="12343B"/>
                </a:solidFill>
                <a:latin typeface="Calibri"/>
              </a:rPr>
              <a:t>2025</a:t>
            </a:r>
          </a:p>
        </p:txBody>
      </p:sp>
      <p:sp>
        <p:nvSpPr>
          <p:cNvPr id="40" name="TextBox 39"/>
          <p:cNvSpPr txBox="1"/>
          <p:nvPr/>
        </p:nvSpPr>
        <p:spPr>
          <a:xfrm>
            <a:off x="5943600" y="5189219"/>
            <a:ext cx="5303520" cy="434340"/>
          </a:xfrm>
          <a:prstGeom prst="rect">
            <a:avLst/>
          </a:prstGeom>
          <a:noFill/>
        </p:spPr>
        <p:txBody>
          <a:bodyPr wrap="square" lIns="0" rIns="0" tIns="0" bIns="0" anchor="ctr">
            <a:spAutoFit/>
          </a:bodyPr>
          <a:lstStyle/>
          <a:p>
            <a:pPr algn="l"/>
            <a:r>
              <a:rPr sz="1050" b="0" i="0">
                <a:solidFill>
                  <a:srgbClr val="12343B"/>
                </a:solidFill>
                <a:latin typeface="Calibri"/>
              </a:rPr>
              <a:t>Dual-system humanoid foundation model</a:t>
            </a:r>
          </a:p>
        </p:txBody>
      </p:sp>
      <p:sp>
        <p:nvSpPr>
          <p:cNvPr id="41" name="Rectangle 40"/>
          <p:cNvSpPr/>
          <p:nvPr/>
        </p:nvSpPr>
        <p:spPr>
          <a:xfrm>
            <a:off x="777240" y="5623559"/>
            <a:ext cx="10607040" cy="434340"/>
          </a:xfrm>
          <a:prstGeom prst="rect">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14400" y="5623559"/>
            <a:ext cx="3474720" cy="434340"/>
          </a:xfrm>
          <a:prstGeom prst="rect">
            <a:avLst/>
          </a:prstGeom>
          <a:noFill/>
        </p:spPr>
        <p:txBody>
          <a:bodyPr wrap="square" lIns="0" rIns="0" tIns="0" bIns="0" anchor="ctr">
            <a:spAutoFit/>
          </a:bodyPr>
          <a:lstStyle/>
          <a:p>
            <a:pPr algn="l"/>
            <a:r>
              <a:rPr sz="1050" b="0" i="0">
                <a:solidFill>
                  <a:srgbClr val="12343B"/>
                </a:solidFill>
                <a:latin typeface="Calibri"/>
              </a:rPr>
              <a:t>CogACT</a:t>
            </a:r>
          </a:p>
        </p:txBody>
      </p:sp>
      <p:sp>
        <p:nvSpPr>
          <p:cNvPr id="43" name="TextBox 42"/>
          <p:cNvSpPr txBox="1"/>
          <p:nvPr/>
        </p:nvSpPr>
        <p:spPr>
          <a:xfrm>
            <a:off x="4663440" y="5623559"/>
            <a:ext cx="1005839" cy="434340"/>
          </a:xfrm>
          <a:prstGeom prst="rect">
            <a:avLst/>
          </a:prstGeom>
          <a:noFill/>
        </p:spPr>
        <p:txBody>
          <a:bodyPr wrap="square" lIns="0" rIns="0" tIns="0" bIns="0" anchor="ctr">
            <a:spAutoFit/>
          </a:bodyPr>
          <a:lstStyle/>
          <a:p>
            <a:pPr algn="l"/>
            <a:r>
              <a:rPr sz="1050" b="0" i="0">
                <a:solidFill>
                  <a:srgbClr val="12343B"/>
                </a:solidFill>
                <a:latin typeface="Calibri"/>
              </a:rPr>
              <a:t>2024</a:t>
            </a:r>
          </a:p>
        </p:txBody>
      </p:sp>
      <p:sp>
        <p:nvSpPr>
          <p:cNvPr id="44" name="TextBox 43"/>
          <p:cNvSpPr txBox="1"/>
          <p:nvPr/>
        </p:nvSpPr>
        <p:spPr>
          <a:xfrm>
            <a:off x="5943600" y="5623559"/>
            <a:ext cx="5303520" cy="434340"/>
          </a:xfrm>
          <a:prstGeom prst="rect">
            <a:avLst/>
          </a:prstGeom>
          <a:noFill/>
        </p:spPr>
        <p:txBody>
          <a:bodyPr wrap="square" lIns="0" rIns="0" tIns="0" bIns="0" anchor="ctr">
            <a:spAutoFit/>
          </a:bodyPr>
          <a:lstStyle/>
          <a:p>
            <a:pPr algn="l"/>
            <a:r>
              <a:rPr sz="1050" b="0" i="0">
                <a:solidFill>
                  <a:srgbClr val="12343B"/>
                </a:solidFill>
                <a:latin typeface="Calibri"/>
              </a:rPr>
              <a:t>Separate VLM cognition and diffusion action modules</a:t>
            </a:r>
          </a:p>
        </p:txBody>
      </p:sp>
      <p:cxnSp>
        <p:nvCxnSpPr>
          <p:cNvPr id="45" name="Connector 44"/>
          <p:cNvCxnSpPr/>
          <p:nvPr/>
        </p:nvCxnSpPr>
        <p:spPr>
          <a:xfrm>
            <a:off x="777240" y="1691640"/>
            <a:ext cx="0" cy="4366259"/>
          </a:xfrm>
          <a:prstGeom prst="line">
            <a:avLst/>
          </a:prstGeom>
          <a:ln w="12700">
            <a:solidFill>
              <a:srgbClr val="D6E7E4"/>
            </a:solidFill>
          </a:ln>
          <a:effectLst/>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11384280" y="1691640"/>
            <a:ext cx="0" cy="4366259"/>
          </a:xfrm>
          <a:prstGeom prst="line">
            <a:avLst/>
          </a:prstGeom>
          <a:ln w="12700">
            <a:solidFill>
              <a:srgbClr val="D6E7E4"/>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IN CONTEXT · 1</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VLA versus the classical robotics pipeline</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TextBox 4"/>
          <p:cNvSpPr txBox="1"/>
          <p:nvPr/>
        </p:nvSpPr>
        <p:spPr>
          <a:xfrm>
            <a:off x="777240" y="1783080"/>
            <a:ext cx="5120640" cy="320040"/>
          </a:xfrm>
          <a:prstGeom prst="rect">
            <a:avLst/>
          </a:prstGeom>
          <a:noFill/>
        </p:spPr>
        <p:txBody>
          <a:bodyPr wrap="square" lIns="0" rIns="0" tIns="0" bIns="0">
            <a:spAutoFit/>
          </a:bodyPr>
          <a:lstStyle/>
          <a:p>
            <a:pPr algn="l"/>
            <a:r>
              <a:rPr sz="1200" b="1" i="0">
                <a:solidFill>
                  <a:srgbClr val="5A7A80"/>
                </a:solidFill>
                <a:latin typeface="Calibri"/>
              </a:rPr>
              <a:t>TRADITIONAL PIPELINE</a:t>
            </a:r>
          </a:p>
        </p:txBody>
      </p:sp>
      <p:sp>
        <p:nvSpPr>
          <p:cNvPr id="6" name="Rounded Rectangle 5"/>
          <p:cNvSpPr/>
          <p:nvPr/>
        </p:nvSpPr>
        <p:spPr>
          <a:xfrm>
            <a:off x="777240" y="2240280"/>
            <a:ext cx="5120640" cy="777240"/>
          </a:xfrm>
          <a:prstGeom prst="roundRect">
            <a:avLst>
              <a:gd name="adj" fmla="val 10000"/>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TextBox 6"/>
          <p:cNvSpPr txBox="1"/>
          <p:nvPr/>
        </p:nvSpPr>
        <p:spPr>
          <a:xfrm>
            <a:off x="960120" y="2240280"/>
            <a:ext cx="4754880" cy="777240"/>
          </a:xfrm>
          <a:prstGeom prst="rect">
            <a:avLst/>
          </a:prstGeom>
          <a:noFill/>
        </p:spPr>
        <p:txBody>
          <a:bodyPr wrap="square" lIns="0" rIns="0" tIns="0" bIns="0" anchor="ctr">
            <a:spAutoFit/>
          </a:bodyPr>
          <a:lstStyle/>
          <a:p>
            <a:pPr algn="l">
              <a:lnSpc>
                <a:spcPct val="105000"/>
              </a:lnSpc>
            </a:pPr>
            <a:r>
              <a:rPr sz="1150" b="0" i="0">
                <a:solidFill>
                  <a:srgbClr val="12343B"/>
                </a:solidFill>
                <a:latin typeface="Calibri"/>
              </a:rPr>
              <a:t>Perception</a:t>
            </a:r>
          </a:p>
          <a:p>
            <a:pPr algn="l">
              <a:lnSpc>
                <a:spcPct val="105000"/>
              </a:lnSpc>
            </a:pPr>
            <a:r>
              <a:rPr sz="1150" b="0" i="0">
                <a:solidFill>
                  <a:srgbClr val="12343B"/>
                </a:solidFill>
                <a:latin typeface="Calibri"/>
              </a:rPr>
              <a:t>(object detection, pose estimation)</a:t>
            </a:r>
          </a:p>
        </p:txBody>
      </p:sp>
      <p:sp>
        <p:nvSpPr>
          <p:cNvPr id="8" name="Down Arrow 7"/>
          <p:cNvSpPr/>
          <p:nvPr/>
        </p:nvSpPr>
        <p:spPr>
          <a:xfrm>
            <a:off x="3200400" y="3017520"/>
            <a:ext cx="219456" cy="164592"/>
          </a:xfrm>
          <a:prstGeom prst="down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77240" y="3182112"/>
            <a:ext cx="5120640" cy="777240"/>
          </a:xfrm>
          <a:prstGeom prst="roundRect">
            <a:avLst>
              <a:gd name="adj" fmla="val 10000"/>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960120" y="3182112"/>
            <a:ext cx="4754880" cy="777240"/>
          </a:xfrm>
          <a:prstGeom prst="rect">
            <a:avLst/>
          </a:prstGeom>
          <a:noFill/>
        </p:spPr>
        <p:txBody>
          <a:bodyPr wrap="square" lIns="0" rIns="0" tIns="0" bIns="0" anchor="ctr">
            <a:spAutoFit/>
          </a:bodyPr>
          <a:lstStyle/>
          <a:p>
            <a:pPr algn="l">
              <a:lnSpc>
                <a:spcPct val="105000"/>
              </a:lnSpc>
            </a:pPr>
            <a:r>
              <a:rPr sz="1150" b="0" i="0">
                <a:solidFill>
                  <a:srgbClr val="12343B"/>
                </a:solidFill>
                <a:latin typeface="Calibri"/>
              </a:rPr>
              <a:t>State estimation</a:t>
            </a:r>
          </a:p>
          <a:p>
            <a:pPr algn="l">
              <a:lnSpc>
                <a:spcPct val="105000"/>
              </a:lnSpc>
            </a:pPr>
            <a:r>
              <a:rPr sz="1150" b="0" i="0">
                <a:solidFill>
                  <a:srgbClr val="12343B"/>
                </a:solidFill>
                <a:latin typeface="Calibri"/>
              </a:rPr>
              <a:t>(where is everything, exactly)</a:t>
            </a:r>
          </a:p>
        </p:txBody>
      </p:sp>
      <p:sp>
        <p:nvSpPr>
          <p:cNvPr id="11" name="Down Arrow 10"/>
          <p:cNvSpPr/>
          <p:nvPr/>
        </p:nvSpPr>
        <p:spPr>
          <a:xfrm>
            <a:off x="3200400" y="3959352"/>
            <a:ext cx="219456" cy="164592"/>
          </a:xfrm>
          <a:prstGeom prst="down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77240" y="4123944"/>
            <a:ext cx="5120640" cy="777240"/>
          </a:xfrm>
          <a:prstGeom prst="roundRect">
            <a:avLst>
              <a:gd name="adj" fmla="val 10000"/>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960120" y="4123944"/>
            <a:ext cx="4754880" cy="777240"/>
          </a:xfrm>
          <a:prstGeom prst="rect">
            <a:avLst/>
          </a:prstGeom>
          <a:noFill/>
        </p:spPr>
        <p:txBody>
          <a:bodyPr wrap="square" lIns="0" rIns="0" tIns="0" bIns="0" anchor="ctr">
            <a:spAutoFit/>
          </a:bodyPr>
          <a:lstStyle/>
          <a:p>
            <a:pPr algn="l">
              <a:lnSpc>
                <a:spcPct val="105000"/>
              </a:lnSpc>
            </a:pPr>
            <a:r>
              <a:rPr sz="1150" b="0" i="0">
                <a:solidFill>
                  <a:srgbClr val="12343B"/>
                </a:solidFill>
                <a:latin typeface="Calibri"/>
              </a:rPr>
              <a:t>Planning</a:t>
            </a:r>
          </a:p>
          <a:p>
            <a:pPr algn="l">
              <a:lnSpc>
                <a:spcPct val="105000"/>
              </a:lnSpc>
            </a:pPr>
            <a:r>
              <a:rPr sz="1150" b="0" i="0">
                <a:solidFill>
                  <a:srgbClr val="12343B"/>
                </a:solidFill>
                <a:latin typeface="Calibri"/>
              </a:rPr>
              <a:t>(motion or task planner)</a:t>
            </a:r>
          </a:p>
        </p:txBody>
      </p:sp>
      <p:sp>
        <p:nvSpPr>
          <p:cNvPr id="14" name="Down Arrow 13"/>
          <p:cNvSpPr/>
          <p:nvPr/>
        </p:nvSpPr>
        <p:spPr>
          <a:xfrm>
            <a:off x="3200400" y="4901184"/>
            <a:ext cx="219456" cy="164592"/>
          </a:xfrm>
          <a:prstGeom prst="downArrow">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77240" y="5065776"/>
            <a:ext cx="5120640" cy="777240"/>
          </a:xfrm>
          <a:prstGeom prst="roundRect">
            <a:avLst>
              <a:gd name="adj" fmla="val 10000"/>
            </a:avLst>
          </a:prstGeom>
          <a:solidFill>
            <a:srgbClr val="D6E7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960120" y="5065776"/>
            <a:ext cx="4754880" cy="777240"/>
          </a:xfrm>
          <a:prstGeom prst="rect">
            <a:avLst/>
          </a:prstGeom>
          <a:noFill/>
        </p:spPr>
        <p:txBody>
          <a:bodyPr wrap="square" lIns="0" rIns="0" tIns="0" bIns="0" anchor="ctr">
            <a:spAutoFit/>
          </a:bodyPr>
          <a:lstStyle/>
          <a:p>
            <a:pPr algn="l">
              <a:lnSpc>
                <a:spcPct val="105000"/>
              </a:lnSpc>
            </a:pPr>
            <a:r>
              <a:rPr sz="1150" b="0" i="0">
                <a:solidFill>
                  <a:srgbClr val="12343B"/>
                </a:solidFill>
                <a:latin typeface="Calibri"/>
              </a:rPr>
              <a:t>Control</a:t>
            </a:r>
          </a:p>
          <a:p>
            <a:pPr algn="l">
              <a:lnSpc>
                <a:spcPct val="105000"/>
              </a:lnSpc>
            </a:pPr>
            <a:r>
              <a:rPr sz="1150" b="0" i="0">
                <a:solidFill>
                  <a:srgbClr val="12343B"/>
                </a:solidFill>
                <a:latin typeface="Calibri"/>
              </a:rPr>
              <a:t>(low-level motor commands)</a:t>
            </a:r>
          </a:p>
        </p:txBody>
      </p:sp>
      <p:sp>
        <p:nvSpPr>
          <p:cNvPr id="17" name="TextBox 16"/>
          <p:cNvSpPr txBox="1"/>
          <p:nvPr/>
        </p:nvSpPr>
        <p:spPr>
          <a:xfrm>
            <a:off x="777240" y="5989320"/>
            <a:ext cx="5120640" cy="320040"/>
          </a:xfrm>
          <a:prstGeom prst="rect">
            <a:avLst/>
          </a:prstGeom>
          <a:noFill/>
        </p:spPr>
        <p:txBody>
          <a:bodyPr wrap="square" lIns="0" rIns="0" tIns="0" bIns="0">
            <a:spAutoFit/>
          </a:bodyPr>
          <a:lstStyle/>
          <a:p>
            <a:pPr algn="l"/>
            <a:r>
              <a:rPr sz="1050" b="0" i="1">
                <a:solidFill>
                  <a:srgbClr val="5A7A80"/>
                </a:solidFill>
                <a:latin typeface="Calibri"/>
              </a:rPr>
              <a:t>Each stage hand-engineered and separately tuned</a:t>
            </a:r>
          </a:p>
        </p:txBody>
      </p:sp>
      <p:sp>
        <p:nvSpPr>
          <p:cNvPr id="18" name="TextBox 17"/>
          <p:cNvSpPr txBox="1"/>
          <p:nvPr/>
        </p:nvSpPr>
        <p:spPr>
          <a:xfrm>
            <a:off x="6537960" y="1783080"/>
            <a:ext cx="4846320" cy="320040"/>
          </a:xfrm>
          <a:prstGeom prst="rect">
            <a:avLst/>
          </a:prstGeom>
          <a:noFill/>
        </p:spPr>
        <p:txBody>
          <a:bodyPr wrap="square" lIns="0" rIns="0" tIns="0" bIns="0">
            <a:spAutoFit/>
          </a:bodyPr>
          <a:lstStyle/>
          <a:p>
            <a:pPr algn="l"/>
            <a:r>
              <a:rPr sz="1200" b="1" i="0">
                <a:solidFill>
                  <a:srgbClr val="028090"/>
                </a:solidFill>
                <a:latin typeface="Calibri"/>
              </a:rPr>
              <a:t>VLA PIPELINE</a:t>
            </a:r>
          </a:p>
        </p:txBody>
      </p:sp>
      <p:sp>
        <p:nvSpPr>
          <p:cNvPr id="19" name="Rounded Rectangle 18"/>
          <p:cNvSpPr/>
          <p:nvPr/>
        </p:nvSpPr>
        <p:spPr>
          <a:xfrm>
            <a:off x="6537960" y="2240280"/>
            <a:ext cx="4846320" cy="3291840"/>
          </a:xfrm>
          <a:prstGeom prst="roundRect">
            <a:avLst>
              <a:gd name="adj" fmla="val 8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6812280" y="2514600"/>
            <a:ext cx="4297680" cy="502920"/>
          </a:xfrm>
          <a:prstGeom prst="rect">
            <a:avLst/>
          </a:prstGeom>
          <a:noFill/>
        </p:spPr>
        <p:txBody>
          <a:bodyPr wrap="square" lIns="0" rIns="0" tIns="0" bIns="0">
            <a:spAutoFit/>
          </a:bodyPr>
          <a:lstStyle/>
          <a:p>
            <a:pPr algn="l"/>
            <a:r>
              <a:rPr sz="1400" b="1" i="0">
                <a:solidFill>
                  <a:srgbClr val="12343B"/>
                </a:solidFill>
                <a:latin typeface="Calibri"/>
              </a:rPr>
              <a:t>One learned model</a:t>
            </a:r>
          </a:p>
        </p:txBody>
      </p:sp>
      <p:sp>
        <p:nvSpPr>
          <p:cNvPr id="21" name="TextBox 20"/>
          <p:cNvSpPr txBox="1"/>
          <p:nvPr/>
        </p:nvSpPr>
        <p:spPr>
          <a:xfrm>
            <a:off x="6812280" y="3063240"/>
            <a:ext cx="4297680" cy="1828800"/>
          </a:xfrm>
          <a:prstGeom prst="rect">
            <a:avLst/>
          </a:prstGeom>
          <a:noFill/>
        </p:spPr>
        <p:txBody>
          <a:bodyPr wrap="square" lIns="0" rIns="0" tIns="0" bIns="0">
            <a:spAutoFit/>
          </a:bodyPr>
          <a:lstStyle/>
          <a:p>
            <a:pPr algn="l">
              <a:lnSpc>
                <a:spcPct val="115000"/>
              </a:lnSpc>
            </a:pPr>
            <a:r>
              <a:rPr sz="1200" b="0" i="0">
                <a:solidFill>
                  <a:srgbClr val="5A7A80"/>
                </a:solidFill>
                <a:latin typeface="Calibri"/>
              </a:rPr>
              <a:t>Perception, state understanding, planning and control are folded into a single network trained end-to-end on demonstrations. There is no explicit object detector or motion planner to hand-tune; the mapping from pixels and words to motor commands is learned directly.</a:t>
            </a:r>
          </a:p>
        </p:txBody>
      </p:sp>
      <p:sp>
        <p:nvSpPr>
          <p:cNvPr id="22" name="TextBox 21"/>
          <p:cNvSpPr txBox="1"/>
          <p:nvPr/>
        </p:nvSpPr>
        <p:spPr>
          <a:xfrm>
            <a:off x="6812280" y="4709160"/>
            <a:ext cx="4297680" cy="685800"/>
          </a:xfrm>
          <a:prstGeom prst="rect">
            <a:avLst/>
          </a:prstGeom>
          <a:noFill/>
        </p:spPr>
        <p:txBody>
          <a:bodyPr wrap="square" lIns="0" rIns="0" tIns="0" bIns="0">
            <a:spAutoFit/>
          </a:bodyPr>
          <a:lstStyle/>
          <a:p>
            <a:pPr algn="l">
              <a:lnSpc>
                <a:spcPct val="115000"/>
              </a:lnSpc>
            </a:pPr>
            <a:r>
              <a:rPr sz="1200" b="0" i="1">
                <a:solidFill>
                  <a:srgbClr val="028090"/>
                </a:solidFill>
                <a:latin typeface="Calibri"/>
              </a:rPr>
              <a:t>What used to be four separately engineered modules becomes one training data problem: collect enough good demonstrations and the split between stages disappears.</a:t>
            </a:r>
          </a:p>
        </p:txBody>
      </p:sp>
      <p:sp>
        <p:nvSpPr>
          <p:cNvPr id="23" name="TextBox 22"/>
          <p:cNvSpPr txBox="1"/>
          <p:nvPr/>
        </p:nvSpPr>
        <p:spPr>
          <a:xfrm>
            <a:off x="6537960" y="5989320"/>
            <a:ext cx="4846320" cy="320040"/>
          </a:xfrm>
          <a:prstGeom prst="rect">
            <a:avLst/>
          </a:prstGeom>
          <a:noFill/>
        </p:spPr>
        <p:txBody>
          <a:bodyPr wrap="square" lIns="0" rIns="0" tIns="0" bIns="0">
            <a:spAutoFit/>
          </a:bodyPr>
          <a:lstStyle/>
          <a:p>
            <a:pPr algn="l"/>
            <a:r>
              <a:rPr sz="1050" b="0" i="1">
                <a:solidFill>
                  <a:srgbClr val="5A7A80"/>
                </a:solidFill>
                <a:latin typeface="Calibri"/>
              </a:rPr>
              <a:t>Fewer hand-tuned stages, but a black box to debug</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IN CONTEXT · 2</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VLA, VLM, and LLM agents are not the same thing</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pic>
        <p:nvPicPr>
          <p:cNvPr id="5" name="Picture 4" descr="fig_saycan_overview_ahn2022.png"/>
          <p:cNvPicPr>
            <a:picLocks noChangeAspect="1"/>
          </p:cNvPicPr>
          <p:nvPr/>
        </p:nvPicPr>
        <p:blipFill>
          <a:blip r:embed="rId2"/>
          <a:stretch>
            <a:fillRect/>
          </a:stretch>
        </p:blipFill>
        <p:spPr>
          <a:xfrm>
            <a:off x="1468429" y="1783080"/>
            <a:ext cx="9224660" cy="2103120"/>
          </a:xfrm>
          <a:prstGeom prst="rect">
            <a:avLst/>
          </a:prstGeom>
        </p:spPr>
      </p:pic>
      <p:sp>
        <p:nvSpPr>
          <p:cNvPr id="6" name="TextBox 5"/>
          <p:cNvSpPr txBox="1"/>
          <p:nvPr/>
        </p:nvSpPr>
        <p:spPr>
          <a:xfrm>
            <a:off x="777240" y="3913632"/>
            <a:ext cx="10607040" cy="320040"/>
          </a:xfrm>
          <a:prstGeom prst="rect">
            <a:avLst/>
          </a:prstGeom>
          <a:noFill/>
        </p:spPr>
        <p:txBody>
          <a:bodyPr wrap="square" lIns="0" rIns="0" tIns="0" bIns="0">
            <a:spAutoFit/>
          </a:bodyPr>
          <a:lstStyle/>
          <a:p>
            <a:pPr algn="l">
              <a:lnSpc>
                <a:spcPct val="105000"/>
              </a:lnSpc>
            </a:pPr>
            <a:r>
              <a:rPr sz="950" b="0" i="0">
                <a:solidFill>
                  <a:srgbClr val="8FA9AE"/>
                </a:solidFill>
                <a:latin typeface="Calibri"/>
              </a:rPr>
              <a:t>Ahn et al. (2022), Do As I Can, Not As I Say: Grounding Language in Robotic Affordances, arXiv:2204.01691, Figure 1.</a:t>
            </a:r>
          </a:p>
        </p:txBody>
      </p:sp>
      <p:sp>
        <p:nvSpPr>
          <p:cNvPr id="7" name="Rounded Rectangle 6"/>
          <p:cNvSpPr/>
          <p:nvPr/>
        </p:nvSpPr>
        <p:spPr>
          <a:xfrm>
            <a:off x="777240" y="4389120"/>
            <a:ext cx="3401568" cy="17830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96695" y="4608576"/>
            <a:ext cx="2962656" cy="292608"/>
          </a:xfrm>
          <a:prstGeom prst="rect">
            <a:avLst/>
          </a:prstGeom>
          <a:noFill/>
        </p:spPr>
        <p:txBody>
          <a:bodyPr wrap="square" lIns="0" rIns="0" tIns="0" bIns="0">
            <a:spAutoFit/>
          </a:bodyPr>
          <a:lstStyle/>
          <a:p>
            <a:pPr algn="l"/>
            <a:r>
              <a:rPr sz="1350" b="1" i="0">
                <a:solidFill>
                  <a:srgbClr val="12343B"/>
                </a:solidFill>
                <a:latin typeface="Calibri"/>
              </a:rPr>
              <a:t>A VLM</a:t>
            </a:r>
          </a:p>
        </p:txBody>
      </p:sp>
      <p:sp>
        <p:nvSpPr>
          <p:cNvPr id="9" name="TextBox 8"/>
          <p:cNvSpPr txBox="1"/>
          <p:nvPr/>
        </p:nvSpPr>
        <p:spPr>
          <a:xfrm>
            <a:off x="996695" y="4992624"/>
            <a:ext cx="2962656" cy="960119"/>
          </a:xfrm>
          <a:prstGeom prst="rect">
            <a:avLst/>
          </a:prstGeom>
          <a:noFill/>
        </p:spPr>
        <p:txBody>
          <a:bodyPr wrap="square" lIns="0" rIns="0" tIns="0" bIns="0">
            <a:spAutoFit/>
          </a:bodyPr>
          <a:lstStyle/>
          <a:p>
            <a:pPr algn="l">
              <a:lnSpc>
                <a:spcPct val="112000"/>
              </a:lnSpc>
            </a:pPr>
            <a:r>
              <a:rPr sz="1150" b="0" i="0">
                <a:solidFill>
                  <a:srgbClr val="5A7A80"/>
                </a:solidFill>
                <a:latin typeface="Calibri"/>
              </a:rPr>
              <a:t>Describes or answers questions about an image and text. No robot, no action output.</a:t>
            </a:r>
          </a:p>
        </p:txBody>
      </p:sp>
      <p:sp>
        <p:nvSpPr>
          <p:cNvPr id="10" name="Rounded Rectangle 9"/>
          <p:cNvSpPr/>
          <p:nvPr/>
        </p:nvSpPr>
        <p:spPr>
          <a:xfrm>
            <a:off x="4361688" y="4389120"/>
            <a:ext cx="3401568" cy="17830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4581144" y="4608576"/>
            <a:ext cx="2962656" cy="292608"/>
          </a:xfrm>
          <a:prstGeom prst="rect">
            <a:avLst/>
          </a:prstGeom>
          <a:noFill/>
        </p:spPr>
        <p:txBody>
          <a:bodyPr wrap="square" lIns="0" rIns="0" tIns="0" bIns="0">
            <a:spAutoFit/>
          </a:bodyPr>
          <a:lstStyle/>
          <a:p>
            <a:pPr algn="l"/>
            <a:r>
              <a:rPr sz="1350" b="1" i="0">
                <a:solidFill>
                  <a:srgbClr val="12343B"/>
                </a:solidFill>
                <a:latin typeface="Calibri"/>
              </a:rPr>
              <a:t>An LLM agent</a:t>
            </a:r>
          </a:p>
        </p:txBody>
      </p:sp>
      <p:sp>
        <p:nvSpPr>
          <p:cNvPr id="12" name="TextBox 11"/>
          <p:cNvSpPr txBox="1"/>
          <p:nvPr/>
        </p:nvSpPr>
        <p:spPr>
          <a:xfrm>
            <a:off x="4581144" y="4992624"/>
            <a:ext cx="2962656" cy="960119"/>
          </a:xfrm>
          <a:prstGeom prst="rect">
            <a:avLst/>
          </a:prstGeom>
          <a:noFill/>
        </p:spPr>
        <p:txBody>
          <a:bodyPr wrap="square" lIns="0" rIns="0" tIns="0" bIns="0">
            <a:spAutoFit/>
          </a:bodyPr>
          <a:lstStyle/>
          <a:p>
            <a:pPr algn="l">
              <a:lnSpc>
                <a:spcPct val="112000"/>
              </a:lnSpc>
            </a:pPr>
            <a:r>
              <a:rPr sz="1150" b="0" i="0">
                <a:solidFill>
                  <a:srgbClr val="5A7A80"/>
                </a:solidFill>
                <a:latin typeface="Calibri"/>
              </a:rPr>
              <a:t>Plans and calls tools or APIs in text space. SayCan is the bridge case: an LLM plans in language, then hands each step to a separately-trained robot skill.</a:t>
            </a:r>
          </a:p>
        </p:txBody>
      </p:sp>
      <p:sp>
        <p:nvSpPr>
          <p:cNvPr id="13" name="Rounded Rectangle 12"/>
          <p:cNvSpPr/>
          <p:nvPr/>
        </p:nvSpPr>
        <p:spPr>
          <a:xfrm>
            <a:off x="7946136" y="4389120"/>
            <a:ext cx="3401568" cy="178308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8165592" y="4608576"/>
            <a:ext cx="2962656" cy="292608"/>
          </a:xfrm>
          <a:prstGeom prst="rect">
            <a:avLst/>
          </a:prstGeom>
          <a:noFill/>
        </p:spPr>
        <p:txBody>
          <a:bodyPr wrap="square" lIns="0" rIns="0" tIns="0" bIns="0">
            <a:spAutoFit/>
          </a:bodyPr>
          <a:lstStyle/>
          <a:p>
            <a:pPr algn="l"/>
            <a:r>
              <a:rPr sz="1350" b="1" i="0">
                <a:solidFill>
                  <a:srgbClr val="12343B"/>
                </a:solidFill>
                <a:latin typeface="Calibri"/>
              </a:rPr>
              <a:t>A VLA</a:t>
            </a:r>
          </a:p>
        </p:txBody>
      </p:sp>
      <p:sp>
        <p:nvSpPr>
          <p:cNvPr id="15" name="TextBox 14"/>
          <p:cNvSpPr txBox="1"/>
          <p:nvPr/>
        </p:nvSpPr>
        <p:spPr>
          <a:xfrm>
            <a:off x="8165592" y="4992624"/>
            <a:ext cx="2962656" cy="960119"/>
          </a:xfrm>
          <a:prstGeom prst="rect">
            <a:avLst/>
          </a:prstGeom>
          <a:noFill/>
        </p:spPr>
        <p:txBody>
          <a:bodyPr wrap="square" lIns="0" rIns="0" tIns="0" bIns="0">
            <a:spAutoFit/>
          </a:bodyPr>
          <a:lstStyle/>
          <a:p>
            <a:pPr algn="l">
              <a:lnSpc>
                <a:spcPct val="112000"/>
              </a:lnSpc>
            </a:pPr>
            <a:r>
              <a:rPr sz="1150" b="0" i="0">
                <a:solidFill>
                  <a:srgbClr val="5A7A80"/>
                </a:solidFill>
                <a:latin typeface="Calibri"/>
              </a:rPr>
              <a:t>Skips the hand-off. One model takes pixels and language in and produces motor commands out, trained end-to-end rather than composed from separate pieces.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APPLICATIONS</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Where VLA models are already being deployed</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pic>
        <p:nvPicPr>
          <p:cNvPr id="5" name="Picture 4" descr="fig_figure_helix_robots_2025.jpg"/>
          <p:cNvPicPr>
            <a:picLocks noChangeAspect="1"/>
          </p:cNvPicPr>
          <p:nvPr/>
        </p:nvPicPr>
        <p:blipFill>
          <a:blip r:embed="rId2"/>
          <a:stretch>
            <a:fillRect/>
          </a:stretch>
        </p:blipFill>
        <p:spPr>
          <a:xfrm>
            <a:off x="777240" y="2077402"/>
            <a:ext cx="5212080" cy="2931795"/>
          </a:xfrm>
          <a:prstGeom prst="rect">
            <a:avLst/>
          </a:prstGeom>
        </p:spPr>
      </p:pic>
      <p:sp>
        <p:nvSpPr>
          <p:cNvPr id="6" name="TextBox 5"/>
          <p:cNvSpPr txBox="1"/>
          <p:nvPr/>
        </p:nvSpPr>
        <p:spPr>
          <a:xfrm>
            <a:off x="777240" y="5349240"/>
            <a:ext cx="5212080" cy="502920"/>
          </a:xfrm>
          <a:prstGeom prst="rect">
            <a:avLst/>
          </a:prstGeom>
          <a:noFill/>
        </p:spPr>
        <p:txBody>
          <a:bodyPr wrap="square" lIns="0" rIns="0" tIns="0" bIns="0">
            <a:spAutoFit/>
          </a:bodyPr>
          <a:lstStyle/>
          <a:p>
            <a:pPr algn="l">
              <a:lnSpc>
                <a:spcPct val="105000"/>
              </a:lnSpc>
            </a:pPr>
            <a:r>
              <a:rPr sz="950" b="0" i="0">
                <a:solidFill>
                  <a:srgbClr val="8FA9AE"/>
                </a:solidFill>
                <a:latin typeface="Calibri"/>
              </a:rPr>
              <a:t>Figure AI (2025), Helix, official product page, figure.ai/news/helix.</a:t>
            </a:r>
          </a:p>
        </p:txBody>
      </p:sp>
      <p:sp>
        <p:nvSpPr>
          <p:cNvPr id="7" name="Rounded Rectangle 6"/>
          <p:cNvSpPr/>
          <p:nvPr/>
        </p:nvSpPr>
        <p:spPr>
          <a:xfrm>
            <a:off x="777240" y="5897880"/>
            <a:ext cx="5212080" cy="365760"/>
          </a:xfrm>
          <a:prstGeom prst="roundRect">
            <a:avLst>
              <a:gd name="adj" fmla="val 6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868680" y="5989320"/>
            <a:ext cx="5029200" cy="182880"/>
          </a:xfrm>
          <a:prstGeom prst="rect">
            <a:avLst/>
          </a:prstGeom>
          <a:noFill/>
        </p:spPr>
        <p:txBody>
          <a:bodyPr wrap="square" lIns="0" rIns="0" tIns="0" bIns="0">
            <a:spAutoFit/>
          </a:bodyPr>
          <a:lstStyle/>
          <a:p>
            <a:pPr algn="l">
              <a:lnSpc>
                <a:spcPct val="112000"/>
              </a:lnSpc>
            </a:pPr>
            <a:r>
              <a:rPr sz="1050" b="0" i="0">
                <a:solidFill>
                  <a:srgbClr val="5A7A80"/>
                </a:solidFill>
                <a:latin typeface="Calibri"/>
              </a:rPr>
              <a:t>Two Figure robots coordinating a handoff, driven end-to-end by a VLA policy.</a:t>
            </a:r>
          </a:p>
        </p:txBody>
      </p:sp>
      <p:pic>
        <p:nvPicPr>
          <p:cNvPr id="9" name="Picture 8" descr="fig_pi0_laundry_black2024.png"/>
          <p:cNvPicPr>
            <a:picLocks noChangeAspect="1"/>
          </p:cNvPicPr>
          <p:nvPr/>
        </p:nvPicPr>
        <p:blipFill>
          <a:blip r:embed="rId3"/>
          <a:stretch>
            <a:fillRect/>
          </a:stretch>
        </p:blipFill>
        <p:spPr>
          <a:xfrm>
            <a:off x="6172200" y="1938708"/>
            <a:ext cx="5212080" cy="786022"/>
          </a:xfrm>
          <a:prstGeom prst="rect">
            <a:avLst/>
          </a:prstGeom>
        </p:spPr>
      </p:pic>
      <p:sp>
        <p:nvSpPr>
          <p:cNvPr id="10" name="TextBox 9"/>
          <p:cNvSpPr txBox="1"/>
          <p:nvPr/>
        </p:nvSpPr>
        <p:spPr>
          <a:xfrm>
            <a:off x="6172200" y="2788920"/>
            <a:ext cx="5212080" cy="320040"/>
          </a:xfrm>
          <a:prstGeom prst="rect">
            <a:avLst/>
          </a:prstGeom>
          <a:noFill/>
        </p:spPr>
        <p:txBody>
          <a:bodyPr wrap="square" lIns="0" rIns="0" tIns="0" bIns="0">
            <a:spAutoFit/>
          </a:bodyPr>
          <a:lstStyle/>
          <a:p>
            <a:pPr algn="l">
              <a:lnSpc>
                <a:spcPct val="105000"/>
              </a:lnSpc>
            </a:pPr>
            <a:r>
              <a:rPr sz="950" b="0" i="0">
                <a:solidFill>
                  <a:srgbClr val="8FA9AE"/>
                </a:solidFill>
                <a:latin typeface="Calibri"/>
              </a:rPr>
              <a:t>Black et al., Physical Intelligence (2024), arXiv:2410.24164, Figure 2.</a:t>
            </a:r>
          </a:p>
        </p:txBody>
      </p:sp>
      <p:sp>
        <p:nvSpPr>
          <p:cNvPr id="11" name="Rounded Rectangle 10"/>
          <p:cNvSpPr/>
          <p:nvPr/>
        </p:nvSpPr>
        <p:spPr>
          <a:xfrm>
            <a:off x="6172200" y="3291840"/>
            <a:ext cx="5212080" cy="297180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6391656" y="3511296"/>
            <a:ext cx="4773168" cy="292608"/>
          </a:xfrm>
          <a:prstGeom prst="rect">
            <a:avLst/>
          </a:prstGeom>
          <a:noFill/>
        </p:spPr>
        <p:txBody>
          <a:bodyPr wrap="square" lIns="0" rIns="0" tIns="0" bIns="0">
            <a:spAutoFit/>
          </a:bodyPr>
          <a:lstStyle/>
          <a:p>
            <a:pPr algn="l"/>
            <a:r>
              <a:rPr sz="1350" b="1" i="0">
                <a:solidFill>
                  <a:srgbClr val="12343B"/>
                </a:solidFill>
                <a:latin typeface="Calibri"/>
              </a:rPr>
              <a:t>Also emerging in</a:t>
            </a:r>
          </a:p>
        </p:txBody>
      </p:sp>
      <p:sp>
        <p:nvSpPr>
          <p:cNvPr id="13" name="TextBox 12"/>
          <p:cNvSpPr txBox="1"/>
          <p:nvPr/>
        </p:nvSpPr>
        <p:spPr>
          <a:xfrm>
            <a:off x="6391656" y="3895344"/>
            <a:ext cx="4773168" cy="2148840"/>
          </a:xfrm>
          <a:prstGeom prst="rect">
            <a:avLst/>
          </a:prstGeom>
          <a:noFill/>
        </p:spPr>
        <p:txBody>
          <a:bodyPr wrap="square" lIns="0" rIns="0" tIns="0" bIns="0">
            <a:spAutoFit/>
          </a:bodyPr>
          <a:lstStyle/>
          <a:p>
            <a:pPr algn="l">
              <a:lnSpc>
                <a:spcPct val="112000"/>
              </a:lnSpc>
            </a:pPr>
            <a:r>
              <a:rPr sz="1200" b="0" i="0">
                <a:solidFill>
                  <a:srgbClr val="5A7A80"/>
                </a:solidFill>
                <a:latin typeface="Calibri"/>
              </a:rPr>
              <a:t>Warehouse pick-and-place, kitchen and food-service robots, assistive and eldercare manipulation, and general-purpose humanoid platforms across logistics and light manufacturing. pi-0's laundry-folding run above is a good proxy for the field's current frontier: long, contact-rich, everyday tasks in unstructured home environments rather than the controlled factory floor.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CHALLENGES</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Seven open problems, from data to deployment</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ounded Rectangle 4"/>
          <p:cNvSpPr/>
          <p:nvPr/>
        </p:nvSpPr>
        <p:spPr>
          <a:xfrm>
            <a:off x="777240" y="1783080"/>
            <a:ext cx="384048" cy="38404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777240" y="1783080"/>
            <a:ext cx="384048" cy="384048"/>
          </a:xfrm>
          <a:prstGeom prst="rect">
            <a:avLst/>
          </a:prstGeom>
          <a:noFill/>
        </p:spPr>
        <p:txBody>
          <a:bodyPr wrap="square" lIns="0" rIns="0" tIns="0" bIns="0" anchor="ctr">
            <a:spAutoFit/>
          </a:bodyPr>
          <a:lstStyle/>
          <a:p>
            <a:pPr algn="ctr"/>
            <a:r>
              <a:rPr sz="1300" b="1" i="0">
                <a:solidFill>
                  <a:srgbClr val="FFFFFF"/>
                </a:solidFill>
                <a:latin typeface="Calibri"/>
              </a:rPr>
              <a:t>1</a:t>
            </a:r>
          </a:p>
        </p:txBody>
      </p:sp>
      <p:sp>
        <p:nvSpPr>
          <p:cNvPr id="7" name="TextBox 6"/>
          <p:cNvSpPr txBox="1"/>
          <p:nvPr/>
        </p:nvSpPr>
        <p:spPr>
          <a:xfrm>
            <a:off x="1371600" y="1783080"/>
            <a:ext cx="10012680" cy="548640"/>
          </a:xfrm>
          <a:prstGeom prst="rect">
            <a:avLst/>
          </a:prstGeom>
          <a:noFill/>
        </p:spPr>
        <p:txBody>
          <a:bodyPr wrap="square" lIns="0" rIns="0" tIns="0" bIns="0" anchor="ctr">
            <a:spAutoFit/>
          </a:bodyPr>
          <a:lstStyle/>
          <a:p>
            <a:pPr algn="l">
              <a:lnSpc>
                <a:spcPct val="105000"/>
              </a:lnSpc>
            </a:pPr>
            <a:r>
              <a:rPr sz="1300" b="0" i="0">
                <a:solidFill>
                  <a:srgbClr val="12343B"/>
                </a:solidFill>
                <a:latin typeface="Calibri"/>
              </a:rPr>
              <a:t>Data scarcity: three to four orders of magnitude less data than vision or language models had</a:t>
            </a:r>
          </a:p>
        </p:txBody>
      </p:sp>
      <p:sp>
        <p:nvSpPr>
          <p:cNvPr id="8" name="Rounded Rectangle 7"/>
          <p:cNvSpPr/>
          <p:nvPr/>
        </p:nvSpPr>
        <p:spPr>
          <a:xfrm>
            <a:off x="777240" y="2404872"/>
            <a:ext cx="384048" cy="38404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777240" y="2404872"/>
            <a:ext cx="384048" cy="384048"/>
          </a:xfrm>
          <a:prstGeom prst="rect">
            <a:avLst/>
          </a:prstGeom>
          <a:noFill/>
        </p:spPr>
        <p:txBody>
          <a:bodyPr wrap="square" lIns="0" rIns="0" tIns="0" bIns="0" anchor="ctr">
            <a:spAutoFit/>
          </a:bodyPr>
          <a:lstStyle/>
          <a:p>
            <a:pPr algn="ctr"/>
            <a:r>
              <a:rPr sz="1300" b="1" i="0">
                <a:solidFill>
                  <a:srgbClr val="FFFFFF"/>
                </a:solidFill>
                <a:latin typeface="Calibri"/>
              </a:rPr>
              <a:t>2</a:t>
            </a:r>
          </a:p>
        </p:txBody>
      </p:sp>
      <p:sp>
        <p:nvSpPr>
          <p:cNvPr id="10" name="TextBox 9"/>
          <p:cNvSpPr txBox="1"/>
          <p:nvPr/>
        </p:nvSpPr>
        <p:spPr>
          <a:xfrm>
            <a:off x="1371600" y="2404872"/>
            <a:ext cx="10012680" cy="548640"/>
          </a:xfrm>
          <a:prstGeom prst="rect">
            <a:avLst/>
          </a:prstGeom>
          <a:noFill/>
        </p:spPr>
        <p:txBody>
          <a:bodyPr wrap="square" lIns="0" rIns="0" tIns="0" bIns="0" anchor="ctr">
            <a:spAutoFit/>
          </a:bodyPr>
          <a:lstStyle/>
          <a:p>
            <a:pPr algn="l">
              <a:lnSpc>
                <a:spcPct val="105000"/>
              </a:lnSpc>
            </a:pPr>
            <a:r>
              <a:rPr sz="1300" b="0" i="0">
                <a:solidFill>
                  <a:srgbClr val="12343B"/>
                </a:solidFill>
                <a:latin typeface="Calibri"/>
              </a:rPr>
              <a:t>Generalization: to new objects, scenes, and instructions beyond the training distribution</a:t>
            </a:r>
          </a:p>
        </p:txBody>
      </p:sp>
      <p:sp>
        <p:nvSpPr>
          <p:cNvPr id="11" name="Rounded Rectangle 10"/>
          <p:cNvSpPr/>
          <p:nvPr/>
        </p:nvSpPr>
        <p:spPr>
          <a:xfrm>
            <a:off x="777240" y="3026664"/>
            <a:ext cx="384048" cy="38404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777240" y="3026664"/>
            <a:ext cx="384048" cy="384048"/>
          </a:xfrm>
          <a:prstGeom prst="rect">
            <a:avLst/>
          </a:prstGeom>
          <a:noFill/>
        </p:spPr>
        <p:txBody>
          <a:bodyPr wrap="square" lIns="0" rIns="0" tIns="0" bIns="0" anchor="ctr">
            <a:spAutoFit/>
          </a:bodyPr>
          <a:lstStyle/>
          <a:p>
            <a:pPr algn="ctr"/>
            <a:r>
              <a:rPr sz="1300" b="1" i="0">
                <a:solidFill>
                  <a:srgbClr val="FFFFFF"/>
                </a:solidFill>
                <a:latin typeface="Calibri"/>
              </a:rPr>
              <a:t>3</a:t>
            </a:r>
          </a:p>
        </p:txBody>
      </p:sp>
      <p:sp>
        <p:nvSpPr>
          <p:cNvPr id="13" name="TextBox 12"/>
          <p:cNvSpPr txBox="1"/>
          <p:nvPr/>
        </p:nvSpPr>
        <p:spPr>
          <a:xfrm>
            <a:off x="1371600" y="3026664"/>
            <a:ext cx="10012680" cy="548640"/>
          </a:xfrm>
          <a:prstGeom prst="rect">
            <a:avLst/>
          </a:prstGeom>
          <a:noFill/>
        </p:spPr>
        <p:txBody>
          <a:bodyPr wrap="square" lIns="0" rIns="0" tIns="0" bIns="0" anchor="ctr">
            <a:spAutoFit/>
          </a:bodyPr>
          <a:lstStyle/>
          <a:p>
            <a:pPr algn="l">
              <a:lnSpc>
                <a:spcPct val="105000"/>
              </a:lnSpc>
            </a:pPr>
            <a:r>
              <a:rPr sz="1300" b="0" i="0">
                <a:solidFill>
                  <a:srgbClr val="12343B"/>
                </a:solidFill>
                <a:latin typeface="Calibri"/>
              </a:rPr>
              <a:t>Latency: reasoning-heavy models must still act inside a tight control loop</a:t>
            </a:r>
          </a:p>
        </p:txBody>
      </p:sp>
      <p:sp>
        <p:nvSpPr>
          <p:cNvPr id="14" name="Rounded Rectangle 13"/>
          <p:cNvSpPr/>
          <p:nvPr/>
        </p:nvSpPr>
        <p:spPr>
          <a:xfrm>
            <a:off x="777240" y="3648456"/>
            <a:ext cx="384048" cy="38404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777240" y="3648456"/>
            <a:ext cx="384048" cy="384048"/>
          </a:xfrm>
          <a:prstGeom prst="rect">
            <a:avLst/>
          </a:prstGeom>
          <a:noFill/>
        </p:spPr>
        <p:txBody>
          <a:bodyPr wrap="square" lIns="0" rIns="0" tIns="0" bIns="0" anchor="ctr">
            <a:spAutoFit/>
          </a:bodyPr>
          <a:lstStyle/>
          <a:p>
            <a:pPr algn="ctr"/>
            <a:r>
              <a:rPr sz="1300" b="1" i="0">
                <a:solidFill>
                  <a:srgbClr val="FFFFFF"/>
                </a:solidFill>
                <a:latin typeface="Calibri"/>
              </a:rPr>
              <a:t>4</a:t>
            </a:r>
          </a:p>
        </p:txBody>
      </p:sp>
      <p:sp>
        <p:nvSpPr>
          <p:cNvPr id="16" name="TextBox 15"/>
          <p:cNvSpPr txBox="1"/>
          <p:nvPr/>
        </p:nvSpPr>
        <p:spPr>
          <a:xfrm>
            <a:off x="1371600" y="3648456"/>
            <a:ext cx="10012680" cy="548640"/>
          </a:xfrm>
          <a:prstGeom prst="rect">
            <a:avLst/>
          </a:prstGeom>
          <a:noFill/>
        </p:spPr>
        <p:txBody>
          <a:bodyPr wrap="square" lIns="0" rIns="0" tIns="0" bIns="0" anchor="ctr">
            <a:spAutoFit/>
          </a:bodyPr>
          <a:lstStyle/>
          <a:p>
            <a:pPr algn="l">
              <a:lnSpc>
                <a:spcPct val="105000"/>
              </a:lnSpc>
            </a:pPr>
            <a:r>
              <a:rPr sz="1300" b="0" i="0">
                <a:solidFill>
                  <a:srgbClr val="12343B"/>
                </a:solidFill>
                <a:latin typeface="Calibri"/>
              </a:rPr>
              <a:t>Safety: a physical mistake can hurt people, unlike a wrong sentence from a chatbot</a:t>
            </a:r>
          </a:p>
        </p:txBody>
      </p:sp>
      <p:sp>
        <p:nvSpPr>
          <p:cNvPr id="17" name="Rounded Rectangle 16"/>
          <p:cNvSpPr/>
          <p:nvPr/>
        </p:nvSpPr>
        <p:spPr>
          <a:xfrm>
            <a:off x="777240" y="4270248"/>
            <a:ext cx="384048" cy="38404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777240" y="4270248"/>
            <a:ext cx="384048" cy="384048"/>
          </a:xfrm>
          <a:prstGeom prst="rect">
            <a:avLst/>
          </a:prstGeom>
          <a:noFill/>
        </p:spPr>
        <p:txBody>
          <a:bodyPr wrap="square" lIns="0" rIns="0" tIns="0" bIns="0" anchor="ctr">
            <a:spAutoFit/>
          </a:bodyPr>
          <a:lstStyle/>
          <a:p>
            <a:pPr algn="ctr"/>
            <a:r>
              <a:rPr sz="1300" b="1" i="0">
                <a:solidFill>
                  <a:srgbClr val="FFFFFF"/>
                </a:solidFill>
                <a:latin typeface="Calibri"/>
              </a:rPr>
              <a:t>5</a:t>
            </a:r>
          </a:p>
        </p:txBody>
      </p:sp>
      <p:sp>
        <p:nvSpPr>
          <p:cNvPr id="19" name="TextBox 18"/>
          <p:cNvSpPr txBox="1"/>
          <p:nvPr/>
        </p:nvSpPr>
        <p:spPr>
          <a:xfrm>
            <a:off x="1371600" y="4270248"/>
            <a:ext cx="10012680" cy="548640"/>
          </a:xfrm>
          <a:prstGeom prst="rect">
            <a:avLst/>
          </a:prstGeom>
          <a:noFill/>
        </p:spPr>
        <p:txBody>
          <a:bodyPr wrap="square" lIns="0" rIns="0" tIns="0" bIns="0" anchor="ctr">
            <a:spAutoFit/>
          </a:bodyPr>
          <a:lstStyle/>
          <a:p>
            <a:pPr algn="l">
              <a:lnSpc>
                <a:spcPct val="105000"/>
              </a:lnSpc>
            </a:pPr>
            <a:r>
              <a:rPr sz="1300" b="0" i="0">
                <a:solidFill>
                  <a:srgbClr val="12343B"/>
                </a:solidFill>
                <a:latin typeface="Calibri"/>
              </a:rPr>
              <a:t>Sim-to-real: skills learned in simulation must survive real physics and real sensor noise</a:t>
            </a:r>
          </a:p>
        </p:txBody>
      </p:sp>
      <p:sp>
        <p:nvSpPr>
          <p:cNvPr id="20" name="Rounded Rectangle 19"/>
          <p:cNvSpPr/>
          <p:nvPr/>
        </p:nvSpPr>
        <p:spPr>
          <a:xfrm>
            <a:off x="777240" y="4892040"/>
            <a:ext cx="384048" cy="38404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777240" y="4892040"/>
            <a:ext cx="384048" cy="384048"/>
          </a:xfrm>
          <a:prstGeom prst="rect">
            <a:avLst/>
          </a:prstGeom>
          <a:noFill/>
        </p:spPr>
        <p:txBody>
          <a:bodyPr wrap="square" lIns="0" rIns="0" tIns="0" bIns="0" anchor="ctr">
            <a:spAutoFit/>
          </a:bodyPr>
          <a:lstStyle/>
          <a:p>
            <a:pPr algn="ctr"/>
            <a:r>
              <a:rPr sz="1300" b="1" i="0">
                <a:solidFill>
                  <a:srgbClr val="FFFFFF"/>
                </a:solidFill>
                <a:latin typeface="Calibri"/>
              </a:rPr>
              <a:t>6</a:t>
            </a:r>
          </a:p>
        </p:txBody>
      </p:sp>
      <p:sp>
        <p:nvSpPr>
          <p:cNvPr id="22" name="TextBox 21"/>
          <p:cNvSpPr txBox="1"/>
          <p:nvPr/>
        </p:nvSpPr>
        <p:spPr>
          <a:xfrm>
            <a:off x="1371600" y="4892040"/>
            <a:ext cx="10012680" cy="548640"/>
          </a:xfrm>
          <a:prstGeom prst="rect">
            <a:avLst/>
          </a:prstGeom>
          <a:noFill/>
        </p:spPr>
        <p:txBody>
          <a:bodyPr wrap="square" lIns="0" rIns="0" tIns="0" bIns="0" anchor="ctr">
            <a:spAutoFit/>
          </a:bodyPr>
          <a:lstStyle/>
          <a:p>
            <a:pPr algn="l">
              <a:lnSpc>
                <a:spcPct val="105000"/>
              </a:lnSpc>
            </a:pPr>
            <a:r>
              <a:rPr sz="1300" b="0" i="0">
                <a:solidFill>
                  <a:srgbClr val="12343B"/>
                </a:solidFill>
                <a:latin typeface="Calibri"/>
              </a:rPr>
              <a:t>Embodiment: a policy trained on one robot's body does not automatically transfer to another</a:t>
            </a:r>
          </a:p>
        </p:txBody>
      </p:sp>
      <p:sp>
        <p:nvSpPr>
          <p:cNvPr id="23" name="Rounded Rectangle 22"/>
          <p:cNvSpPr/>
          <p:nvPr/>
        </p:nvSpPr>
        <p:spPr>
          <a:xfrm>
            <a:off x="777240" y="5513832"/>
            <a:ext cx="384048" cy="384048"/>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xtBox 23"/>
          <p:cNvSpPr txBox="1"/>
          <p:nvPr/>
        </p:nvSpPr>
        <p:spPr>
          <a:xfrm>
            <a:off x="777240" y="5513832"/>
            <a:ext cx="384048" cy="384048"/>
          </a:xfrm>
          <a:prstGeom prst="rect">
            <a:avLst/>
          </a:prstGeom>
          <a:noFill/>
        </p:spPr>
        <p:txBody>
          <a:bodyPr wrap="square" lIns="0" rIns="0" tIns="0" bIns="0" anchor="ctr">
            <a:spAutoFit/>
          </a:bodyPr>
          <a:lstStyle/>
          <a:p>
            <a:pPr algn="ctr"/>
            <a:r>
              <a:rPr sz="1300" b="1" i="0">
                <a:solidFill>
                  <a:srgbClr val="FFFFFF"/>
                </a:solidFill>
                <a:latin typeface="Calibri"/>
              </a:rPr>
              <a:t>7</a:t>
            </a:r>
          </a:p>
        </p:txBody>
      </p:sp>
      <p:sp>
        <p:nvSpPr>
          <p:cNvPr id="25" name="TextBox 24"/>
          <p:cNvSpPr txBox="1"/>
          <p:nvPr/>
        </p:nvSpPr>
        <p:spPr>
          <a:xfrm>
            <a:off x="1371600" y="5513832"/>
            <a:ext cx="10012680" cy="548640"/>
          </a:xfrm>
          <a:prstGeom prst="rect">
            <a:avLst/>
          </a:prstGeom>
          <a:noFill/>
        </p:spPr>
        <p:txBody>
          <a:bodyPr wrap="square" lIns="0" rIns="0" tIns="0" bIns="0" anchor="ctr">
            <a:spAutoFit/>
          </a:bodyPr>
          <a:lstStyle/>
          <a:p>
            <a:pPr algn="l">
              <a:lnSpc>
                <a:spcPct val="105000"/>
              </a:lnSpc>
            </a:pPr>
            <a:r>
              <a:rPr sz="1300" b="0" i="0">
                <a:solidFill>
                  <a:srgbClr val="12343B"/>
                </a:solidFill>
                <a:latin typeface="Calibri"/>
              </a:rPr>
              <a:t>Long-horizon tasks: chaining many correct steps without one early error derailing the rest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CHALLENGES, CLOSER UP · 1</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Data, generalization, and the embodiment gap</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ounded Rectangle 4"/>
          <p:cNvSpPr/>
          <p:nvPr/>
        </p:nvSpPr>
        <p:spPr>
          <a:xfrm>
            <a:off x="777240" y="1783080"/>
            <a:ext cx="3401568" cy="26060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996695" y="2002536"/>
            <a:ext cx="2962656" cy="292608"/>
          </a:xfrm>
          <a:prstGeom prst="rect">
            <a:avLst/>
          </a:prstGeom>
          <a:noFill/>
        </p:spPr>
        <p:txBody>
          <a:bodyPr wrap="square" lIns="0" rIns="0" tIns="0" bIns="0">
            <a:spAutoFit/>
          </a:bodyPr>
          <a:lstStyle/>
          <a:p>
            <a:pPr algn="l"/>
            <a:r>
              <a:rPr sz="1350" b="1" i="0">
                <a:solidFill>
                  <a:srgbClr val="12343B"/>
                </a:solidFill>
                <a:latin typeface="Calibri"/>
              </a:rPr>
              <a:t>Data scarcity</a:t>
            </a:r>
          </a:p>
        </p:txBody>
      </p:sp>
      <p:sp>
        <p:nvSpPr>
          <p:cNvPr id="7" name="TextBox 6"/>
          <p:cNvSpPr txBox="1"/>
          <p:nvPr/>
        </p:nvSpPr>
        <p:spPr>
          <a:xfrm>
            <a:off x="996695" y="2386584"/>
            <a:ext cx="2962656" cy="1783080"/>
          </a:xfrm>
          <a:prstGeom prst="rect">
            <a:avLst/>
          </a:prstGeom>
          <a:noFill/>
        </p:spPr>
        <p:txBody>
          <a:bodyPr wrap="square" lIns="0" rIns="0" tIns="0" bIns="0">
            <a:spAutoFit/>
          </a:bodyPr>
          <a:lstStyle/>
          <a:p>
            <a:pPr algn="l">
              <a:lnSpc>
                <a:spcPct val="112000"/>
              </a:lnSpc>
            </a:pPr>
            <a:r>
              <a:rPr sz="1200" b="0" i="0">
                <a:solidFill>
                  <a:srgbClr val="5A7A80"/>
                </a:solidFill>
                <a:latin typeface="Calibri"/>
              </a:rPr>
              <a:t>Collecting a single robot demonstration takes a human teleoperator minutes, not the milliseconds it takes to scrape a captioned web image. Every dataset in this session, even pooled together, is still small next to what trained CLIP or GPT-style models.</a:t>
            </a:r>
          </a:p>
        </p:txBody>
      </p:sp>
      <p:sp>
        <p:nvSpPr>
          <p:cNvPr id="8" name="Rounded Rectangle 7"/>
          <p:cNvSpPr/>
          <p:nvPr/>
        </p:nvSpPr>
        <p:spPr>
          <a:xfrm>
            <a:off x="777240" y="4526280"/>
            <a:ext cx="3401568" cy="14173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96695" y="4745736"/>
            <a:ext cx="2962656" cy="292608"/>
          </a:xfrm>
          <a:prstGeom prst="rect">
            <a:avLst/>
          </a:prstGeom>
          <a:noFill/>
        </p:spPr>
        <p:txBody>
          <a:bodyPr wrap="square" lIns="0" rIns="0" tIns="0" bIns="0">
            <a:spAutoFit/>
          </a:bodyPr>
          <a:lstStyle/>
          <a:p>
            <a:pPr algn="l"/>
            <a:r>
              <a:rPr sz="1350" b="1" i="0">
                <a:solidFill>
                  <a:srgbClr val="12343B"/>
                </a:solidFill>
                <a:latin typeface="Calibri"/>
              </a:rPr>
              <a:t>Why it matters most</a:t>
            </a:r>
          </a:p>
        </p:txBody>
      </p:sp>
      <p:sp>
        <p:nvSpPr>
          <p:cNvPr id="10" name="TextBox 9"/>
          <p:cNvSpPr txBox="1"/>
          <p:nvPr/>
        </p:nvSpPr>
        <p:spPr>
          <a:xfrm>
            <a:off x="996695" y="5129784"/>
            <a:ext cx="2962656" cy="594359"/>
          </a:xfrm>
          <a:prstGeom prst="rect">
            <a:avLst/>
          </a:prstGeom>
          <a:noFill/>
        </p:spPr>
        <p:txBody>
          <a:bodyPr wrap="square" lIns="0" rIns="0" tIns="0" bIns="0">
            <a:spAutoFit/>
          </a:bodyPr>
          <a:lstStyle/>
          <a:p>
            <a:pPr algn="l">
              <a:lnSpc>
                <a:spcPct val="112000"/>
              </a:lnSpc>
            </a:pPr>
            <a:r>
              <a:rPr sz="1150" b="0" i="0">
                <a:solidFill>
                  <a:srgbClr val="5A7A80"/>
                </a:solidFill>
                <a:latin typeface="Calibri"/>
              </a:rPr>
              <a:t>Everything downstream, generalization, robustness, even RL, is bottlenecked on having enough good demonstrations to learn from in the first place.</a:t>
            </a:r>
          </a:p>
        </p:txBody>
      </p:sp>
      <p:sp>
        <p:nvSpPr>
          <p:cNvPr id="11" name="Rounded Rectangle 10"/>
          <p:cNvSpPr/>
          <p:nvPr/>
        </p:nvSpPr>
        <p:spPr>
          <a:xfrm>
            <a:off x="4361688" y="1783080"/>
            <a:ext cx="3401568" cy="26060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4581144" y="2002536"/>
            <a:ext cx="2962656" cy="292608"/>
          </a:xfrm>
          <a:prstGeom prst="rect">
            <a:avLst/>
          </a:prstGeom>
          <a:noFill/>
        </p:spPr>
        <p:txBody>
          <a:bodyPr wrap="square" lIns="0" rIns="0" tIns="0" bIns="0">
            <a:spAutoFit/>
          </a:bodyPr>
          <a:lstStyle/>
          <a:p>
            <a:pPr algn="l"/>
            <a:r>
              <a:rPr sz="1350" b="1" i="0">
                <a:solidFill>
                  <a:srgbClr val="12343B"/>
                </a:solidFill>
                <a:latin typeface="Calibri"/>
              </a:rPr>
              <a:t>Generalization</a:t>
            </a:r>
          </a:p>
        </p:txBody>
      </p:sp>
      <p:sp>
        <p:nvSpPr>
          <p:cNvPr id="13" name="TextBox 12"/>
          <p:cNvSpPr txBox="1"/>
          <p:nvPr/>
        </p:nvSpPr>
        <p:spPr>
          <a:xfrm>
            <a:off x="4581144" y="2386584"/>
            <a:ext cx="2962656" cy="1783080"/>
          </a:xfrm>
          <a:prstGeom prst="rect">
            <a:avLst/>
          </a:prstGeom>
          <a:noFill/>
        </p:spPr>
        <p:txBody>
          <a:bodyPr wrap="square" lIns="0" rIns="0" tIns="0" bIns="0">
            <a:spAutoFit/>
          </a:bodyPr>
          <a:lstStyle/>
          <a:p>
            <a:pPr algn="l">
              <a:lnSpc>
                <a:spcPct val="112000"/>
              </a:lnSpc>
            </a:pPr>
            <a:r>
              <a:rPr sz="1200" b="0" i="0">
                <a:solidFill>
                  <a:srgbClr val="5A7A80"/>
                </a:solidFill>
                <a:latin typeface="Calibri"/>
              </a:rPr>
              <a:t>A policy trained on red mugs on a wooden table can fail on a blue mug on a marble counter, even though the task is identical. Web-pretrained vision and language backbones help, but the action side of the model is still trained on a comparatively narrow slice of the world.</a:t>
            </a:r>
          </a:p>
        </p:txBody>
      </p:sp>
      <p:sp>
        <p:nvSpPr>
          <p:cNvPr id="14" name="Rounded Rectangle 13"/>
          <p:cNvSpPr/>
          <p:nvPr/>
        </p:nvSpPr>
        <p:spPr>
          <a:xfrm>
            <a:off x="4361688" y="4526280"/>
            <a:ext cx="3401568" cy="14173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4581144" y="4745736"/>
            <a:ext cx="2962656" cy="292608"/>
          </a:xfrm>
          <a:prstGeom prst="rect">
            <a:avLst/>
          </a:prstGeom>
          <a:noFill/>
        </p:spPr>
        <p:txBody>
          <a:bodyPr wrap="square" lIns="0" rIns="0" tIns="0" bIns="0">
            <a:spAutoFit/>
          </a:bodyPr>
          <a:lstStyle/>
          <a:p>
            <a:pPr algn="l"/>
            <a:r>
              <a:rPr sz="1350" b="1" i="0">
                <a:solidFill>
                  <a:srgbClr val="12343B"/>
                </a:solidFill>
                <a:latin typeface="Calibri"/>
              </a:rPr>
              <a:t>The gap that remains</a:t>
            </a:r>
          </a:p>
        </p:txBody>
      </p:sp>
      <p:sp>
        <p:nvSpPr>
          <p:cNvPr id="16" name="TextBox 15"/>
          <p:cNvSpPr txBox="1"/>
          <p:nvPr/>
        </p:nvSpPr>
        <p:spPr>
          <a:xfrm>
            <a:off x="4581144" y="5129784"/>
            <a:ext cx="2962656" cy="594359"/>
          </a:xfrm>
          <a:prstGeom prst="rect">
            <a:avLst/>
          </a:prstGeom>
          <a:noFill/>
        </p:spPr>
        <p:txBody>
          <a:bodyPr wrap="square" lIns="0" rIns="0" tIns="0" bIns="0">
            <a:spAutoFit/>
          </a:bodyPr>
          <a:lstStyle/>
          <a:p>
            <a:pPr algn="l">
              <a:lnSpc>
                <a:spcPct val="112000"/>
              </a:lnSpc>
            </a:pPr>
            <a:r>
              <a:rPr sz="1150" b="0" i="0">
                <a:solidFill>
                  <a:srgbClr val="5A7A80"/>
                </a:solidFill>
                <a:latin typeface="Calibri"/>
              </a:rPr>
              <a:t>Semantic generalization (naming new objects) has improved fast; physical generalization (new shapes, weights, frictions) lags further behind.</a:t>
            </a:r>
          </a:p>
        </p:txBody>
      </p:sp>
      <p:sp>
        <p:nvSpPr>
          <p:cNvPr id="17" name="Rounded Rectangle 16"/>
          <p:cNvSpPr/>
          <p:nvPr/>
        </p:nvSpPr>
        <p:spPr>
          <a:xfrm>
            <a:off x="7955279" y="1783080"/>
            <a:ext cx="3429000" cy="260604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8174736" y="2002536"/>
            <a:ext cx="2990088" cy="292608"/>
          </a:xfrm>
          <a:prstGeom prst="rect">
            <a:avLst/>
          </a:prstGeom>
          <a:noFill/>
        </p:spPr>
        <p:txBody>
          <a:bodyPr wrap="square" lIns="0" rIns="0" tIns="0" bIns="0">
            <a:spAutoFit/>
          </a:bodyPr>
          <a:lstStyle/>
          <a:p>
            <a:pPr algn="l"/>
            <a:r>
              <a:rPr sz="1350" b="1" i="0">
                <a:solidFill>
                  <a:srgbClr val="12343B"/>
                </a:solidFill>
                <a:latin typeface="Calibri"/>
              </a:rPr>
              <a:t>Embodiment differences</a:t>
            </a:r>
          </a:p>
        </p:txBody>
      </p:sp>
      <p:sp>
        <p:nvSpPr>
          <p:cNvPr id="19" name="TextBox 18"/>
          <p:cNvSpPr txBox="1"/>
          <p:nvPr/>
        </p:nvSpPr>
        <p:spPr>
          <a:xfrm>
            <a:off x="8174736" y="2386584"/>
            <a:ext cx="2990088" cy="1783080"/>
          </a:xfrm>
          <a:prstGeom prst="rect">
            <a:avLst/>
          </a:prstGeom>
          <a:noFill/>
        </p:spPr>
        <p:txBody>
          <a:bodyPr wrap="square" lIns="0" rIns="0" tIns="0" bIns="0">
            <a:spAutoFit/>
          </a:bodyPr>
          <a:lstStyle/>
          <a:p>
            <a:pPr algn="l">
              <a:lnSpc>
                <a:spcPct val="112000"/>
              </a:lnSpc>
            </a:pPr>
            <a:r>
              <a:rPr sz="1200" b="0" i="0">
                <a:solidFill>
                  <a:srgbClr val="5A7A80"/>
                </a:solidFill>
                <a:latin typeface="Calibri"/>
              </a:rPr>
              <a:t>A gripper, a five-fingered hand, and a suction cup need different actions for the same goal. Cross-embodiment datasets like Open X-Embodiment help a model see many robot bodies during training, but transferring cleanly to a truly new robot remains unsolved in general.</a:t>
            </a:r>
          </a:p>
        </p:txBody>
      </p:sp>
      <p:sp>
        <p:nvSpPr>
          <p:cNvPr id="20" name="Rounded Rectangle 19"/>
          <p:cNvSpPr/>
          <p:nvPr/>
        </p:nvSpPr>
        <p:spPr>
          <a:xfrm>
            <a:off x="7955279" y="4526280"/>
            <a:ext cx="3429000" cy="14173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xtBox 20"/>
          <p:cNvSpPr txBox="1"/>
          <p:nvPr/>
        </p:nvSpPr>
        <p:spPr>
          <a:xfrm>
            <a:off x="8174736" y="4745736"/>
            <a:ext cx="2990088" cy="292608"/>
          </a:xfrm>
          <a:prstGeom prst="rect">
            <a:avLst/>
          </a:prstGeom>
          <a:noFill/>
        </p:spPr>
        <p:txBody>
          <a:bodyPr wrap="square" lIns="0" rIns="0" tIns="0" bIns="0">
            <a:spAutoFit/>
          </a:bodyPr>
          <a:lstStyle/>
          <a:p>
            <a:pPr algn="l"/>
            <a:r>
              <a:rPr sz="1350" b="1" i="0">
                <a:solidFill>
                  <a:srgbClr val="12343B"/>
                </a:solidFill>
                <a:latin typeface="Calibri"/>
              </a:rPr>
              <a:t>One open question</a:t>
            </a:r>
          </a:p>
        </p:txBody>
      </p:sp>
      <p:sp>
        <p:nvSpPr>
          <p:cNvPr id="22" name="TextBox 21"/>
          <p:cNvSpPr txBox="1"/>
          <p:nvPr/>
        </p:nvSpPr>
        <p:spPr>
          <a:xfrm>
            <a:off x="8174736" y="5129784"/>
            <a:ext cx="2990088" cy="594359"/>
          </a:xfrm>
          <a:prstGeom prst="rect">
            <a:avLst/>
          </a:prstGeom>
          <a:noFill/>
        </p:spPr>
        <p:txBody>
          <a:bodyPr wrap="square" lIns="0" rIns="0" tIns="0" bIns="0">
            <a:spAutoFit/>
          </a:bodyPr>
          <a:lstStyle/>
          <a:p>
            <a:pPr algn="l">
              <a:lnSpc>
                <a:spcPct val="112000"/>
              </a:lnSpc>
            </a:pPr>
            <a:r>
              <a:rPr sz="1150" b="0" i="0">
                <a:solidFill>
                  <a:srgbClr val="5A7A80"/>
                </a:solidFill>
                <a:latin typeface="Calibri"/>
              </a:rPr>
              <a:t>Whether a single shared action space can ever cover wheels, legs, and hands, or whether each embodiment family needs its own decoder.</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CHALLENGES, CLOSER UP · 2</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Latency, safety, sim-to-real, and long horizons</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ounded Rectangle 4"/>
          <p:cNvSpPr/>
          <p:nvPr/>
        </p:nvSpPr>
        <p:spPr>
          <a:xfrm>
            <a:off x="777240" y="1783080"/>
            <a:ext cx="5166360" cy="21031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996695" y="2002536"/>
            <a:ext cx="4727448" cy="292608"/>
          </a:xfrm>
          <a:prstGeom prst="rect">
            <a:avLst/>
          </a:prstGeom>
          <a:noFill/>
        </p:spPr>
        <p:txBody>
          <a:bodyPr wrap="square" lIns="0" rIns="0" tIns="0" bIns="0">
            <a:spAutoFit/>
          </a:bodyPr>
          <a:lstStyle/>
          <a:p>
            <a:pPr algn="l"/>
            <a:r>
              <a:rPr sz="1350" b="1" i="0">
                <a:solidFill>
                  <a:srgbClr val="12343B"/>
                </a:solidFill>
                <a:latin typeface="Calibri"/>
              </a:rPr>
              <a:t>Latency</a:t>
            </a:r>
          </a:p>
        </p:txBody>
      </p:sp>
      <p:sp>
        <p:nvSpPr>
          <p:cNvPr id="7" name="TextBox 6"/>
          <p:cNvSpPr txBox="1"/>
          <p:nvPr/>
        </p:nvSpPr>
        <p:spPr>
          <a:xfrm>
            <a:off x="996695" y="2386584"/>
            <a:ext cx="4727448" cy="1280160"/>
          </a:xfrm>
          <a:prstGeom prst="rect">
            <a:avLst/>
          </a:prstGeom>
          <a:noFill/>
        </p:spPr>
        <p:txBody>
          <a:bodyPr wrap="square" lIns="0" rIns="0" tIns="0" bIns="0">
            <a:spAutoFit/>
          </a:bodyPr>
          <a:lstStyle/>
          <a:p>
            <a:pPr algn="l">
              <a:lnSpc>
                <a:spcPct val="112000"/>
              </a:lnSpc>
            </a:pPr>
            <a:r>
              <a:rPr sz="1150" b="0" i="0">
                <a:solidFill>
                  <a:srgbClr val="5A7A80"/>
                </a:solidFill>
                <a:latin typeface="Calibri"/>
              </a:rPr>
              <a:t>A large vision-language backbone can take hundreds of milliseconds to think. Action chunking and dual-system designs (like GR00T N1) exist precisely to keep the loop fast enough for real control.</a:t>
            </a:r>
          </a:p>
        </p:txBody>
      </p:sp>
      <p:sp>
        <p:nvSpPr>
          <p:cNvPr id="8" name="Rounded Rectangle 7"/>
          <p:cNvSpPr/>
          <p:nvPr/>
        </p:nvSpPr>
        <p:spPr>
          <a:xfrm>
            <a:off x="6172200" y="1783080"/>
            <a:ext cx="5166360" cy="21031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6391656" y="2002536"/>
            <a:ext cx="4727448" cy="292608"/>
          </a:xfrm>
          <a:prstGeom prst="rect">
            <a:avLst/>
          </a:prstGeom>
          <a:noFill/>
        </p:spPr>
        <p:txBody>
          <a:bodyPr wrap="square" lIns="0" rIns="0" tIns="0" bIns="0">
            <a:spAutoFit/>
          </a:bodyPr>
          <a:lstStyle/>
          <a:p>
            <a:pPr algn="l"/>
            <a:r>
              <a:rPr sz="1350" b="1" i="0">
                <a:solidFill>
                  <a:srgbClr val="12343B"/>
                </a:solidFill>
                <a:latin typeface="Calibri"/>
              </a:rPr>
              <a:t>Safety</a:t>
            </a:r>
          </a:p>
        </p:txBody>
      </p:sp>
      <p:sp>
        <p:nvSpPr>
          <p:cNvPr id="10" name="TextBox 9"/>
          <p:cNvSpPr txBox="1"/>
          <p:nvPr/>
        </p:nvSpPr>
        <p:spPr>
          <a:xfrm>
            <a:off x="6391656" y="2386584"/>
            <a:ext cx="4727448" cy="1280160"/>
          </a:xfrm>
          <a:prstGeom prst="rect">
            <a:avLst/>
          </a:prstGeom>
          <a:noFill/>
        </p:spPr>
        <p:txBody>
          <a:bodyPr wrap="square" lIns="0" rIns="0" tIns="0" bIns="0">
            <a:spAutoFit/>
          </a:bodyPr>
          <a:lstStyle/>
          <a:p>
            <a:pPr algn="l">
              <a:lnSpc>
                <a:spcPct val="112000"/>
              </a:lnSpc>
            </a:pPr>
            <a:r>
              <a:rPr sz="1150" b="0" i="0">
                <a:solidFill>
                  <a:srgbClr val="5A7A80"/>
                </a:solidFill>
                <a:latin typeface="Calibri"/>
              </a:rPr>
              <a:t>An unsafe action on hardware can damage the robot, the environment, or a person, and mistakes are not easily undone. This raises the bar for testing and monitoring far above a text-only model.</a:t>
            </a:r>
          </a:p>
        </p:txBody>
      </p:sp>
      <p:sp>
        <p:nvSpPr>
          <p:cNvPr id="11" name="Rounded Rectangle 10"/>
          <p:cNvSpPr/>
          <p:nvPr/>
        </p:nvSpPr>
        <p:spPr>
          <a:xfrm>
            <a:off x="777240" y="4023360"/>
            <a:ext cx="5166360" cy="21031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996695" y="4242816"/>
            <a:ext cx="4727448" cy="292608"/>
          </a:xfrm>
          <a:prstGeom prst="rect">
            <a:avLst/>
          </a:prstGeom>
          <a:noFill/>
        </p:spPr>
        <p:txBody>
          <a:bodyPr wrap="square" lIns="0" rIns="0" tIns="0" bIns="0">
            <a:spAutoFit/>
          </a:bodyPr>
          <a:lstStyle/>
          <a:p>
            <a:pPr algn="l"/>
            <a:r>
              <a:rPr sz="1350" b="1" i="0">
                <a:solidFill>
                  <a:srgbClr val="12343B"/>
                </a:solidFill>
                <a:latin typeface="Calibri"/>
              </a:rPr>
              <a:t>Sim-to-real</a:t>
            </a:r>
          </a:p>
        </p:txBody>
      </p:sp>
      <p:sp>
        <p:nvSpPr>
          <p:cNvPr id="13" name="TextBox 12"/>
          <p:cNvSpPr txBox="1"/>
          <p:nvPr/>
        </p:nvSpPr>
        <p:spPr>
          <a:xfrm>
            <a:off x="996695" y="4626864"/>
            <a:ext cx="4727448" cy="1280159"/>
          </a:xfrm>
          <a:prstGeom prst="rect">
            <a:avLst/>
          </a:prstGeom>
          <a:noFill/>
        </p:spPr>
        <p:txBody>
          <a:bodyPr wrap="square" lIns="0" rIns="0" tIns="0" bIns="0">
            <a:spAutoFit/>
          </a:bodyPr>
          <a:lstStyle/>
          <a:p>
            <a:pPr algn="l">
              <a:lnSpc>
                <a:spcPct val="112000"/>
              </a:lnSpc>
            </a:pPr>
            <a:r>
              <a:rPr sz="1150" b="0" i="0">
                <a:solidFill>
                  <a:srgbClr val="5A7A80"/>
                </a:solidFill>
                <a:latin typeface="Calibri"/>
              </a:rPr>
              <a:t>Physics engines and rendered images never perfectly match the real world's friction, lighting, and sensor noise, so skills that work in simulation can degrade when moved to a physical robot.</a:t>
            </a:r>
          </a:p>
        </p:txBody>
      </p:sp>
      <p:sp>
        <p:nvSpPr>
          <p:cNvPr id="14" name="Rounded Rectangle 13"/>
          <p:cNvSpPr/>
          <p:nvPr/>
        </p:nvSpPr>
        <p:spPr>
          <a:xfrm>
            <a:off x="6172200" y="4023360"/>
            <a:ext cx="5166360" cy="21031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6391656" y="4242816"/>
            <a:ext cx="4727448" cy="292608"/>
          </a:xfrm>
          <a:prstGeom prst="rect">
            <a:avLst/>
          </a:prstGeom>
          <a:noFill/>
        </p:spPr>
        <p:txBody>
          <a:bodyPr wrap="square" lIns="0" rIns="0" tIns="0" bIns="0">
            <a:spAutoFit/>
          </a:bodyPr>
          <a:lstStyle/>
          <a:p>
            <a:pPr algn="l"/>
            <a:r>
              <a:rPr sz="1350" b="1" i="0">
                <a:solidFill>
                  <a:srgbClr val="12343B"/>
                </a:solidFill>
                <a:latin typeface="Calibri"/>
              </a:rPr>
              <a:t>Long-horizon tasks</a:t>
            </a:r>
          </a:p>
        </p:txBody>
      </p:sp>
      <p:sp>
        <p:nvSpPr>
          <p:cNvPr id="16" name="TextBox 15"/>
          <p:cNvSpPr txBox="1"/>
          <p:nvPr/>
        </p:nvSpPr>
        <p:spPr>
          <a:xfrm>
            <a:off x="6391656" y="4626864"/>
            <a:ext cx="4727448" cy="1280159"/>
          </a:xfrm>
          <a:prstGeom prst="rect">
            <a:avLst/>
          </a:prstGeom>
          <a:noFill/>
        </p:spPr>
        <p:txBody>
          <a:bodyPr wrap="square" lIns="0" rIns="0" tIns="0" bIns="0">
            <a:spAutoFit/>
          </a:bodyPr>
          <a:lstStyle/>
          <a:p>
            <a:pPr algn="l">
              <a:lnSpc>
                <a:spcPct val="112000"/>
              </a:lnSpc>
            </a:pPr>
            <a:r>
              <a:rPr sz="1150" b="0" i="0">
                <a:solidFill>
                  <a:srgbClr val="5A7A80"/>
                </a:solidFill>
                <a:latin typeface="Calibri"/>
              </a:rPr>
              <a:t>Making a sandwich or unloading a dishwasher takes dozens of correct steps in sequence. A small per-step error rate compounds quickly across a long task, per the drift problem shown earlier.</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WHERE RESEARCH IS HEADED</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Eight directions the field is actively pushing on</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ounded Rectangle 4"/>
          <p:cNvSpPr/>
          <p:nvPr/>
        </p:nvSpPr>
        <p:spPr>
          <a:xfrm>
            <a:off x="777240" y="1783080"/>
            <a:ext cx="5166360" cy="914400"/>
          </a:xfrm>
          <a:prstGeom prst="roundRect">
            <a:avLst>
              <a:gd name="adj" fmla="val 10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978408" y="1783080"/>
            <a:ext cx="4754880" cy="914400"/>
          </a:xfrm>
          <a:prstGeom prst="rect">
            <a:avLst/>
          </a:prstGeom>
          <a:noFill/>
        </p:spPr>
        <p:txBody>
          <a:bodyPr wrap="square" lIns="0" rIns="0" tIns="0" bIns="0" anchor="ctr">
            <a:spAutoFit/>
          </a:bodyPr>
          <a:lstStyle/>
          <a:p>
            <a:pPr algn="l">
              <a:lnSpc>
                <a:spcPct val="110000"/>
              </a:lnSpc>
            </a:pPr>
            <a:r>
              <a:rPr sz="1150" b="0" i="0">
                <a:solidFill>
                  <a:srgbClr val="12343B"/>
                </a:solidFill>
                <a:latin typeface="Calibri"/>
              </a:rPr>
              <a:t>Better action representations: richer than discrete tokens, cheaper than full diffusion</a:t>
            </a:r>
          </a:p>
        </p:txBody>
      </p:sp>
      <p:sp>
        <p:nvSpPr>
          <p:cNvPr id="7" name="Rounded Rectangle 6"/>
          <p:cNvSpPr/>
          <p:nvPr/>
        </p:nvSpPr>
        <p:spPr>
          <a:xfrm>
            <a:off x="777240" y="2834639"/>
            <a:ext cx="5166360" cy="914400"/>
          </a:xfrm>
          <a:prstGeom prst="roundRect">
            <a:avLst>
              <a:gd name="adj" fmla="val 10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978408" y="2834639"/>
            <a:ext cx="4754880" cy="914400"/>
          </a:xfrm>
          <a:prstGeom prst="rect">
            <a:avLst/>
          </a:prstGeom>
          <a:noFill/>
        </p:spPr>
        <p:txBody>
          <a:bodyPr wrap="square" lIns="0" rIns="0" tIns="0" bIns="0" anchor="ctr">
            <a:spAutoFit/>
          </a:bodyPr>
          <a:lstStyle/>
          <a:p>
            <a:pPr algn="l">
              <a:lnSpc>
                <a:spcPct val="110000"/>
              </a:lnSpc>
            </a:pPr>
            <a:r>
              <a:rPr sz="1150" b="0" i="0">
                <a:solidFill>
                  <a:srgbClr val="12343B"/>
                </a:solidFill>
                <a:latin typeface="Calibri"/>
              </a:rPr>
              <a:t>Moving beyond pure behavioral cloning toward RL-integrated training</a:t>
            </a:r>
          </a:p>
        </p:txBody>
      </p:sp>
      <p:sp>
        <p:nvSpPr>
          <p:cNvPr id="9" name="Rounded Rectangle 8"/>
          <p:cNvSpPr/>
          <p:nvPr/>
        </p:nvSpPr>
        <p:spPr>
          <a:xfrm>
            <a:off x="777240" y="3886200"/>
            <a:ext cx="5166360" cy="914400"/>
          </a:xfrm>
          <a:prstGeom prst="roundRect">
            <a:avLst>
              <a:gd name="adj" fmla="val 10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TextBox 9"/>
          <p:cNvSpPr txBox="1"/>
          <p:nvPr/>
        </p:nvSpPr>
        <p:spPr>
          <a:xfrm>
            <a:off x="978408" y="3886200"/>
            <a:ext cx="4754880" cy="914400"/>
          </a:xfrm>
          <a:prstGeom prst="rect">
            <a:avLst/>
          </a:prstGeom>
          <a:noFill/>
        </p:spPr>
        <p:txBody>
          <a:bodyPr wrap="square" lIns="0" rIns="0" tIns="0" bIns="0" anchor="ctr">
            <a:spAutoFit/>
          </a:bodyPr>
          <a:lstStyle/>
          <a:p>
            <a:pPr algn="l">
              <a:lnSpc>
                <a:spcPct val="110000"/>
              </a:lnSpc>
            </a:pPr>
            <a:r>
              <a:rPr sz="1150" b="0" i="0">
                <a:solidFill>
                  <a:srgbClr val="12343B"/>
                </a:solidFill>
                <a:latin typeface="Calibri"/>
              </a:rPr>
              <a:t>World models that let a policy imagine consequences before acting</a:t>
            </a:r>
          </a:p>
        </p:txBody>
      </p:sp>
      <p:sp>
        <p:nvSpPr>
          <p:cNvPr id="11" name="Rounded Rectangle 10"/>
          <p:cNvSpPr/>
          <p:nvPr/>
        </p:nvSpPr>
        <p:spPr>
          <a:xfrm>
            <a:off x="777240" y="4937759"/>
            <a:ext cx="5166360" cy="914400"/>
          </a:xfrm>
          <a:prstGeom prst="roundRect">
            <a:avLst>
              <a:gd name="adj" fmla="val 10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978408" y="4937759"/>
            <a:ext cx="4754880" cy="914400"/>
          </a:xfrm>
          <a:prstGeom prst="rect">
            <a:avLst/>
          </a:prstGeom>
          <a:noFill/>
        </p:spPr>
        <p:txBody>
          <a:bodyPr wrap="square" lIns="0" rIns="0" tIns="0" bIns="0" anchor="ctr">
            <a:spAutoFit/>
          </a:bodyPr>
          <a:lstStyle/>
          <a:p>
            <a:pPr algn="l">
              <a:lnSpc>
                <a:spcPct val="110000"/>
              </a:lnSpc>
            </a:pPr>
            <a:r>
              <a:rPr sz="1150" b="0" i="0">
                <a:solidFill>
                  <a:srgbClr val="12343B"/>
                </a:solidFill>
                <a:latin typeface="Calibri"/>
              </a:rPr>
              <a:t>Improved cross-embodiment transfer and shared action spaces</a:t>
            </a:r>
          </a:p>
        </p:txBody>
      </p:sp>
      <p:sp>
        <p:nvSpPr>
          <p:cNvPr id="13" name="Rounded Rectangle 12"/>
          <p:cNvSpPr/>
          <p:nvPr/>
        </p:nvSpPr>
        <p:spPr>
          <a:xfrm>
            <a:off x="6172200" y="1783080"/>
            <a:ext cx="5166360" cy="914400"/>
          </a:xfrm>
          <a:prstGeom prst="roundRect">
            <a:avLst>
              <a:gd name="adj" fmla="val 10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6373368" y="1783080"/>
            <a:ext cx="4754880" cy="914400"/>
          </a:xfrm>
          <a:prstGeom prst="rect">
            <a:avLst/>
          </a:prstGeom>
          <a:noFill/>
        </p:spPr>
        <p:txBody>
          <a:bodyPr wrap="square" lIns="0" rIns="0" tIns="0" bIns="0" anchor="ctr">
            <a:spAutoFit/>
          </a:bodyPr>
          <a:lstStyle/>
          <a:p>
            <a:pPr algn="l">
              <a:lnSpc>
                <a:spcPct val="110000"/>
              </a:lnSpc>
            </a:pPr>
            <a:r>
              <a:rPr sz="1150" b="0" i="0">
                <a:solidFill>
                  <a:srgbClr val="12343B"/>
                </a:solidFill>
                <a:latin typeface="Calibri"/>
              </a:rPr>
              <a:t>More efficient architectures for on-robot, real-time inference</a:t>
            </a:r>
          </a:p>
        </p:txBody>
      </p:sp>
      <p:sp>
        <p:nvSpPr>
          <p:cNvPr id="15" name="Rounded Rectangle 14"/>
          <p:cNvSpPr/>
          <p:nvPr/>
        </p:nvSpPr>
        <p:spPr>
          <a:xfrm>
            <a:off x="6172200" y="2834639"/>
            <a:ext cx="5166360" cy="914400"/>
          </a:xfrm>
          <a:prstGeom prst="roundRect">
            <a:avLst>
              <a:gd name="adj" fmla="val 10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TextBox 15"/>
          <p:cNvSpPr txBox="1"/>
          <p:nvPr/>
        </p:nvSpPr>
        <p:spPr>
          <a:xfrm>
            <a:off x="6373368" y="2834639"/>
            <a:ext cx="4754880" cy="914400"/>
          </a:xfrm>
          <a:prstGeom prst="rect">
            <a:avLst/>
          </a:prstGeom>
          <a:noFill/>
        </p:spPr>
        <p:txBody>
          <a:bodyPr wrap="square" lIns="0" rIns="0" tIns="0" bIns="0" anchor="ctr">
            <a:spAutoFit/>
          </a:bodyPr>
          <a:lstStyle/>
          <a:p>
            <a:pPr algn="l">
              <a:lnSpc>
                <a:spcPct val="110000"/>
              </a:lnSpc>
            </a:pPr>
            <a:r>
              <a:rPr sz="1150" b="0" i="0">
                <a:solidFill>
                  <a:srgbClr val="12343B"/>
                </a:solidFill>
                <a:latin typeface="Calibri"/>
              </a:rPr>
              <a:t>Better evaluation and benchmarking standards across labs</a:t>
            </a:r>
          </a:p>
        </p:txBody>
      </p:sp>
      <p:sp>
        <p:nvSpPr>
          <p:cNvPr id="17" name="Rounded Rectangle 16"/>
          <p:cNvSpPr/>
          <p:nvPr/>
        </p:nvSpPr>
        <p:spPr>
          <a:xfrm>
            <a:off x="6172200" y="3886200"/>
            <a:ext cx="5166360" cy="914400"/>
          </a:xfrm>
          <a:prstGeom prst="roundRect">
            <a:avLst>
              <a:gd name="adj" fmla="val 10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6373368" y="3886200"/>
            <a:ext cx="4754880" cy="914400"/>
          </a:xfrm>
          <a:prstGeom prst="rect">
            <a:avLst/>
          </a:prstGeom>
          <a:noFill/>
        </p:spPr>
        <p:txBody>
          <a:bodyPr wrap="square" lIns="0" rIns="0" tIns="0" bIns="0" anchor="ctr">
            <a:spAutoFit/>
          </a:bodyPr>
          <a:lstStyle/>
          <a:p>
            <a:pPr algn="l">
              <a:lnSpc>
                <a:spcPct val="110000"/>
              </a:lnSpc>
            </a:pPr>
            <a:r>
              <a:rPr sz="1150" b="0" i="0">
                <a:solidFill>
                  <a:srgbClr val="12343B"/>
                </a:solidFill>
                <a:latin typeface="Calibri"/>
              </a:rPr>
              <a:t>Scaling laws for robot data, mirroring what vision and language established</a:t>
            </a:r>
          </a:p>
        </p:txBody>
      </p:sp>
      <p:sp>
        <p:nvSpPr>
          <p:cNvPr id="19" name="Rounded Rectangle 18"/>
          <p:cNvSpPr/>
          <p:nvPr/>
        </p:nvSpPr>
        <p:spPr>
          <a:xfrm>
            <a:off x="6172200" y="4937759"/>
            <a:ext cx="5166360" cy="914400"/>
          </a:xfrm>
          <a:prstGeom prst="roundRect">
            <a:avLst>
              <a:gd name="adj" fmla="val 10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xtBox 19"/>
          <p:cNvSpPr txBox="1"/>
          <p:nvPr/>
        </p:nvSpPr>
        <p:spPr>
          <a:xfrm>
            <a:off x="6373368" y="4937759"/>
            <a:ext cx="4754880" cy="914400"/>
          </a:xfrm>
          <a:prstGeom prst="rect">
            <a:avLst/>
          </a:prstGeom>
          <a:noFill/>
        </p:spPr>
        <p:txBody>
          <a:bodyPr wrap="square" lIns="0" rIns="0" tIns="0" bIns="0" anchor="ctr">
            <a:spAutoFit/>
          </a:bodyPr>
          <a:lstStyle/>
          <a:p>
            <a:pPr algn="l">
              <a:lnSpc>
                <a:spcPct val="110000"/>
              </a:lnSpc>
            </a:pPr>
            <a:r>
              <a:rPr sz="1150" b="0" i="0">
                <a:solidFill>
                  <a:srgbClr val="12343B"/>
                </a:solidFill>
                <a:latin typeface="Calibri"/>
              </a:rPr>
              <a:t>Safety, uncertainty estimation, and failure detection built into the policy itself</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10881360" cy="274320"/>
          </a:xfrm>
          <a:prstGeom prst="rect">
            <a:avLst/>
          </a:prstGeom>
          <a:noFill/>
        </p:spPr>
        <p:txBody>
          <a:bodyPr wrap="square" lIns="0" rIns="0" tIns="0" bIns="0">
            <a:spAutoFit/>
          </a:bodyPr>
          <a:lstStyle/>
          <a:p>
            <a:pPr algn="l"/>
            <a:r>
              <a:rPr sz="1200" b="1" i="0">
                <a:solidFill>
                  <a:srgbClr val="028090"/>
                </a:solidFill>
                <a:latin typeface="Calibri"/>
              </a:rPr>
              <a:t>LOOKING AHEAD</a:t>
            </a:r>
          </a:p>
        </p:txBody>
      </p:sp>
      <p:sp>
        <p:nvSpPr>
          <p:cNvPr id="3" name="TextBox 2"/>
          <p:cNvSpPr txBox="1"/>
          <p:nvPr/>
        </p:nvSpPr>
        <p:spPr>
          <a:xfrm>
            <a:off x="685800" y="786384"/>
            <a:ext cx="10881360" cy="868680"/>
          </a:xfrm>
          <a:prstGeom prst="rect">
            <a:avLst/>
          </a:prstGeom>
          <a:noFill/>
        </p:spPr>
        <p:txBody>
          <a:bodyPr wrap="square" lIns="0" rIns="0" tIns="0" bIns="0">
            <a:spAutoFit/>
          </a:bodyPr>
          <a:lstStyle/>
          <a:p>
            <a:pPr algn="l">
              <a:lnSpc>
                <a:spcPct val="102000"/>
              </a:lnSpc>
            </a:pPr>
            <a:r>
              <a:rPr sz="3200" b="1" i="0">
                <a:solidFill>
                  <a:srgbClr val="12343B"/>
                </a:solidFill>
                <a:latin typeface="Cambria"/>
              </a:rPr>
              <a:t>From narrow demos to general-purpose embodied assistants</a:t>
            </a:r>
          </a:p>
        </p:txBody>
      </p:sp>
      <p:sp>
        <p:nvSpPr>
          <p:cNvPr id="4" name="TextBox 3"/>
          <p:cNvSpPr txBox="1"/>
          <p:nvPr/>
        </p:nvSpPr>
        <p:spPr>
          <a:xfrm>
            <a:off x="685800" y="6355080"/>
            <a:ext cx="10881360" cy="274320"/>
          </a:xfrm>
          <a:prstGeom prst="rect">
            <a:avLst/>
          </a:prstGeom>
          <a:noFill/>
        </p:spPr>
        <p:txBody>
          <a:bodyPr wrap="square" lIns="0" rIns="0" tIns="0" bIns="0">
            <a:spAutoFit/>
          </a:bodyPr>
          <a:lstStyle/>
          <a:p>
            <a:pPr algn="l"/>
            <a:r>
              <a:rPr sz="1050" b="0" i="0">
                <a:solidFill>
                  <a:srgbClr val="9AB4B8"/>
                </a:solidFill>
                <a:latin typeface="Calibri"/>
              </a:rPr>
              <a:t>Session 40  ·  Vision-Language-Action Models</a:t>
            </a:r>
          </a:p>
        </p:txBody>
      </p:sp>
      <p:sp>
        <p:nvSpPr>
          <p:cNvPr id="5" name="Rounded Rectangle 4"/>
          <p:cNvSpPr/>
          <p:nvPr/>
        </p:nvSpPr>
        <p:spPr>
          <a:xfrm>
            <a:off x="777240" y="1783080"/>
            <a:ext cx="10607040" cy="141732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996695" y="2002536"/>
            <a:ext cx="10168128" cy="292608"/>
          </a:xfrm>
          <a:prstGeom prst="rect">
            <a:avLst/>
          </a:prstGeom>
          <a:noFill/>
        </p:spPr>
        <p:txBody>
          <a:bodyPr wrap="square" lIns="0" rIns="0" tIns="0" bIns="0">
            <a:spAutoFit/>
          </a:bodyPr>
          <a:lstStyle/>
          <a:p>
            <a:pPr algn="l"/>
            <a:r>
              <a:rPr sz="1350" b="1" i="0">
                <a:solidFill>
                  <a:srgbClr val="12343B"/>
                </a:solidFill>
                <a:latin typeface="Calibri"/>
              </a:rPr>
              <a:t>The trajectory so far</a:t>
            </a:r>
          </a:p>
        </p:txBody>
      </p:sp>
      <p:sp>
        <p:nvSpPr>
          <p:cNvPr id="7" name="TextBox 6"/>
          <p:cNvSpPr txBox="1"/>
          <p:nvPr/>
        </p:nvSpPr>
        <p:spPr>
          <a:xfrm>
            <a:off x="996695" y="2386584"/>
            <a:ext cx="10168128" cy="594360"/>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Three years took the field from a single robot picking known objects in a lab (RT-1) to open, cross-embodiment foundation models (OpenVLA, GR00T N1) and humanoids folding laundry in a home it has never seen (pi-0.5). The pace, not any single result, is the headline.</a:t>
            </a:r>
          </a:p>
        </p:txBody>
      </p:sp>
      <p:sp>
        <p:nvSpPr>
          <p:cNvPr id="8" name="Rounded Rectangle 7"/>
          <p:cNvSpPr/>
          <p:nvPr/>
        </p:nvSpPr>
        <p:spPr>
          <a:xfrm>
            <a:off x="777240" y="3383280"/>
            <a:ext cx="3401568" cy="26517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996695" y="3602736"/>
            <a:ext cx="2962656" cy="292608"/>
          </a:xfrm>
          <a:prstGeom prst="rect">
            <a:avLst/>
          </a:prstGeom>
          <a:noFill/>
        </p:spPr>
        <p:txBody>
          <a:bodyPr wrap="square" lIns="0" rIns="0" tIns="0" bIns="0">
            <a:spAutoFit/>
          </a:bodyPr>
          <a:lstStyle/>
          <a:p>
            <a:pPr algn="l"/>
            <a:r>
              <a:rPr sz="1350" b="1" i="0">
                <a:solidFill>
                  <a:srgbClr val="12343B"/>
                </a:solidFill>
                <a:latin typeface="Calibri"/>
              </a:rPr>
              <a:t>Foundation models for robots</a:t>
            </a:r>
          </a:p>
        </p:txBody>
      </p:sp>
      <p:sp>
        <p:nvSpPr>
          <p:cNvPr id="10" name="TextBox 9"/>
          <p:cNvSpPr txBox="1"/>
          <p:nvPr/>
        </p:nvSpPr>
        <p:spPr>
          <a:xfrm>
            <a:off x="996695" y="3986784"/>
            <a:ext cx="2962656" cy="182879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The same pretrain-then-adapt recipe that reshaped language and vision is now being applied to action, with cross-embodiment data playing the role web text played for LLMs.</a:t>
            </a:r>
          </a:p>
        </p:txBody>
      </p:sp>
      <p:sp>
        <p:nvSpPr>
          <p:cNvPr id="11" name="Rounded Rectangle 10"/>
          <p:cNvSpPr/>
          <p:nvPr/>
        </p:nvSpPr>
        <p:spPr>
          <a:xfrm>
            <a:off x="4361688" y="3383280"/>
            <a:ext cx="3401568" cy="26517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4581144" y="3602736"/>
            <a:ext cx="2962656" cy="292608"/>
          </a:xfrm>
          <a:prstGeom prst="rect">
            <a:avLst/>
          </a:prstGeom>
          <a:noFill/>
        </p:spPr>
        <p:txBody>
          <a:bodyPr wrap="square" lIns="0" rIns="0" tIns="0" bIns="0">
            <a:spAutoFit/>
          </a:bodyPr>
          <a:lstStyle/>
          <a:p>
            <a:pPr algn="l"/>
            <a:r>
              <a:rPr sz="1350" b="1" i="0">
                <a:solidFill>
                  <a:srgbClr val="12343B"/>
                </a:solidFill>
                <a:latin typeface="Calibri"/>
              </a:rPr>
              <a:t>Humanoids as a platform bet</a:t>
            </a:r>
          </a:p>
        </p:txBody>
      </p:sp>
      <p:sp>
        <p:nvSpPr>
          <p:cNvPr id="13" name="TextBox 12"/>
          <p:cNvSpPr txBox="1"/>
          <p:nvPr/>
        </p:nvSpPr>
        <p:spPr>
          <a:xfrm>
            <a:off x="4581144" y="3986784"/>
            <a:ext cx="2962656" cy="182879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Several labs are betting that a human-shaped body, trained on human-shaped data (video, teleoperation), is the fastest path to a general-purpose physical assistant.</a:t>
            </a:r>
          </a:p>
        </p:txBody>
      </p:sp>
      <p:sp>
        <p:nvSpPr>
          <p:cNvPr id="14" name="Rounded Rectangle 13"/>
          <p:cNvSpPr/>
          <p:nvPr/>
        </p:nvSpPr>
        <p:spPr>
          <a:xfrm>
            <a:off x="7946136" y="3383280"/>
            <a:ext cx="3401568" cy="2651760"/>
          </a:xfrm>
          <a:prstGeom prst="roundRect">
            <a:avLst>
              <a:gd name="adj" fmla="val 6000"/>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xtBox 14"/>
          <p:cNvSpPr txBox="1"/>
          <p:nvPr/>
        </p:nvSpPr>
        <p:spPr>
          <a:xfrm>
            <a:off x="8165592" y="3602736"/>
            <a:ext cx="2962656" cy="292608"/>
          </a:xfrm>
          <a:prstGeom prst="rect">
            <a:avLst/>
          </a:prstGeom>
          <a:noFill/>
        </p:spPr>
        <p:txBody>
          <a:bodyPr wrap="square" lIns="0" rIns="0" tIns="0" bIns="0">
            <a:spAutoFit/>
          </a:bodyPr>
          <a:lstStyle/>
          <a:p>
            <a:pPr algn="l"/>
            <a:r>
              <a:rPr sz="1350" b="1" i="0">
                <a:solidFill>
                  <a:srgbClr val="12343B"/>
                </a:solidFill>
                <a:latin typeface="Calibri"/>
              </a:rPr>
              <a:t>Convergence with reasoning</a:t>
            </a:r>
          </a:p>
        </p:txBody>
      </p:sp>
      <p:sp>
        <p:nvSpPr>
          <p:cNvPr id="16" name="TextBox 15"/>
          <p:cNvSpPr txBox="1"/>
          <p:nvPr/>
        </p:nvSpPr>
        <p:spPr>
          <a:xfrm>
            <a:off x="8165592" y="3986784"/>
            <a:ext cx="2962656" cy="1828799"/>
          </a:xfrm>
          <a:prstGeom prst="rect">
            <a:avLst/>
          </a:prstGeom>
          <a:noFill/>
        </p:spPr>
        <p:txBody>
          <a:bodyPr wrap="square" lIns="0" rIns="0" tIns="0" bIns="0">
            <a:spAutoFit/>
          </a:bodyPr>
          <a:lstStyle/>
          <a:p>
            <a:pPr algn="l">
              <a:lnSpc>
                <a:spcPct val="112000"/>
              </a:lnSpc>
            </a:pPr>
            <a:r>
              <a:rPr sz="1250" b="0" i="0">
                <a:solidFill>
                  <a:srgbClr val="5A7A80"/>
                </a:solidFill>
                <a:latin typeface="Calibri"/>
              </a:rPr>
              <a:t>Expect tighter coupling between large reasoning models and fast action modules, so a robot can plan, explain itself, and act inside the same system.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B2E2E"/>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0F3A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05840" y="621792"/>
            <a:ext cx="10058400" cy="320040"/>
          </a:xfrm>
          <a:prstGeom prst="rect">
            <a:avLst/>
          </a:prstGeom>
          <a:noFill/>
        </p:spPr>
        <p:txBody>
          <a:bodyPr wrap="square" lIns="0" rIns="0" tIns="0" bIns="0">
            <a:spAutoFit/>
          </a:bodyPr>
          <a:lstStyle/>
          <a:p>
            <a:pPr algn="l"/>
            <a:r>
              <a:rPr sz="1300" b="1" i="0">
                <a:solidFill>
                  <a:srgbClr val="8CE6C9"/>
                </a:solidFill>
                <a:latin typeface="Calibri"/>
              </a:rPr>
              <a:t>SUMMARY</a:t>
            </a:r>
          </a:p>
        </p:txBody>
      </p:sp>
      <p:sp>
        <p:nvSpPr>
          <p:cNvPr id="4" name="TextBox 3"/>
          <p:cNvSpPr txBox="1"/>
          <p:nvPr/>
        </p:nvSpPr>
        <p:spPr>
          <a:xfrm>
            <a:off x="1005840" y="960120"/>
            <a:ext cx="10058400" cy="777240"/>
          </a:xfrm>
          <a:prstGeom prst="rect">
            <a:avLst/>
          </a:prstGeom>
          <a:noFill/>
        </p:spPr>
        <p:txBody>
          <a:bodyPr wrap="square" lIns="0" rIns="0" tIns="0" bIns="0">
            <a:spAutoFit/>
          </a:bodyPr>
          <a:lstStyle/>
          <a:p>
            <a:pPr algn="l"/>
            <a:r>
              <a:rPr sz="3200" b="1" i="0">
                <a:solidFill>
                  <a:srgbClr val="FFFFFF"/>
                </a:solidFill>
                <a:latin typeface="Cambria"/>
              </a:rPr>
              <a:t>Key takeaways</a:t>
            </a:r>
          </a:p>
        </p:txBody>
      </p:sp>
      <p:sp>
        <p:nvSpPr>
          <p:cNvPr id="5" name="TextBox 4"/>
          <p:cNvSpPr txBox="1"/>
          <p:nvPr/>
        </p:nvSpPr>
        <p:spPr>
          <a:xfrm>
            <a:off x="1005840" y="1874519"/>
            <a:ext cx="1920240" cy="822960"/>
          </a:xfrm>
          <a:prstGeom prst="rect">
            <a:avLst/>
          </a:prstGeom>
          <a:noFill/>
        </p:spPr>
        <p:txBody>
          <a:bodyPr wrap="square" lIns="0" rIns="0" tIns="0" bIns="0">
            <a:spAutoFit/>
          </a:bodyPr>
          <a:lstStyle/>
          <a:p>
            <a:pPr algn="l"/>
            <a:r>
              <a:rPr sz="1200" b="1" i="0">
                <a:solidFill>
                  <a:srgbClr val="02C39A"/>
                </a:solidFill>
                <a:latin typeface="Calibri"/>
              </a:rPr>
              <a:t>What</a:t>
            </a:r>
          </a:p>
        </p:txBody>
      </p:sp>
      <p:sp>
        <p:nvSpPr>
          <p:cNvPr id="6" name="TextBox 5"/>
          <p:cNvSpPr txBox="1"/>
          <p:nvPr/>
        </p:nvSpPr>
        <p:spPr>
          <a:xfrm>
            <a:off x="3063240" y="1874519"/>
            <a:ext cx="8001000" cy="914400"/>
          </a:xfrm>
          <a:prstGeom prst="rect">
            <a:avLst/>
          </a:prstGeom>
          <a:noFill/>
        </p:spPr>
        <p:txBody>
          <a:bodyPr wrap="square" lIns="0" rIns="0" tIns="0" bIns="0">
            <a:spAutoFit/>
          </a:bodyPr>
          <a:lstStyle/>
          <a:p>
            <a:pPr algn="l">
              <a:lnSpc>
                <a:spcPct val="118000"/>
              </a:lnSpc>
            </a:pPr>
            <a:r>
              <a:rPr sz="1250" b="0" i="0">
                <a:solidFill>
                  <a:srgbClr val="D6E7E4"/>
                </a:solidFill>
                <a:latin typeface="Calibri"/>
              </a:rPr>
              <a:t>A VLA model turns pixels and words directly into motor commands, in one trained network, closing the loop that used to run through separate perception, planning and control stages.</a:t>
            </a:r>
          </a:p>
        </p:txBody>
      </p:sp>
      <p:sp>
        <p:nvSpPr>
          <p:cNvPr id="7" name="TextBox 6"/>
          <p:cNvSpPr txBox="1"/>
          <p:nvPr/>
        </p:nvSpPr>
        <p:spPr>
          <a:xfrm>
            <a:off x="1005840" y="2898648"/>
            <a:ext cx="1920240" cy="822960"/>
          </a:xfrm>
          <a:prstGeom prst="rect">
            <a:avLst/>
          </a:prstGeom>
          <a:noFill/>
        </p:spPr>
        <p:txBody>
          <a:bodyPr wrap="square" lIns="0" rIns="0" tIns="0" bIns="0">
            <a:spAutoFit/>
          </a:bodyPr>
          <a:lstStyle/>
          <a:p>
            <a:pPr algn="l"/>
            <a:r>
              <a:rPr sz="1200" b="1" i="0">
                <a:solidFill>
                  <a:srgbClr val="02C39A"/>
                </a:solidFill>
                <a:latin typeface="Calibri"/>
              </a:rPr>
              <a:t>How</a:t>
            </a:r>
          </a:p>
        </p:txBody>
      </p:sp>
      <p:sp>
        <p:nvSpPr>
          <p:cNvPr id="8" name="TextBox 7"/>
          <p:cNvSpPr txBox="1"/>
          <p:nvPr/>
        </p:nvSpPr>
        <p:spPr>
          <a:xfrm>
            <a:off x="3063240" y="2898648"/>
            <a:ext cx="8001000" cy="914400"/>
          </a:xfrm>
          <a:prstGeom prst="rect">
            <a:avLst/>
          </a:prstGeom>
          <a:noFill/>
        </p:spPr>
        <p:txBody>
          <a:bodyPr wrap="square" lIns="0" rIns="0" tIns="0" bIns="0">
            <a:spAutoFit/>
          </a:bodyPr>
          <a:lstStyle/>
          <a:p>
            <a:pPr algn="l">
              <a:lnSpc>
                <a:spcPct val="118000"/>
              </a:lnSpc>
            </a:pPr>
            <a:r>
              <a:rPr sz="1250" b="0" i="0">
                <a:solidFill>
                  <a:srgbClr val="D6E7E4"/>
                </a:solidFill>
                <a:latin typeface="Calibri"/>
              </a:rPr>
              <a:t>A vision encoder and a language backbone share a common token space; an action decoder, discrete, continuous, or diffusion-based, turns that shared representation into a chunk of future motion.</a:t>
            </a:r>
          </a:p>
        </p:txBody>
      </p:sp>
      <p:sp>
        <p:nvSpPr>
          <p:cNvPr id="9" name="TextBox 8"/>
          <p:cNvSpPr txBox="1"/>
          <p:nvPr/>
        </p:nvSpPr>
        <p:spPr>
          <a:xfrm>
            <a:off x="1005840" y="3922776"/>
            <a:ext cx="1920240" cy="822960"/>
          </a:xfrm>
          <a:prstGeom prst="rect">
            <a:avLst/>
          </a:prstGeom>
          <a:noFill/>
        </p:spPr>
        <p:txBody>
          <a:bodyPr wrap="square" lIns="0" rIns="0" tIns="0" bIns="0">
            <a:spAutoFit/>
          </a:bodyPr>
          <a:lstStyle/>
          <a:p>
            <a:pPr algn="l"/>
            <a:r>
              <a:rPr sz="1200" b="1" i="0">
                <a:solidFill>
                  <a:srgbClr val="02C39A"/>
                </a:solidFill>
                <a:latin typeface="Calibri"/>
              </a:rPr>
              <a:t>Trained on</a:t>
            </a:r>
          </a:p>
        </p:txBody>
      </p:sp>
      <p:sp>
        <p:nvSpPr>
          <p:cNvPr id="10" name="TextBox 9"/>
          <p:cNvSpPr txBox="1"/>
          <p:nvPr/>
        </p:nvSpPr>
        <p:spPr>
          <a:xfrm>
            <a:off x="3063240" y="3922776"/>
            <a:ext cx="8001000" cy="914400"/>
          </a:xfrm>
          <a:prstGeom prst="rect">
            <a:avLst/>
          </a:prstGeom>
          <a:noFill/>
        </p:spPr>
        <p:txBody>
          <a:bodyPr wrap="square" lIns="0" rIns="0" tIns="0" bIns="0">
            <a:spAutoFit/>
          </a:bodyPr>
          <a:lstStyle/>
          <a:p>
            <a:pPr algn="l">
              <a:lnSpc>
                <a:spcPct val="118000"/>
              </a:lnSpc>
            </a:pPr>
            <a:r>
              <a:rPr sz="1250" b="0" i="0">
                <a:solidFill>
                  <a:srgbClr val="D6E7E4"/>
                </a:solidFill>
                <a:latin typeface="Calibri"/>
              </a:rPr>
              <a:t>Human or teleoperated demonstrations, mostly through imitation learning, pretrained broadly on cross-embodiment data and then fine-tuned narrowly, with reinforcement learning still an emerging frontier.</a:t>
            </a:r>
          </a:p>
        </p:txBody>
      </p:sp>
      <p:sp>
        <p:nvSpPr>
          <p:cNvPr id="11" name="TextBox 10"/>
          <p:cNvSpPr txBox="1"/>
          <p:nvPr/>
        </p:nvSpPr>
        <p:spPr>
          <a:xfrm>
            <a:off x="1005840" y="4946904"/>
            <a:ext cx="1920240" cy="822960"/>
          </a:xfrm>
          <a:prstGeom prst="rect">
            <a:avLst/>
          </a:prstGeom>
          <a:noFill/>
        </p:spPr>
        <p:txBody>
          <a:bodyPr wrap="square" lIns="0" rIns="0" tIns="0" bIns="0">
            <a:spAutoFit/>
          </a:bodyPr>
          <a:lstStyle/>
          <a:p>
            <a:pPr algn="l"/>
            <a:r>
              <a:rPr sz="1200" b="1" i="0">
                <a:solidFill>
                  <a:srgbClr val="02C39A"/>
                </a:solidFill>
                <a:latin typeface="Calibri"/>
              </a:rPr>
              <a:t>Still hard</a:t>
            </a:r>
          </a:p>
        </p:txBody>
      </p:sp>
      <p:sp>
        <p:nvSpPr>
          <p:cNvPr id="12" name="TextBox 11"/>
          <p:cNvSpPr txBox="1"/>
          <p:nvPr/>
        </p:nvSpPr>
        <p:spPr>
          <a:xfrm>
            <a:off x="3063240" y="4946904"/>
            <a:ext cx="8001000" cy="914400"/>
          </a:xfrm>
          <a:prstGeom prst="rect">
            <a:avLst/>
          </a:prstGeom>
          <a:noFill/>
        </p:spPr>
        <p:txBody>
          <a:bodyPr wrap="square" lIns="0" rIns="0" tIns="0" bIns="0">
            <a:spAutoFit/>
          </a:bodyPr>
          <a:lstStyle/>
          <a:p>
            <a:pPr algn="l">
              <a:lnSpc>
                <a:spcPct val="118000"/>
              </a:lnSpc>
            </a:pPr>
            <a:r>
              <a:rPr sz="1250" b="0" i="0">
                <a:solidFill>
                  <a:srgbClr val="D6E7E4"/>
                </a:solidFill>
                <a:latin typeface="Calibri"/>
              </a:rPr>
              <a:t>Data scarcity, generalization, embodiment transfer, latency, safety, sim-to-real gaps, and long-horizon tasks all remain open, active research problems, not solved ones.</a:t>
            </a:r>
          </a:p>
        </p:txBody>
      </p:sp>
      <p:sp>
        <p:nvSpPr>
          <p:cNvPr id="13" name="TextBox 12"/>
          <p:cNvSpPr txBox="1"/>
          <p:nvPr/>
        </p:nvSpPr>
        <p:spPr>
          <a:xfrm>
            <a:off x="1005840" y="5989320"/>
            <a:ext cx="10058400" cy="502920"/>
          </a:xfrm>
          <a:prstGeom prst="rect">
            <a:avLst/>
          </a:prstGeom>
          <a:noFill/>
        </p:spPr>
        <p:txBody>
          <a:bodyPr wrap="square" lIns="0" rIns="0" tIns="0" bIns="0">
            <a:spAutoFit/>
          </a:bodyPr>
          <a:lstStyle/>
          <a:p>
            <a:pPr algn="l">
              <a:lnSpc>
                <a:spcPct val="115000"/>
              </a:lnSpc>
            </a:pPr>
            <a:r>
              <a:rPr sz="1300" b="1" i="1">
                <a:solidFill>
                  <a:srgbClr val="8CE6C9"/>
                </a:solidFill>
                <a:latin typeface="Calibri"/>
              </a:rPr>
              <a:t>The lineage runs from seeing, to seeing and understanding, to seeing, understanding, and acting. That last step is still being written.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