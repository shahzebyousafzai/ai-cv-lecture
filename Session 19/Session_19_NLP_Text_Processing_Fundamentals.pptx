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1B3A6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3291840" cy="3291840"/>
          </a:xfrm>
          <a:prstGeom prst="ellipse">
            <a:avLst/>
          </a:prstGeom>
          <a:solidFill>
            <a:srgbClr val="1B3A66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24128"/>
            <a:ext cx="82296" cy="233172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42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19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426464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 Processing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Text Processing Fundamentals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  ·   Vocabulary   ·   Stop Words   ·   Stemming   ·   Lemmatization   ·   N-grams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566928" cy="56692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NLP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where it is used, and why it matters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527048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527048"/>
            <a:ext cx="566928" cy="56692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15270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Tokenization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vs subwords vs characters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185416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185416"/>
            <a:ext cx="566928" cy="56692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18541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&amp; Stop Words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know words - and which words to ignore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43784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843784"/>
            <a:ext cx="566928" cy="56692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43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284378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&amp; Lemmatization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words to their base forms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502152"/>
            <a:ext cx="566928" cy="56692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50215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word sequences and context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7863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60520"/>
            <a:ext cx="566928" cy="56692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A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1605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Coding Session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text processing with NLTK in Python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Natural Language Processing?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73152" cy="86868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868680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</a:t>
            </a:r>
            <a:pPr indent="0" marL="0">
              <a:buNone/>
            </a:pPr>
            <a:r>
              <a:rPr lang="en-US" sz="15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field of AI that gives computers the ability to </a:t>
            </a:r>
            <a:pPr indent="0" marL="0">
              <a:buNone/>
            </a:pPr>
            <a:r>
              <a:rPr lang="en-US" sz="150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understand, interpret, and generate human language</a:t>
            </a:r>
            <a:pPr indent="0" marL="0">
              <a:buNone/>
            </a:pPr>
            <a:r>
              <a:rPr lang="en-US" sz="15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same way Computer Vision gives them the ability to see.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NLP every day: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2679192" cy="64008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4144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Assistants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Siri, Alexa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36976" y="228600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2286000"/>
            <a:ext cx="2679192" cy="64008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5" name="Text 13"/>
          <p:cNvSpPr/>
          <p:nvPr/>
        </p:nvSpPr>
        <p:spPr>
          <a:xfrm>
            <a:off x="3374136" y="244144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74136" y="27432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16752" y="228600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16752" y="2286000"/>
            <a:ext cx="2679192" cy="64008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244144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53912" y="274320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query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2679192" cy="64008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53872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review positive?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36976" y="338328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36976" y="3383280"/>
            <a:ext cx="2679192" cy="64008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27" name="Text 25"/>
          <p:cNvSpPr/>
          <p:nvPr/>
        </p:nvSpPr>
        <p:spPr>
          <a:xfrm>
            <a:off x="3374136" y="353872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74136" y="38404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vs junk mail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16752" y="3383280"/>
            <a:ext cx="26791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16752" y="3383280"/>
            <a:ext cx="2679192" cy="64008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31" name="Text 29"/>
          <p:cNvSpPr/>
          <p:nvPr/>
        </p:nvSpPr>
        <p:spPr>
          <a:xfrm>
            <a:off x="6153912" y="353872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53912" y="38404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your next word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focus on the first step of every NLP system: turning raw text into something a machine can work with.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Machines Process Language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happens in phases - today's session lives in the very first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1078992"/>
            <a:ext cx="6583680" cy="30216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7" name="Image 0" descr="s19img/phases_n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16152"/>
            <a:ext cx="6309360" cy="27473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128063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GeeksforGeeks - Phases of NLP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&amp; morphological analysis </a:t>
            </a:r>
            <a:pPr algn="ctr" indent="0" marL="0">
              <a:buNone/>
            </a:pPr>
            <a:r>
              <a:rPr lang="en-US" sz="13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tokenization, stemming, lemmatization - exactly what we learn today.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Text Hard for Computers?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already numbers (pixels). Text is not - and language is messy: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73152" cy="64008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3502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saw the bank” - river bank or money bank?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73152" cy="64008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1226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many forms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runs, running, ran - one concept, four words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34640"/>
            <a:ext cx="73152" cy="64008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88950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matters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“Dog bites man” ≠ “Man bites dog”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73152" cy="64008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6674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&amp; variation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gr8, coooool, recieve - humans cope, machines struggle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7863840" cy="384048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348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text processing pipeline that cleans and standardizes text before any model sees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Text 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turns messy human text into clean machine-ready units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5420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457200" cy="868680"/>
          </a:xfrm>
          <a:prstGeom prst="rect">
            <a:avLst/>
          </a:prstGeom>
          <a:solidFill>
            <a:srgbClr val="0E7FA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13441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69848" y="16459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“The cats are running!”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2152" y="1234440"/>
            <a:ext cx="25420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1234440"/>
            <a:ext cx="457200" cy="86868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12344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13441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69080" y="16459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lowercase, remove punctuation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01384" y="1234440"/>
            <a:ext cx="25420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1234440"/>
            <a:ext cx="457200" cy="86868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12344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68312" y="134416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68312" y="164592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[the, cats, are, running]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01384" y="2880360"/>
            <a:ext cx="25420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01384" y="2880360"/>
            <a:ext cx="457200" cy="86868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880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68312" y="29900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 Removal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68312" y="329184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[cats, running]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02152" y="2880360"/>
            <a:ext cx="25420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02152" y="2880360"/>
            <a:ext cx="457200" cy="86868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8" name="Text 26"/>
          <p:cNvSpPr/>
          <p:nvPr/>
        </p:nvSpPr>
        <p:spPr>
          <a:xfrm>
            <a:off x="3502152" y="2880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069080" y="29900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/ Lemmatize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069080" y="329184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[cat, run]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880360"/>
            <a:ext cx="254203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2880360"/>
            <a:ext cx="457200" cy="868680"/>
          </a:xfrm>
          <a:prstGeom prst="rect">
            <a:avLst/>
          </a:prstGeom>
          <a:solidFill>
            <a:srgbClr val="0E7FA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8803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69848" y="29900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Numbers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69848" y="329184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[512, 87] - token IDs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72384" y="1536192"/>
            <a:ext cx="384048" cy="274320"/>
          </a:xfrm>
          <a:prstGeom prst="rightArrow">
            <a:avLst/>
          </a:prstGeom>
          <a:solidFill>
            <a:srgbClr val="1FA8DC"/>
          </a:solidFill>
          <a:ln/>
        </p:spPr>
      </p:sp>
      <p:sp>
        <p:nvSpPr>
          <p:cNvPr id="37" name="Shape 35"/>
          <p:cNvSpPr/>
          <p:nvPr/>
        </p:nvSpPr>
        <p:spPr>
          <a:xfrm>
            <a:off x="6071616" y="1536192"/>
            <a:ext cx="384048" cy="274320"/>
          </a:xfrm>
          <a:prstGeom prst="rightArrow">
            <a:avLst/>
          </a:prstGeom>
          <a:solidFill>
            <a:srgbClr val="1FA8DC"/>
          </a:solidFill>
          <a:ln/>
        </p:spPr>
      </p:sp>
      <p:sp>
        <p:nvSpPr>
          <p:cNvPr id="38" name="Shape 36"/>
          <p:cNvSpPr/>
          <p:nvPr/>
        </p:nvSpPr>
        <p:spPr>
          <a:xfrm rot="5400000">
            <a:off x="7589520" y="2267712"/>
            <a:ext cx="384048" cy="274320"/>
          </a:xfrm>
          <a:prstGeom prst="rightArrow">
            <a:avLst/>
          </a:prstGeom>
          <a:solidFill>
            <a:srgbClr val="1FA8DC"/>
          </a:solidFill>
          <a:ln/>
        </p:spPr>
      </p:sp>
      <p:sp>
        <p:nvSpPr>
          <p:cNvPr id="39" name="Shape 37"/>
          <p:cNvSpPr/>
          <p:nvPr/>
        </p:nvSpPr>
        <p:spPr>
          <a:xfrm rot="10800000">
            <a:off x="6071616" y="3182112"/>
            <a:ext cx="384048" cy="274320"/>
          </a:xfrm>
          <a:prstGeom prst="rightArrow">
            <a:avLst/>
          </a:prstGeom>
          <a:solidFill>
            <a:srgbClr val="1FA8DC"/>
          </a:solidFill>
          <a:ln/>
        </p:spPr>
      </p:sp>
      <p:sp>
        <p:nvSpPr>
          <p:cNvPr id="40" name="Shape 38"/>
          <p:cNvSpPr/>
          <p:nvPr/>
        </p:nvSpPr>
        <p:spPr>
          <a:xfrm rot="10800000">
            <a:off x="3072384" y="3182112"/>
            <a:ext cx="384048" cy="274320"/>
          </a:xfrm>
          <a:prstGeom prst="rightArrow">
            <a:avLst/>
          </a:prstGeom>
          <a:solidFill>
            <a:srgbClr val="1FA8D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theory covers steps 2-5; the notebook makes you run the whole pipeline yourself.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 &amp; Tokenization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text a model works with - a word, a piece of a word, or a character.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splitting raw text into tokens. It is the first real step of every NLP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40233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 love computer vision”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388620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388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6716" y="3520440"/>
            <a:ext cx="676656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2" name="Text 10"/>
          <p:cNvSpPr/>
          <p:nvPr/>
        </p:nvSpPr>
        <p:spPr>
          <a:xfrm>
            <a:off x="1156716" y="352044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1388" y="3520440"/>
            <a:ext cx="1060704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4" name="Text 12"/>
          <p:cNvSpPr/>
          <p:nvPr/>
        </p:nvSpPr>
        <p:spPr>
          <a:xfrm>
            <a:off x="1961388" y="35204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0108" y="35204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6" name="Text 14"/>
          <p:cNvSpPr/>
          <p:nvPr/>
        </p:nvSpPr>
        <p:spPr>
          <a:xfrm>
            <a:off x="3150108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 tokens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343400" cy="23088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19" name="Image 0" descr="s19img/token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97280"/>
            <a:ext cx="4069080" cy="20345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892040" y="329641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GeeksforGeeks - Tokenization in NLP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54880" y="3520440"/>
            <a:ext cx="4343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37760" y="3520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step (vocabulary, embeddings, transformers) operates on tokens, not raw text.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vs Subwords vs Characters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split the same word: “unhappiness”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974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Word-level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" y="18288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DCEEF8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unhappiness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69748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short sequences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vocabulary; unknown words break 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41605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NLP (NLTK, bag-of-words)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188720"/>
            <a:ext cx="26974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188720"/>
            <a:ext cx="26974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Subword-level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29000" y="182880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D9F2E6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1828800"/>
            <a:ext cx="731520" cy="347472"/>
          </a:xfrm>
          <a:prstGeom prst="roundRect">
            <a:avLst>
              <a:gd name="adj" fmla="val 15789"/>
            </a:avLst>
          </a:prstGeom>
          <a:solidFill>
            <a:srgbClr val="D9F2E6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828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828800"/>
            <a:ext cx="640080" cy="347472"/>
          </a:xfrm>
          <a:prstGeom prst="roundRect">
            <a:avLst>
              <a:gd name="adj" fmla="val 15789"/>
            </a:avLst>
          </a:prstGeom>
          <a:solidFill>
            <a:srgbClr val="D9F2E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69748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vocab + handles new words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learned, not linguistic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29000" y="41605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LLMs: BERT, GPT (BPE, WordPiece)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1188720"/>
            <a:ext cx="26974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1188720"/>
            <a:ext cx="26974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6" name="Text 24"/>
          <p:cNvSpPr/>
          <p:nvPr/>
        </p:nvSpPr>
        <p:spPr>
          <a:xfrm>
            <a:off x="6071616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Character-level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36208" y="1828800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4E4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1828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93408" y="1828800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4E4"/>
          </a:solidFill>
          <a:ln/>
        </p:spPr>
      </p:sp>
      <p:sp>
        <p:nvSpPr>
          <p:cNvPr id="30" name="Text 28"/>
          <p:cNvSpPr/>
          <p:nvPr/>
        </p:nvSpPr>
        <p:spPr>
          <a:xfrm>
            <a:off x="6693408" y="1828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50608" y="1828800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4E4"/>
          </a:solidFill>
          <a:ln/>
        </p:spPr>
      </p:sp>
      <p:sp>
        <p:nvSpPr>
          <p:cNvPr id="32" name="Text 30"/>
          <p:cNvSpPr/>
          <p:nvPr/>
        </p:nvSpPr>
        <p:spPr>
          <a:xfrm>
            <a:off x="7150608" y="1828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07808" y="1828800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4E4"/>
          </a:solidFill>
          <a:ln/>
        </p:spPr>
      </p:sp>
      <p:sp>
        <p:nvSpPr>
          <p:cNvPr id="34" name="Text 32"/>
          <p:cNvSpPr/>
          <p:nvPr/>
        </p:nvSpPr>
        <p:spPr>
          <a:xfrm>
            <a:off x="7607808" y="1828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65008" y="1828800"/>
            <a:ext cx="365760" cy="347472"/>
          </a:xfrm>
          <a:prstGeom prst="roundRect">
            <a:avLst>
              <a:gd name="adj" fmla="val 15789"/>
            </a:avLst>
          </a:prstGeom>
          <a:solidFill>
            <a:srgbClr val="FBE4E4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1828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36208" y="2286000"/>
            <a:ext cx="548640" cy="347472"/>
          </a:xfrm>
          <a:prstGeom prst="roundRect">
            <a:avLst>
              <a:gd name="adj" fmla="val 15789"/>
            </a:avLst>
          </a:prstGeom>
          <a:solidFill>
            <a:srgbClr val="FBE4E4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22860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2697480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vocab, never out-of-vocabulary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sequences; characters carry little meaning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36208" y="41605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correction, some languages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Subwords in Practice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GPT &amp; BERT read words they have never seen - the trick behind every modern language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words stay whole; rare words get split into familiar pieces.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can read words it has never seen before - no “unknown word” problem.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8638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(WordPiece):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“tokenization” 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883664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D9F2E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836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1883664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D9F2E6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88366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“##” means: this piece continues the previous 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863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subword algorithms: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5661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(Byte-Pair Encoding)</a:t>
            </a:r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GPT models. Repeatedly merges the most frequent character pairs.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BERT. Similar idea, picks merges that maximize likelihood.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SentencePiece</a:t>
            </a:r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T5, LLaMA. Works on raw text, language-independent.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Vocabulary: The Model's Dictionary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fixed set of all tokens a model knows. Each token gets a unique ID number - and these IDs are what the model actually receives.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trade-off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vocab → shorter sequences, more memory. Smaller vocab → longer sequences, less memory.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 (OOV)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not in the vocabulary becomes [UNK] (unknown) - information is lost. Subwords largely solve this.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sizes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≈ 30k tokens  ·  GPT-2 ≈ 50k tokens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40680" y="960120"/>
            <a:ext cx="32461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 →  ID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23560" y="1371600"/>
            <a:ext cx="2880360" cy="301752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371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[PAD]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3716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673352"/>
            <a:ext cx="2880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167335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[UNK]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67335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1975104"/>
            <a:ext cx="2880360" cy="301752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197510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197510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2276856"/>
            <a:ext cx="2880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2768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227685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2578608"/>
            <a:ext cx="2880360" cy="301752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57860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57860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2880360"/>
            <a:ext cx="2880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8803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288036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3566160"/>
            <a:ext cx="3246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356616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tokens: </a:t>
            </a:r>
            <a:pPr indent="0" marL="0">
              <a:buNone/>
            </a:pPr>
            <a:r>
              <a:rPr lang="en-US" sz="11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[PAD] fills space, [UNK] = unknown, [CLS]/[SEP] mark sentences (BERT).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Words: Filtering the Noise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very common words that carry little meaning on their own - articles, prepositions, pronouns.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15568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82496" y="1508760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11" name="Text 9"/>
          <p:cNvSpPr/>
          <p:nvPr/>
        </p:nvSpPr>
        <p:spPr>
          <a:xfrm>
            <a:off x="1682496" y="15087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57984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13" name="Text 11"/>
          <p:cNvSpPr/>
          <p:nvPr/>
        </p:nvSpPr>
        <p:spPr>
          <a:xfrm>
            <a:off x="2157984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24912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58768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858768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25696" y="1508760"/>
            <a:ext cx="54864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21" name="Text 19"/>
          <p:cNvSpPr/>
          <p:nvPr/>
        </p:nvSpPr>
        <p:spPr>
          <a:xfrm>
            <a:off x="4425696" y="1508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84064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50992" y="1508760"/>
            <a:ext cx="54864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25" name="Text 23"/>
          <p:cNvSpPr/>
          <p:nvPr/>
        </p:nvSpPr>
        <p:spPr>
          <a:xfrm>
            <a:off x="5650992" y="1508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508760"/>
            <a:ext cx="54864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5087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67728" y="1508760"/>
            <a:ext cx="457200" cy="329184"/>
          </a:xfrm>
          <a:prstGeom prst="roundRect">
            <a:avLst>
              <a:gd name="adj" fmla="val 16667"/>
            </a:avLst>
          </a:prstGeom>
          <a:solidFill>
            <a:srgbClr val="E5E9F0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728" y="150876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103120"/>
            <a:ext cx="8229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00200" y="2212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“The quick brown fox jumps over the lazy dog”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00200" y="2670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[quick, brown, fox, jumps, lazy, dog]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40416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429000"/>
            <a:ext cx="4041648" cy="64008"/>
          </a:xfrm>
          <a:prstGeom prst="rect">
            <a:avLst/>
          </a:prstGeom>
          <a:solidFill>
            <a:srgbClr val="1E9E6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584448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them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classification, search, keyword extraction, topic modeling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45152" y="3429000"/>
            <a:ext cx="404164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45152" y="3429000"/>
            <a:ext cx="4041648" cy="64008"/>
          </a:xfrm>
          <a:prstGeom prst="rect">
            <a:avLst/>
          </a:prstGeom>
          <a:solidFill>
            <a:srgbClr val="C94F4F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3584448"/>
            <a:ext cx="3675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them for: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chatbots, LLMs - “not good” ≠ “good”!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Stemming: Chopping Words to Their Root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off word endings using simple rules to reach a common “stem”. Fast and crude - the result may not be a real word.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206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Stemmer examples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running, runs, ran*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/ ran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studies, studying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  (not a word!)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likes, likely, liked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9748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history, historical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9748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irregular forms are NOT handled - stemming has no dictionary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it? </a:t>
            </a:r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engines: a query for “fishing” should also match “fish” and “fished”. Speed matters more than perfect grammar.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914400"/>
            <a:ext cx="34290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12080" y="987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250" dirty="0"/>
          </a:p>
        </p:txBody>
      </p:sp>
      <p:pic>
        <p:nvPicPr>
          <p:cNvPr id="24" name="Image 0" descr="s19img/overstem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261872"/>
            <a:ext cx="3063240" cy="1172647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12080" y="2452807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Over-stemming: unrelated words collapse together</a:t>
            </a:r>
            <a:endParaRPr lang="en-US" sz="900" dirty="0"/>
          </a:p>
        </p:txBody>
      </p:sp>
      <p:pic>
        <p:nvPicPr>
          <p:cNvPr id="26" name="Image 1" descr="s19img/understemm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708839"/>
            <a:ext cx="3063240" cy="145982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12080" y="4186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Under-stemming: related words stay separate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212080" y="44064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Data Basecamp (databasecamp.de)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Lemmatization: The Smart Alternative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 word to its dictionary form (the “lemma”) using vocabulary and grammar - the output is always a real word.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206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(WordNet lemmatizer)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71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 (adjective)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</a:t>
            </a:r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to know the part of speech (“better” as adjective → good; as adverb → well) and is slower than stemming.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188720"/>
            <a:ext cx="4023360" cy="238820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pic>
        <p:nvPicPr>
          <p:cNvPr id="22" name="Image 0" descr="s19img/lemmat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25880"/>
            <a:ext cx="3749040" cy="182127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29200" y="3220309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Data Basecamp - lemmatization maps words to real dictionary forms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Stemming vs Lemmatization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194560" cy="411480"/>
          </a:xfrm>
          <a:prstGeom prst="rect">
            <a:avLst/>
          </a:prstGeom>
          <a:solidFill>
            <a:srgbClr val="1B3A6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1051560"/>
            <a:ext cx="2926080" cy="41148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051560"/>
            <a:ext cx="2926080" cy="411480"/>
          </a:xfrm>
          <a:prstGeom prst="rect">
            <a:avLst/>
          </a:prstGeom>
          <a:solidFill>
            <a:srgbClr val="0E7FA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051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Stemming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051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Lemmatization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8046720" cy="475488"/>
          </a:xfrm>
          <a:prstGeom prst="rect">
            <a:avLst/>
          </a:prstGeom>
          <a:solidFill>
            <a:srgbClr val="ED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463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463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suffix chopping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1463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+ grammar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938528"/>
            <a:ext cx="8046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19385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a non-word (“studi”)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19385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real word (“study”)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414016"/>
            <a:ext cx="8046720" cy="475488"/>
          </a:xfrm>
          <a:prstGeom prst="rect">
            <a:avLst/>
          </a:prstGeom>
          <a:solidFill>
            <a:srgbClr val="ED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60720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889504"/>
            <a:ext cx="8046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895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28895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8895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(uses part of speech)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364992"/>
            <a:ext cx="8046720" cy="475488"/>
          </a:xfrm>
          <a:prstGeom prst="rect">
            <a:avLst/>
          </a:prstGeom>
          <a:solidFill>
            <a:srgbClr val="ED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3649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engines, quick filtering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33649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analysis needing meaning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need speed → stem   ·   need meaning → lemmatize   ·   modern LLMs → subwords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N-grams: Capturing Word Order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n-gram </a:t>
            </a:r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sequence of n consecutive tokens. Single tokens lose word order - n-grams bring some of it back.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 love natural language processing”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(n=1)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965960"/>
            <a:ext cx="331013" cy="365760"/>
          </a:xfrm>
          <a:prstGeom prst="roundRect">
            <a:avLst>
              <a:gd name="adj" fmla="val 16575"/>
            </a:avLst>
          </a:prstGeom>
          <a:solidFill>
            <a:srgbClr val="DCEEF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965960"/>
            <a:ext cx="3310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08453" y="1965960"/>
            <a:ext cx="555955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1" name="Text 9"/>
          <p:cNvSpPr/>
          <p:nvPr/>
        </p:nvSpPr>
        <p:spPr>
          <a:xfrm>
            <a:off x="2708453" y="1965960"/>
            <a:ext cx="555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1965960"/>
            <a:ext cx="780898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965960"/>
            <a:ext cx="780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28186" y="1965960"/>
            <a:ext cx="855878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5" name="Text 13"/>
          <p:cNvSpPr/>
          <p:nvPr/>
        </p:nvSpPr>
        <p:spPr>
          <a:xfrm>
            <a:off x="4228186" y="1965960"/>
            <a:ext cx="855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75504" y="196596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DCEEF8"/>
          </a:solidFill>
          <a:ln/>
        </p:spPr>
      </p:sp>
      <p:sp>
        <p:nvSpPr>
          <p:cNvPr id="17" name="Text 15"/>
          <p:cNvSpPr/>
          <p:nvPr/>
        </p:nvSpPr>
        <p:spPr>
          <a:xfrm>
            <a:off x="5175504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69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(n=2)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532888"/>
            <a:ext cx="705917" cy="365760"/>
          </a:xfrm>
          <a:prstGeom prst="roundRect">
            <a:avLst>
              <a:gd name="adj" fmla="val 15000"/>
            </a:avLst>
          </a:prstGeom>
          <a:solidFill>
            <a:srgbClr val="D9F2E6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2532888"/>
            <a:ext cx="7059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love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83357" y="2532888"/>
            <a:ext cx="1155802" cy="365760"/>
          </a:xfrm>
          <a:prstGeom prst="roundRect">
            <a:avLst>
              <a:gd name="adj" fmla="val 15000"/>
            </a:avLst>
          </a:prstGeom>
          <a:solidFill>
            <a:srgbClr val="D9F2E6"/>
          </a:solidFill>
          <a:ln/>
        </p:spPr>
      </p:sp>
      <p:sp>
        <p:nvSpPr>
          <p:cNvPr id="22" name="Text 20"/>
          <p:cNvSpPr/>
          <p:nvPr/>
        </p:nvSpPr>
        <p:spPr>
          <a:xfrm>
            <a:off x="3083357" y="2532888"/>
            <a:ext cx="1155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love natural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30598" y="2532888"/>
            <a:ext cx="1455725" cy="365760"/>
          </a:xfrm>
          <a:prstGeom prst="roundRect">
            <a:avLst>
              <a:gd name="adj" fmla="val 15000"/>
            </a:avLst>
          </a:prstGeom>
          <a:solidFill>
            <a:srgbClr val="D9F2E6"/>
          </a:solidFill>
          <a:ln/>
        </p:spPr>
      </p:sp>
      <p:sp>
        <p:nvSpPr>
          <p:cNvPr id="24" name="Text 22"/>
          <p:cNvSpPr/>
          <p:nvPr/>
        </p:nvSpPr>
        <p:spPr>
          <a:xfrm>
            <a:off x="4330598" y="2532888"/>
            <a:ext cx="14557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77763" y="2532888"/>
            <a:ext cx="1680667" cy="365760"/>
          </a:xfrm>
          <a:prstGeom prst="roundRect">
            <a:avLst>
              <a:gd name="adj" fmla="val 15000"/>
            </a:avLst>
          </a:prstGeom>
          <a:solidFill>
            <a:srgbClr val="D9F2E6"/>
          </a:solidFill>
          <a:ln/>
        </p:spPr>
      </p:sp>
      <p:sp>
        <p:nvSpPr>
          <p:cNvPr id="26" name="Text 24"/>
          <p:cNvSpPr/>
          <p:nvPr/>
        </p:nvSpPr>
        <p:spPr>
          <a:xfrm>
            <a:off x="5877763" y="2532888"/>
            <a:ext cx="16806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Trigrams (n=3)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0" y="3099816"/>
            <a:ext cx="1305763" cy="365760"/>
          </a:xfrm>
          <a:prstGeom prst="roundRect">
            <a:avLst>
              <a:gd name="adj" fmla="val 15000"/>
            </a:avLst>
          </a:prstGeom>
          <a:solidFill>
            <a:srgbClr val="FDF0DB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3099816"/>
            <a:ext cx="13057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love natural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83203" y="3099816"/>
            <a:ext cx="1830629" cy="365760"/>
          </a:xfrm>
          <a:prstGeom prst="roundRect">
            <a:avLst>
              <a:gd name="adj" fmla="val 15000"/>
            </a:avLst>
          </a:prstGeom>
          <a:solidFill>
            <a:srgbClr val="FDF0DB"/>
          </a:solidFill>
          <a:ln/>
        </p:spPr>
      </p:sp>
      <p:sp>
        <p:nvSpPr>
          <p:cNvPr id="31" name="Text 29"/>
          <p:cNvSpPr/>
          <p:nvPr/>
        </p:nvSpPr>
        <p:spPr>
          <a:xfrm>
            <a:off x="3683203" y="3099816"/>
            <a:ext cx="1830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love natural language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05272" y="3099816"/>
            <a:ext cx="2280514" cy="365760"/>
          </a:xfrm>
          <a:prstGeom prst="roundRect">
            <a:avLst>
              <a:gd name="adj" fmla="val 15000"/>
            </a:avLst>
          </a:prstGeom>
          <a:solidFill>
            <a:srgbClr val="FDF0DB"/>
          </a:solidFill>
          <a:ln/>
        </p:spPr>
      </p:sp>
      <p:sp>
        <p:nvSpPr>
          <p:cNvPr id="33" name="Text 31"/>
          <p:cNvSpPr/>
          <p:nvPr/>
        </p:nvSpPr>
        <p:spPr>
          <a:xfrm>
            <a:off x="5605272" y="3099816"/>
            <a:ext cx="2280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7D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 processing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n-grams shine:  </a:t>
            </a:r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(“new york → city”), language models before deep learning, text features for classifiers (“not good” as one unit fixes the stop-word problem!)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All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through the whole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508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19  ·  NLP Fundamentals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66760" y="48508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20116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5852160" cy="457200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“The striped cats were running quickly!”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517904" y="1600200"/>
            <a:ext cx="256032" cy="128016"/>
          </a:xfrm>
          <a:prstGeom prst="downArrow">
            <a:avLst/>
          </a:prstGeom>
          <a:solidFill>
            <a:srgbClr val="1FA8D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728216"/>
            <a:ext cx="20116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clean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1728216"/>
            <a:ext cx="5852160" cy="457200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728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striped cats were running quickly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517904" y="2185416"/>
            <a:ext cx="256032" cy="128016"/>
          </a:xfrm>
          <a:prstGeom prst="downArrow">
            <a:avLst/>
          </a:prstGeom>
          <a:solidFill>
            <a:srgbClr val="1FA8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313432"/>
            <a:ext cx="20116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13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51760" y="2313432"/>
            <a:ext cx="5852160" cy="457200"/>
          </a:xfrm>
          <a:prstGeom prst="rect">
            <a:avLst/>
          </a:prstGeom>
          <a:solidFill>
            <a:srgbClr val="DCEEF8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23134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[the, striped, cats, were, running, quickly]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517904" y="2770632"/>
            <a:ext cx="256032" cy="128016"/>
          </a:xfrm>
          <a:prstGeom prst="downArrow">
            <a:avLst/>
          </a:prstGeom>
          <a:solidFill>
            <a:srgbClr val="1FA8D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898648"/>
            <a:ext cx="20116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98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 words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51760" y="2898648"/>
            <a:ext cx="5852160" cy="457200"/>
          </a:xfrm>
          <a:prstGeom prst="rect">
            <a:avLst/>
          </a:prstGeom>
          <a:solidFill>
            <a:srgbClr val="DCEEF8"/>
          </a:solidFill>
          <a:ln/>
        </p:spPr>
      </p:sp>
      <p:sp>
        <p:nvSpPr>
          <p:cNvPr id="24" name="Text 22"/>
          <p:cNvSpPr/>
          <p:nvPr/>
        </p:nvSpPr>
        <p:spPr>
          <a:xfrm>
            <a:off x="2788920" y="28986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F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[striped, cats, running, quickly]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517904" y="3355848"/>
            <a:ext cx="256032" cy="128016"/>
          </a:xfrm>
          <a:prstGeom prst="downArrow">
            <a:avLst/>
          </a:prstGeom>
          <a:solidFill>
            <a:srgbClr val="1FA8D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3483864"/>
            <a:ext cx="20116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651760" y="3483864"/>
            <a:ext cx="5852160" cy="457200"/>
          </a:xfrm>
          <a:prstGeom prst="rect">
            <a:avLst/>
          </a:prstGeom>
          <a:solidFill>
            <a:srgbClr val="D9F2E6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34838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[striped, cat, run, quickly]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517904" y="3941064"/>
            <a:ext cx="256032" cy="128016"/>
          </a:xfrm>
          <a:prstGeom prst="downArrow">
            <a:avLst/>
          </a:prstGeom>
          <a:solidFill>
            <a:srgbClr val="1FA8D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069080"/>
            <a:ext cx="2011680" cy="4572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651760" y="4069080"/>
            <a:ext cx="5852160" cy="457200"/>
          </a:xfrm>
          <a:prstGeom prst="rect">
            <a:avLst/>
          </a:prstGeom>
          <a:solidFill>
            <a:srgbClr val="D9F2E6"/>
          </a:solidFill>
          <a:ln/>
        </p:spPr>
      </p:sp>
      <p:sp>
        <p:nvSpPr>
          <p:cNvPr id="34" name="Text 32"/>
          <p:cNvSpPr/>
          <p:nvPr/>
        </p:nvSpPr>
        <p:spPr>
          <a:xfrm>
            <a:off x="2788920" y="4069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[1042, 87, 314, 905]   → ready for a model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98448"/>
            <a:ext cx="164592" cy="164592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2344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- </a:t>
            </a:r>
            <a:pPr indent="0" marL="0">
              <a:buNone/>
            </a:pPr>
            <a:r>
              <a:rPr lang="en-US" sz="1450" dirty="0">
                <a:solidFill>
                  <a:srgbClr val="B9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words, subwords, or characters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64592" cy="164592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7335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- </a:t>
            </a:r>
            <a:pPr indent="0" marL="0">
              <a:buNone/>
            </a:pPr>
            <a:r>
              <a:rPr lang="en-US" sz="1450" dirty="0">
                <a:solidFill>
                  <a:srgbClr val="B9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dictionary - tokens mapped to IDs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176272"/>
            <a:ext cx="164592" cy="164592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122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- </a:t>
            </a:r>
            <a:pPr indent="0" marL="0">
              <a:buNone/>
            </a:pPr>
            <a:r>
              <a:rPr lang="en-US" sz="1450" dirty="0">
                <a:solidFill>
                  <a:srgbClr val="B9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low-meaning words; remove with care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15184"/>
            <a:ext cx="164592" cy="164592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511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vs Lemmatization - </a:t>
            </a:r>
            <a:pPr indent="0" marL="0">
              <a:buNone/>
            </a:pPr>
            <a:r>
              <a:rPr lang="en-US" sz="1450" dirty="0">
                <a:solidFill>
                  <a:srgbClr val="B9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chopping vs dictionary-correct base forms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3054096"/>
            <a:ext cx="164592" cy="164592"/>
          </a:xfrm>
          <a:prstGeom prst="ellipse">
            <a:avLst/>
          </a:prstGeom>
          <a:solidFill>
            <a:srgbClr val="1FA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9900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- </a:t>
            </a:r>
            <a:pPr indent="0" marL="0">
              <a:buNone/>
            </a:pPr>
            <a:r>
              <a:rPr lang="en-US" sz="1450" dirty="0">
                <a:solidFill>
                  <a:srgbClr val="B9C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token sequences that capture word order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solidFill>
            <a:srgbClr val="1B3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657600"/>
            <a:ext cx="82296" cy="1005840"/>
          </a:xfrm>
          <a:prstGeom prst="rect">
            <a:avLst/>
          </a:prstGeom>
          <a:solidFill>
            <a:srgbClr val="1FA8D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67328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hands-on notebook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real text with NLTK, remove stop words, compare stemming vs lemmatization, build n-grams - and peek at a real BERT tokenizer.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19 - NLP Fundamentals: Text Processing</dc:title>
  <dc:subject>PptxGenJS Presentation</dc:subject>
  <dc:creator>Shah</dc:creator>
  <cp:lastModifiedBy>Shah</cp:lastModifiedBy>
  <cp:revision>1</cp:revision>
  <dcterms:created xsi:type="dcterms:W3CDTF">2026-06-10T08:00:47Z</dcterms:created>
  <dcterms:modified xsi:type="dcterms:W3CDTF">2026-06-10T08:00:47Z</dcterms:modified>
</cp:coreProperties>
</file>