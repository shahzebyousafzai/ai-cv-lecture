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2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CLIP: Connecting Vision &amp; Language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two encoders, one shared space — how images and words learn to speak the same language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2B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encoder →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A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1D5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 photo of a dog”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encoder →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A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compare with a single dot product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guided code walkthrough  ·  ~1.5 hours  ·  Computer Vision &amp; AI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“how do I label 8,000 images?” to a model that classifies things it has never been trained 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IDEA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labelling problem CLIP solves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space for images &amp; text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acronym, deconstructed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 &amp; the N×N matrix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BUILD FROM SCRATCH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3008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3008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FLICKR-8K: images + captions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encoder, text encoder, projection head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symmetric loss, line by line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embed, and search by text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USE THE REAL 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27648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7648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CLIP: 400M pairs of supervision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classification, step by step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ViT-B/32 in five lines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CLIP hides in tools you already use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 slides + Session_26_CLIP_Practical.ipynb  ·  based on Modern Computer Vision with PyTorch, Ch.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Images Without Labels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thought experiment from the book — and the exact situation CLIP was designed for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an image dataset with no labels attached to any image.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you do have: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exhaustive list of every unique label that appears somewhere in the dataset.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assign the most probable label to each image?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classifiers can't help —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(image, label) pairs to train on. We have images and labels, but no pairing.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CLIP's answer: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both images and labels into the same vector space, then match each image to its nearest label.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83480" y="1417320"/>
            <a:ext cx="1783080" cy="228600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536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(no labels)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212080" y="1847088"/>
            <a:ext cx="10515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21808" y="1956816"/>
            <a:ext cx="10515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1536" y="2066544"/>
            <a:ext cx="1051560" cy="777240"/>
          </a:xfrm>
          <a:prstGeom prst="roundRect">
            <a:avLst>
              <a:gd name="adj" fmla="val 4706"/>
            </a:avLst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2B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2064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photos, zero annotations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1417320"/>
            <a:ext cx="137160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536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LIST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24928" y="1810512"/>
            <a:ext cx="1152144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181051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67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24928" y="2176272"/>
            <a:ext cx="1152144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217627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67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24928" y="2542032"/>
            <a:ext cx="1152144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4928" y="254203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67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24928" y="2907792"/>
            <a:ext cx="1152144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290779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67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24928" y="3273552"/>
            <a:ext cx="1152144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4928" y="3273552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67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label goes with which image?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2560320"/>
            <a:ext cx="548640" cy="0"/>
          </a:xfrm>
          <a:prstGeom prst="line">
            <a:avLst/>
          </a:prstGeom>
          <a:noFill/>
          <a:ln w="19050">
            <a:solidFill>
              <a:srgbClr val="0E7FA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Idea: One Space for Both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images and text live as vectors in the same space, “which label fits?” becomes “which vector is closest?”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just a list of numbers — a point in space — that captures what something means.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produces two kinds: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embedding per image, one per text (a class name or caption).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mapped into the same space, so an image vector and a text vector can be compared directly.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= dot product.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similarity between an image and every candidate label.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with the highest similarity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image embedding is the most probable label. That's the whole inference recipe.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EMBEDDING SPACE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77840" y="2148840"/>
            <a:ext cx="256032" cy="256032"/>
          </a:xfrm>
          <a:prstGeom prst="ellipse">
            <a:avLst/>
          </a:prstGeom>
          <a:solidFill>
            <a:srgbClr val="82B366"/>
          </a:solidFill>
          <a:ln/>
        </p:spPr>
      </p:sp>
      <p:sp>
        <p:nvSpPr>
          <p:cNvPr id="10" name="Text 8"/>
          <p:cNvSpPr/>
          <p:nvPr/>
        </p:nvSpPr>
        <p:spPr>
          <a:xfrm>
            <a:off x="5138928" y="2432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2B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image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2286000"/>
            <a:ext cx="256032" cy="256032"/>
          </a:xfrm>
          <a:prstGeom prst="ellipse">
            <a:avLst/>
          </a:prstGeom>
          <a:solidFill>
            <a:srgbClr val="9673A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5694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“dog”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2148840"/>
            <a:ext cx="868680" cy="457200"/>
          </a:xfrm>
          <a:prstGeom prst="ellipse">
            <a:avLst/>
          </a:prstGeom>
          <a:ln w="12700">
            <a:solidFill>
              <a:srgbClr val="0E7FA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818120" y="3657600"/>
            <a:ext cx="256032" cy="256032"/>
          </a:xfrm>
          <a:prstGeom prst="ellipse">
            <a:avLst/>
          </a:prstGeom>
          <a:solidFill>
            <a:srgbClr val="82B366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39410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2B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 image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83880" y="3310128"/>
            <a:ext cx="256032" cy="256032"/>
          </a:xfrm>
          <a:prstGeom prst="ellipse">
            <a:avLst/>
          </a:prstGeom>
          <a:solidFill>
            <a:srgbClr val="9673A6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“plane”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4920" y="2971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= same concept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2514600"/>
            <a:ext cx="1417320" cy="11430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0936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= different concepts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0" y="4279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colours as the paper's figure: green = image side, purple = text side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CLIP, Deconstructed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Language-Image Pre-training — the book unpacks it back to front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4996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79222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 a huge corpus of data — learning general-purpose representations before you ever point it at your task.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688336"/>
            <a:ext cx="566928" cy="566928"/>
          </a:xfrm>
          <a:prstGeom prst="ellipse">
            <a:avLst/>
          </a:prstGeom>
          <a:solidFill>
            <a:srgbClr val="9673A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88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61518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Language-Image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9077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corpus contains both images and the text that goes with them — for example, the alt-text attached to a web image. Two modalities, paired.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803904"/>
            <a:ext cx="566928" cy="566928"/>
          </a:xfrm>
          <a:prstGeom prst="ellipse">
            <a:avLst/>
          </a:prstGeom>
          <a:solidFill>
            <a:srgbClr val="82B36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7307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40233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pushes matched image &amp; text embeddings to be similar, while the embedding of one object and the text of another are made as dissimilar as possible.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bottom-up and you get the recipe: pre-train, on paired language + images, with a contrastive objective.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Pre-training, In One Picture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from the paper — every element here will reappear in our code</a:t>
            </a:r>
            <a:endParaRPr lang="en-US" sz="1200" dirty="0"/>
          </a:p>
        </p:txBody>
      </p:sp>
      <p:pic>
        <p:nvPicPr>
          <p:cNvPr id="6" name="Image 0" descr="/tmp/s26/assets/clip_pane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26280" cy="33009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13716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of N pairs.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“Pepper the aussie pup” goes through the Text Encoder; its photo goes through the Image Encoder.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come N text embeddings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T₁…Tₙ and N image embeddings I₁…Iₙ.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N×N grid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every pairwise dot product Iᵢ·Tⱼ — image i scored against text j.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cells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(highlighted blue) are the true pairs. Training makes those scores high and everything off-diagonal low.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4736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Radford et al., “Learning Transferable Visual Models From Natural Language Supervision”, OpenAI 2021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N×N Game: Pull Diagonal, Push the Rest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batch gives N correct pairs — and N²−N free negative examples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classification problem: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image i, which of the N captions is mine? The answer is caption i.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too: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caption j, which of the N images is mine? Symmetric in both directions.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labelling needed —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pairing itself is the supervision. Alt-text on the web comes for free.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it scales: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batches mean more negatives per step, and any (image, text) pair found online is training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86984" y="1783080"/>
            <a:ext cx="475488" cy="475488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86984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6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99048" y="1783080"/>
            <a:ext cx="475488" cy="475488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904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6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11112" y="1783080"/>
            <a:ext cx="475488" cy="475488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6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23176" y="1783080"/>
            <a:ext cx="475488" cy="475488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23176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6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2295144"/>
            <a:ext cx="475488" cy="475488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295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86984" y="2295144"/>
            <a:ext cx="475488" cy="475488"/>
          </a:xfrm>
          <a:prstGeom prst="rect">
            <a:avLst/>
          </a:prstGeom>
          <a:solidFill>
            <a:srgbClr val="1FA8DC"/>
          </a:solidFill>
          <a:ln w="12700">
            <a:solidFill>
              <a:srgbClr val="0E7F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2295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9048" y="2295144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2295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11112" y="2295144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2295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23176" y="2295144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2295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2807208"/>
            <a:ext cx="475488" cy="475488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86984" y="280720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86984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9048" y="2807208"/>
            <a:ext cx="475488" cy="475488"/>
          </a:xfrm>
          <a:prstGeom prst="rect">
            <a:avLst/>
          </a:prstGeom>
          <a:solidFill>
            <a:srgbClr val="1FA8DC"/>
          </a:solidFill>
          <a:ln w="12700">
            <a:solidFill>
              <a:srgbClr val="0E7F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9048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11112" y="280720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23176" y="2807208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3176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74920" y="3319272"/>
            <a:ext cx="475488" cy="475488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86984" y="3319272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86984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99048" y="3319272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99048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11112" y="3319272"/>
            <a:ext cx="475488" cy="475488"/>
          </a:xfrm>
          <a:prstGeom prst="rect">
            <a:avLst/>
          </a:prstGeom>
          <a:solidFill>
            <a:srgbClr val="1FA8DC"/>
          </a:solidFill>
          <a:ln w="12700">
            <a:solidFill>
              <a:srgbClr val="0E7F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11112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23176" y="3319272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23176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74920" y="3831336"/>
            <a:ext cx="475488" cy="475488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86984" y="3831336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6984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99048" y="3831336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99048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11112" y="3831336"/>
            <a:ext cx="47548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11112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123176" y="3831336"/>
            <a:ext cx="475488" cy="475488"/>
          </a:xfrm>
          <a:prstGeom prst="rect">
            <a:avLst/>
          </a:prstGeom>
          <a:solidFill>
            <a:srgbClr val="1FA8DC"/>
          </a:solidFill>
          <a:ln w="12700">
            <a:solidFill>
              <a:srgbClr val="0E7FA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23176" y="3831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09160" y="4526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diagonal: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pair — maximise similarity      </a:t>
            </a:r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off-diagonal: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— minimise it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749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similarity(i, j) = Iᵢ · Tⱼ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Build: Three Components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we'll assemble from scratch — exactly as in the book's Chapter 16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240280"/>
          </a:xfrm>
          <a:prstGeom prst="roundRect">
            <a:avLst>
              <a:gd name="adj" fmla="val 2449"/>
            </a:avLst>
          </a:prstGeom>
          <a:solidFill>
            <a:srgbClr val="D5E8D4"/>
          </a:solidFill>
          <a:ln w="12700">
            <a:solidFill>
              <a:srgbClr val="D5E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361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(pre-trained, via timm)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any image into a 2048-d feature vector. global_pool="avg", classifier head removed (num_classes=0).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240280"/>
          </a:xfrm>
          <a:prstGeom prst="roundRect">
            <a:avLst>
              <a:gd name="adj" fmla="val 2449"/>
            </a:avLst>
          </a:prstGeom>
          <a:solidFill>
            <a:srgbClr val="E1D5E7"/>
          </a:solidFill>
          <a:ln w="12700">
            <a:solidFill>
              <a:srgbClr val="E1D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361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TextEncoder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(pre-trained)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caption → hidden states; we keep the CLS token (index 0) as the sentence's 768-d embedding.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2240280"/>
          </a:xfrm>
          <a:prstGeom prst="roundRect">
            <a:avLst>
              <a:gd name="adj" fmla="val 2449"/>
            </a:avLst>
          </a:prstGeom>
          <a:solidFill>
            <a:srgbClr val="D3EDF7"/>
          </a:solidFill>
          <a:ln w="12700">
            <a:solidFill>
              <a:srgbClr val="D3ED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361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ProjectionHead ×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8470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GELU → FC → Dropout → +residual → LayerNorm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2048-d (image) and 768-d (text) into one shared 256-d space so they can be compared.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783080" y="3611880"/>
            <a:ext cx="0" cy="365760"/>
          </a:xfrm>
          <a:prstGeom prst="line">
            <a:avLst/>
          </a:prstGeom>
          <a:noFill/>
          <a:ln w="19050">
            <a:solidFill>
              <a:srgbClr val="82B3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3611880"/>
            <a:ext cx="0" cy="365760"/>
          </a:xfrm>
          <a:prstGeom prst="line">
            <a:avLst/>
          </a:prstGeom>
          <a:noFill/>
          <a:ln w="19050">
            <a:solidFill>
              <a:srgbClr val="9673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60920" y="3611880"/>
            <a:ext cx="0" cy="365760"/>
          </a:xfrm>
          <a:prstGeom prst="line">
            <a:avLst/>
          </a:prstGeom>
          <a:noFill/>
          <a:ln w="19050">
            <a:solidFill>
              <a:srgbClr val="0E7FA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23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256-D SPACE   </a:t>
            </a:r>
            <a:pPr indent="0" marL="0">
              <a:buNone/>
            </a:pPr>
            <a:r>
              <a:rPr lang="en-US" sz="115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embeddings are now the same size — ready for the dot product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Projection Head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2048-d and 768-d vectors can't be dot-producted — someone has to build the bridge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mismatch: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speaks 2048 numbers per image; DistilBERT speaks 768 per sentence. Different lengths — no comparison possible.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learned MLP on each side projects both into the same 256-d space.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+ LayerNorm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training stable: the projected vector is added back to itself (x = x + projected) and normalised.</a:t>
            </a:r>
            <a:endParaRPr lang="en-US" sz="12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heads are where alignment lives.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encoders extract meaning; the heads learn to line the two modalities 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12080" y="137160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3716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Linear(embedding_dim → 256)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0" y="1773936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12080" y="1938528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9385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0" y="2340864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12080" y="2505456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5054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FC(256 → 256)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0" y="2907792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3072384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07238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0" y="3474720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12080" y="3639312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6393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projected   (residual)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0" y="4041648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12080" y="4206240"/>
            <a:ext cx="3291840" cy="402336"/>
          </a:xfrm>
          <a:prstGeom prst="roundRect">
            <a:avLst>
              <a:gd name="adj" fmla="val 13636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42062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LayerNorm(256)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Loss: Symmetric Cross-Entropy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CLIPModel.forward top to bottom — this is the heart of the whole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029200" cy="3246120"/>
          </a:xfrm>
          <a:prstGeom prst="roundRect">
            <a:avLst>
              <a:gd name="adj" fmla="val 1690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1732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CLIPMODEL.FORWARD — THE CORE LINES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673352"/>
            <a:ext cx="470001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similarity of every text to every image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(text_emb @ image_emb.T) / temperature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how similar images are to each other (and texts)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images_similarity = image_emb @ image_emb.T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texts_similarity  = text_emb  @ text_emb.T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= F.softmax((images_similarity +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texts_similarity) / 2*temperature, dim=-1)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both directions: texts→images and images→texts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texts_loss  = cross_entropy(logits,   targets)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images_loss = cross_entropy(logits.T, targets.T)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(images_loss + texts_loss) / 2.0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N×N matrix from the figure.</a:t>
            </a:r>
            <a:endParaRPr lang="en-US" sz="11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targets: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hard identity matrix, the book uses intra-modal similarity — two near-identical photos shouldn't be forced apart.</a:t>
            </a:r>
            <a:endParaRPr lang="en-US" sz="11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logits before softmax: it controls how sharp or forgiving the distribution is.</a:t>
            </a:r>
            <a:endParaRPr lang="en-US" sz="11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row-wise and column-wise loss — both matching directions matter equally.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returned as {“loss”: loss} — a dictionary, to stay compatible with the Hugging Face Trainer.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CLIP From Scratch: The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FLICKR-8K — chosen because it has both images and their captions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3852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1984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from Flickr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1371600"/>
            <a:ext cx="193852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14813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15768" y="1984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per image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0016" y="1371600"/>
            <a:ext cx="193852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4813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40k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37176" y="1984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(image, text) pairs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21424" y="1371600"/>
            <a:ext cx="1938528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8584" y="14813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GB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58584" y="198424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via Kaggle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124358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E7F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FLICKR-8K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00784" y="3310128"/>
            <a:ext cx="182880" cy="0"/>
          </a:xfrm>
          <a:prstGeom prst="line">
            <a:avLst/>
          </a:prstGeom>
          <a:noFill/>
          <a:ln w="19050">
            <a:solidFill>
              <a:srgbClr val="0E7FA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883664" y="2880360"/>
            <a:ext cx="124358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E7F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28803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CLIPDataset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+ transform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27248" y="3310128"/>
            <a:ext cx="182880" cy="0"/>
          </a:xfrm>
          <a:prstGeom prst="line">
            <a:avLst/>
          </a:prstGeom>
          <a:noFill/>
          <a:ln w="19050">
            <a:solidFill>
              <a:srgbClr val="0E7FA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10128" y="2880360"/>
            <a:ext cx="124358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E7F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8803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encoders + heads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53712" y="3310128"/>
            <a:ext cx="182880" cy="0"/>
          </a:xfrm>
          <a:prstGeom prst="line">
            <a:avLst/>
          </a:prstGeom>
          <a:noFill/>
          <a:ln w="19050">
            <a:solidFill>
              <a:srgbClr val="0E7FA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36592" y="2880360"/>
            <a:ext cx="124358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E7F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8803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Trainer, 1 epoch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0176" y="3310128"/>
            <a:ext cx="182880" cy="0"/>
          </a:xfrm>
          <a:prstGeom prst="line">
            <a:avLst/>
          </a:prstGeom>
          <a:noFill/>
          <a:ln w="19050">
            <a:solidFill>
              <a:srgbClr val="0E7FA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63056" y="2880360"/>
            <a:ext cx="124358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E7F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28803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3310128"/>
            <a:ext cx="182880" cy="0"/>
          </a:xfrm>
          <a:prstGeom prst="line">
            <a:avLst/>
          </a:prstGeom>
          <a:noFill/>
          <a:ln w="19050">
            <a:solidFill>
              <a:srgbClr val="0E7FA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589520" y="2880360"/>
            <a:ext cx="1243584" cy="868680"/>
          </a:xfrm>
          <a:prstGeom prst="roundRect">
            <a:avLst>
              <a:gd name="adj" fmla="val 7368"/>
            </a:avLst>
          </a:prstGeom>
          <a:solidFill>
            <a:srgbClr val="0F2440"/>
          </a:solidFill>
          <a:ln w="15875">
            <a:solidFill>
              <a:srgbClr val="0F24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2880360"/>
            <a:ext cx="1243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query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CLIP_from_scratch.ipynb, Chapter16 of the book's repo (bit.ly/mcvp-2e) — we work through the same steps in today's notebook. You'll need a Kaggle account for the dataset download.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CLIPDataset: Pairing Pixels With Tokens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__getitem__ returns one image and one tokenized caption — a ready-made pair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CSV: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image_filenames and captions must line up — 5 captions per image means each filename appears 5 times.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side: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captions tokenized up front with the DistilBert tokenizer (padding, truncation, max_length).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side: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resize to a fixed size → normalise, via get_transforms(config).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train_test_split(config) gives trn_ds and val_ds.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383280"/>
          </a:xfrm>
          <a:prstGeom prst="roundRect">
            <a:avLst>
              <a:gd name="adj" fmla="val 1622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417320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DATASET.PY — ESSENTIALS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28032" y="1673352"/>
            <a:ext cx="3694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CLIPDataset(Dataset):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df, config, mode):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self.tokenizer = DistilBertTokenizer\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.from_pretrained(...)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self.encoded_captions = self.tokenizer(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self.captions, padding=True,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truncation=True,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max_length=config.max_length)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__getitem__(self, idx):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 = {k: torch.tensor(v[idx]) for k, v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 self.encoded_captions.items()}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 = read(f"{image_path}/{fname}")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item["image"] = transform(image)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item["caption"] = self.captions[idx]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item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With the Hugging Face Trainer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parts of the model learn at different speeds — then the Trainer does the bookkeeping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parameter groups, three LRs: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encoder, text encoder (both pre-trained — small nudges), and the projection heads (fresh — learn faster, head_lr).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weight decay,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ReduceLROnPlateau easing the LR down when validation loss stalls.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wraps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opt.zero_grad(), loss.backward(), evaluation and checkpointing — same pattern you saw with detectron and mmaction.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for today: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epochs=1, logging every 50 steps, metric_for_best_model="loss".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383280"/>
          </a:xfrm>
          <a:prstGeom prst="roundRect">
            <a:avLst>
              <a:gd name="adj" fmla="val 1622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417320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+ TRAINER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28032" y="1673352"/>
            <a:ext cx="3694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[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{"params": image_encoder.parameters(),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"lr": config.image_encoder_lr},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{"params": text_encoder.parameters(),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"lr": config.text_encoder_lr},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{"params": chain(projection_heads),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"lr": config.head_lr, ...}]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= torch.optim.AdamW(params, ...)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= Trainer(model=model,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args=training_args,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train_dataset=trn_ds,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eval_dataset=val_ds,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optimizers=(optimizer, lr_scheduler))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Search Images With a Sentence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find_matches(…, query=“dogs on the grass”, n=9) — no dog label exists anywhere in training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once: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image through the trained image encoder + projection → a bank of image embeddings.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and encode the query text with the text encoder + projection.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both,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one matrix multiply scores the query against every image at once.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torch.topk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n best matches — plot them and you get a grid of dogs on grass.</a:t>
            </a:r>
            <a:endParaRPr lang="en-US" sz="12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semantic search: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matched meaning, not keywords or labels.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383280"/>
          </a:xfrm>
          <a:prstGeom prst="roundRect">
            <a:avLst>
              <a:gd name="adj" fmla="val 1622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417320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FIND_MATCHES — ESSENTIALS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28032" y="1673352"/>
            <a:ext cx="3694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= tokenizer([query])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text_features = model.text_encoder(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input_ids=..., attention_mask=...)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text_emb = model.text_projection(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text_features)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image_emb_n = F.normalize(image_embeddings)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text_emb_n  = F.normalize(text_emb)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dot_similarity = 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text_emb_n @ image_emb_n.T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values, indices = torch.topk(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dot_similarity.squeeze(0), n)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show valid_df images at indices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CLIP vs. OpenAI's CLIP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is identical — the difference is three orders of magnitude of data and compute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5176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(today, from scratch)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CLIP (pre-trained)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pairs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78308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 (FLICKR-8K)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78308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3EDF7"/>
          </a:solidFill>
          <a:ln w="12700">
            <a:solidFill>
              <a:srgbClr val="D3ED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400,000,000 (web-scale)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3134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313432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313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2313432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3EDF7"/>
          </a:solidFill>
          <a:ln w="12700">
            <a:solidFill>
              <a:srgbClr val="D3ED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313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ViT-B/32 (Vision Transformer)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437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843784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843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2843784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3EDF7"/>
          </a:solidFill>
          <a:ln w="12700">
            <a:solidFill>
              <a:srgbClr val="D3ED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2843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trained from scratch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374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budget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3374136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epoch, one GPU, minutes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3374136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3EDF7"/>
          </a:solidFill>
          <a:ln w="12700">
            <a:solidFill>
              <a:srgbClr val="D3ED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GPUs, weeks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9044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51760" y="3904488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904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within FLICKR-8K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3904488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3EDF7"/>
          </a:solidFill>
          <a:ln w="12700">
            <a:solidFill>
              <a:srgbClr val="D3ED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904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classify almost anything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from the book: training CLIP from scratch takes considerable compute and data — so in practice, we leverage OpenAI's pre-trained CLIP.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Classification: A Classifier From Thin Air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classifier for any label set — without a single training example</a:t>
            </a:r>
            <a:endParaRPr lang="en-US" sz="1200" dirty="0"/>
          </a:p>
        </p:txBody>
      </p:sp>
      <p:pic>
        <p:nvPicPr>
          <p:cNvPr id="6" name="Image 0" descr="/tmp/s26/assets/clip_panels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434840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make the classifier: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each candidate label in a prompt — “A photo of a {object}.” — and encode all of them with the text encoder.</a:t>
            </a:r>
            <a:endParaRPr lang="en-US" sz="11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predict: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the query image, dot it against every label embedding, softmax over the scores.</a:t>
            </a:r>
            <a:endParaRPr lang="en-US" sz="11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similarity wins: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image lands on T₃ → “A photo of a dog.”</a:t>
            </a:r>
            <a:endParaRPr lang="en-US" sz="11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“Zero-shot”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model saw zero examples of these classes at training time — the label list can change at will.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Radford et al., OpenAI 2021 — panels (2) and (3)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CLIP in Five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OpenAI_CLIP.ipynb — the entire zero-shot pipeline fits on one slide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337560"/>
          </a:xfrm>
          <a:prstGeom prst="roundRect">
            <a:avLst>
              <a:gd name="adj" fmla="val 1644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1732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WITH VIT-B/32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673352"/>
            <a:ext cx="479145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install + clone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ftfy regex tqdm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!git clone https://github.com/openai/CLIP.git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load the pre-trained model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model, preprocess = clip.load("ViT-B/32",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device=device)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image + candidate labels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= preprocess(Image.open("CLIP.png"))\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.unsqueeze(0).to(device)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clip.tokenize(["a diagram",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 dog", "a cat"]).to(device)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one forward pass, 5. softmax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logits_per_image, _ = model(image, text)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= logits_per_image.softmax(dim=-1)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2880360" cy="192024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0" y="17373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probs: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diagram  0.9928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dog      0.0042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cat      0.0030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34747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fed it the CLIP figure itself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it says “a diagram” with 99.3% confidence.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label list,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new classifier. No retraining, ever.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Using CLIP All Along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embedding space, many jobs — CLIP is infrastructure now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72768"/>
            <a:ext cx="365760" cy="365760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554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(Session 25)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70432" y="18745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77×768 prompt embeddings that steer every denoising step? That's CLIP's text encoder. You met CLIP before you knew its name.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572768"/>
            <a:ext cx="365760" cy="365760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1554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image 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76672" y="18745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Photos-style “show me beach sunsets” — embed the query, embed the library, nearest neighbours win. You built this today.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264408"/>
            <a:ext cx="365760" cy="365760"/>
          </a:xfrm>
          <a:prstGeom prst="ellipse">
            <a:avLst/>
          </a:prstGeom>
          <a:solidFill>
            <a:srgbClr val="9673A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70432" y="3566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classifier where labels change weekly (content moderation, retail catalogues) without collecting a single training set.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3264408"/>
            <a:ext cx="365760" cy="365760"/>
          </a:xfrm>
          <a:prstGeom prst="ellipse">
            <a:avLst/>
          </a:prstGeom>
          <a:solidFill>
            <a:srgbClr val="82B366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segmentation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76672" y="35661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the book: give a label, get the mask for just that object — CLIP-style text embeddings meet segmentation.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unlabelled pile of images to a model that classifies anything you can name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OF 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images and text in one shared space; matching becomes a dot product, and web-scale alt-text becomes free supervision.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+ DistilBERT + two projection heads, trained on FLICKR-8K with a symmetric contrastive loss — then text-driven image search with find_matches.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CLIP (400M pairs, ViT-B/32) turns any label list into a zero-shot classifier via “A photo of a {object}”.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you now own: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learning, embedding space, projection head, temperature, zero-shot, semantic search.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7863840" cy="594360"/>
          </a:xfrm>
          <a:prstGeom prst="roundRect">
            <a:avLst>
              <a:gd name="adj" fmla="val 923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  </a:t>
            </a:r>
            <a:pPr indent="0" marL="0">
              <a:buNone/>
            </a:pPr>
            <a:r>
              <a:rPr lang="en-US" sz="12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labels to masks — segmenting exactly the object you name (open-vocabulary segmentation &amp; SAM)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26  ·  CLIP — Connecting Vision &amp;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49640" y="118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Open the Notebook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Session_26_CLIP_Practical.ipynb — we run everything you just saw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45336"/>
            <a:ext cx="566928" cy="566928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45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4904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embeddings &amp; similarity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by hand on toy vectors — feel the dot product before trusting it with 40k pairs.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96896"/>
            <a:ext cx="566928" cy="566928"/>
          </a:xfrm>
          <a:prstGeom prst="ellipse">
            <a:avLst/>
          </a:prstGeom>
          <a:solidFill>
            <a:srgbClr val="82B36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96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5420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from scratch on FLICKR-8K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834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→ encoders → projection heads → symmetric loss → HF Trainer → find_matches(“dogs on the grass”). Kaggle account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648456"/>
            <a:ext cx="566928" cy="566928"/>
          </a:xfrm>
          <a:prstGeom prst="ellipse">
            <a:avLst/>
          </a:prstGeom>
          <a:solidFill>
            <a:srgbClr val="9673A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5935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with OpenAI CLIP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886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ViT-B/32, classify with prompts, build a mini semantic search over your own images, and probe its limits.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Part B trains for one epoch only — start the cell, and while it runs we'll talk through the loss again.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2026-07-17T17:56:23Z</dcterms:created>
  <dcterms:modified xsi:type="dcterms:W3CDTF">2026-07-17T17:56:23Z</dcterms:modified>
</cp:coreProperties>
</file>