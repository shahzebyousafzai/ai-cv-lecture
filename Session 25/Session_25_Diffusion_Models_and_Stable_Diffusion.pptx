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Frame: last sessions were about understanding images and language; today the model CREATES. One formula on screen: start from pure noise, remove it step by step. Ask what they've tried with AI image tools.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parts, ~30 min each. Part 1 = math intuition (no heavy derivations). Part 2 = why SD is fast and how text steers it. Part 3 = the exact tools used in the lab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Painter analogy: photo restorer who has fixed millions of damaged photos can 'restore' pure static into a new photo. Connect to Week 11 generative overview: GAN instability vs diffusion stability.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cat strip left to right. Stress: forward = fixed, no learning. Shortcut formula is why training is cheap — sample any t directly. ᾱ = how much original signal survives.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2 of the DDPM paper: dashed arrow = fixed forward q, solid = learned reverse p. Key theory nugget: small steps keep the reverse Gaussian — that's WHY T is large.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GAN training (two networks fighting) — here: one network, one MSE loss, totally stable. Ask: why predict ε rather than the clean image? (Same information via the shortcut formula, but an easier, better-conditioned target.)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confidence moment: 'you can now read the actual paper — these two boxes ARE the method.' The σz term keeps sampling stochastic; foreshadow DDIM removing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plot: y-axis = surviving signal. Blue (linear) dives early; orange (cosine) degrades gracefully. Analogy: exam with all hard questions in the first 10 minutes vs spread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η=0 row of the table = DDIM. Emphasize practical takeaway: sampler choice is a free-lunch speedup — no retraining. This closes the theory act; take questions before Part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slide: everything from Part 1 stays true — we just change WHERE it runs. Latent = compressed 'information space' image; decoder turns it back into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map of Part 2. Trace the tensor shapes out loud — they recur all session: 77×768 text matrix, 4×64×64 latent, 3×512×512 image. Next three slides zoom into each box.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idea for lab: encode → decode a photo and compare. Mention 'developing the film' metaphor for the decoder. Encoder is used in training and img2img — that returns in Part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panel of figure = contrastive training; right = zero-shot use (skip quickly). Punchline: CLIP embeddings 'know' what things look like — that's why they can steer image generation.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Callback to the segmentation session — they've built one. New job, same skeleton: 'what noise is hiding here?' instead of 'which pixel is which class?'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from Session 23 (attention/Transformers): same Q/K/V math, but Q comes from image latents and K,V from text tokens — hence CROSS-attention. Without these layers, prompts would do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Victory-lap slide: every box was a slide today. Trace one generation: noise z_T → UNet loop with text → z → decoder → image. Note the switch: conditioning can also be maps/layouts — seed for ControlNet.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latents decoded every few steps — outline first, details last. CFG intuition: 'with-text minus without-text, amplified.' These three parameters are 90% of everyday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code line by line — they will run exactly this in the lab. Point at the three knobs from the previous slide appearing as arguments. negative_prompt also exists — mention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strip: composition survives at 0.4, style shifts by 0.6, input is gone at 1.0. No retraining involved — it's the same model entering the loop midway. Uses: sketch→render, restyle, upscale passes.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mountain → cat swap: trees, road and sky are pixel-identical. Photoshop's Generative Fill is exactly this. Mask can be hand-drawn or come from a segmentation model — ties into the course's GenAI pipeline goal (search→segment→inpaint).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one edge map, six faithful birds — layout locked, appearance free. Framing: prompt = WHAT, ControlNet = WHERE. Skim the architecture detail; depth per audience interest.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loop with the title slide formula. Homework is deliberately playful. Next session builds directly on the frozen-weights idea from ControlNet.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2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3258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Models &amp; Stable Diffusion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240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AI paints images out of pure noise — the technology behind Stable Diffusion, DALL·E and Midjourney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0632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xᴛ ~ N(0, I)   →   denoise × T steps   →   x₀  (a brand-new image)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+ guided code walkthrough  ·  ~1.5 hours  ·  Computer Vision &amp; AI Course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idea, three zoom levels: the math, the machine, the practice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DIFFUSION THEORY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~30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58368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destroy, then rebuild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process — adding noise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process — learning to denoise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— just predict the noise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schedules — linear vs cosine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 — 20× faster sampling</a:t>
            </a:r>
            <a:endParaRPr lang="en-US" sz="980" dirty="0"/>
          </a:p>
        </p:txBody>
      </p:sp>
      <p:sp>
        <p:nvSpPr>
          <p:cNvPr id="9" name="Shape 7"/>
          <p:cNvSpPr/>
          <p:nvPr/>
        </p:nvSpPr>
        <p:spPr>
          <a:xfrm>
            <a:off x="3355848" y="123444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INSIDE STABLE DIFFUSION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~30 min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57016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pixel-space diffusion is too slow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components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 — the latent space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— the text encoder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+ cross-attention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architecture, end to end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6254496" y="1234440"/>
            <a:ext cx="2743200" cy="3474720"/>
          </a:xfrm>
          <a:prstGeom prst="roundRect">
            <a:avLst>
              <a:gd name="adj" fmla="val 1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55664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· SD IN PRACTICE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~30 min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55664" y="1783080"/>
            <a:ext cx="2377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Diffusers library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Knobs: steps, guidance scale, seed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img2img — start from an image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 — edit with a mask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 — precise spatial control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800"/>
              </a:spcAft>
              <a:buSzPct val="100000"/>
              <a:buChar char="•"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what's next</a:t>
            </a:r>
            <a:endParaRPr lang="en-US" sz="9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 Destroy, Then Learn to Rebuild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diffusion model is trained by wrecking images — and learning to undo the damage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160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processes, one model.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forward process gradually drowns an image in noise; a learned reverse process removes the noise step by step.</a:t>
            </a:r>
            <a:endParaRPr lang="en-US" sz="105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training task is humble: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“here is a noisy image — tell me what noise was added.” That's it. No adversary, no discriminator.</a:t>
            </a:r>
            <a:endParaRPr lang="en-US" sz="105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= pure imagination: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100% noise and denoise repeatedly — an image appears that never existed.</a:t>
            </a:r>
            <a:endParaRPr lang="en-US" sz="105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recipe powers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Diffusion, DALL·E 2, Midjourney and Imagen.</a:t>
            </a:r>
            <a:endParaRPr lang="en-US" sz="1050" dirty="0"/>
          </a:p>
        </p:txBody>
      </p:sp>
      <p:pic>
        <p:nvPicPr>
          <p:cNvPr id="7" name="Image 0" descr="/tmp/build/img/txt2im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1417320"/>
            <a:ext cx="3794760" cy="1629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892040" y="309209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9" name="Shape 6"/>
          <p:cNvSpPr/>
          <p:nvPr/>
        </p:nvSpPr>
        <p:spPr>
          <a:xfrm>
            <a:off x="4892040" y="3520440"/>
            <a:ext cx="3794760" cy="1051560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36576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a GAN?  </a:t>
            </a:r>
            <a:pPr indent="0" marL="0">
              <a:lnSpc>
                <a:spcPct val="108000"/>
              </a:lnSpc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are fast but famously unstable to train and prone to mode collapse. Diffusion trades speed for stable training and excellent diversity — and Part 1 ends with the speed fix.</a:t>
            </a:r>
            <a:endParaRPr lang="en-US" sz="9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Process: Drowning an Image in Noise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fixed, learning-free recipe — T small steps from photo to pure static</a:t>
            </a:r>
            <a:endParaRPr lang="en-US" sz="1100" dirty="0"/>
          </a:p>
        </p:txBody>
      </p:sp>
      <p:pic>
        <p:nvPicPr>
          <p:cNvPr id="6" name="Image 0" descr="/tmp/build/img/cats_noi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8229600" cy="1645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8620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Hugging Face, “The Annotated Diffusion Model” — forward diffusion of a cat, t = 0 → T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7200" y="3154680"/>
            <a:ext cx="4160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Markov chain of T steps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(DDPM uses T = 1000): each step adds a small dose of Gaussian noise.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learned here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it's a fixed schedule of noise amounts βₜ, chosen before training.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 that makes training practical: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from x₀ straight to any xₜ in one line — no need to simulate t steps.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3127248"/>
            <a:ext cx="3794760" cy="1627632"/>
          </a:xfrm>
          <a:prstGeom prst="roundRect">
            <a:avLst>
              <a:gd name="adj" fmla="val 2809"/>
            </a:avLst>
          </a:prstGeom>
          <a:solidFill>
            <a:srgbClr val="0F2440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325526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FORWARD PROCESS, FORMALLY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20640" y="3520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q(xₜ | xₜ₋₁) = N(√(1−βₜ)·xₜ₋₁,  βₜ·I)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shortcut to any step t: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xₜ = √ᾱₜ·x₀ + √(1−ᾱₜ)·ε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ε ~ N(0, I),   ᾱₜ = ∏ₛ (1−βₛ)  → “signal left at t”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Process: Learning to Denoise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the film backwards — this is where the neural network comes in</a:t>
            </a:r>
            <a:endParaRPr lang="en-US" sz="1100" dirty="0"/>
          </a:p>
        </p:txBody>
      </p:sp>
      <p:pic>
        <p:nvPicPr>
          <p:cNvPr id="6" name="Image 0" descr="/tmp/build/img/ddpm_fig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280160"/>
            <a:ext cx="7132320" cy="15952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2948547"/>
            <a:ext cx="7132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Ho et al. 2020, “Denoising Diffusion Probabilistic Models” — via Hugging Face, “The Annotated Diffusion Model”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4160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inverting noise is impossible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but for tiny βₜ, each reverse step is also a simple Gaussian.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learn its mean with a network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εθ: look at noisy xₜ, estimate the noise hiding inside it.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 for all 1000 steps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timestep t enters as an embedding, like a dial telling it how noisy the input is.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3172968"/>
            <a:ext cx="3794760" cy="1581912"/>
          </a:xfrm>
          <a:prstGeom prst="roundRect">
            <a:avLst>
              <a:gd name="adj" fmla="val 2890"/>
            </a:avLst>
          </a:prstGeom>
          <a:solidFill>
            <a:srgbClr val="0F2440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3300984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REVERSE PROCESS, FORMALLY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120640" y="356616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pθ(xₜ₋₁ | xₜ) = N(μθ(xₜ, t),  σₜ²·I)</a:t>
            </a:r>
            <a:endParaRPr lang="en-US" sz="10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85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μθ is computed from the network's</a:t>
            </a:r>
            <a:endParaRPr lang="en-US" sz="1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noise estimate  εθ(xₜ, t)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8FB3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solid arrows = learned · dashed = fixed forward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DDPM: Train a Noise Predictor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2020 paper that made diffusion work — with an almost embarrassingly simple loss</a:t>
            </a:r>
            <a:endParaRPr lang="en-US" sz="1100" dirty="0"/>
          </a:p>
        </p:txBody>
      </p:sp>
      <p:pic>
        <p:nvPicPr>
          <p:cNvPr id="6" name="Image 0" descr="/tmp/build/img/training_st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709160" cy="267833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095655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5486400" y="137160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Sample: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training image x₀ and a random timestep t.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Corrupt: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xₜ with the one-line shortcut — and remember the exact noise ε you used.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UNet sees (xₜ, t) and guesses the noise.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9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 </a:t>
            </a:r>
            <a:pPr indent="0" marL="0">
              <a:lnSpc>
                <a:spcPct val="1060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mean-squared error between guess and truth. Repeat millions of times.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0" y="3703320"/>
            <a:ext cx="3200400" cy="868680"/>
          </a:xfrm>
          <a:prstGeom prst="roundRect">
            <a:avLst>
              <a:gd name="adj" fmla="val 5263"/>
            </a:avLst>
          </a:prstGeom>
          <a:solidFill>
            <a:srgbClr val="0F244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0" y="382219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LOSS FUNCTION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571500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‖ε − εθ(xₜ, t)‖²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Paper in Two Boxes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training and sampling — pseudocode straight from Ho et al. 2020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709160" y="1325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(GENERATION)</a:t>
            </a:r>
            <a:endParaRPr lang="en-US" sz="900" dirty="0"/>
          </a:p>
        </p:txBody>
      </p:sp>
      <p:pic>
        <p:nvPicPr>
          <p:cNvPr id="8" name="Image 0" descr="/tmp/build/img/alg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27632"/>
            <a:ext cx="3977640" cy="1985337"/>
          </a:xfrm>
          <a:prstGeom prst="rect">
            <a:avLst/>
          </a:prstGeom>
        </p:spPr>
      </p:pic>
      <p:pic>
        <p:nvPicPr>
          <p:cNvPr id="9" name="Image 1" descr="/tmp/build/img/alg_sampl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627632"/>
            <a:ext cx="3977640" cy="19758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658689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Algorithms: Ho et al. 2020 (arXiv:2006.11239) — via Hugging Face, “The Annotated Diffusion Model”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Left:  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5 is the MSE loss from the previous slide — nothing else is happening.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Right:  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pure noise xᴛ, loop t = T…1: subtract predicted noise, add back a pinch of fresh noise (σₜz) — pure sculpting.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Schedules: How Fast Do We Destroy?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βₜ sequence is a design choice — and it matters more than it looks</a:t>
            </a:r>
            <a:endParaRPr lang="en-US" sz="1100" dirty="0"/>
          </a:p>
        </p:txBody>
      </p:sp>
      <p:pic>
        <p:nvPicPr>
          <p:cNvPr id="6" name="Image 0" descr="/tmp/build/img/schedu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71600"/>
            <a:ext cx="3931920" cy="25557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97306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Nichol &amp; Dhariwal 2021 — via Lilian Weng, “What are Diffusion Models?”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709160" y="1371600"/>
            <a:ext cx="39776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βₜ = noise added at step t;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ᾱₜ (plotted) = fraction of original signal still alive at step t.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schedule: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collapses early — the last hundreds of steps stare at near-pure noise and learn little.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schedule: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spends the noise budget evenly, keeps images informative longer → better samples (Improved DDPM, 2021).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scaled-linear schedule — tuned for latents, not pixels.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network, same data — a better schedule alone measurably improves image quality.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DDIM: Same Model, 20× Fewer Steps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Diffusion Implicit Models — the sampler that made diffusion usable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4114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DDPM's price tag: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network calls per image — minutes per sample.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DDIM's insight: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trained network defines a deterministic, non-Markovian path — you may take big strides along it.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 → 50 steps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barely any quality loss; → 20 in a pinch.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σₜz noise re-injection — the same starting latent always yields the same image (seeds, interpolation!).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samplers (Euler, DPM++, …) are its descendants — in code, just a swappable “scheduler”.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1325880"/>
            <a:ext cx="3840480" cy="1371600"/>
          </a:xfrm>
          <a:prstGeom prst="roundRect">
            <a:avLst>
              <a:gd name="adj" fmla="val 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46304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500"/>
              </a:spcAft>
              <a:buNone/>
            </a:pPr>
            <a:r>
              <a:rPr lang="en-US" sz="85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 </a:t>
            </a:r>
            <a:endParaRPr lang="en-US" sz="850" dirty="0"/>
          </a:p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 on CIFAR-10 (lower = better): 1000-step DDPM scores 3.17; 50-step DDIM scores 4.67; even 20 steps stays respectable at 6.84.</a:t>
            </a:r>
            <a:endParaRPr lang="en-US" sz="8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8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20× less compute, almost the same quality.</a:t>
            </a:r>
            <a:endParaRPr lang="en-US" sz="850" dirty="0"/>
          </a:p>
        </p:txBody>
      </p:sp>
      <p:pic>
        <p:nvPicPr>
          <p:cNvPr id="9" name="Image 0" descr="/tmp/build/img/ddim_tab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2880360"/>
            <a:ext cx="3840480" cy="9473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46320" y="387339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Table: Song et al. 2021, “Denoising Diffusion Implicit Models” — via Lilian Weng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recap ✓  — we can train a noise predictor with plain MSE, and sample from it fast.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Pixel Diffusion Is Expensive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DDPM works beautifully — at a price nobody can pay at 512×512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896112"/>
          </a:xfrm>
          <a:prstGeom prst="roundRect">
            <a:avLst>
              <a:gd name="adj" fmla="val 51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41732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786,432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148840" y="1417320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in one 512×512 RGB image — the UNet must touch every one, every step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350008"/>
            <a:ext cx="4114800" cy="896112"/>
          </a:xfrm>
          <a:prstGeom prst="roundRect">
            <a:avLst>
              <a:gd name="adj" fmla="val 51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44144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50–1000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148840" y="2441448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steps per image — the whole network runs again each step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3374136"/>
            <a:ext cx="4114800" cy="896112"/>
          </a:xfrm>
          <a:prstGeom prst="roundRect">
            <a:avLst>
              <a:gd name="adj" fmla="val 5102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346557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× 64 × 64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148840" y="3465576"/>
            <a:ext cx="2286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Diffusion's move: diffuse a compressed latent — 48× fewer values</a:t>
            </a:r>
            <a:endParaRPr lang="en-US" sz="900" dirty="0"/>
          </a:p>
        </p:txBody>
      </p:sp>
      <p:pic>
        <p:nvPicPr>
          <p:cNvPr id="15" name="Image 0" descr="/tmp/build/img/latent_vs_pix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417320"/>
            <a:ext cx="3840480" cy="173208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846320" y="319512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= “latent diffusion”: compress first, diffuse in miniature, decode once at the end.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= Three Networks in a Trench Coat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encoder, a latent noise-predictor, and an image decoder — with the tensors between them</a:t>
            </a:r>
            <a:endParaRPr lang="en-US" sz="1100" dirty="0"/>
          </a:p>
        </p:txBody>
      </p:sp>
      <p:pic>
        <p:nvPicPr>
          <p:cNvPr id="6" name="Image 0" descr="/tmp/build/img/compon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29497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4275582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4434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reader (CLIPText → 77×768 embeddings), a painter working in miniature (UNet + scheduler → 4×64×64 latent), and a developer of the film (VAE decoder → 3×512×512 pixels).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VAE: Where Images Get Small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autoencoder gives diffusion a 48× cheaper place to live</a:t>
            </a:r>
            <a:endParaRPr lang="en-US" sz="1100" dirty="0"/>
          </a:p>
        </p:txBody>
      </p:sp>
      <p:pic>
        <p:nvPicPr>
          <p:cNvPr id="6" name="Image 0" descr="/tmp/build/img/autoenco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297680" cy="1586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9573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4297680" cy="1051560"/>
          </a:xfrm>
          <a:prstGeom prst="roundRect">
            <a:avLst>
              <a:gd name="adj" fmla="val 4348"/>
            </a:avLst>
          </a:prstGeom>
          <a:solidFill>
            <a:srgbClr val="0F244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566160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COMPRESSION DEAL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85800" y="38404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encode:  3×512×512  →  4×64×64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decode:  4×64×64  →  3×512×512   (×48 smaller inside)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74920" y="1371600"/>
            <a:ext cx="36118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separately,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millions of images, to compress and reconstruct almost losslessly.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Perceptual + adversarial losses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textures and edges sharp — not the blurry VAEs from the GAN session.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latent isn't a thumbnail: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 learned code capturing content and layout — the model's sketchpad.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generation time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encoder isn't needed at all — the decoder runs exactly once, after the last denoising step.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CLIP: How the Model Reads Your Prompt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Contrastive pre-training on 400M image–caption pairs — words and pictures in one space</a:t>
            </a:r>
            <a:endParaRPr lang="en-US" sz="1100" dirty="0"/>
          </a:p>
        </p:txBody>
      </p:sp>
      <p:pic>
        <p:nvPicPr>
          <p:cNvPr id="6" name="Image 0" descr="/tmp/build/img/c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7680960" cy="270854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988709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Radford et al. 2021, “Learning Transferable Visual Models From Natural Language Supervision” (OpenAI CLIP)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457200" y="4114800"/>
            <a:ext cx="4114800" cy="658368"/>
          </a:xfrm>
          <a:prstGeom prst="roundRect">
            <a:avLst>
              <a:gd name="adj" fmla="val 69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4187952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it's trained: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image–caption pairs are pulled together, mismatches pushed apart (blue diagonal).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54880" y="4114800"/>
            <a:ext cx="3931920" cy="658368"/>
          </a:xfrm>
          <a:prstGeom prst="roundRect">
            <a:avLst>
              <a:gd name="adj" fmla="val 69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4187952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SD borrows:  </a:t>
            </a:r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frozen text encoder — your prompt becomes 77 token vectors of 768 numbers.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UNet: An Old Friend With a New Job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segmentation workhorse, reborn as Stable Diffusion's noise predictor</a:t>
            </a:r>
            <a:endParaRPr lang="en-US" sz="1100" dirty="0"/>
          </a:p>
        </p:txBody>
      </p:sp>
      <p:pic>
        <p:nvPicPr>
          <p:cNvPr id="6" name="Image 0" descr="/tmp/build/img/unet_ori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25880"/>
            <a:ext cx="4023360" cy="258644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95804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Ronneberger et al. 2015, “U-Net: Convolutional Networks for Biomedical Image Segmentation”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846320" y="132588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you know: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contracting path builds context, expanding path restores resolution, skip connections carry fine detail across.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denoising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output must be pixel-aligned with input, just like a segmentation mask.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Stable Diffusion it works on latents: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4×64×64, out 4×64×64 — the predicted noise.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extra inputs: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timestep t (as an embedding) and the text — next slide.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~860M parameters in SD 1.5 — the biggest of the three components.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Cross-Attention: Where Words Steer Pixels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the UNet, attention layers let the latent consult your prompt at every step</a:t>
            </a:r>
            <a:endParaRPr lang="en-US" sz="1100" dirty="0"/>
          </a:p>
        </p:txBody>
      </p:sp>
      <p:pic>
        <p:nvPicPr>
          <p:cNvPr id="6" name="Image 0" descr="/tmp/build/img/unet_att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280160"/>
            <a:ext cx="6766560" cy="30487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4374591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blocks process the image; attention blocks let every latent patch ask the 77 text vectors: “what should I become?” — queries from the latent, keys and values from your prompt.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Architecture on One Slide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of the Stable Diffusion paper — you can now read every box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92608" cy="29260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2801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space (left): the VAE encoder ℰ compresses x to latent z — training and img2img only.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292608" cy="29260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12140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process (top): forward noising happens in latent space.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457200" y="3008376"/>
            <a:ext cx="292608" cy="29260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008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962656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Denoising UNet εθ (center): predicts noise; Q·K·V blocks are the cross-attention taps.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57200" y="3849624"/>
            <a:ext cx="292608" cy="292608"/>
          </a:xfrm>
          <a:prstGeom prst="ellipse">
            <a:avLst/>
          </a:prstGeom>
          <a:solidFill>
            <a:srgbClr val="0E7FA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803904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τθ (right): text → CLIP embeddings feeding every attention layer; decoder D paints pixels at the end.</a:t>
            </a:r>
            <a:endParaRPr lang="en-US" sz="880" dirty="0"/>
          </a:p>
        </p:txBody>
      </p:sp>
      <p:pic>
        <p:nvPicPr>
          <p:cNvPr id="18" name="Image 0" descr="/tmp/build/img/ldm_fig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3240" y="1371600"/>
            <a:ext cx="5760720" cy="285785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3063240" y="4275177"/>
            <a:ext cx="5760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Figure: Rombach et al. 2022, “High-Resolution Image Synthesis with Latent Diffusion Models” (CVPR)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an Image Emerge — and Your Three Knobs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latent at intermediate steps shows the picture crystallising</a:t>
            </a:r>
            <a:endParaRPr lang="en-US" sz="1100" dirty="0"/>
          </a:p>
        </p:txBody>
      </p:sp>
      <p:pic>
        <p:nvPicPr>
          <p:cNvPr id="6" name="Image 0" descr="/tmp/build/img/denoise_laten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5074920" cy="26544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998578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Image: Jay Alammar, “The Illustrated Stable Diffusion” (CC BY-NC-SA 4.0)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5760720" y="1298448"/>
            <a:ext cx="2926080" cy="841248"/>
          </a:xfrm>
          <a:prstGeom prst="roundRect">
            <a:avLst>
              <a:gd name="adj" fmla="val 54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38988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num_inference_steps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60934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with modern samplers. More steps = more refinement, linearly more time.</a:t>
            </a:r>
            <a:endParaRPr lang="en-US" sz="860" dirty="0"/>
          </a:p>
        </p:txBody>
      </p:sp>
      <p:sp>
        <p:nvSpPr>
          <p:cNvPr id="11" name="Shape 8"/>
          <p:cNvSpPr/>
          <p:nvPr/>
        </p:nvSpPr>
        <p:spPr>
          <a:xfrm>
            <a:off x="5760720" y="2267712"/>
            <a:ext cx="2926080" cy="1170432"/>
          </a:xfrm>
          <a:prstGeom prst="roundRect">
            <a:avLst>
              <a:gd name="adj" fmla="val 390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943600" y="235915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guidance_scale (CFG)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2578608"/>
            <a:ext cx="2606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to follow the prompt (typ. 7–8). Runs the UNet with and without text, then exaggerates the difference. Too high → burnt, oversaturated look.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5760720" y="3566160"/>
            <a:ext cx="2926080" cy="841248"/>
          </a:xfrm>
          <a:prstGeom prst="roundRect">
            <a:avLst>
              <a:gd name="adj" fmla="val 543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657600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seed / generator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8770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starting noise — same seed + prompt + settings = identical image.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Diffusers Library: SD in Ten Lines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Face's toolbox — pipelines bundle VAE + CLIP + UNet + scheduler for you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212080" cy="3246120"/>
          </a:xfrm>
          <a:prstGeom prst="roundRect">
            <a:avLst>
              <a:gd name="adj" fmla="val 1408"/>
            </a:avLst>
          </a:prstGeom>
          <a:solidFill>
            <a:srgbClr val="0F2440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4264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1FA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→ IMAGE, COMPLETE AND RUNNABLE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13232" y="1700784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diffusers import StableDiffusionPipeline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C9D8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torch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 = StableDiffusionPipeline.from_pretrained(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"sd-legacy/stable-diffusion-v1-5",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torch_dtype=torch.float16).to("cuda")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 = pipe(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1FA8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 cozy cabin in a snowy forest, golden hour",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num_inference_steps=30,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guidance_scale=7.5,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generator=torch.Generator("cuda").manual_seed(42),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).images[0]</a:t>
            </a:r>
            <a:endParaRPr lang="en-US" sz="90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image.save("cabin.png")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89320" y="1371600"/>
            <a:ext cx="2743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pipeline object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and wires all three networks + the scheduler.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sampler in one line: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DPMSolverMultistepScheduler → great images in ~20 steps.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 weights fit in ~4 GB VRAM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free Colab T4 runs this comfortably.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10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everywhere:  </a:t>
            </a:r>
            <a:pPr indent="0" marL="0">
              <a:lnSpc>
                <a:spcPct val="106000"/>
              </a:lnSpc>
              <a:spcAft>
                <a:spcPts val="10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img2img, inpainting and ControlNet are sibling pipelines — next three slides.</a:t>
            </a:r>
            <a:endParaRPr lang="en-US" sz="9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img2img: Start From an Image, Not From Noise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your image, add partial noise, denoise with a prompt — strength decides how much changes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24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image</a:t>
            </a:r>
            <a:endParaRPr lang="en-US" sz="850" dirty="0"/>
          </a:p>
        </p:txBody>
      </p:sp>
      <p:pic>
        <p:nvPicPr>
          <p:cNvPr id="7" name="Image 0" descr="/tmp/build/img/i2i_in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26464"/>
            <a:ext cx="1938528" cy="19385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24328" y="12070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 0.4</a:t>
            </a:r>
            <a:endParaRPr lang="en-US" sz="850" dirty="0"/>
          </a:p>
        </p:txBody>
      </p:sp>
      <p:pic>
        <p:nvPicPr>
          <p:cNvPr id="9" name="Image 1" descr="/tmp/build/img/i2i_0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4328" y="1426464"/>
            <a:ext cx="1938528" cy="19385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91456" y="12070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 0.6</a:t>
            </a:r>
            <a:endParaRPr lang="en-US" sz="850" dirty="0"/>
          </a:p>
        </p:txBody>
      </p:sp>
      <p:pic>
        <p:nvPicPr>
          <p:cNvPr id="11" name="Image 2" descr="/tmp/build/img/i2i_0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426464"/>
            <a:ext cx="1938528" cy="19385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58584" y="1207008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 1.0</a:t>
            </a:r>
            <a:endParaRPr lang="en-US" sz="850" dirty="0"/>
          </a:p>
        </p:txBody>
      </p:sp>
      <p:pic>
        <p:nvPicPr>
          <p:cNvPr id="13" name="Image 3" descr="/tmp/build/img/i2i_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8584" y="1426464"/>
            <a:ext cx="1938528" cy="193852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34564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“Astronaut in a jungle, cold color palette, muted colors, detailed, 8k”</a:t>
            </a:r>
            <a:endParaRPr lang="en-US" sz="850" dirty="0"/>
          </a:p>
        </p:txBody>
      </p:sp>
      <p:sp>
        <p:nvSpPr>
          <p:cNvPr id="15" name="Text 9"/>
          <p:cNvSpPr/>
          <p:nvPr/>
        </p:nvSpPr>
        <p:spPr>
          <a:xfrm>
            <a:off x="457200" y="367588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Hugging Face Diffusers documentation (huggingface.co/docs/diffusers)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457200" y="395020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How:  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VAE-encode the input → jump partway into the noise schedule → denoise from there, guided by your prompt.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6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strength  </a:t>
            </a:r>
            <a:pPr indent="0" marL="0">
              <a:lnSpc>
                <a:spcPct val="106000"/>
              </a:lnSpc>
              <a:spcAft>
                <a:spcPts val="6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how far in you jump: 0.0 returns your image untouched; 1.0 ignores it completely — the sweet spot for restyling is ~0.5–0.7.</a:t>
            </a:r>
            <a:endParaRPr lang="en-US" sz="9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Inpainting: Edit Only Where the Mask Says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Regenerate a region from a prompt while every other pixel stays put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58368" y="12070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endParaRPr lang="en-US" sz="850" dirty="0"/>
          </a:p>
        </p:txBody>
      </p:sp>
      <p:pic>
        <p:nvPicPr>
          <p:cNvPr id="7" name="Image 0" descr="/tmp/build/img/inp_sr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426464"/>
            <a:ext cx="2240280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145536" y="12070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(white = repaint)</a:t>
            </a:r>
            <a:endParaRPr lang="en-US" sz="850" dirty="0"/>
          </a:p>
        </p:txBody>
      </p:sp>
      <p:pic>
        <p:nvPicPr>
          <p:cNvPr id="9" name="Image 1" descr="/tmp/build/img/inp_mas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5536" y="1426464"/>
            <a:ext cx="2240280" cy="22402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32704" y="120700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endParaRPr lang="en-US" sz="850" dirty="0"/>
          </a:p>
        </p:txBody>
      </p:sp>
      <p:pic>
        <p:nvPicPr>
          <p:cNvPr id="11" name="Image 2" descr="/tmp/build/img/inp_ou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2704" y="1426464"/>
            <a:ext cx="2240280" cy="22402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200" y="375818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prompt: “black cat with glowing eyes, cute, adorable, highly detailed, 8k”</a:t>
            </a:r>
            <a:endParaRPr lang="en-US" sz="850" dirty="0"/>
          </a:p>
        </p:txBody>
      </p:sp>
      <p:sp>
        <p:nvSpPr>
          <p:cNvPr id="13" name="Text 8"/>
          <p:cNvSpPr/>
          <p:nvPr/>
        </p:nvSpPr>
        <p:spPr>
          <a:xfrm>
            <a:off x="457200" y="39776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Hugging Face Diffusers documentation (huggingface.co/docs/diffusers)</a:t>
            </a:r>
            <a:endParaRPr lang="en-US" sz="700" dirty="0"/>
          </a:p>
        </p:txBody>
      </p:sp>
      <p:sp>
        <p:nvSpPr>
          <p:cNvPr id="14" name="Text 9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denoising step: 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latents get generated, unmasked latents get copied from the original — so the seam blends naturally.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results: 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inpainting checkpoints take the mask as an extra UNet input. Uses: remove objects, replace them, swap backgrounds.</a:t>
            </a:r>
            <a:endParaRPr lang="en-US" sz="9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ControlNet: Precision Steering for Stable Diffusion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prompt can't say “exactly this pose, exactly these edges” — show it instead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25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Canny-edge conditioning — prompt: “bird”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709160" y="12252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E7FA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Normal-map conditioning — prompt: “cute toy”</a:t>
            </a:r>
            <a:endParaRPr lang="en-US" sz="850" dirty="0"/>
          </a:p>
        </p:txBody>
      </p:sp>
      <p:pic>
        <p:nvPicPr>
          <p:cNvPr id="8" name="Image 0" descr="/tmp/build/img/cn_cann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900" y="1444752"/>
            <a:ext cx="3097959" cy="2395728"/>
          </a:xfrm>
          <a:prstGeom prst="rect">
            <a:avLst/>
          </a:prstGeom>
        </p:spPr>
      </p:pic>
      <p:pic>
        <p:nvPicPr>
          <p:cNvPr id="9" name="Image 1" descr="/tmp/build/img/cn_norm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281" y="1444752"/>
            <a:ext cx="3115677" cy="23957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389534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Images: Zhang et al. 2023, “Adding Conditional Control to Text-to-Image Diffusion Models” (github.com/lllyasviel/ControlNet)</a:t>
            </a:r>
            <a:endParaRPr lang="en-US" sz="700" dirty="0"/>
          </a:p>
        </p:txBody>
      </p:sp>
      <p:sp>
        <p:nvSpPr>
          <p:cNvPr id="11" name="Text 7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trainable copy of the UNet encoder learns the condition; the original SD weights stay frozen — zero-convolutions keep training from destroying them.</a:t>
            </a:r>
            <a:endParaRPr lang="en-US" sz="980" dirty="0"/>
          </a:p>
          <a:p>
            <a:pPr marL="127000" indent="-127000">
              <a:lnSpc>
                <a:spcPct val="106000"/>
              </a:lnSpc>
              <a:spcAft>
                <a:spcPts val="500"/>
              </a:spcAft>
              <a:buSzPct val="100000"/>
              <a:buChar char="•"/>
            </a:pPr>
            <a:r>
              <a:rPr lang="en-US" sz="98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extra input image  </a:t>
            </a:r>
            <a:pPr indent="0" marL="0">
              <a:lnSpc>
                <a:spcPct val="106000"/>
              </a:lnSpc>
              <a:spcAft>
                <a:spcPts val="500"/>
              </a:spcAft>
              <a:buNone/>
            </a:pPr>
            <a:r>
              <a:rPr lang="en-US" sz="9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edges, depth, human pose, scribbles, normal maps — pins down layout while the prompt controls content and style.</a:t>
            </a:r>
            <a:endParaRPr lang="en-US" sz="9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46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25  ·  Diffusion Models &amp; Stable Diffusion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8412480" y="484632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Now Know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single MSE loss to a controllable image-generation system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892040" cy="3246120"/>
          </a:xfrm>
          <a:prstGeom prst="roundRect">
            <a:avLst>
              <a:gd name="adj" fmla="val 140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4475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 OF TODAY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4434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theory: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fixed forward process makes noise; a UNet trained with ‖ε − εθ‖² reverses it; schedules shape the destruction; DDIM samples it 20× faster.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Stable Diffusion: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VAE shrinks the canvas 48×, CLIP turns prompts into 77×768 embeddings, cross-attention injects them into every denoising step.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Diffusers pipelines + three knobs; img2img, inpainting and ControlNet reuse the same frozen model for editing and control.</a:t>
            </a:r>
            <a:endParaRPr lang="en-US" sz="1000" dirty="0"/>
          </a:p>
          <a:p>
            <a:pPr marL="127000" indent="-127000">
              <a:lnSpc>
                <a:spcPct val="106000"/>
              </a:lnSpc>
              <a:spcAft>
                <a:spcPts val="12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you now own:  </a:t>
            </a:r>
            <a:pPr indent="0" marL="0">
              <a:lnSpc>
                <a:spcPct val="106000"/>
              </a:lnSpc>
              <a:spcAft>
                <a:spcPts val="12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forward/reverse process, ᾱ, scheduler, latent, CFG, cross-attention — the words every SD blog post assumes.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623560" y="1280160"/>
            <a:ext cx="3063240" cy="1600200"/>
          </a:xfrm>
          <a:prstGeom prst="roundRect">
            <a:avLst>
              <a:gd name="adj" fmla="val 285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44475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52160" y="1737360"/>
            <a:ext cx="2651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F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&amp; model customisation
</a:t>
            </a:r>
            <a:endParaRPr lang="en-US" sz="11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Stable Diffusion your own style, face or product: LoRA, DreamBooth, textual inversion.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23560" y="3017520"/>
            <a:ext cx="3063240" cy="150876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3182112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TIME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852160" y="34747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with a Stable Diffusion Space on Hugging Face.</a:t>
            </a:r>
            <a:endParaRPr lang="en-US" sz="950" dirty="0"/>
          </a:p>
          <a:p>
            <a:pPr marL="127000" indent="-127000">
              <a:lnSpc>
                <a:spcPct val="106000"/>
              </a:lnSpc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one prompt you loved and one that failed — we'll debug it with today's vocabulary.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5902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E7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generator you'll meet from here is a remix of today's pieces — you now speak the language.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2026-07-16T16:22:26Z</dcterms:created>
  <dcterms:modified xsi:type="dcterms:W3CDTF">2026-07-16T16:22:26Z</dcterms:modified>
</cp:coreProperties>
</file>