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572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4572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4572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52760" y="4572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4572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92840" y="4572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77724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77724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77724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77724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77724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92840" y="77724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109728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109728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0" y="109728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52760" y="109728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109728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92840" y="109728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141732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0" y="141732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141732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52760" y="141732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141732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92840" y="141732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173736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173736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173736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2760" y="173736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0" y="173736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92840" y="173736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20574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12680" y="20574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32720" y="20574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52760" y="20574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2057400"/>
            <a:ext cx="274320" cy="274320"/>
          </a:xfrm>
          <a:prstGeom prst="rect">
            <a:avLst/>
          </a:prstGeom>
          <a:solidFill>
            <a:srgbClr val="2E86AB">
              <a:alpha val="3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92840" y="2057400"/>
            <a:ext cx="274320" cy="274320"/>
          </a:xfrm>
          <a:prstGeom prst="rect">
            <a:avLst/>
          </a:prstGeom>
          <a:solidFill>
            <a:srgbClr val="2E86AB">
              <a:alpha val="18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1920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296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Edge Detection</a:t>
            </a:r>
            <a:endParaRPr lang="en-US" sz="5600" dirty="0"/>
          </a:p>
        </p:txBody>
      </p:sp>
      <p:sp>
        <p:nvSpPr>
          <p:cNvPr id="41" name="Text 39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Blurring, Gradients &amp; Canny — Theory + Hands-on Code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22960" y="4434840"/>
            <a:ext cx="22860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Lecture Series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Foundations  •  Week 2  •  Friday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~1.5 hrs  •  Mixed: Theory + Coding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hours • 50/50 split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98755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54480" y="91440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54480" y="91440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960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Motivation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filtering in computer vision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0" y="111556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115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176479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7647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54480" y="169164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54480" y="169164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Intuition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2075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filters slide over images (kernels)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189280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18928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54203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542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554480" y="246888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554480" y="246888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2514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Techniques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83080" y="2852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Gaussian, Median, Bilateral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784080" y="267004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31927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319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554480" y="324612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554480" y="324612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3291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Theory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83080" y="3630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Gradients, Sobel, Laplacian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784080" y="344728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0" y="34472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409651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096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554480" y="402336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554480" y="402336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83080" y="4069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Detector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83080" y="4407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— step by step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784080" y="422452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0" y="42245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1520" y="4873752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873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1554480" y="4800600"/>
            <a:ext cx="9144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554480" y="4800600"/>
            <a:ext cx="73152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83080" y="4846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Notebook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783080" y="5184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everything in OpenCV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784080" y="5001768"/>
            <a:ext cx="822960" cy="320040"/>
          </a:xfrm>
          <a:prstGeom prst="roundRect">
            <a:avLst>
              <a:gd name="adj" fmla="val 2285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84080" y="5001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Filter Images?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just a grid of numbers — but real-world pictures are rarely clean.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463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Raw images are messy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212848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noise, grain, random speckles from low light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218688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detail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texture that hides the real structure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24528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lighting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&amp; highlights confuse shape detection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230368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30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edges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sharp change is meaningful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3840480"/>
            <a:ext cx="18288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463040"/>
            <a:ext cx="539496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63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Filtering cleans them up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46520" y="2212848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out noise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averages nearby pixels to cancel randomness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3218688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037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image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fine details → keep the big picture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4224528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analysis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0372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detectors need clean inputs to work well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5230368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5230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what matters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can amplify edges, corners, and shapes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— The Heart of Filtering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filters 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a small matrix (the kernel) over the image. At each position, multiply-and-sum.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143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(5×5)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34440" y="146304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146304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14630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146304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34440" y="196596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37360" y="196596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196596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0" y="196596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34440" y="246888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37360" y="2468880"/>
            <a:ext cx="502920" cy="502920"/>
          </a:xfrm>
          <a:prstGeom prst="rect">
            <a:avLst/>
          </a:prstGeom>
          <a:solidFill>
            <a:srgbClr val="A8DAD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40280" y="246888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402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0" y="246888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234440" y="2971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737360" y="2971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37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40280" y="2971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02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743200" y="2971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234440" y="3474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344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737360" y="3474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3736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40280" y="3474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402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743200" y="34747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1520" y="1463040"/>
            <a:ext cx="1508760" cy="1508760"/>
          </a:xfrm>
          <a:prstGeom prst="rect">
            <a:avLst/>
          </a:prstGeom>
          <a:solidFill>
            <a:srgbClr val="E63946">
              <a:alpha val="0"/>
            </a:srgbClr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(3×3)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120640" y="192024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20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760720" y="192024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607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480560" y="256032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120640" y="256032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256032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480560" y="320040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05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5120640" y="320040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206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5760720" y="3200400"/>
            <a:ext cx="640080" cy="640080"/>
          </a:xfrm>
          <a:prstGeom prst="rect">
            <a:avLst/>
          </a:prstGeom>
          <a:solidFill>
            <a:srgbClr val="F4A261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607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1/9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675120" y="3063240"/>
            <a:ext cx="82296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83680" y="2880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83" name="Shape 81"/>
          <p:cNvSpPr/>
          <p:nvPr/>
        </p:nvSpPr>
        <p:spPr>
          <a:xfrm>
            <a:off x="7772400" y="2194560"/>
            <a:ext cx="1371600" cy="1371600"/>
          </a:xfrm>
          <a:prstGeom prst="rect">
            <a:avLst/>
          </a:prstGeom>
          <a:solidFill>
            <a:srgbClr val="2E86AB"/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0" y="2194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85" name="Text 83"/>
          <p:cNvSpPr/>
          <p:nvPr/>
        </p:nvSpPr>
        <p:spPr>
          <a:xfrm>
            <a:off x="777240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PIXEL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509760" y="1417320"/>
            <a:ext cx="2286000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95097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(pixel × weight)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9646920" y="23317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 kernel over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Multiply each overlap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 all 9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That sum = new pixel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" y="5394960"/>
            <a:ext cx="137160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868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6868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kernel's values decide what the filter does: averaging = blur, gradient weights = edge detection, sharpening weights = sharpen.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— Smooth Out the Noise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blur filters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Blurring averages nearby pixels. Different averaging rules → different blurs.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269748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(Box)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pixels in the window weighted equally.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Blurs edges heavily; looks blocky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cv2.blur()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28016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280160"/>
            <a:ext cx="26974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fall off with distance (bell-curve).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383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look, preserves shape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4434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blurs edges somewhat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5394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5394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cv2.GaussianBlur()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28016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280160"/>
            <a:ext cx="2697480" cy="731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0080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pixel with the median of the window.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383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salt-and-pepper noise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434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only odd kernel sizes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394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5394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cv2.medianBlur()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1280160"/>
            <a:ext cx="2697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52560" y="1280160"/>
            <a:ext cx="269748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89720" y="1371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23544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regions but preserves strong edges.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35440" y="33832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3544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Edge-preserving smoothing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4206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35440" y="4434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slower than others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235440" y="5394960"/>
            <a:ext cx="2331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5394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cv2.bilateralFilter()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 — The Workhorse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filter in CV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Kernel (5×5, σ = 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solidFill>
            <a:srgbClr val="2E86AB">
              <a:alpha val="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128016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280160"/>
            <a:ext cx="731520" cy="731520"/>
          </a:xfrm>
          <a:prstGeom prst="rect">
            <a:avLst/>
          </a:prstGeom>
          <a:solidFill>
            <a:srgbClr val="2E86AB">
              <a:alpha val="17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28016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1280160"/>
            <a:ext cx="731520" cy="731520"/>
          </a:xfrm>
          <a:prstGeom prst="rect">
            <a:avLst/>
          </a:prstGeom>
          <a:solidFill>
            <a:srgbClr val="2E86AB">
              <a:alpha val="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63040" y="2011680"/>
            <a:ext cx="731520" cy="731520"/>
          </a:xfrm>
          <a:prstGeom prst="rect">
            <a:avLst/>
          </a:prstGeom>
          <a:solidFill>
            <a:srgbClr val="2E86AB">
              <a:alpha val="39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94560" y="2011680"/>
            <a:ext cx="731520" cy="731520"/>
          </a:xfrm>
          <a:prstGeom prst="rect">
            <a:avLst/>
          </a:prstGeom>
          <a:solidFill>
            <a:srgbClr val="2E86AB">
              <a:alpha val="63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2011680"/>
            <a:ext cx="731520" cy="731520"/>
          </a:xfrm>
          <a:prstGeom prst="rect">
            <a:avLst/>
          </a:prstGeom>
          <a:solidFill>
            <a:srgbClr val="2E86AB">
              <a:alpha val="39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0" y="201168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2743200"/>
            <a:ext cx="731520" cy="731520"/>
          </a:xfrm>
          <a:prstGeom prst="rect">
            <a:avLst/>
          </a:prstGeom>
          <a:solidFill>
            <a:srgbClr val="2E86AB">
              <a:alpha val="17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743200"/>
            <a:ext cx="731520" cy="731520"/>
          </a:xfrm>
          <a:prstGeom prst="rect">
            <a:avLst/>
          </a:prstGeom>
          <a:solidFill>
            <a:srgbClr val="2E86AB">
              <a:alpha val="63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94560" y="2743200"/>
            <a:ext cx="731520" cy="731520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2743200"/>
            <a:ext cx="731520" cy="731520"/>
          </a:xfrm>
          <a:prstGeom prst="rect">
            <a:avLst/>
          </a:prstGeom>
          <a:solidFill>
            <a:srgbClr val="2E86AB">
              <a:alpha val="63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0" y="2743200"/>
            <a:ext cx="731520" cy="731520"/>
          </a:xfrm>
          <a:prstGeom prst="rect">
            <a:avLst/>
          </a:prstGeom>
          <a:solidFill>
            <a:srgbClr val="2E86AB">
              <a:alpha val="17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474720"/>
            <a:ext cx="731520" cy="731520"/>
          </a:xfrm>
          <a:prstGeom prst="rect">
            <a:avLst/>
          </a:prstGeom>
          <a:solidFill>
            <a:srgbClr val="2E86AB">
              <a:alpha val="39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6304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94560" y="3474720"/>
            <a:ext cx="731520" cy="731520"/>
          </a:xfrm>
          <a:prstGeom prst="rect">
            <a:avLst/>
          </a:prstGeom>
          <a:solidFill>
            <a:srgbClr val="2E86AB">
              <a:alpha val="63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926080" y="3474720"/>
            <a:ext cx="731520" cy="731520"/>
          </a:xfrm>
          <a:prstGeom prst="rect">
            <a:avLst/>
          </a:prstGeom>
          <a:solidFill>
            <a:srgbClr val="2E86AB">
              <a:alpha val="39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0" y="347472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solidFill>
            <a:srgbClr val="2E86AB">
              <a:alpha val="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463040" y="420624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630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194560" y="4206240"/>
            <a:ext cx="731520" cy="731520"/>
          </a:xfrm>
          <a:prstGeom prst="rect">
            <a:avLst/>
          </a:prstGeom>
          <a:solidFill>
            <a:srgbClr val="2E86AB">
              <a:alpha val="17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926080" y="4206240"/>
            <a:ext cx="731520" cy="73152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0" y="4206240"/>
            <a:ext cx="731520" cy="731520"/>
          </a:xfrm>
          <a:prstGeom prst="rect">
            <a:avLst/>
          </a:prstGeom>
          <a:solidFill>
            <a:srgbClr val="2E86AB">
              <a:alpha val="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3152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is heaviest • weights drop off smoothly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37760" y="1188720"/>
            <a:ext cx="685800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120640" y="1600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G(x, y) = (1 / 2πσ²) · exp( −(x² + y²) / 2σ² 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120640" y="21488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bell curve in 2D — closer pixels matter more, far pixels matter little.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937760" y="292608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292608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66360" y="3017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166360" y="33649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(w, h) — bigger = more blur. Must be odd (3, 5, 7, 11…).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937760" y="406908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0" y="406908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66360" y="4160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(sigma)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166360" y="45079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deviation. Larger σ → wider spread → stronger blur.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4937760" y="5212080"/>
            <a:ext cx="6858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37760" y="5212080"/>
            <a:ext cx="914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66360" y="53035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5166360" y="56509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blur = lose detail. Too little = noise remains.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48640" y="5669280"/>
            <a:ext cx="42062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8640" y="5669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cv2.GaussianBlur(img, (5,5), 1)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Sudden Changes in Intensity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blur to gradients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914400"/>
            <a:ext cx="57607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097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edge?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is where pixel brightness jumps sharply — often the boundary between two objects or surfaces.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measure change?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GRADIENT — how fast pixel intensity changes as we move in x or 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521208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1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VECTOR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∇I = ( ∂I/∂x , ∂I/∂y 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= √(Gx² + Gy²) → edge strength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= arctan(Gy / Gx) → edge orientation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profile across an edge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1152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43216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67344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23376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79408" y="1463040"/>
            <a:ext cx="256032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1472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47504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03536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59568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5600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71632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027664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83696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39728" y="1463040"/>
            <a:ext cx="256032" cy="640080"/>
          </a:xfrm>
          <a:prstGeom prst="rect">
            <a:avLst/>
          </a:prstGeom>
          <a:solidFill>
            <a:srgbClr val="DCDCDC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463040"/>
            <a:ext cx="512064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dark region                               bright region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2514600"/>
            <a:ext cx="5120640" cy="1645920"/>
          </a:xfrm>
          <a:prstGeom prst="rect">
            <a:avLst/>
          </a:prstGeom>
          <a:solidFill>
            <a:srgbClr val="E8EDF2">
              <a:alpha val="30000"/>
            </a:srgbClr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-5400000">
            <a:off x="603504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3931920"/>
            <a:ext cx="237744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0" y="3931920"/>
            <a:ext cx="0" cy="-137160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0" y="2560320"/>
            <a:ext cx="256032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0" y="4389120"/>
            <a:ext cx="5120640" cy="1645920"/>
          </a:xfrm>
          <a:prstGeom prst="rect">
            <a:avLst/>
          </a:prstGeom>
          <a:solidFill>
            <a:srgbClr val="E8EDF2">
              <a:alpha val="30000"/>
            </a:srgbClr>
          </a:solidFill>
          <a:ln w="12700">
            <a:solidFill>
              <a:srgbClr val="5A6B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 rot="-5400000">
            <a:off x="5852160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∂I/∂x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5852160"/>
            <a:ext cx="4846320" cy="0"/>
          </a:xfrm>
          <a:prstGeom prst="line">
            <a:avLst/>
          </a:prstGeom>
          <a:noFill/>
          <a:ln w="12700">
            <a:solidFill>
              <a:srgbClr val="5A6B7B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766560" y="5852160"/>
            <a:ext cx="22860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52560" y="5852160"/>
            <a:ext cx="0" cy="-128016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52560" y="4572000"/>
            <a:ext cx="13716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9720" y="4572000"/>
            <a:ext cx="0" cy="128016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89720" y="5852160"/>
            <a:ext cx="242316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5029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= strong edge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Filter — Directional Gradients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derivative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kernels: one detects horizontal changes (Gx), the other vertical (Gy).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 (horizontal)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17320" y="16459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03120" y="16459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23317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23317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03120" y="23317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7320" y="30175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03120" y="30175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  (vertical)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40480" y="16459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26280" y="16459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12080" y="1645920"/>
            <a:ext cx="685800" cy="68580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1645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0480" y="23317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26280" y="23317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12080" y="2331720"/>
            <a:ext cx="685800" cy="68580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0480" y="30175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26280" y="30175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212080" y="3017520"/>
            <a:ext cx="685800" cy="68580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132320" y="1280160"/>
            <a:ext cx="466344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 TWO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3232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|G| = √(Gx² + Gy²)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7132320" y="2468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arctan(Gy / Gx)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323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→ strength     Angle → direction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13232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cv2.Sobel(img, cv2.CV_64F, dx, dy, ksize=3)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48640" y="46634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48640" y="4663440"/>
            <a:ext cx="36576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alone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31520" y="5394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vertical edges (change along x).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343400" y="46634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43400" y="4663440"/>
            <a:ext cx="36576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2628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 alone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26280" y="5394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horizontal edges (change along y).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138160" y="46634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38160" y="4663440"/>
            <a:ext cx="3657600" cy="91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21040" y="5394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→ edges in any direction.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Filter — Second-Order Derivative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edges in all directions at once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kernel (3×3)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54480" y="1554480"/>
            <a:ext cx="731520" cy="73152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86000" y="1554480"/>
            <a:ext cx="731520" cy="73152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2286000"/>
            <a:ext cx="731520" cy="731520"/>
          </a:xfrm>
          <a:prstGeom prst="rect">
            <a:avLst/>
          </a:prstGeom>
          <a:solidFill>
            <a:srgbClr val="E6394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286000" y="2286000"/>
            <a:ext cx="731520" cy="73152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3017520"/>
            <a:ext cx="731520" cy="73152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480" y="3017520"/>
            <a:ext cx="731520" cy="731520"/>
          </a:xfrm>
          <a:prstGeom prst="rect">
            <a:avLst/>
          </a:prstGeom>
          <a:solidFill>
            <a:srgbClr val="2E86A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286000" y="3017520"/>
            <a:ext cx="731520" cy="731520"/>
          </a:xfrm>
          <a:prstGeom prst="rect">
            <a:avLst/>
          </a:prstGeom>
          <a:solidFill>
            <a:srgbClr val="E8EDF2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is negative, neighbors positive → measures curvature / second derivative.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12080" y="1005840"/>
            <a:ext cx="6583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0" y="1143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40680" y="17830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kernel detects edges in every direction.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40680" y="24688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2377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where gradients themselves change (zero crossings).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40680" y="31546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Noise-sensitive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3063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Gaussian-blur first — otherwise results look grainy.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40680" y="384048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498080" y="3749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and blur detection (variance of Laplacian).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029200"/>
            <a:ext cx="1106424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 = cv2.Laplacian(img, cv2.CV_64F, ksize=3)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blur first:  img = cv2.GaussianBlur(img, (3,3), 0)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Detector — The Gold Standard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2194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280160"/>
            <a:ext cx="219456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with Gaussian blur to remove specks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280160"/>
            <a:ext cx="2194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8920" y="1280160"/>
            <a:ext cx="219456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9260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Sobel → find |G| and direction 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280160"/>
            <a:ext cx="2194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1280160"/>
            <a:ext cx="219456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52120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Suppression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edges: keep only local maxima along gradient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1280160"/>
            <a:ext cx="2194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60920" y="1280160"/>
            <a:ext cx="219456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74980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Threshold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weak, and non-edge pixels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46920" y="1280160"/>
            <a:ext cx="21945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46920" y="1280160"/>
            <a:ext cx="21945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1325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7840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Tracking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84080" y="288036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weak edges only if connected to strong 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6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92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78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464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8640" y="4389120"/>
            <a:ext cx="548640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480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800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cv2.Canny(img, 100, 200)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" y="5394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number = low threshold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 number = high threshold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 of 1 : 2 or 1 : 3 works well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4389120"/>
            <a:ext cx="5577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4389120"/>
            <a:ext cx="109728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480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Canny wins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6520" y="49377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Thin, clean edges (not thick smears)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 sensitivity (double threshold)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Preserves true connected contours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to noise (thanks to blurring)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Detectors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4630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73736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29260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371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3017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371600"/>
            <a:ext cx="192024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05740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0574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205740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057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1st-order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2057400"/>
            <a:ext cx="2926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edges, fast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2057400"/>
            <a:ext cx="3017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0574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 edges, no thinning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2057400"/>
            <a:ext cx="1920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cv2.Sobel()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2743200"/>
            <a:ext cx="146304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743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Scharr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011680" y="2743200"/>
            <a:ext cx="173736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1st-order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49040" y="2743200"/>
            <a:ext cx="292608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Sobel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0" y="2743200"/>
            <a:ext cx="301752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743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thinning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2743200"/>
            <a:ext cx="192024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0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cv2.Scharr()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342900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429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011680" y="342900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2nd-order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749040" y="3429000"/>
            <a:ext cx="2926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All-direction edges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0" y="3429000"/>
            <a:ext cx="3017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3429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noise-sensitive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3429000"/>
            <a:ext cx="1920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cv2.Laplacian()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114800"/>
            <a:ext cx="146304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114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011680" y="4114800"/>
            <a:ext cx="173736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03120" y="41148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49040" y="4114800"/>
            <a:ext cx="292608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thin, connected edges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0" y="4114800"/>
            <a:ext cx="301752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threshold tuning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4114800"/>
            <a:ext cx="1920240" cy="685800"/>
          </a:xfrm>
          <a:prstGeom prst="rect">
            <a:avLst/>
          </a:prstGeom>
          <a:solidFill>
            <a:srgbClr val="E8EDF2"/>
          </a:solidFill>
          <a:ln w="6350">
            <a:solidFill>
              <a:srgbClr val="5A6B7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84080" y="4114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cv2.Canny()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5394960"/>
            <a:ext cx="137160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868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68680" y="5715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Canny for general edge detection. Use Sobel if you need to separate horizontal vs vertical structure. Use Laplacian when you want edges from any direction in one pass.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Write Some Code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2286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accompanying notebook: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Session_05_Filtering_and_Edge_Detection.ipynb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463600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display the test image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13892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38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074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average, Gaussian, median &amp; bilateral blur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64184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641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5577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side by side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63600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572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Sobel Gx, Gy and magnitude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513892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5138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5074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Laplacian + blur-first trick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5641848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641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55778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Canny thresholds interactively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61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274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recap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 •  Session 5  •  Filtering &amp; Edge Detection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51560"/>
            <a:ext cx="9144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216152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1124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= kernels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filter is a small matrix convolved with the image.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051560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51560"/>
            <a:ext cx="914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1216152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0" y="1124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before edges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detectors are sensitive to noise — always smooth first.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039112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039112"/>
            <a:ext cx="9144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2203704"/>
            <a:ext cx="502920" cy="5029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21122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&gt; Average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63040" y="2450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weights preserve structure better than equal weights.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039112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2039112"/>
            <a:ext cx="9144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56832" y="2203704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15200" y="21122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= direction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24505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kernels give horizontal and vertical gradients separately.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026664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026664"/>
            <a:ext cx="9144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3191256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63040" y="3099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= all-direction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63040" y="34381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Second-order, isotropic, very noise-sensitive.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3026664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3026664"/>
            <a:ext cx="9144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6832" y="3191256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15200" y="3099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= production-ready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15200" y="34381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pipeline gives thin, clean, connected edges.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212080"/>
            <a:ext cx="110642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212080"/>
            <a:ext cx="13716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— Contours, Shapes &amp; Geometric Transformations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686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on edges to find object outlines, rotate/warp images, and detect simple shapes.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118872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118872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18872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82880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828800"/>
            <a:ext cx="548640" cy="548640"/>
          </a:xfrm>
          <a:prstGeom prst="rect">
            <a:avLst/>
          </a:prstGeom>
          <a:solidFill>
            <a:srgbClr val="E63946">
              <a:alpha val="6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182880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246888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246888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2468880"/>
            <a:ext cx="548640" cy="548640"/>
          </a:xfrm>
          <a:prstGeom prst="rect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2286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first — then ask!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Session_05_Filtering_and_Edge_Detection.ipynb and experiment with kernel sizes, sigmas, and thresholds.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Computer Vision Lecture Series  •  Session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Filtering &amp; Edge Detection</dc:title>
  <dc:subject>PptxGenJS Presentation</dc:subject>
  <dc:creator>AI / CV Lecture Series</dc:creator>
  <cp:lastModifiedBy>AI / CV Lecture Series</cp:lastModifiedBy>
  <cp:revision>1</cp:revision>
  <dcterms:created xsi:type="dcterms:W3CDTF">2026-04-17T14:19:41Z</dcterms:created>
  <dcterms:modified xsi:type="dcterms:W3CDTF">2026-04-17T14:19:41Z</dcterms:modified>
</cp:coreProperties>
</file>