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Session 29. Today we cover the core building blocks of LangChain and how they compose into real applications. First half is intuition and theory, second half is a hands-on notebook using local Hugging Face models.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halves. Fundamentals are the pieces of a single LLM call. Components extend an app with memory and data. Everything today is beginner-first: intuition before syntax.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LangChain standardizes how you talk to models and how you wire steps together. Since v1.0 the headline is agents, but the fundamentals we teach today remain the foundation underneath everything.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single most useful idea: uniform Runnables piped together. Once students internalize prompt | model | parser, every later topic is just adding or swapping a block.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1: the anatomy of a single LLM call and how the four core pieces compose.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Models are interchangeable. We use a small local flan-t5 in the notebook so it runs free on a CPU. In production you'd swap in a hosted endpoint or a provider string — same downstream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Prompts separate the wording from the data. Emphasize the {topic} placeholder and how the same template serves any topic — this is what makes chains reusable.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Parsers make model output programmable. Start with StrOutputParser in the demo, then show JSON/Pydantic when you need structure.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LCEL is the payoff of the uniform interface. Note legacy LLMChain/SequentialChain still exist but now live in langchain-classic; new code uses the pipe.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the live-coding anchor for the notebook's first section. Build it line by line, run it, then swap the topic to show reuse.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2: the components that turn a single call into a stateful, data-aware application.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v1.0 memory is state managed by a checkpointer keyed on thread_id, with middleware to trim or summarize. Conceptually the same intuition as the old ConversationBufferMemory — hold the running transcript — but production-ready.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Document object is the universal currency. Whatever the source, downstream steps only see page_content + metadata — that uniformity is what makes RAG modular.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Chunking is a quality knob for RAG. Too big overflows context; too small loses meaning. RecursiveCharacterTextSplitter is the sensible default; overlap keeps sentences from being cut mid-thought.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ties Part 2 together and previews RAG (a later session). Today's components — loaders and splitters — are the left half; memory keeps the conversation around it. Each block is swappable.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and bridge to the notebook. Everything reduces to composable Runnables. Next: we build all seven in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to live coding. The notebook mirrors these slides one-to-one. Encourage students to run each cell, then tweak inputs to see the pieces compose.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2011680"/>
            <a:ext cx="5120640" cy="5120640"/>
          </a:xfrm>
          <a:prstGeom prst="ellipse">
            <a:avLst/>
          </a:prstGeom>
          <a:solidFill>
            <a:srgbClr val="0F3A38"/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4206240"/>
            <a:ext cx="4937760" cy="4937760"/>
          </a:xfrm>
          <a:prstGeom prst="ellipse">
            <a:avLst/>
          </a:prstGeom>
          <a:solidFill>
            <a:srgbClr val="0F3A38"/>
          </a:solidFill>
          <a:ln/>
        </p:spPr>
      </p:sp>
      <p:sp>
        <p:nvSpPr>
          <p:cNvPr id="4" name="Shape 2"/>
          <p:cNvSpPr/>
          <p:nvPr/>
        </p:nvSpPr>
        <p:spPr>
          <a:xfrm>
            <a:off x="658368" y="96012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96012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21792" y="1600200"/>
            <a:ext cx="10972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LangChain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621792" y="260604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Fundamentals </a:t>
            </a:r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</a:t>
            </a:r>
            <a:pPr indent="0" marL="0">
              <a:buNone/>
            </a:pPr>
            <a:r>
              <a:rPr lang="en-US" sz="44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Components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58368" y="37033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6E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 · Prompts · Models · Output Parsers  |  Memory · Document Loaders · Text Splitters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58368" y="4480560"/>
            <a:ext cx="2527402" cy="329184"/>
          </a:xfrm>
          <a:prstGeom prst="roundRect">
            <a:avLst>
              <a:gd name="adj" fmla="val 50000"/>
            </a:avLst>
          </a:prstGeom>
          <a:solidFill>
            <a:srgbClr val="0F3A38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4480560"/>
            <a:ext cx="252740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&amp; AI series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977640" y="4480560"/>
            <a:ext cx="2527402" cy="329184"/>
          </a:xfrm>
          <a:prstGeom prst="roundRect">
            <a:avLst>
              <a:gd name="adj" fmla="val 50000"/>
            </a:avLst>
          </a:prstGeom>
          <a:solidFill>
            <a:srgbClr val="0F3A38"/>
          </a:solidFill>
          <a:ln/>
        </p:spPr>
      </p:sp>
      <p:sp>
        <p:nvSpPr>
          <p:cNvPr id="12" name="Text 10"/>
          <p:cNvSpPr/>
          <p:nvPr/>
        </p:nvSpPr>
        <p:spPr>
          <a:xfrm>
            <a:off x="3977640" y="4480560"/>
            <a:ext cx="252740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+ Hands-on (50 / 50)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452360" y="4480560"/>
            <a:ext cx="2359152" cy="329184"/>
          </a:xfrm>
          <a:prstGeom prst="roundRect">
            <a:avLst>
              <a:gd name="adj" fmla="val 50000"/>
            </a:avLst>
          </a:prstGeom>
          <a:solidFill>
            <a:srgbClr val="0F3A38"/>
          </a:solidFill>
          <a:ln/>
        </p:spPr>
      </p:sp>
      <p:sp>
        <p:nvSpPr>
          <p:cNvPr id="14" name="Text 12"/>
          <p:cNvSpPr/>
          <p:nvPr/>
        </p:nvSpPr>
        <p:spPr>
          <a:xfrm>
            <a:off x="7452360" y="4480560"/>
            <a:ext cx="23591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to LangChain v1.0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58368" y="5120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~1–1.5 hour live teaching session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FOR TODAY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38404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5394960" cy="4480560"/>
          </a:xfrm>
          <a:prstGeom prst="roundRect">
            <a:avLst>
              <a:gd name="adj" fmla="val 2041"/>
            </a:avLst>
          </a:prstGeom>
          <a:solidFill>
            <a:srgbClr val="F1F7F6"/>
          </a:solidFill>
          <a:ln w="12700">
            <a:solidFill>
              <a:srgbClr val="D6E7E4"/>
            </a:solidFill>
            <a:prstDash val="solid"/>
          </a:ln>
          <a:effectLst>
            <a:outerShdw sx="100000" sy="100000" kx="0" ky="0" algn="bl" rotWithShape="0" blurRad="88900" dist="38100" dir="5400000">
              <a:srgbClr val="0A1F1E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72200" y="1417320"/>
            <a:ext cx="5376672" cy="4480560"/>
          </a:xfrm>
          <a:prstGeom prst="roundRect">
            <a:avLst>
              <a:gd name="adj" fmla="val 2041"/>
            </a:avLst>
          </a:prstGeom>
          <a:solidFill>
            <a:srgbClr val="0B2E2E"/>
          </a:solidFill>
          <a:ln/>
          <a:effectLst>
            <a:outerShdw sx="100000" sy="100000" kx="0" ky="0" algn="bl" rotWithShape="0" blurRad="88900" dist="38100" dir="5400000">
              <a:srgbClr val="0A1F1E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173736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737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45920" y="17830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1 — Fundamentals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960120" y="251460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600200" y="24688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 </a:t>
            </a:r>
            <a:pPr indent="0" marL="0">
              <a:buNone/>
            </a:pPr>
            <a:r>
              <a:rPr lang="en-US" sz="125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reasoning engine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60120" y="333756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3337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600200" y="329184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 </a:t>
            </a:r>
            <a:pPr indent="0" marL="0">
              <a:buNone/>
            </a:pPr>
            <a:r>
              <a:rPr lang="en-US" sz="125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structured instructions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60120" y="416052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00200" y="411480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Parsers  </a:t>
            </a:r>
            <a:pPr indent="0" marL="0">
              <a:buNone/>
            </a:pPr>
            <a:r>
              <a:rPr lang="en-US" sz="125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text → usable data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60120" y="498348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4983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600200" y="493776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 / LCEL  </a:t>
            </a:r>
            <a:pPr indent="0" marL="0">
              <a:buNone/>
            </a:pPr>
            <a:r>
              <a:rPr lang="en-US" sz="125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glue it together with |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492240" y="173736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/>
          <p:nvPr/>
        </p:nvSpPr>
        <p:spPr>
          <a:xfrm>
            <a:off x="6492240" y="1737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178040" y="17830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2 — Components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6492240" y="260604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5" name="Text 23"/>
          <p:cNvSpPr/>
          <p:nvPr/>
        </p:nvSpPr>
        <p:spPr>
          <a:xfrm>
            <a:off x="6492240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132320" y="256032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 </a:t>
            </a:r>
            <a:pPr indent="0" marL="0">
              <a:buNone/>
            </a:pPr>
            <a:r>
              <a:rPr lang="en-US" sz="1250" dirty="0">
                <a:solidFill>
                  <a:srgbClr val="D6E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remembering the conversation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492240" y="3502152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8" name="Text 26"/>
          <p:cNvSpPr/>
          <p:nvPr/>
        </p:nvSpPr>
        <p:spPr>
          <a:xfrm>
            <a:off x="6492240" y="35021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132320" y="345643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Loaders  </a:t>
            </a:r>
            <a:pPr indent="0" marL="0">
              <a:buNone/>
            </a:pPr>
            <a:r>
              <a:rPr lang="en-US" sz="1250" dirty="0">
                <a:solidFill>
                  <a:srgbClr val="D6E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bring your data in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492240" y="4398264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1" name="Text 29"/>
          <p:cNvSpPr/>
          <p:nvPr/>
        </p:nvSpPr>
        <p:spPr>
          <a:xfrm>
            <a:off x="6492240" y="43982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132320" y="4352544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Splitters  </a:t>
            </a:r>
            <a:pPr indent="0" marL="0">
              <a:buNone/>
            </a:pPr>
            <a:r>
              <a:rPr lang="en-US" sz="1250" dirty="0">
                <a:solidFill>
                  <a:srgbClr val="D6E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chunk it for retrieval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492240" y="52578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7 pieces are the vocabulary behind almost every LLM app you'll build.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Fundamentals &amp; Components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058400" y="645566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29  ·  Agenda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38404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LangChain?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315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open-source framework for building applications powered by large language models. It gives you one standard interface across model providers and a set of composable building blocks, so you swap models or pieces without rewriting your app.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183880" y="1371600"/>
            <a:ext cx="3364992" cy="1600200"/>
          </a:xfrm>
          <a:prstGeom prst="roundRect">
            <a:avLst>
              <a:gd name="adj" fmla="val 5714"/>
            </a:avLst>
          </a:prstGeom>
          <a:solidFill>
            <a:srgbClr val="0B2E2E"/>
          </a:solidFill>
          <a:ln/>
          <a:effectLst>
            <a:outerShdw sx="100000" sy="100000" kx="0" ky="0" algn="bl" rotWithShape="0" blurRad="88900" dist="38100" dir="5400000">
              <a:srgbClr val="0A1F1E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12480" y="1508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💡 Intuition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412480" y="192024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LangChain as Lego blocks for LLM apps — small standard pieces that snap together.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3200400"/>
            <a:ext cx="3429000" cy="2697480"/>
          </a:xfrm>
          <a:prstGeom prst="roundRect">
            <a:avLst>
              <a:gd name="adj" fmla="val 3390"/>
            </a:avLst>
          </a:prstGeom>
          <a:solidFill>
            <a:srgbClr val="F1F7F6"/>
          </a:solidFill>
          <a:ln w="12700">
            <a:solidFill>
              <a:srgbClr val="D6E7E4"/>
            </a:solidFill>
            <a:prstDash val="solid"/>
          </a:ln>
          <a:effectLst>
            <a:outerShdw sx="100000" sy="100000" kx="0" ky="0" algn="bl" rotWithShape="0" blurRad="88900" dist="38100" dir="5400000">
              <a:srgbClr val="0A1F1E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96112" y="3456432"/>
            <a:ext cx="658368" cy="65836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896112" y="345643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🔌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68680" y="4224528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 model interface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68680" y="4828032"/>
            <a:ext cx="30358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models, embeddings &amp; more behind one API — switch OpenAI ↔ Hugging Face with minimal changes.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97680" y="3200400"/>
            <a:ext cx="3429000" cy="2697480"/>
          </a:xfrm>
          <a:prstGeom prst="roundRect">
            <a:avLst>
              <a:gd name="adj" fmla="val 3390"/>
            </a:avLst>
          </a:prstGeom>
          <a:solidFill>
            <a:srgbClr val="F1F7F6"/>
          </a:solidFill>
          <a:ln w="12700">
            <a:solidFill>
              <a:srgbClr val="D6E7E4"/>
            </a:solidFill>
            <a:prstDash val="solid"/>
          </a:ln>
          <a:effectLst>
            <a:outerShdw sx="100000" sy="100000" kx="0" ky="0" algn="bl" rotWithShape="0" blurRad="88900" dist="38100" dir="5400000">
              <a:srgbClr val="0A1F1E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53712" y="3456432"/>
            <a:ext cx="658368" cy="65836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4553712" y="345643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🧩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526280" y="4224528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Composable pieces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4526280" y="4828032"/>
            <a:ext cx="30358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Prompts, models, parsers, retrievers &amp; memory that plug into each other via LCEL.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955280" y="3200400"/>
            <a:ext cx="3429000" cy="2697480"/>
          </a:xfrm>
          <a:prstGeom prst="roundRect">
            <a:avLst>
              <a:gd name="adj" fmla="val 3390"/>
            </a:avLst>
          </a:prstGeom>
          <a:solidFill>
            <a:srgbClr val="F1F7F6"/>
          </a:solidFill>
          <a:ln w="12700">
            <a:solidFill>
              <a:srgbClr val="D6E7E4"/>
            </a:solidFill>
            <a:prstDash val="solid"/>
          </a:ln>
          <a:effectLst>
            <a:outerShdw sx="100000" sy="100000" kx="0" ky="0" algn="bl" rotWithShape="0" blurRad="88900" dist="38100" dir="5400000">
              <a:srgbClr val="0A1F1E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11312" y="3456432"/>
            <a:ext cx="658368" cy="65836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8211312" y="345643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🛠️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183880" y="4224528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real apps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8183880" y="4828032"/>
            <a:ext cx="30358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(Nov 2025) centers on agents (create_agent) on top of LangGraph; classic chains live in langchain-classic.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Fundamentals &amp; Components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058400" y="645566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29  ·  What is LangChain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IDEA THAT TIES IT TOGETHER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38404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mental model: everything is a Runnable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building block shares the same interface — you can .invoke() it, .stream() it, or .batch() it. Because they're uniform, you connect them with the pipe operator ( | ) into a chain. Data flows left to right.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32004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7A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554480" y="2880360"/>
            <a:ext cx="2286000" cy="1051560"/>
          </a:xfrm>
          <a:prstGeom prst="roundRect">
            <a:avLst>
              <a:gd name="adj" fmla="val 7826"/>
            </a:avLst>
          </a:prstGeom>
          <a:solidFill>
            <a:srgbClr val="028090"/>
          </a:solidFill>
          <a:ln/>
          <a:effectLst>
            <a:outerShdw sx="100000" sy="100000" kx="0" ky="0" algn="bl" rotWithShape="0" blurRad="63500" dist="25400" dir="5400000">
              <a:srgbClr val="0A1F1E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554480" y="2898648"/>
            <a:ext cx="2286000" cy="1051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</a:t>
            </a:r>
            <a:endParaRPr lang="en-US" sz="13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 the ask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950208" y="3172968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23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4389120" y="2880360"/>
            <a:ext cx="2286000" cy="1051560"/>
          </a:xfrm>
          <a:prstGeom prst="roundRect">
            <a:avLst>
              <a:gd name="adj" fmla="val 7826"/>
            </a:avLst>
          </a:prstGeom>
          <a:solidFill>
            <a:srgbClr val="00A896"/>
          </a:solidFill>
          <a:ln/>
          <a:effectLst>
            <a:outerShdw sx="100000" sy="100000" kx="0" ky="0" algn="bl" rotWithShape="0" blurRad="63500" dist="25400" dir="5400000">
              <a:srgbClr val="0A1F1E">
                <a:alpha val="2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389120" y="2898648"/>
            <a:ext cx="2286000" cy="1051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13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B2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LLM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784848" y="3172968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23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7223760" y="2880360"/>
            <a:ext cx="2651760" cy="1051560"/>
          </a:xfrm>
          <a:prstGeom prst="roundRect">
            <a:avLst>
              <a:gd name="adj" fmla="val 7826"/>
            </a:avLst>
          </a:prstGeom>
          <a:solidFill>
            <a:srgbClr val="02C39A"/>
          </a:solidFill>
          <a:ln/>
          <a:effectLst>
            <a:outerShdw sx="100000" sy="100000" kx="0" ky="0" algn="bl" rotWithShape="0" blurRad="63500" dist="25400" dir="5400000">
              <a:srgbClr val="0A1F1E">
                <a:alpha val="2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223760" y="2898648"/>
            <a:ext cx="2651760" cy="1051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Parser</a:t>
            </a:r>
            <a:endParaRPr lang="en-US" sz="13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F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clean structure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0012680" y="3300984"/>
            <a:ext cx="731520" cy="201168"/>
          </a:xfrm>
          <a:prstGeom prst="rightArrow">
            <a:avLst/>
          </a:prstGeom>
          <a:solidFill>
            <a:srgbClr val="12343B"/>
          </a:solidFill>
          <a:ln/>
        </p:spPr>
      </p:sp>
      <p:sp>
        <p:nvSpPr>
          <p:cNvPr id="15" name="Text 13"/>
          <p:cNvSpPr/>
          <p:nvPr/>
        </p:nvSpPr>
        <p:spPr>
          <a:xfrm>
            <a:off x="10698480" y="32004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7A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554480" y="4526280"/>
            <a:ext cx="8321040" cy="868680"/>
          </a:xfrm>
          <a:prstGeom prst="roundRect">
            <a:avLst>
              <a:gd name="adj" fmla="val 7368"/>
            </a:avLst>
          </a:prstGeom>
          <a:solidFill>
            <a:srgbClr val="0A2422"/>
          </a:solidFill>
          <a:ln/>
          <a:effectLst>
            <a:outerShdw sx="100000" sy="100000" kx="0" ky="0" algn="bl" rotWithShape="0" blurRad="76200" dist="38100" dir="5400000">
              <a:srgbClr val="0A1F1E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719072" y="4636008"/>
            <a:ext cx="799185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C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chain = prompt | model | parser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C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chain.invoke({"topic": "vectors"})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55778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pipe syntax is LangChain Expression Language (LCEL) — the modern, supported way to build chains.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Fundamentals &amp; Components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058400" y="645566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29  ·  Mental model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2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920240"/>
            <a:ext cx="5669280" cy="5669280"/>
          </a:xfrm>
          <a:prstGeom prst="ellipse">
            <a:avLst/>
          </a:prstGeom>
          <a:solidFill>
            <a:srgbClr val="0F3A38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488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" y="260604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Fundamentals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822960" y="37947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6E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 ·  Prompts  ·  Output Parsers  ·  Chains (LCEL)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475488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47548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874520" y="475488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1874520" y="47548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926080" y="475488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2926080" y="47548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977640" y="475488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3977640" y="47548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· 1 OF 4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38404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 — the reasoning engine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chat model takes a list of messages (system + human) and returns an AIMessage. LangChain wraps every provider behind the same class, so your code stays the same when the model changes.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85800" y="25146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514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▹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25880" y="246888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init_chat_model()   </a:t>
            </a:r>
            <a:pPr indent="0" marL="0">
              <a:buNone/>
            </a:pPr>
            <a:r>
              <a:rPr lang="en-US" sz="125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helper, any provider — pass a model string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338328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3383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▹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25880" y="333756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ChatHuggingFace   </a:t>
            </a:r>
            <a:pPr indent="0" marL="0">
              <a:buNone/>
            </a:pPr>
            <a:r>
              <a:rPr lang="en-US" sz="125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wrapper around a HF model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5800" y="425196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4251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▹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25880" y="420624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HuggingFacePipeline   </a:t>
            </a:r>
            <a:pPr indent="0" marL="0">
              <a:buNone/>
            </a:pPr>
            <a:r>
              <a:rPr lang="en-US" sz="125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 model locally on your machine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512064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5120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▹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25880" y="507492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HuggingFaceEndpoint   </a:t>
            </a:r>
            <a:pPr indent="0" marL="0">
              <a:buNone/>
            </a:pPr>
            <a:r>
              <a:rPr lang="en-US" sz="125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a hosted HF inference model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955280" y="1371600"/>
            <a:ext cx="3611880" cy="3703320"/>
          </a:xfrm>
          <a:prstGeom prst="roundRect">
            <a:avLst>
              <a:gd name="adj" fmla="val 1772"/>
            </a:avLst>
          </a:prstGeom>
          <a:solidFill>
            <a:srgbClr val="0A2422"/>
          </a:solidFill>
          <a:ln/>
          <a:effectLst>
            <a:outerShdw sx="100000" sy="100000" kx="0" ky="0" algn="bl" rotWithShape="0" blurRad="76200" dist="38100" dir="5400000">
              <a:srgbClr val="0A1F1E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119872" y="1481328"/>
            <a:ext cx="3282696" cy="3483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E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local model via Hugging Face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C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langchain_huggingface \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C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import HuggingFacePipeline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C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C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 = HuggingFacePipeline\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C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.from_model_id(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C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model_id="google/\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C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flan-t5-base",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C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task="text2text-\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C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generation",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C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C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C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llm.invoke("Hello, world!")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Fundamentals &amp; Components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058400" y="645566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29  ·  Models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· 2 OF 4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38404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Prompts — reusable, parameterized instructions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prompt template is a recipe with blanks. You write it once with variables in { }, then fill them at runtime. ChatPromptTemplate lets you set distinct system and human roles.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7040880" cy="3200400"/>
          </a:xfrm>
          <a:prstGeom prst="roundRect">
            <a:avLst>
              <a:gd name="adj" fmla="val 2857"/>
            </a:avLst>
          </a:prstGeom>
          <a:solidFill>
            <a:srgbClr val="F1F7F6"/>
          </a:solidFill>
          <a:ln w="12700">
            <a:solidFill>
              <a:srgbClr val="D6E7E4"/>
            </a:solidFill>
            <a:prstDash val="solid"/>
          </a:ln>
          <a:effectLst>
            <a:outerShdw sx="100000" sy="100000" kx="0" ky="0" algn="bl" rotWithShape="0" blurRad="88900" dist="38100" dir="5400000">
              <a:srgbClr val="0A1F1E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72491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7249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17320" y="2679192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3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PromptTemplate   </a:t>
            </a:r>
            <a:pPr indent="0" marL="0">
              <a:buNone/>
            </a:pPr>
            <a:r>
              <a:rPr lang="en-US" sz="12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templated string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14400" y="3300984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3009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417320" y="3255264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3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ChatPromptTemplate   </a:t>
            </a:r>
            <a:pPr indent="0" marL="0">
              <a:buNone/>
            </a:pPr>
            <a:r>
              <a:rPr lang="en-US" sz="12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+ human message roles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14400" y="3877056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8770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17320" y="3831336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3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.from_messages([...])   </a:t>
            </a:r>
            <a:pPr indent="0" marL="0">
              <a:buNone/>
            </a:pPr>
            <a:r>
              <a:rPr lang="en-US" sz="12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multi-turn prompt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14400" y="445312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4531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17320" y="4407408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3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Variables in { }   </a:t>
            </a:r>
            <a:pPr indent="0" marL="0">
              <a:buNone/>
            </a:pPr>
            <a:r>
              <a:rPr lang="en-US" sz="12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via .invoke({...})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14400" y="502920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50292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417320" y="498348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3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Reusable   </a:t>
            </a:r>
            <a:pPr indent="0" marL="0">
              <a:buNone/>
            </a:pPr>
            <a:r>
              <a:rPr lang="en-US" sz="12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template, many inputs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55280" y="1371600"/>
            <a:ext cx="3611880" cy="4297680"/>
          </a:xfrm>
          <a:prstGeom prst="roundRect">
            <a:avLst>
              <a:gd name="adj" fmla="val 1772"/>
            </a:avLst>
          </a:prstGeom>
          <a:solidFill>
            <a:srgbClr val="0A2422"/>
          </a:solidFill>
          <a:ln/>
          <a:effectLst>
            <a:outerShdw sx="100000" sy="100000" kx="0" ky="0" algn="bl" rotWithShape="0" blurRad="76200" dist="38100" dir="5400000">
              <a:srgbClr val="0A1F1E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119872" y="1481328"/>
            <a:ext cx="3282696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C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langchain_core.prompts \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C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import ChatPromptTemplate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C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C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 = ChatPromptTemplate\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C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.from_messages([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C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("system",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C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"You are a helpful\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C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CV tutor."),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C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("human",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C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"Explain {topic} \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C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simply."),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C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C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C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prompt.invoke(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C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{"topic": "CNNs"})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Fundamentals &amp; Components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058400" y="645566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29  ·  Prompts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· 3 OF 4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38404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Parsers — from raw text to usable data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return plain text. A parser is the last step that converts that text into something your program can use — a clean string, a Python dict, or a validated object.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5349240" cy="1600200"/>
          </a:xfrm>
          <a:prstGeom prst="roundRect">
            <a:avLst>
              <a:gd name="adj" fmla="val 5714"/>
            </a:avLst>
          </a:prstGeom>
          <a:solidFill>
            <a:srgbClr val="F1F7F6"/>
          </a:solidFill>
          <a:ln w="12700">
            <a:solidFill>
              <a:srgbClr val="D6E7E4"/>
            </a:solidFill>
            <a:prstDash val="solid"/>
          </a:ln>
          <a:effectLst>
            <a:outerShdw sx="100000" sy="100000" kx="0" ky="0" algn="bl" rotWithShape="0" blurRad="88900" dist="38100" dir="5400000">
              <a:srgbClr val="0A1F1E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606040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26060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⤷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00200" y="253288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StrOutputParser  </a:t>
            </a:r>
            <a:pPr indent="0" marL="0">
              <a:buNone/>
            </a:pPr>
            <a:r>
              <a:rPr lang="en-US" sz="12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just the text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600200" y="3044952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 the message content as a plain string.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2331720"/>
            <a:ext cx="5349240" cy="1600200"/>
          </a:xfrm>
          <a:prstGeom prst="roundRect">
            <a:avLst>
              <a:gd name="adj" fmla="val 5714"/>
            </a:avLst>
          </a:prstGeom>
          <a:solidFill>
            <a:srgbClr val="F1F7F6"/>
          </a:solidFill>
          <a:ln w="12700">
            <a:solidFill>
              <a:srgbClr val="D6E7E4"/>
            </a:solidFill>
            <a:prstDash val="solid"/>
          </a:ln>
          <a:effectLst>
            <a:outerShdw sx="100000" sy="100000" kx="0" ky="0" algn="bl" rotWithShape="0" blurRad="88900" dist="38100" dir="5400000">
              <a:srgbClr val="0A1F1E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28232" y="2606040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6428232" y="26060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⤷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32320" y="253288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JsonOutputParser  </a:t>
            </a:r>
            <a:pPr indent="0" marL="0">
              <a:buNone/>
            </a:pPr>
            <a:r>
              <a:rPr lang="en-US" sz="12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Python dict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132320" y="3044952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a JSON reply into a dict you can index.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4114800"/>
            <a:ext cx="5349240" cy="1600200"/>
          </a:xfrm>
          <a:prstGeom prst="roundRect">
            <a:avLst>
              <a:gd name="adj" fmla="val 5714"/>
            </a:avLst>
          </a:prstGeom>
          <a:solidFill>
            <a:srgbClr val="F1F7F6"/>
          </a:solidFill>
          <a:ln w="12700">
            <a:solidFill>
              <a:srgbClr val="D6E7E4"/>
            </a:solidFill>
            <a:prstDash val="solid"/>
          </a:ln>
          <a:effectLst>
            <a:outerShdw sx="100000" sy="100000" kx="0" ky="0" algn="bl" rotWithShape="0" blurRad="88900" dist="38100" dir="5400000">
              <a:srgbClr val="0A1F1E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96112" y="4389120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896112" y="43891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⤷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00200" y="431596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PydanticOutputParser  </a:t>
            </a:r>
            <a:pPr indent="0" marL="0">
              <a:buNone/>
            </a:pPr>
            <a:r>
              <a:rPr lang="en-US" sz="12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typed object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600200" y="4828032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the output against a schema you define.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72200" y="4114800"/>
            <a:ext cx="5349240" cy="1600200"/>
          </a:xfrm>
          <a:prstGeom prst="roundRect">
            <a:avLst>
              <a:gd name="adj" fmla="val 5714"/>
            </a:avLst>
          </a:prstGeom>
          <a:solidFill>
            <a:srgbClr val="F1F7F6"/>
          </a:solidFill>
          <a:ln w="12700">
            <a:solidFill>
              <a:srgbClr val="D6E7E4"/>
            </a:solidFill>
            <a:prstDash val="solid"/>
          </a:ln>
          <a:effectLst>
            <a:outerShdw sx="100000" sy="100000" kx="0" ky="0" algn="bl" rotWithShape="0" blurRad="88900" dist="38100" dir="5400000">
              <a:srgbClr val="0A1F1E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28232" y="4389120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/>
          <p:nvPr/>
        </p:nvSpPr>
        <p:spPr>
          <a:xfrm>
            <a:off x="6428232" y="43891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⤷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32320" y="431596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with_structured_output()  </a:t>
            </a:r>
            <a:pPr indent="0" marL="0">
              <a:buNone/>
            </a:pPr>
            <a:r>
              <a:rPr lang="en-US" sz="12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schema, built in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132320" y="4828032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model to return your class directly.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Fundamentals &amp; Components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058400" y="645566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29  ·  Output Parsers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· 4 OF 4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38404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Chains — composing steps with LCEL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chain wires the pieces into a pipeline with |. Because every block is a Runnable, the chain itself is a Runnable — so you can invoke, stream, or batch the whole thing.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22960" y="2651760"/>
            <a:ext cx="2468880" cy="1097280"/>
          </a:xfrm>
          <a:prstGeom prst="roundRect">
            <a:avLst>
              <a:gd name="adj" fmla="val 7500"/>
            </a:avLst>
          </a:prstGeom>
          <a:solidFill>
            <a:srgbClr val="028090"/>
          </a:solidFill>
          <a:ln/>
          <a:effectLst>
            <a:outerShdw sx="100000" sy="100000" kx="0" ky="0" algn="bl" rotWithShape="0" blurRad="63500" dist="25400" dir="5400000">
              <a:srgbClr val="0A1F1E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670048"/>
            <a:ext cx="2468880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</a:t>
            </a:r>
            <a:endParaRPr lang="en-US" sz="13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fills variables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383280" y="29718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23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3840480" y="2651760"/>
            <a:ext cx="2468880" cy="1097280"/>
          </a:xfrm>
          <a:prstGeom prst="roundRect">
            <a:avLst>
              <a:gd name="adj" fmla="val 7500"/>
            </a:avLst>
          </a:prstGeom>
          <a:solidFill>
            <a:srgbClr val="00A896"/>
          </a:solidFill>
          <a:ln/>
          <a:effectLst>
            <a:outerShdw sx="100000" sy="100000" kx="0" ky="0" algn="bl" rotWithShape="0" blurRad="63500" dist="25400" dir="5400000">
              <a:srgbClr val="0A1F1E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840480" y="2670048"/>
            <a:ext cx="2468880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13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B2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generates text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0" y="29718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23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6858000" y="2651760"/>
            <a:ext cx="2468880" cy="1097280"/>
          </a:xfrm>
          <a:prstGeom prst="roundRect">
            <a:avLst>
              <a:gd name="adj" fmla="val 7500"/>
            </a:avLst>
          </a:prstGeom>
          <a:solidFill>
            <a:srgbClr val="02C39A"/>
          </a:solidFill>
          <a:ln/>
          <a:effectLst>
            <a:outerShdw sx="100000" sy="100000" kx="0" ky="0" algn="bl" rotWithShape="0" blurRad="63500" dist="25400" dir="5400000">
              <a:srgbClr val="0A1F1E">
                <a:alpha val="2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0" y="2670048"/>
            <a:ext cx="2468880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Parser</a:t>
            </a:r>
            <a:endParaRPr lang="en-US" sz="13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F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structures it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464040" y="3099816"/>
            <a:ext cx="685800" cy="201168"/>
          </a:xfrm>
          <a:prstGeom prst="rightArrow">
            <a:avLst/>
          </a:prstGeom>
          <a:solidFill>
            <a:srgbClr val="12343B"/>
          </a:solidFill>
          <a:ln/>
        </p:spPr>
      </p:sp>
      <p:sp>
        <p:nvSpPr>
          <p:cNvPr id="14" name="Shape 12"/>
          <p:cNvSpPr/>
          <p:nvPr/>
        </p:nvSpPr>
        <p:spPr>
          <a:xfrm>
            <a:off x="10195560" y="2651760"/>
            <a:ext cx="1600200" cy="1097280"/>
          </a:xfrm>
          <a:prstGeom prst="roundRect">
            <a:avLst>
              <a:gd name="adj" fmla="val 7500"/>
            </a:avLst>
          </a:prstGeom>
          <a:solidFill>
            <a:srgbClr val="0B2E2E"/>
          </a:solidFill>
          <a:ln/>
          <a:effectLst>
            <a:outerShdw sx="100000" sy="100000" kx="0" ky="0" algn="bl" rotWithShape="0" blurRad="63500" dist="25400" dir="5400000">
              <a:srgbClr val="0A1F1E">
                <a:alpha val="2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0195560" y="2670048"/>
            <a:ext cx="1600200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2960" y="4160520"/>
            <a:ext cx="10744200" cy="1554480"/>
          </a:xfrm>
          <a:prstGeom prst="roundRect">
            <a:avLst>
              <a:gd name="adj" fmla="val 5882"/>
            </a:avLst>
          </a:prstGeom>
          <a:solidFill>
            <a:srgbClr val="0B2E2E"/>
          </a:solidFill>
          <a:ln/>
          <a:effectLst>
            <a:outerShdw sx="100000" sy="100000" kx="0" ky="0" algn="bl" rotWithShape="0" blurRad="88900" dist="38100" dir="5400000">
              <a:srgbClr val="0A1F1E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97280" y="431596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Runnable interface — same three methods on every block and every chain: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097280" y="489204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1097280" y="4892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»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645920" y="4882896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invoke()  </a:t>
            </a:r>
            <a:pPr indent="0" marL="0">
              <a:buNone/>
            </a:pPr>
            <a:r>
              <a:rPr lang="en-US" sz="1150" dirty="0">
                <a:solidFill>
                  <a:srgbClr val="D6E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run once on one input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617720" y="489204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4617720" y="4892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»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166360" y="4882896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stream()  </a:t>
            </a:r>
            <a:pPr indent="0" marL="0">
              <a:buNone/>
            </a:pPr>
            <a:r>
              <a:rPr lang="en-US" sz="1150" dirty="0">
                <a:solidFill>
                  <a:srgbClr val="D6E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token-by-token output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138160" y="489204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5" name="Text 23"/>
          <p:cNvSpPr/>
          <p:nvPr/>
        </p:nvSpPr>
        <p:spPr>
          <a:xfrm>
            <a:off x="8138160" y="4892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»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686800" y="4882896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batch()  </a:t>
            </a:r>
            <a:pPr indent="0" marL="0">
              <a:buNone/>
            </a:pPr>
            <a:r>
              <a:rPr lang="en-US" sz="1150" dirty="0">
                <a:solidFill>
                  <a:srgbClr val="D6E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many inputs in parallel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Fundamentals &amp; Components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058400" y="645566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29  ·  Chains / LCEL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· RECAP IN CODE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38404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Putting it together: your first chain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6720840" cy="4343400"/>
          </a:xfrm>
          <a:prstGeom prst="roundRect">
            <a:avLst>
              <a:gd name="adj" fmla="val 1474"/>
            </a:avLst>
          </a:prstGeom>
          <a:solidFill>
            <a:srgbClr val="0A2422"/>
          </a:solidFill>
          <a:ln/>
          <a:effectLst>
            <a:outerShdw sx="100000" sy="100000" kx="0" ky="0" algn="bl" rotWithShape="0" blurRad="76200" dist="38100" dir="5400000">
              <a:srgbClr val="0A1F1E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527048"/>
            <a:ext cx="6391656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C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langchain_core.prompts import ChatPromptTemplate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C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langchain_core.output_parsers import StrOutputParser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C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langchain_huggingface import HuggingFacePipeline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C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E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1) model  (local, free)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C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 = HuggingFacePipeline.from_model_id(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C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model_id="google/flan-t5-base",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C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task="text2text-generation")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C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E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2) prompt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C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 = ChatPromptTemplate.from_template(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C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"Explain {topic} to a beginner in 2 sentences.")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C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E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3) parser  4) chain  (LCEL)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C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chain = prompt | llm | StrOutputParser()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C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C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chain.invoke({"topic": "image embeddings"})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635240" y="1417320"/>
            <a:ext cx="3913632" cy="4343400"/>
          </a:xfrm>
          <a:prstGeom prst="roundRect">
            <a:avLst>
              <a:gd name="adj" fmla="val 2336"/>
            </a:avLst>
          </a:prstGeom>
          <a:solidFill>
            <a:srgbClr val="F1F7F6"/>
          </a:solidFill>
          <a:ln w="12700">
            <a:solidFill>
              <a:srgbClr val="D6E7E4"/>
            </a:solidFill>
            <a:prstDash val="solid"/>
          </a:ln>
          <a:effectLst>
            <a:outerShdw sx="100000" sy="100000" kx="0" ky="0" algn="bl" rotWithShape="0" blurRad="88900" dist="38100" dir="5400000">
              <a:srgbClr val="0A1F1E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863840" y="16002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it top-down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863840" y="219456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503920" y="214884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 </a:t>
            </a:r>
            <a:pPr indent="0" marL="0">
              <a:buNone/>
            </a:pPr>
            <a:r>
              <a:rPr lang="en-US" sz="1100" dirty="0">
                <a:solidFill>
                  <a:srgbClr val="5A7A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pick the engine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863840" y="3035808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0" y="30358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503920" y="2990088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 </a:t>
            </a:r>
            <a:pPr indent="0" marL="0">
              <a:buNone/>
            </a:pPr>
            <a:r>
              <a:rPr lang="en-US" sz="1100" dirty="0">
                <a:solidFill>
                  <a:srgbClr val="5A7A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template the ask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863840" y="3877056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0" y="387705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503920" y="3831336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  </a:t>
            </a:r>
            <a:pPr indent="0" marL="0">
              <a:buNone/>
            </a:pPr>
            <a:r>
              <a:rPr lang="en-US" sz="1100" dirty="0">
                <a:solidFill>
                  <a:srgbClr val="5A7A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 the output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863840" y="4718304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0" y="47183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503920" y="4672584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 </a:t>
            </a:r>
            <a:pPr indent="0" marL="0">
              <a:buNone/>
            </a:pPr>
            <a:r>
              <a:rPr lang="en-US" sz="1100" dirty="0">
                <a:solidFill>
                  <a:srgbClr val="5A7A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 | llm | parser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863840" y="55321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any block without touching the others.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Fundamentals &amp; Components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058400" y="645566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29  ·  First chain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2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920240" y="3108960"/>
            <a:ext cx="5852160" cy="5852160"/>
          </a:xfrm>
          <a:prstGeom prst="ellipse">
            <a:avLst/>
          </a:prstGeom>
          <a:solidFill>
            <a:srgbClr val="0F3A38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488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" y="260604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Components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822960" y="37947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6E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 ·  Document Loaders  ·  Text Splitters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4754880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47548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874520" y="4754880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1874520" y="47548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926080" y="4754880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2926080" y="47548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· 1 OF 3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38404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 — remembering the conversation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default each call is stateless. Memory lets an app recall earlier turns. Short-term memory keeps one conversation (a thread); a checkpointer saves that state and a thread_id looks it up.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22960" y="2514600"/>
            <a:ext cx="3931920" cy="457200"/>
          </a:xfrm>
          <a:prstGeom prst="roundRect">
            <a:avLst>
              <a:gd name="adj" fmla="val 20000"/>
            </a:avLst>
          </a:prstGeom>
          <a:solidFill>
            <a:srgbClr val="0F3A38"/>
          </a:solidFill>
          <a:ln w="12700">
            <a:solidFill>
              <a:srgbClr val="D6E7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514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Human: Hi, I'm Bob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22960" y="3081528"/>
            <a:ext cx="3931920" cy="457200"/>
          </a:xfrm>
          <a:prstGeom prst="roundRect">
            <a:avLst>
              <a:gd name="adj" fmla="val 20000"/>
            </a:avLst>
          </a:prstGeom>
          <a:solidFill>
            <a:srgbClr val="F1F7F6"/>
          </a:solidFill>
          <a:ln w="12700">
            <a:solidFill>
              <a:srgbClr val="D6E7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30815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3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AI: Hello Bob!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22960" y="3648456"/>
            <a:ext cx="3931920" cy="457200"/>
          </a:xfrm>
          <a:prstGeom prst="roundRect">
            <a:avLst>
              <a:gd name="adj" fmla="val 20000"/>
            </a:avLst>
          </a:prstGeom>
          <a:solidFill>
            <a:srgbClr val="0F3A38"/>
          </a:solidFill>
          <a:ln w="12700">
            <a:solidFill>
              <a:srgbClr val="D6E7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364845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Human: What's my name?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983480" y="3063240"/>
            <a:ext cx="640080" cy="201168"/>
          </a:xfrm>
          <a:prstGeom prst="rightArrow">
            <a:avLst/>
          </a:prstGeom>
          <a:solidFill>
            <a:srgbClr val="028090"/>
          </a:solidFill>
          <a:ln/>
        </p:spPr>
      </p:sp>
      <p:sp>
        <p:nvSpPr>
          <p:cNvPr id="12" name="Shape 10"/>
          <p:cNvSpPr/>
          <p:nvPr/>
        </p:nvSpPr>
        <p:spPr>
          <a:xfrm>
            <a:off x="5760720" y="2651760"/>
            <a:ext cx="2377440" cy="1097280"/>
          </a:xfrm>
          <a:prstGeom prst="roundRect">
            <a:avLst>
              <a:gd name="adj" fmla="val 7500"/>
            </a:avLst>
          </a:prstGeom>
          <a:solidFill>
            <a:srgbClr val="028090"/>
          </a:solidFill>
          <a:ln/>
          <a:effectLst>
            <a:outerShdw sx="100000" sy="100000" kx="0" ky="0" algn="bl" rotWithShape="0" blurRad="63500" dist="25400" dir="5400000">
              <a:srgbClr val="0A1F1E">
                <a:alpha val="2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760720" y="2670048"/>
            <a:ext cx="2377440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Checkpointer</a:t>
            </a:r>
            <a:endParaRPr lang="en-US" sz="13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thread_id → state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669280" y="382219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&amp; reloaded per conversation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366760" y="2377440"/>
            <a:ext cx="3182112" cy="2788920"/>
          </a:xfrm>
          <a:prstGeom prst="roundRect">
            <a:avLst>
              <a:gd name="adj" fmla="val 3279"/>
            </a:avLst>
          </a:prstGeom>
          <a:solidFill>
            <a:srgbClr val="0B2E2E"/>
          </a:solidFill>
          <a:ln/>
          <a:effectLst>
            <a:outerShdw sx="100000" sy="100000" kx="0" ky="0" algn="bl" rotWithShape="0" blurRad="88900" dist="38100" dir="5400000">
              <a:srgbClr val="0A1F1E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595360" y="25146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Keeping context small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8595360" y="3017520"/>
            <a:ext cx="420624" cy="42062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8" name="Text 16"/>
          <p:cNvSpPr/>
          <p:nvPr/>
        </p:nvSpPr>
        <p:spPr>
          <a:xfrm>
            <a:off x="8595360" y="301752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098280" y="29718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  </a:t>
            </a:r>
            <a:pPr indent="0" marL="0">
              <a:buNone/>
            </a:pPr>
            <a:r>
              <a:rPr lang="en-US" sz="1100" dirty="0">
                <a:solidFill>
                  <a:srgbClr val="D6E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oldest messages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595360" y="3675888"/>
            <a:ext cx="420624" cy="42062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8595360" y="367588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098280" y="363016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 </a:t>
            </a:r>
            <a:pPr indent="0" marL="0">
              <a:buNone/>
            </a:pPr>
            <a:r>
              <a:rPr lang="en-US" sz="1100" dirty="0">
                <a:solidFill>
                  <a:srgbClr val="D6E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specific ones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595360" y="4334256"/>
            <a:ext cx="420624" cy="42062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4" name="Text 22"/>
          <p:cNvSpPr/>
          <p:nvPr/>
        </p:nvSpPr>
        <p:spPr>
          <a:xfrm>
            <a:off x="8595360" y="433425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098280" y="4288536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 </a:t>
            </a:r>
            <a:pPr indent="0" marL="0">
              <a:buNone/>
            </a:pPr>
            <a:r>
              <a:rPr lang="en-US" sz="1100" dirty="0">
                <a:solidFill>
                  <a:srgbClr val="D6E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history w/ a recap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22960" y="54406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context windows are limited and long histories are slower, costlier, and easier for the model to lose track of.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Fundamentals &amp; Components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058400" y="645566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29  ·  Memory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· 2 OF 3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38404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 Loaders — bring your data in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7040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Loaders read files, web pages, or APIs and return standardized Document objects. Every Document has page_content (the text) and metadata (source, page number…). That metadata flows through the pipeline so answers can cite sources.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85800" y="278892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788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⭳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25880" y="27432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TextLoader   </a:t>
            </a:r>
            <a:pPr indent="0" marL="0">
              <a:buNone/>
            </a:pPr>
            <a:r>
              <a:rPr lang="en-US" sz="125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.txt files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3538728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35387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⭳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25880" y="3493008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PyPDFLoader   </a:t>
            </a:r>
            <a:pPr indent="0" marL="0">
              <a:buNone/>
            </a:pPr>
            <a:r>
              <a:rPr lang="en-US" sz="125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PDF documents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5800" y="4288536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42885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⭳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25880" y="4242816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CSVLoader   </a:t>
            </a:r>
            <a:pPr indent="0" marL="0">
              <a:buNone/>
            </a:pPr>
            <a:r>
              <a:rPr lang="en-US" sz="125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tabular CSV rows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5038344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50383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⭳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25880" y="4992624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WebBaseLoader   </a:t>
            </a:r>
            <a:pPr indent="0" marL="0">
              <a:buNone/>
            </a:pPr>
            <a:r>
              <a:rPr lang="en-US" sz="125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web page HTML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955280" y="1371600"/>
            <a:ext cx="3611880" cy="2880360"/>
          </a:xfrm>
          <a:prstGeom prst="roundRect">
            <a:avLst>
              <a:gd name="adj" fmla="val 2222"/>
            </a:avLst>
          </a:prstGeom>
          <a:solidFill>
            <a:srgbClr val="0A2422"/>
          </a:solidFill>
          <a:ln/>
          <a:effectLst>
            <a:outerShdw sx="100000" sy="100000" kx="0" ky="0" algn="bl" rotWithShape="0" blurRad="76200" dist="38100" dir="5400000">
              <a:srgbClr val="0A1F1E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119872" y="1481328"/>
            <a:ext cx="3282696" cy="2660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C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langchain_community\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C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.document_loaders \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C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import TextLoader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C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C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 = TextLoader(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C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"notes.txt").load()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C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C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docs[0].page_content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C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docs[0].metadata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955280" y="4434840"/>
            <a:ext cx="3611880" cy="1417320"/>
          </a:xfrm>
          <a:prstGeom prst="roundRect">
            <a:avLst>
              <a:gd name="adj" fmla="val 6452"/>
            </a:avLst>
          </a:prstGeom>
          <a:solidFill>
            <a:srgbClr val="F1F7F6"/>
          </a:solidFill>
          <a:ln w="12700">
            <a:solidFill>
              <a:srgbClr val="D6E7E4"/>
            </a:solidFill>
            <a:prstDash val="solid"/>
          </a:ln>
          <a:effectLst>
            <a:outerShdw sx="100000" sy="100000" kx="0" ky="0" algn="bl" rotWithShape="0" blurRad="88900" dist="38100" dir="5400000">
              <a:srgbClr val="0A1F1E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183880" y="46177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 = { page_content, metadata }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183880" y="507492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.load() reads all at once · .lazy_load() streams large files.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Fundamentals &amp; Components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058400" y="645566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29  ·  Document Loaders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· 3 OF 3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38404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 Splitters — chunk it for retrieval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are usually too big for a prompt or an embedding. Splitters cut them into smaller chunks while keeping meaning intact. A small overlap between chunks preserves context across the cut.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22960" y="2743200"/>
            <a:ext cx="2011680" cy="1371600"/>
          </a:xfrm>
          <a:prstGeom prst="roundRect">
            <a:avLst>
              <a:gd name="adj" fmla="val 6000"/>
            </a:avLst>
          </a:prstGeom>
          <a:solidFill>
            <a:srgbClr val="0B2E2E"/>
          </a:solidFill>
          <a:ln/>
          <a:effectLst>
            <a:outerShdw sx="100000" sy="100000" kx="0" ky="0" algn="bl" rotWithShape="0" blurRad="63500" dist="25400" dir="5400000">
              <a:srgbClr val="0A1F1E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761488"/>
            <a:ext cx="201168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Big Document</a:t>
            </a:r>
            <a:endParaRPr lang="en-US" sz="13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long text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971800" y="3319272"/>
            <a:ext cx="640080" cy="201168"/>
          </a:xfrm>
          <a:prstGeom prst="rightArrow">
            <a:avLst/>
          </a:prstGeom>
          <a:solidFill>
            <a:srgbClr val="028090"/>
          </a:solidFill>
          <a:ln/>
        </p:spPr>
      </p:sp>
      <p:sp>
        <p:nvSpPr>
          <p:cNvPr id="8" name="Shape 6"/>
          <p:cNvSpPr/>
          <p:nvPr/>
        </p:nvSpPr>
        <p:spPr>
          <a:xfrm>
            <a:off x="3840480" y="2743200"/>
            <a:ext cx="2011680" cy="1371600"/>
          </a:xfrm>
          <a:prstGeom prst="roundRect">
            <a:avLst>
              <a:gd name="adj" fmla="val 6000"/>
            </a:avLst>
          </a:prstGeom>
          <a:solidFill>
            <a:srgbClr val="F1F7F6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0" y="28803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chunk 1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840480" y="32918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A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~500 chars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715000" y="3063240"/>
            <a:ext cx="457200" cy="731520"/>
          </a:xfrm>
          <a:prstGeom prst="roundRect">
            <a:avLst>
              <a:gd name="adj" fmla="val 12000"/>
            </a:avLst>
          </a:prstGeom>
          <a:solidFill>
            <a:srgbClr val="F4A259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0" y="32461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ovlp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126480" y="2743200"/>
            <a:ext cx="2011680" cy="1371600"/>
          </a:xfrm>
          <a:prstGeom prst="roundRect">
            <a:avLst>
              <a:gd name="adj" fmla="val 6000"/>
            </a:avLst>
          </a:prstGeom>
          <a:solidFill>
            <a:srgbClr val="F1F7F6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28803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chunk 2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126480" y="32918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A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~500 chars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001000" y="3063240"/>
            <a:ext cx="457200" cy="731520"/>
          </a:xfrm>
          <a:prstGeom prst="roundRect">
            <a:avLst>
              <a:gd name="adj" fmla="val 12000"/>
            </a:avLst>
          </a:prstGeom>
          <a:solidFill>
            <a:srgbClr val="F4A259"/>
          </a:solidFill>
          <a:ln/>
        </p:spPr>
      </p:sp>
      <p:sp>
        <p:nvSpPr>
          <p:cNvPr id="17" name="Text 15"/>
          <p:cNvSpPr/>
          <p:nvPr/>
        </p:nvSpPr>
        <p:spPr>
          <a:xfrm>
            <a:off x="7955280" y="32461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ovlp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8412480" y="2743200"/>
            <a:ext cx="2011680" cy="1371600"/>
          </a:xfrm>
          <a:prstGeom prst="roundRect">
            <a:avLst>
              <a:gd name="adj" fmla="val 6000"/>
            </a:avLst>
          </a:prstGeom>
          <a:solidFill>
            <a:srgbClr val="F1F7F6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0" y="28803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chunk 3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412480" y="32918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A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~500 chars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22960" y="4526280"/>
            <a:ext cx="5212080" cy="1371600"/>
          </a:xfrm>
          <a:prstGeom prst="roundRect">
            <a:avLst>
              <a:gd name="adj" fmla="val 6667"/>
            </a:avLst>
          </a:prstGeom>
          <a:solidFill>
            <a:srgbClr val="F1F7F6"/>
          </a:solidFill>
          <a:ln w="12700">
            <a:solidFill>
              <a:srgbClr val="D6E7E4"/>
            </a:solidFill>
            <a:prstDash val="solid"/>
          </a:ln>
          <a:effectLst>
            <a:outerShdw sx="100000" sy="100000" kx="0" ky="0" algn="bl" rotWithShape="0" blurRad="88900" dist="38100" dir="5400000">
              <a:srgbClr val="0A1F1E">
                <a:alpha val="2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051560" y="46451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dials you set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051560" y="50292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chunk_size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max characters per chunk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chunk_overlap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chars shared between chunks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309360" y="4526280"/>
            <a:ext cx="5239512" cy="1371600"/>
          </a:xfrm>
          <a:prstGeom prst="roundRect">
            <a:avLst>
              <a:gd name="adj" fmla="val 6667"/>
            </a:avLst>
          </a:prstGeom>
          <a:solidFill>
            <a:srgbClr val="0B2E2E"/>
          </a:solidFill>
          <a:ln/>
          <a:effectLst>
            <a:outerShdw sx="100000" sy="100000" kx="0" ky="0" algn="bl" rotWithShape="0" blurRad="88900" dist="38100" dir="5400000">
              <a:srgbClr val="0A1F1E">
                <a:alpha val="2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37960" y="46451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splitter?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537960" y="50292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RecursiveCharacterTextSplitter 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6E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default; splits on paragraphs → lines → words.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CharacterTextSplitter 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6E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splits on one separator.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Fundamentals &amp; Components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058400" y="645566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29  ·  Text Splitters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COMPONENTS COMBINE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38404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retrieval pipeline (where it all meets)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Loaders, splitters, embeddings and a vector store together build a searchable knowledge base — the foundation of Retrieval-Augmented Generation (RAG).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1874520" cy="960120"/>
          </a:xfrm>
          <a:prstGeom prst="roundRect">
            <a:avLst>
              <a:gd name="adj" fmla="val 8571"/>
            </a:avLst>
          </a:prstGeom>
          <a:solidFill>
            <a:srgbClr val="0B2E2E"/>
          </a:solidFill>
          <a:ln/>
          <a:effectLst>
            <a:outerShdw sx="100000" sy="100000" kx="0" ky="0" algn="bl" rotWithShape="0" blurRad="63500" dist="25400" dir="5400000">
              <a:srgbClr val="0A1F1E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350008"/>
            <a:ext cx="187452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</a:t>
            </a:r>
            <a:endParaRPr lang="en-US" sz="13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files·web·APIs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32888" y="2715768"/>
            <a:ext cx="384048" cy="201168"/>
          </a:xfrm>
          <a:prstGeom prst="rightArrow">
            <a:avLst/>
          </a:prstGeom>
          <a:solidFill>
            <a:srgbClr val="5A7A80"/>
          </a:solidFill>
          <a:ln/>
        </p:spPr>
      </p:sp>
      <p:sp>
        <p:nvSpPr>
          <p:cNvPr id="8" name="Shape 6"/>
          <p:cNvSpPr/>
          <p:nvPr/>
        </p:nvSpPr>
        <p:spPr>
          <a:xfrm>
            <a:off x="2926080" y="2331720"/>
            <a:ext cx="1874520" cy="960120"/>
          </a:xfrm>
          <a:prstGeom prst="roundRect">
            <a:avLst>
              <a:gd name="adj" fmla="val 8571"/>
            </a:avLst>
          </a:prstGeom>
          <a:solidFill>
            <a:srgbClr val="028090"/>
          </a:solidFill>
          <a:ln/>
          <a:effectLst>
            <a:outerShdw sx="100000" sy="100000" kx="0" ky="0" algn="bl" rotWithShape="0" blurRad="63500" dist="25400" dir="5400000">
              <a:srgbClr val="0A1F1E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926080" y="2350008"/>
            <a:ext cx="187452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Loaders</a:t>
            </a:r>
            <a:endParaRPr lang="en-US" sz="13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Documents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18888" y="2715768"/>
            <a:ext cx="384048" cy="201168"/>
          </a:xfrm>
          <a:prstGeom prst="rightArrow">
            <a:avLst/>
          </a:prstGeom>
          <a:solidFill>
            <a:srgbClr val="5A7A80"/>
          </a:solidFill>
          <a:ln/>
        </p:spPr>
      </p:sp>
      <p:sp>
        <p:nvSpPr>
          <p:cNvPr id="11" name="Shape 9"/>
          <p:cNvSpPr/>
          <p:nvPr/>
        </p:nvSpPr>
        <p:spPr>
          <a:xfrm>
            <a:off x="5212080" y="2331720"/>
            <a:ext cx="1874520" cy="960120"/>
          </a:xfrm>
          <a:prstGeom prst="roundRect">
            <a:avLst>
              <a:gd name="adj" fmla="val 8571"/>
            </a:avLst>
          </a:prstGeom>
          <a:solidFill>
            <a:srgbClr val="00A896"/>
          </a:solidFill>
          <a:ln/>
          <a:effectLst>
            <a:outerShdw sx="100000" sy="100000" kx="0" ky="0" algn="bl" rotWithShape="0" blurRad="63500" dist="25400" dir="5400000">
              <a:srgbClr val="0A1F1E">
                <a:alpha val="2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212080" y="2350008"/>
            <a:ext cx="187452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</a:t>
            </a:r>
            <a:endParaRPr lang="en-US" sz="13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B2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chunks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104888" y="2715768"/>
            <a:ext cx="384048" cy="201168"/>
          </a:xfrm>
          <a:prstGeom prst="rightArrow">
            <a:avLst/>
          </a:prstGeom>
          <a:solidFill>
            <a:srgbClr val="5A7A80"/>
          </a:solidFill>
          <a:ln/>
        </p:spPr>
      </p:sp>
      <p:sp>
        <p:nvSpPr>
          <p:cNvPr id="14" name="Shape 12"/>
          <p:cNvSpPr/>
          <p:nvPr/>
        </p:nvSpPr>
        <p:spPr>
          <a:xfrm>
            <a:off x="7498080" y="2331720"/>
            <a:ext cx="1874520" cy="960120"/>
          </a:xfrm>
          <a:prstGeom prst="roundRect">
            <a:avLst>
              <a:gd name="adj" fmla="val 8571"/>
            </a:avLst>
          </a:prstGeom>
          <a:solidFill>
            <a:srgbClr val="02C39A"/>
          </a:solidFill>
          <a:ln/>
          <a:effectLst>
            <a:outerShdw sx="100000" sy="100000" kx="0" ky="0" algn="bl" rotWithShape="0" blurRad="63500" dist="25400" dir="5400000">
              <a:srgbClr val="0A1F1E">
                <a:alpha val="2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498080" y="2350008"/>
            <a:ext cx="187452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</a:t>
            </a:r>
            <a:endParaRPr lang="en-US" sz="13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F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vectors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390888" y="2715768"/>
            <a:ext cx="384048" cy="201168"/>
          </a:xfrm>
          <a:prstGeom prst="rightArrow">
            <a:avLst/>
          </a:prstGeom>
          <a:solidFill>
            <a:srgbClr val="5A7A80"/>
          </a:solidFill>
          <a:ln/>
        </p:spPr>
      </p:sp>
      <p:sp>
        <p:nvSpPr>
          <p:cNvPr id="17" name="Shape 15"/>
          <p:cNvSpPr/>
          <p:nvPr/>
        </p:nvSpPr>
        <p:spPr>
          <a:xfrm>
            <a:off x="9784080" y="2331720"/>
            <a:ext cx="1874520" cy="960120"/>
          </a:xfrm>
          <a:prstGeom prst="roundRect">
            <a:avLst>
              <a:gd name="adj" fmla="val 8571"/>
            </a:avLst>
          </a:prstGeom>
          <a:solidFill>
            <a:srgbClr val="0F3A38"/>
          </a:solidFill>
          <a:ln/>
          <a:effectLst>
            <a:outerShdw sx="100000" sy="100000" kx="0" ky="0" algn="bl" rotWithShape="0" blurRad="63500" dist="25400" dir="5400000">
              <a:srgbClr val="0A1F1E">
                <a:alpha val="2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784080" y="2350008"/>
            <a:ext cx="187452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Vector Store</a:t>
            </a:r>
            <a:endParaRPr lang="en-US" sz="13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160520"/>
            <a:ext cx="1874520" cy="960120"/>
          </a:xfrm>
          <a:prstGeom prst="roundRect">
            <a:avLst>
              <a:gd name="adj" fmla="val 8571"/>
            </a:avLst>
          </a:prstGeom>
          <a:solidFill>
            <a:srgbClr val="F4A259"/>
          </a:solidFill>
          <a:ln/>
          <a:effectLst>
            <a:outerShdw sx="100000" sy="100000" kx="0" ky="0" algn="bl" rotWithShape="0" blurRad="63500" dist="25400" dir="5400000">
              <a:srgbClr val="0A1F1E">
                <a:alpha val="2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0080" y="4178808"/>
            <a:ext cx="187452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Query</a:t>
            </a:r>
            <a:endParaRPr lang="en-US" sz="13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23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question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532888" y="4544568"/>
            <a:ext cx="384048" cy="201168"/>
          </a:xfrm>
          <a:prstGeom prst="rightArrow">
            <a:avLst/>
          </a:prstGeom>
          <a:solidFill>
            <a:srgbClr val="5A7A80"/>
          </a:solidFill>
          <a:ln/>
        </p:spPr>
      </p:sp>
      <p:sp>
        <p:nvSpPr>
          <p:cNvPr id="22" name="Shape 20"/>
          <p:cNvSpPr/>
          <p:nvPr/>
        </p:nvSpPr>
        <p:spPr>
          <a:xfrm>
            <a:off x="2926080" y="4160520"/>
            <a:ext cx="1874520" cy="960120"/>
          </a:xfrm>
          <a:prstGeom prst="roundRect">
            <a:avLst>
              <a:gd name="adj" fmla="val 8571"/>
            </a:avLst>
          </a:prstGeom>
          <a:solidFill>
            <a:srgbClr val="02C39A"/>
          </a:solidFill>
          <a:ln/>
          <a:effectLst>
            <a:outerShdw sx="100000" sy="100000" kx="0" ky="0" algn="bl" rotWithShape="0" blurRad="63500" dist="25400" dir="5400000">
              <a:srgbClr val="0A1F1E">
                <a:alpha val="2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926080" y="4178808"/>
            <a:ext cx="187452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 Query</a:t>
            </a:r>
            <a:endParaRPr lang="en-US" sz="13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F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vector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18888" y="4544568"/>
            <a:ext cx="384048" cy="201168"/>
          </a:xfrm>
          <a:prstGeom prst="rightArrow">
            <a:avLst/>
          </a:prstGeom>
          <a:solidFill>
            <a:srgbClr val="5A7A80"/>
          </a:solidFill>
          <a:ln/>
        </p:spPr>
      </p:sp>
      <p:sp>
        <p:nvSpPr>
          <p:cNvPr id="25" name="Shape 23"/>
          <p:cNvSpPr/>
          <p:nvPr/>
        </p:nvSpPr>
        <p:spPr>
          <a:xfrm>
            <a:off x="5212080" y="4160520"/>
            <a:ext cx="1874520" cy="960120"/>
          </a:xfrm>
          <a:prstGeom prst="roundRect">
            <a:avLst>
              <a:gd name="adj" fmla="val 8571"/>
            </a:avLst>
          </a:prstGeom>
          <a:solidFill>
            <a:srgbClr val="00A896"/>
          </a:solidFill>
          <a:ln/>
          <a:effectLst>
            <a:outerShdw sx="100000" sy="100000" kx="0" ky="0" algn="bl" rotWithShape="0" blurRad="63500" dist="25400" dir="5400000">
              <a:srgbClr val="0A1F1E">
                <a:alpha val="2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212080" y="4178808"/>
            <a:ext cx="187452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Retriever</a:t>
            </a:r>
            <a:endParaRPr lang="en-US" sz="13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B2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 matches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104888" y="4544568"/>
            <a:ext cx="384048" cy="201168"/>
          </a:xfrm>
          <a:prstGeom prst="rightArrow">
            <a:avLst/>
          </a:prstGeom>
          <a:solidFill>
            <a:srgbClr val="5A7A80"/>
          </a:solidFill>
          <a:ln/>
        </p:spPr>
      </p:sp>
      <p:sp>
        <p:nvSpPr>
          <p:cNvPr id="28" name="Shape 26"/>
          <p:cNvSpPr/>
          <p:nvPr/>
        </p:nvSpPr>
        <p:spPr>
          <a:xfrm>
            <a:off x="7498080" y="4160520"/>
            <a:ext cx="1874520" cy="960120"/>
          </a:xfrm>
          <a:prstGeom prst="roundRect">
            <a:avLst>
              <a:gd name="adj" fmla="val 8571"/>
            </a:avLst>
          </a:prstGeom>
          <a:solidFill>
            <a:srgbClr val="028090"/>
          </a:solidFill>
          <a:ln/>
          <a:effectLst>
            <a:outerShdw sx="100000" sy="100000" kx="0" ky="0" algn="bl" rotWithShape="0" blurRad="63500" dist="25400" dir="5400000">
              <a:srgbClr val="0A1F1E">
                <a:alpha val="2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498080" y="4178808"/>
            <a:ext cx="187452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</a:t>
            </a:r>
            <a:endParaRPr lang="en-US" sz="13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uses context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9390888" y="4544568"/>
            <a:ext cx="384048" cy="201168"/>
          </a:xfrm>
          <a:prstGeom prst="rightArrow">
            <a:avLst/>
          </a:prstGeom>
          <a:solidFill>
            <a:srgbClr val="5A7A80"/>
          </a:solidFill>
          <a:ln/>
        </p:spPr>
      </p:sp>
      <p:sp>
        <p:nvSpPr>
          <p:cNvPr id="31" name="Shape 29"/>
          <p:cNvSpPr/>
          <p:nvPr/>
        </p:nvSpPr>
        <p:spPr>
          <a:xfrm>
            <a:off x="9784080" y="4160520"/>
            <a:ext cx="1783080" cy="960120"/>
          </a:xfrm>
          <a:prstGeom prst="roundRect">
            <a:avLst>
              <a:gd name="adj" fmla="val 8571"/>
            </a:avLst>
          </a:prstGeom>
          <a:solidFill>
            <a:srgbClr val="0B2E2E"/>
          </a:solidFill>
          <a:ln/>
          <a:effectLst>
            <a:outerShdw sx="100000" sy="100000" kx="0" ky="0" algn="bl" rotWithShape="0" blurRad="63500" dist="25400" dir="5400000">
              <a:srgbClr val="0A1F1E">
                <a:alpha val="2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9784080" y="4178808"/>
            <a:ext cx="178308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</a:t>
            </a:r>
            <a:endParaRPr lang="en-US" sz="13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grounded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498080" y="33832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vector store feeds the retriever ↑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Fundamentals &amp; Components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058400" y="645566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29  ·  Retrieval pipeline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2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2194560"/>
            <a:ext cx="5486400" cy="5486400"/>
          </a:xfrm>
          <a:prstGeom prst="ellipse">
            <a:avLst/>
          </a:prstGeom>
          <a:solidFill>
            <a:srgbClr val="0F3A38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21792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pieces, one pipeline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5394960" cy="3977640"/>
          </a:xfrm>
          <a:prstGeom prst="roundRect">
            <a:avLst>
              <a:gd name="adj" fmla="val 2299"/>
            </a:avLst>
          </a:prstGeom>
          <a:solidFill>
            <a:srgbClr val="0F3A38"/>
          </a:solidFill>
          <a:ln/>
          <a:effectLst>
            <a:outerShdw sx="100000" sy="100000" kx="0" ky="0" algn="bl" rotWithShape="0" blurRad="88900" dist="38100" dir="5400000">
              <a:srgbClr val="0A1F1E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0574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Fundamentals — a single call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26517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651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08760" y="260604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 </a:t>
            </a:r>
            <a:pPr indent="0" marL="0">
              <a:buNone/>
            </a:pPr>
            <a:r>
              <a:rPr lang="en-US" sz="1200" dirty="0">
                <a:solidFill>
                  <a:srgbClr val="D6E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interchangeable engines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" y="340156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401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08760" y="3355848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 </a:t>
            </a:r>
            <a:pPr indent="0" marL="0">
              <a:buNone/>
            </a:pPr>
            <a:r>
              <a:rPr lang="en-US" sz="1200" dirty="0">
                <a:solidFill>
                  <a:srgbClr val="D6E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templated instructions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14400" y="4151376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1513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08760" y="4105656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Parsers  </a:t>
            </a:r>
            <a:pPr indent="0" marL="0">
              <a:buNone/>
            </a:pPr>
            <a:r>
              <a:rPr lang="en-US" sz="1200" dirty="0">
                <a:solidFill>
                  <a:srgbClr val="D6E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text → usable data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14400" y="4901184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9011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508760" y="4855464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 / LCEL  </a:t>
            </a:r>
            <a:pPr indent="0" marL="0">
              <a:buNone/>
            </a:pPr>
            <a:r>
              <a:rPr lang="en-US" sz="1200" dirty="0">
                <a:solidFill>
                  <a:srgbClr val="D6E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prompt | model | parser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72200" y="1874520"/>
            <a:ext cx="5376672" cy="3977640"/>
          </a:xfrm>
          <a:prstGeom prst="roundRect">
            <a:avLst>
              <a:gd name="adj" fmla="val 2299"/>
            </a:avLst>
          </a:prstGeom>
          <a:solidFill>
            <a:srgbClr val="0F3A38"/>
          </a:solidFill>
          <a:ln/>
          <a:effectLst>
            <a:outerShdw sx="100000" sy="100000" kx="0" ky="0" algn="bl" rotWithShape="0" blurRad="88900" dist="38100" dir="5400000">
              <a:srgbClr val="0A1F1E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46520" y="20574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Components — a real app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446520" y="269748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2" name="Text 20"/>
          <p:cNvSpPr/>
          <p:nvPr/>
        </p:nvSpPr>
        <p:spPr>
          <a:xfrm>
            <a:off x="6446520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040880" y="265176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 </a:t>
            </a:r>
            <a:pPr indent="0" marL="0">
              <a:buNone/>
            </a:pPr>
            <a:r>
              <a:rPr lang="en-US" sz="1200" dirty="0">
                <a:solidFill>
                  <a:srgbClr val="D6E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remembers the conversation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446520" y="3447288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5" name="Text 23"/>
          <p:cNvSpPr/>
          <p:nvPr/>
        </p:nvSpPr>
        <p:spPr>
          <a:xfrm>
            <a:off x="6446520" y="34472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040880" y="3401568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Loaders  </a:t>
            </a:r>
            <a:pPr indent="0" marL="0">
              <a:buNone/>
            </a:pPr>
            <a:r>
              <a:rPr lang="en-US" sz="1200" dirty="0">
                <a:solidFill>
                  <a:srgbClr val="D6E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data → Document objects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446520" y="4197096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8" name="Text 26"/>
          <p:cNvSpPr/>
          <p:nvPr/>
        </p:nvSpPr>
        <p:spPr>
          <a:xfrm>
            <a:off x="6446520" y="41970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040880" y="4151376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Splitters  </a:t>
            </a:r>
            <a:pPr indent="0" marL="0">
              <a:buNone/>
            </a:pPr>
            <a:r>
              <a:rPr lang="en-US" sz="1200" dirty="0">
                <a:solidFill>
                  <a:srgbClr val="D6E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chunk for retrieval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46520" y="502920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Take-away:  master  prompt | model | parser,  then plug in memory and data.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HALF OF THE SESSION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38404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Hands-on: the notebook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6720840" cy="4343400"/>
          </a:xfrm>
          <a:prstGeom prst="roundRect">
            <a:avLst>
              <a:gd name="adj" fmla="val 2105"/>
            </a:avLst>
          </a:prstGeom>
          <a:solidFill>
            <a:srgbClr val="F1F7F6"/>
          </a:solidFill>
          <a:ln w="12700">
            <a:solidFill>
              <a:srgbClr val="D6E7E4"/>
            </a:solidFill>
            <a:prstDash val="solid"/>
          </a:ln>
          <a:effectLst>
            <a:outerShdw sx="100000" sy="100000" kx="0" ky="0" algn="bl" rotWithShape="0" blurRad="88900" dist="38100" dir="5400000">
              <a:srgbClr val="0A1F1E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60020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you'll build (all runnable, local &amp; free)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219456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1945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17320" y="2167128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a local Hugging Face model (flan-t5)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14400" y="269748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6974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417320" y="2670048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prompt templates and fill variables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14400" y="320040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200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417320" y="3172968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output to string, JSON and typed objects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14400" y="370332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7033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417320" y="3675888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a chain with LCEL: prompt | model | parser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14400" y="420624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42062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417320" y="4178808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conversation memory across turns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14400" y="470916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7091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417320" y="4681728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 document and split it into chunks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914400" y="521208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5212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417320" y="5184648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end-to-end: retrieve chunks → answer a question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7635240" y="1417320"/>
            <a:ext cx="3913632" cy="4343400"/>
          </a:xfrm>
          <a:prstGeom prst="roundRect">
            <a:avLst>
              <a:gd name="adj" fmla="val 2336"/>
            </a:avLst>
          </a:prstGeom>
          <a:solidFill>
            <a:srgbClr val="0B2E2E"/>
          </a:solidFill>
          <a:ln/>
          <a:effectLst>
            <a:outerShdw sx="100000" sy="100000" kx="0" ky="0" algn="bl" rotWithShape="0" blurRad="88900" dist="38100" dir="5400000">
              <a:srgbClr val="0A1F1E">
                <a:alpha val="2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863840" y="16002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 (live sources)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863840" y="214884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LangChain docs — Overview &amp; LCEL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863840" y="2715768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LangChain — Models &amp; Prompts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863840" y="3282696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LangChain — Short-term Memory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7863840" y="3849624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LangChain — Retrieval &amp; RAG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863840" y="4416552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LangChain — Text Splitters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7863840" y="498348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ChatHuggingFace integration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7863840" y="54864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URLs in the session transcript.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Fundamentals &amp; Components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058400" y="645566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29  ·  Hands-on &amp; references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2026-07-22T15:56:30Z</dcterms:created>
  <dcterms:modified xsi:type="dcterms:W3CDTF">2026-07-22T15:56:30Z</dcterms:modified>
</cp:coreProperties>
</file>