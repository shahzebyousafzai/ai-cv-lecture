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69264"/>
            <a:ext cx="457200" cy="3810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42415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A8DC"/>
                </a:solidFill>
                <a:latin typeface="Trebuchet MS"/>
              </a:rPr>
              <a:t>SESSION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772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rebuchet MS"/>
              </a:rPr>
              <a:t>Neural Networks for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C9D8EC"/>
                </a:solidFill>
                <a:latin typeface="Calibri"/>
              </a:rPr>
              <a:t>From Counting Words to Modeling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3D9"/>
                </a:solidFill>
                <a:latin typeface="Calibri"/>
              </a:rPr>
              <a:t>Feed-forward nets give text a brain; recurrence gives it a memory.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FB3D9"/>
                </a:solidFill>
                <a:latin typeface="Calibri"/>
              </a:rPr>
              <a:t>We build intuition for why RNNs, LSTMs and GRUs were invented — not the math.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60520"/>
            <a:ext cx="3840480" cy="19050"/>
          </a:xfrm>
          <a:prstGeom prst="rect">
            <a:avLst/>
          </a:prstGeom>
          <a:solidFill>
            <a:srgbClr val="335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6110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B3D9"/>
                </a:solidFill>
                <a:latin typeface="Calibri"/>
              </a:rPr>
              <a:t>FFN  ·  Embeddings  ·  RNN  ·  Vanishing Gradients  ·  LSTM  ·  GRU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What we'll cover — roughly half theory (slides) and half hands-on (notebook)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98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From Words to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276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Why bag-of-words needs a model on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5915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Feed-Forward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0662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The basic neural building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3814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Embedding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8561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Turning word IDs into learnable vectors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28016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371600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298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Sequence Modeling &amp; RNNs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6276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Adding memory: the vanilla RNN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2359152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450592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Vanishing Gradients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70662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Why simple RNNs forget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43814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3529584"/>
            <a:ext cx="566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4564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440"/>
                </a:solidFill>
                <a:latin typeface="Calibri"/>
              </a:rPr>
              <a:t>LSTMs &amp; GRUs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785616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Gates that protect long-term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Where Session 21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We can turn words into vectors — but a vector alone makes no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Embeddings give every word a dense vector that captures meaning. </a:t>
            </a:r>
            <a:r>
              <a:rPr sz="1350" b="1">
                <a:solidFill>
                  <a:srgbClr val="0F2440"/>
                </a:solidFill>
                <a:latin typeface="Calibri"/>
              </a:rPr>
              <a:t>But an embedding is just an input.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334155"/>
                </a:solidFill>
                <a:latin typeface="Calibri"/>
              </a:rPr>
              <a:t>To answer a question — Is this review positive? What word comes next? — we need a </a:t>
            </a:r>
            <a:r>
              <a:rPr sz="1350" b="1">
                <a:solidFill>
                  <a:srgbClr val="0F2440"/>
                </a:solidFill>
                <a:latin typeface="Calibri"/>
              </a:rPr>
              <a:t>model that combines those vectors and learns.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8920"/>
            <a:ext cx="1481328" cy="5669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35224"/>
            <a:ext cx="14813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4155"/>
                </a:solidFill>
                <a:latin typeface="Calibri"/>
              </a:rPr>
              <a:t>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98648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788920"/>
            <a:ext cx="1481328" cy="5669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2935224"/>
            <a:ext cx="14813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34155"/>
                </a:solidFill>
                <a:latin typeface="Calibri"/>
              </a:rPr>
              <a:t>Tokens /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898648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3904" y="2788920"/>
            <a:ext cx="1481328" cy="566928"/>
          </a:xfrm>
          <a:prstGeom prst="roundRect">
            <a:avLst>
              <a:gd name="adj" fmla="val 25000"/>
            </a:avLst>
          </a:prstGeom>
          <a:solidFill>
            <a:srgbClr val="C9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2935224"/>
            <a:ext cx="14813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2440"/>
                </a:solidFill>
                <a:latin typeface="Calibri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898648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77256" y="2788920"/>
            <a:ext cx="1481328" cy="566928"/>
          </a:xfrm>
          <a:prstGeom prst="roundRect">
            <a:avLst>
              <a:gd name="adj" fmla="val 25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256" y="2935224"/>
            <a:ext cx="14813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Neural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2898648"/>
            <a:ext cx="210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2788920"/>
            <a:ext cx="1481328" cy="566928"/>
          </a:xfrm>
          <a:prstGeom prst="roundRect">
            <a:avLst>
              <a:gd name="adj" fmla="val 2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935224"/>
            <a:ext cx="14813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50800" cy="82296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0"/>
                </a:solidFill>
                <a:latin typeface="Calibri"/>
              </a:rPr>
              <a:t>Today is about that orange box. </a:t>
            </a:r>
            <a:r>
              <a:rPr sz="1250" b="0">
                <a:solidFill>
                  <a:srgbClr val="334155"/>
                </a:solidFill>
                <a:latin typeface="Calibri"/>
              </a:rPr>
              <a:t>We start with the plainest network, then give it memory so it can read sequences in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Why Add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Counting words throws away the two things language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074920" cy="10241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0800" cy="1024128"/>
          </a:xfrm>
          <a:prstGeom prst="rect">
            <a:avLst/>
          </a:prstGeom>
          <a:solidFill>
            <a:srgbClr val="B4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6245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Order is lost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“dog bites man” and “man bites dog” have identical word counts — opposite 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86584"/>
            <a:ext cx="5074920" cy="10241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86584"/>
            <a:ext cx="50800" cy="1024128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146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Meaning is shallow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43784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Bag-of-words treats every word as independent; it can't compose ideas.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38728"/>
            <a:ext cx="5074920" cy="10241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38728"/>
            <a:ext cx="50800" cy="102412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Fixed rules don't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95928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Hand-written features break on new phrasing. We want the model to learn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234440"/>
            <a:ext cx="2880360" cy="3200400"/>
          </a:xfrm>
          <a:prstGeom prst="roundRect">
            <a:avLst>
              <a:gd name="adj" fmla="val 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81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DC"/>
                </a:solidFill>
                <a:latin typeface="Trebuchet MS"/>
              </a:rPr>
              <a:t>The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38528"/>
            <a:ext cx="2468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8EC"/>
                </a:solidFill>
                <a:latin typeface="Calibri"/>
              </a:rPr>
              <a:t>From hand-built features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8FB3D9"/>
                </a:solidFill>
                <a:latin typeface="Calibri"/>
              </a:rPr>
              <a:t>↓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 learned representations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8FB3D9"/>
                </a:solidFill>
                <a:latin typeface="Calibri"/>
              </a:rPr>
              <a:t>A network adjusts millions of weights so the right answer becomes likely.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Feed-Forward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The basic building block: information flows one way, input →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212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>
                <a:solidFill>
                  <a:srgbClr val="0F2440"/>
                </a:solidFill>
                <a:latin typeface="Calibri"/>
              </a:rPr>
              <a:t>Neurons in layers.</a:t>
            </a:r>
            <a:r>
              <a:rPr sz="1250" b="0">
                <a:solidFill>
                  <a:srgbClr val="334155"/>
                </a:solidFill>
                <a:latin typeface="Calibri"/>
              </a:rPr>
              <a:t> Each neuron takes numbers in, multiplies them by weights, adds them up, and passes the result through a simple non-linear function.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0F2440"/>
                </a:solidFill>
                <a:latin typeface="Calibri"/>
              </a:rPr>
              <a:t>Layers stack.</a:t>
            </a:r>
            <a:r>
              <a:rPr sz="1250" b="0">
                <a:solidFill>
                  <a:srgbClr val="334155"/>
                </a:solidFill>
                <a:latin typeface="Calibri"/>
              </a:rPr>
              <a:t> Early layers detect simple patterns; later layers combine them into something useful.</a:t>
            </a:r>
          </a:p>
          <a:p>
            <a:pPr algn="l">
              <a:spcAft>
                <a:spcPts val="900"/>
              </a:spcAft>
            </a:pPr>
            <a:r>
              <a:rPr sz="1350" b="1">
                <a:solidFill>
                  <a:srgbClr val="0F2440"/>
                </a:solidFill>
                <a:latin typeface="Calibri"/>
              </a:rPr>
              <a:t>Learning = tuning weights.</a:t>
            </a:r>
            <a:r>
              <a:rPr sz="1250" b="0">
                <a:solidFill>
                  <a:srgbClr val="334155"/>
                </a:solidFill>
                <a:latin typeface="Calibri"/>
              </a:rPr>
              <a:t> We compare the output to the truth, measure the error, and nudge every weight to shrink it (backpropagation).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212080" cy="7132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0800" cy="713232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041648"/>
            <a:ext cx="4892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760A"/>
                </a:solidFill>
                <a:latin typeface="Calibri"/>
              </a:rPr>
              <a:t>Limitation: </a:t>
            </a:r>
            <a:r>
              <a:rPr sz="1200" b="0">
                <a:solidFill>
                  <a:srgbClr val="334155"/>
                </a:solidFill>
                <a:latin typeface="Calibri"/>
              </a:rPr>
              <a:t>a plain FFN expects a fixed-size input and has no sense of order.</a:t>
            </a:r>
          </a:p>
        </p:txBody>
      </p:sp>
      <p:pic>
        <p:nvPicPr>
          <p:cNvPr id="11" name="Picture 10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584071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43708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Feed-forward net  ·  Glosser.ca, CC BY-SA 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Embedding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The bridge from word IDs to vectors the network can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 network can't read “cat” — only numbers. An embedding layer is a </a:t>
            </a:r>
            <a:r>
              <a:rPr sz="1300" b="1">
                <a:solidFill>
                  <a:srgbClr val="0F2440"/>
                </a:solidFill>
                <a:latin typeface="Calibri"/>
              </a:rPr>
              <a:t>lookup table</a:t>
            </a:r>
            <a:r>
              <a:rPr sz="1300" b="0">
                <a:solidFill>
                  <a:srgbClr val="334155"/>
                </a:solidFill>
                <a:latin typeface="Calibri"/>
              </a:rPr>
              <a:t>: each word ID points to a row of numbers (its vector).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46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64748B"/>
                </a:solidFill>
                <a:latin typeface="Calibri"/>
              </a:rPr>
              <a:t>Embedding matrix  (vocabulary × dimensions)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8686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3969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ID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057400"/>
            <a:ext cx="3154680" cy="420624"/>
          </a:xfrm>
          <a:prstGeom prst="rect">
            <a:avLst/>
          </a:prstGeom>
          <a:solidFill>
            <a:srgbClr val="C9D8E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2440"/>
                </a:solidFill>
                <a:latin typeface="Consolas"/>
              </a:rPr>
              <a:t>0.21  -0.43   0.88  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305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← cat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78024"/>
            <a:ext cx="8686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ID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2478024"/>
            <a:ext cx="3154680" cy="42062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5694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34155"/>
                </a:solidFill>
                <a:latin typeface="Consolas"/>
              </a:rPr>
              <a:t>0.62   0.10  -0.27   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511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← sat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98648"/>
            <a:ext cx="8686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8094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Calibri"/>
              </a:rPr>
              <a:t>ID 57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2898648"/>
            <a:ext cx="3154680" cy="42062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299008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34155"/>
                </a:solidFill>
                <a:latin typeface="Consolas"/>
              </a:rPr>
              <a:t>0.19  -0.38   0.79   0.12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71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← mat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1783080"/>
            <a:ext cx="3154680" cy="2697480"/>
          </a:xfrm>
          <a:prstGeom prst="roundRect">
            <a:avLst>
              <a:gd name="adj" fmla="val 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1965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DC"/>
                </a:solidFill>
                <a:latin typeface="Trebuchet M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2395728"/>
            <a:ext cx="2697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C9D8EC"/>
                </a:solidFill>
                <a:latin typeface="Calibri"/>
              </a:rPr>
              <a:t>•  Rows start random and are </a:t>
            </a:r>
            <a:r>
              <a:rPr sz="1150" b="1">
                <a:solidFill>
                  <a:srgbClr val="FFFFFF"/>
                </a:solidFill>
                <a:latin typeface="Calibri"/>
              </a:rPr>
              <a:t>learned</a:t>
            </a:r>
            <a:r>
              <a:rPr sz="1150" b="0">
                <a:solidFill>
                  <a:srgbClr val="C9D8EC"/>
                </a:solidFill>
                <a:latin typeface="Calibri"/>
              </a:rPr>
              <a:t> with the rest of the network.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9D8EC"/>
                </a:solidFill>
                <a:latin typeface="Calibri"/>
              </a:rPr>
              <a:t>•  Similar words drift to similar rows — meaning emerges from training.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C9D8EC"/>
                </a:solidFill>
                <a:latin typeface="Calibri"/>
              </a:rPr>
              <a:t>•  In PyTorch this is one line: 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9FE0F7"/>
                </a:solidFill>
                <a:latin typeface="Consolas"/>
              </a:rPr>
              <a:t>nn.Embedding(vocab, dim)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A First Neural Text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Embedding + feed-forward net — and the wall it hits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C9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alibri"/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9656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0F2440"/>
                </a:solidFill>
                <a:latin typeface="Calibri"/>
              </a:rPr>
              <a:t>each word →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3" y="1563624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7" y="132588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7" y="14721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4155"/>
                </a:solidFill>
                <a:latin typeface="Calibri"/>
              </a:rPr>
              <a:t>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7" y="1819656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average all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0" y="1563624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4" y="132588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4" y="14721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4" y="1819656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hidden layer learns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7" y="1563624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84261" y="132588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1" y="147218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1" y="1819656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positive / 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Calibri"/>
              </a:rPr>
              <a:t>This already beats bag-of-words on many tasks. But </a:t>
            </a:r>
            <a:r>
              <a:rPr sz="1250" b="1">
                <a:solidFill>
                  <a:srgbClr val="B43A2A"/>
                </a:solidFill>
                <a:latin typeface="Calibri"/>
              </a:rPr>
              <a:t>averaging throws away word order</a:t>
            </a:r>
            <a:r>
              <a:rPr sz="1250" b="0">
                <a:solidFill>
                  <a:srgbClr val="334155"/>
                </a:solidFill>
                <a:latin typeface="Calibri"/>
              </a:rPr>
              <a:t> — the same flaw as counting.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50800" cy="1371600"/>
          </a:xfrm>
          <a:prstGeom prst="rect">
            <a:avLst/>
          </a:prstGeom>
          <a:solidFill>
            <a:srgbClr val="B4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273552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64748B"/>
                </a:solidFill>
                <a:latin typeface="Calibri"/>
              </a:rPr>
              <a:t>Both read the same: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F2440"/>
                </a:solidFill>
                <a:latin typeface="Consolas"/>
              </a:rPr>
              <a:t>“not good, really bad”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F2440"/>
                </a:solidFill>
                <a:latin typeface="Consolas"/>
              </a:rPr>
              <a:t>“really good, not bad”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B43A2A"/>
                </a:solidFill>
                <a:latin typeface="Calibri"/>
              </a:rPr>
              <a:t>Average is identical → same prediction.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15468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154680"/>
            <a:ext cx="50800" cy="137160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8" y="3273552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64748B"/>
                </a:solidFill>
                <a:latin typeface="Calibri"/>
              </a:rPr>
              <a:t>What we actually need: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F2440"/>
                </a:solidFill>
                <a:latin typeface="Calibri"/>
              </a:rPr>
              <a:t>a model that reads word by word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F2440"/>
                </a:solidFill>
                <a:latin typeface="Calibri"/>
              </a:rPr>
              <a:t>and remembers what came before.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1E7A4D"/>
                </a:solidFill>
                <a:latin typeface="Calibri"/>
              </a:rPr>
              <a:t>That is a recurrent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Sequence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Process inputs one step at a time, carrying memory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A </a:t>
            </a:r>
            <a:r>
              <a:rPr sz="1300" b="1">
                <a:solidFill>
                  <a:srgbClr val="0F2440"/>
                </a:solidFill>
                <a:latin typeface="Calibri"/>
              </a:rPr>
              <a:t>sequence model</a:t>
            </a:r>
            <a:r>
              <a:rPr sz="1300" b="0">
                <a:solidFill>
                  <a:srgbClr val="334155"/>
                </a:solidFill>
                <a:latin typeface="Calibri"/>
              </a:rPr>
              <a:t> reads a list in order and keeps a running summary — a </a:t>
            </a:r>
            <a:r>
              <a:rPr sz="1300" b="1">
                <a:solidFill>
                  <a:srgbClr val="0E7FAB"/>
                </a:solidFill>
                <a:latin typeface="Calibri"/>
              </a:rPr>
              <a:t>hidden state</a:t>
            </a:r>
            <a:r>
              <a:rPr sz="1300" b="0">
                <a:solidFill>
                  <a:srgbClr val="334155"/>
                </a:solidFill>
                <a:latin typeface="Calibri"/>
              </a:rPr>
              <a:t> — updated at every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6479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31720"/>
            <a:ext cx="1417320" cy="566928"/>
          </a:xfrm>
          <a:prstGeom prst="roundRect">
            <a:avLst>
              <a:gd name="adj" fmla="val 15000"/>
            </a:avLst>
          </a:prstGeom>
          <a:solidFill>
            <a:srgbClr val="C9D8EC"/>
          </a:solidFill>
          <a:ln w="1270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597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onsolas"/>
              </a:rPr>
              <a:t>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9384" y="24231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7FAB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58568" y="176479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58568" y="1856232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movie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58568" y="2331720"/>
            <a:ext cx="1417320" cy="566928"/>
          </a:xfrm>
          <a:prstGeom prst="roundRect">
            <a:avLst>
              <a:gd name="adj" fmla="val 15000"/>
            </a:avLst>
          </a:prstGeom>
          <a:solidFill>
            <a:srgbClr val="C9D8EC"/>
          </a:solidFill>
          <a:ln w="1270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8568" y="24597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onsolas"/>
              </a:rPr>
              <a:t>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21671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231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7FAB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176479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1856232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0208" y="2331720"/>
            <a:ext cx="1417320" cy="566928"/>
          </a:xfrm>
          <a:prstGeom prst="roundRect">
            <a:avLst>
              <a:gd name="adj" fmla="val 15000"/>
            </a:avLst>
          </a:prstGeom>
          <a:solidFill>
            <a:srgbClr val="C9D8EC"/>
          </a:solidFill>
          <a:ln w="1270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24597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onsolas"/>
              </a:rPr>
              <a:t>h3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21671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24231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7FAB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41848" y="176479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41848" y="1856232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41848" y="2331720"/>
            <a:ext cx="1417320" cy="566928"/>
          </a:xfrm>
          <a:prstGeom prst="roundRect">
            <a:avLst>
              <a:gd name="adj" fmla="val 15000"/>
            </a:avLst>
          </a:prstGeom>
          <a:solidFill>
            <a:srgbClr val="C9D8EC"/>
          </a:solidFill>
          <a:ln w="1270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24597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onsolas"/>
              </a:rPr>
              <a:t>h4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1848" y="21671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24231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E7FAB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488" y="176479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1856232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3488" y="2331720"/>
            <a:ext cx="1417320" cy="566928"/>
          </a:xfrm>
          <a:prstGeom prst="roundRect">
            <a:avLst>
              <a:gd name="adj" fmla="val 15000"/>
            </a:avLst>
          </a:prstGeom>
          <a:solidFill>
            <a:srgbClr val="C9D8EC"/>
          </a:solidFill>
          <a:ln w="12700">
            <a:solidFill>
              <a:srgbClr val="0E7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24597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2440"/>
                </a:solidFill>
                <a:latin typeface="Consolas"/>
              </a:rPr>
              <a:t>h5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2167128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044952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Each box passes its memory to the next. By the last step, the state has ‘read’ the whole sentence.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8229600" cy="74980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931920"/>
            <a:ext cx="50800" cy="749808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50791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2440"/>
                </a:solidFill>
                <a:latin typeface="Calibri"/>
              </a:rPr>
              <a:t>Key idea: </a:t>
            </a:r>
            <a:r>
              <a:rPr sz="1250" b="0">
                <a:solidFill>
                  <a:srgbClr val="334155"/>
                </a:solidFill>
                <a:latin typeface="Calibri"/>
              </a:rPr>
              <a:t>same small network is reused at every step (it 'recurs'). That's what makes it a Recurrent Neural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The Vanilla 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cell, applied again and again — 'unrolled' across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rnn_un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955279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867911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Recurrent neural network, folded vs unfolded  ·  fdeloche, CC BY-SA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50800" cy="9601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5584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E7A4D"/>
                </a:solidFill>
                <a:latin typeface="Consola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92424"/>
            <a:ext cx="1737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input word at this step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324612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3246120"/>
            <a:ext cx="50800" cy="96012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335584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7FAB"/>
                </a:solidFill>
                <a:latin typeface="Consolas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3392424"/>
            <a:ext cx="1737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hidden state — memory carried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9904" y="324612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9904" y="3246120"/>
            <a:ext cx="50800" cy="960120"/>
          </a:xfrm>
          <a:prstGeom prst="rect">
            <a:avLst/>
          </a:prstGeom>
          <a:solidFill>
            <a:srgbClr val="B0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335584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B03A6A"/>
                </a:solidFill>
                <a:latin typeface="Consolas"/>
              </a:rP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3392424"/>
            <a:ext cx="1737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output / prediction at this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The Catch: Vanishing Gradients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Why a plain RNN forgets the start of a long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To learn, the error signal travels </a:t>
            </a:r>
            <a:r>
              <a:rPr sz="1250" b="1">
                <a:solidFill>
                  <a:srgbClr val="0F2440"/>
                </a:solidFill>
                <a:latin typeface="Calibri"/>
              </a:rPr>
              <a:t>backward through every step</a:t>
            </a:r>
            <a:r>
              <a:rPr sz="1250" b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At each step it's multiplied by a small number (the slope of the squashing function, often &lt; 1).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Multiply many small numbers and the signal </a:t>
            </a:r>
            <a:r>
              <a:rPr sz="1250" b="1">
                <a:solidFill>
                  <a:srgbClr val="B43A2A"/>
                </a:solidFill>
                <a:latin typeface="Calibri"/>
              </a:rPr>
              <a:t>shrinks toward zero</a:t>
            </a:r>
            <a:r>
              <a:rPr sz="1250" b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Result: early words get almost no learning signal — the network can't connect 'not' at the start to 'good' far later.</a:t>
            </a:r>
          </a:p>
        </p:txBody>
      </p:sp>
      <p:pic>
        <p:nvPicPr>
          <p:cNvPr id="8" name="Picture 7" descr="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25880"/>
            <a:ext cx="27432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31729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Sigmoid: flat tails → tiny slopes  ·  Qef, Public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69080"/>
            <a:ext cx="82296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69080"/>
            <a:ext cx="50800" cy="658368"/>
          </a:xfrm>
          <a:prstGeom prst="rect">
            <a:avLst/>
          </a:prstGeom>
          <a:solidFill>
            <a:srgbClr val="B47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17880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opposite can also happen (</a:t>
            </a:r>
            <a:r>
              <a:rPr sz="1150" b="1">
                <a:solidFill>
                  <a:srgbClr val="B4760A"/>
                </a:solidFill>
                <a:latin typeface="Calibri"/>
              </a:rPr>
              <a:t>exploding gradients</a:t>
            </a:r>
            <a:r>
              <a:rPr sz="1150" b="0">
                <a:solidFill>
                  <a:srgbClr val="334155"/>
                </a:solidFill>
                <a:latin typeface="Calibri"/>
              </a:rPr>
              <a:t>). Both made deep/long RNNs hard to train — motivating gated cells.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LSTM: A Memory That Lasts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Long Short-Term Memory adds a protected 'cell state' plus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074920" cy="22572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51001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LSTM cell: cell state on top, three gates below  ·  fdeloche, CC BY-SA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234440"/>
            <a:ext cx="2880360" cy="3246120"/>
          </a:xfrm>
          <a:prstGeom prst="roundRect">
            <a:avLst>
              <a:gd name="adj" fmla="val 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17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DC"/>
                </a:solidFill>
                <a:latin typeface="Trebuchet MS"/>
              </a:rPr>
              <a:t>The big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47088"/>
            <a:ext cx="2514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8EC"/>
                </a:solidFill>
                <a:latin typeface="Calibri"/>
              </a:rPr>
              <a:t>The </a:t>
            </a:r>
            <a:r>
              <a:rPr sz="1200" b="1">
                <a:solidFill>
                  <a:srgbClr val="FFFFFF"/>
                </a:solidFill>
                <a:latin typeface="Calibri"/>
              </a:rPr>
              <a:t>cell state</a:t>
            </a:r>
            <a:r>
              <a:rPr sz="1200" b="0">
                <a:solidFill>
                  <a:srgbClr val="C9D8EC"/>
                </a:solidFill>
                <a:latin typeface="Calibri"/>
              </a:rPr>
              <a:t> runs straight across the top — a conveyor belt for memory.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8EC"/>
                </a:solidFill>
                <a:latin typeface="Calibri"/>
              </a:rPr>
              <a:t>Information rides along almost unchanged, so gradients don't vanish.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8EC"/>
                </a:solidFill>
                <a:latin typeface="Calibri"/>
              </a:rPr>
              <a:t>Small gates decide what to add or remove at each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The Three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Each gate is a tiny network that outputs 'how much' (0 = block, 1 = pass)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0800" cy="960120"/>
          </a:xfrm>
          <a:prstGeom prst="rect">
            <a:avLst/>
          </a:prstGeom>
          <a:solidFill>
            <a:srgbClr val="B4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27048"/>
            <a:ext cx="548640" cy="548640"/>
          </a:xfrm>
          <a:prstGeom prst="ellipse">
            <a:avLst/>
          </a:prstGeom>
          <a:solidFill>
            <a:srgbClr val="B4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53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Forget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83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B43A2A"/>
                </a:solidFill>
                <a:latin typeface="Calibri"/>
              </a:rPr>
              <a:t>What old memory should we drop?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63624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Reads the new word and decides which parts of the cell state are no longer useful.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50800" cy="960120"/>
          </a:xfrm>
          <a:prstGeom prst="rect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1E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7919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328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Input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E7A4D"/>
                </a:solidFill>
                <a:latin typeface="Calibri"/>
              </a:rPr>
              <a:t>What new memory should we add?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42616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Picks which new information is worth writing into the cell 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83864"/>
            <a:ext cx="822960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83864"/>
            <a:ext cx="50800" cy="96012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685032"/>
            <a:ext cx="548640" cy="548640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58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611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2440"/>
                </a:solidFill>
                <a:latin typeface="Calibri"/>
              </a:rPr>
              <a:t>Output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9410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E7FAB"/>
                </a:solidFill>
                <a:latin typeface="Calibri"/>
              </a:rPr>
              <a:t>What do we reveal right now?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721608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Decides which part of the memory becomes this step's hidden state /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GRU: The Streamlined Cousin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Gated Recurrent Unit — same goal, fewer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g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75488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216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64748B"/>
                </a:solidFill>
                <a:latin typeface="Calibri"/>
              </a:rPr>
              <a:t>GRU cell: reset + update gates  ·  Jeblad, CC BY-SA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280160"/>
            <a:ext cx="3200400" cy="3246120"/>
          </a:xfrm>
          <a:prstGeom prst="roundRect">
            <a:avLst>
              <a:gd name="adj" fmla="val 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44475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DC"/>
                </a:solidFill>
                <a:latin typeface="Trebuchet MS"/>
              </a:rPr>
              <a:t>Two gates, no separate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920240"/>
            <a:ext cx="27889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Update gate</a:t>
            </a:r>
            <a:r>
              <a:rPr sz="1200" b="0">
                <a:solidFill>
                  <a:srgbClr val="C9D8EC"/>
                </a:solidFill>
                <a:latin typeface="Calibri"/>
              </a:rPr>
              <a:t> — how much old memory to keep vs refresh.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Reset gate</a:t>
            </a:r>
            <a:r>
              <a:rPr sz="1200" b="0">
                <a:solidFill>
                  <a:srgbClr val="C9D8EC"/>
                </a:solidFill>
                <a:latin typeface="Calibri"/>
              </a:rPr>
              <a:t> — how much past to ignore when forming new memory.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8EC"/>
                </a:solidFill>
                <a:latin typeface="Calibri"/>
              </a:rPr>
              <a:t>Fewer parameters → </a:t>
            </a:r>
            <a:r>
              <a:rPr sz="1200" b="1">
                <a:solidFill>
                  <a:srgbClr val="FFFFFF"/>
                </a:solidFill>
                <a:latin typeface="Calibri"/>
              </a:rPr>
              <a:t>faster to train</a:t>
            </a:r>
            <a:r>
              <a:rPr sz="1200" b="0">
                <a:solidFill>
                  <a:srgbClr val="C9D8EC"/>
                </a:solidFill>
                <a:latin typeface="Calibri"/>
              </a:rPr>
              <a:t>, often as accurate as an LSTM.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RNN vs LSTM vs GRU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Same family, increasing ability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737360" cy="50292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325880"/>
            <a:ext cx="228600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4475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Vanilla RNN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237744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447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325880"/>
            <a:ext cx="2286000" cy="50292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4475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1737360" cy="56692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20240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2440"/>
                </a:solidFill>
                <a:latin typeface="Calibri"/>
              </a:rPr>
              <a:t>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828800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67712" y="1920240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Hidden state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828800"/>
            <a:ext cx="23774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Hidden + cell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828800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1920240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Hidden state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95728"/>
            <a:ext cx="1737360" cy="56692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487168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2440"/>
                </a:solidFill>
                <a:latin typeface="Calibri"/>
              </a:rPr>
              <a:t>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2395728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67712" y="2487168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None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39572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2487168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3 (forget/input/output)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395728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31152" y="2487168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2 (reset/update)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62656"/>
            <a:ext cx="1737360" cy="56692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054096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2440"/>
                </a:solidFill>
                <a:latin typeface="Calibri"/>
              </a:rPr>
              <a:t>Long sequences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2962656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67712" y="3054096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Forgets quickly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962656"/>
            <a:ext cx="23774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3054096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Strong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2962656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3054096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Strong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529584"/>
            <a:ext cx="1737360" cy="56692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621024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2440"/>
                </a:solidFill>
                <a:latin typeface="Calibri"/>
              </a:rPr>
              <a:t>Parameters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529584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67712" y="3621024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Fewest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52958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621024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Most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529584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31152" y="3621024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Middle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096512"/>
            <a:ext cx="1737360" cy="566928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187952"/>
            <a:ext cx="15910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2440"/>
                </a:solidFill>
                <a:latin typeface="Calibri"/>
              </a:rPr>
              <a:t>Use when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096512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67712" y="4187952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Short sequences, teaching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4096512"/>
            <a:ext cx="237744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53712" y="4187952"/>
            <a:ext cx="22311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Long dependencies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096512"/>
            <a:ext cx="228600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31152" y="4187952"/>
            <a:ext cx="21396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Calibri"/>
              </a:rPr>
              <a:t>Good default, faster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rebuchet MS"/>
              </a:rPr>
              <a:t>Why Learn These If Transformers Won?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78992"/>
            <a:ext cx="548640" cy="3810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 core idea survived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7335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B3D9"/>
                </a:solidFill>
                <a:latin typeface="Calibri"/>
              </a:rPr>
              <a:t>Hidden state, memory, gating — attention and transformers build on these same instincts.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04288"/>
            <a:ext cx="292608" cy="292608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58568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They explain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B3D9"/>
                </a:solidFill>
                <a:latin typeface="Calibri"/>
              </a:rPr>
              <a:t>RNNs make 'why is long-range memory hard?' concrete — the question transformers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Still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B3D9"/>
                </a:solidFill>
                <a:latin typeface="Calibri"/>
              </a:rPr>
              <a:t>LSTMs/GRUs run in production for time series, speech, and on small/edge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24528"/>
            <a:ext cx="7863840" cy="566928"/>
          </a:xfrm>
          <a:prstGeom prst="roundRect">
            <a:avLst>
              <a:gd name="adj" fmla="val 6000"/>
            </a:avLst>
          </a:prstGeom>
          <a:solidFill>
            <a:srgbClr val="14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24528"/>
            <a:ext cx="50800" cy="566928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25112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DC"/>
                </a:solidFill>
                <a:latin typeface="Calibri"/>
              </a:rPr>
              <a:t>Goal for today: </a:t>
            </a:r>
            <a:r>
              <a:rPr sz="1250" b="0">
                <a:solidFill>
                  <a:srgbClr val="C9D8EC"/>
                </a:solidFill>
                <a:latin typeface="Calibri"/>
              </a:rPr>
              <a:t>understand why each was invented — not to master the equations.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2440"/>
                </a:solidFill>
                <a:latin typeface="Trebuchet MS"/>
              </a:rPr>
              <a:t>Recap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The thread from this session into the rest of the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66928" cy="381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8188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Session 22  ·  Neural Networks for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188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FAB"/>
                </a:solidFill>
                <a:latin typeface="Trebuchet MS"/>
              </a:rPr>
              <a:t>Recap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609344"/>
            <a:ext cx="146304" cy="1463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Feed-forward nets learn from fixed inputs but ignore order.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57984"/>
            <a:ext cx="146304" cy="1463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Embedding layers turn word IDs into learnable vectors.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706624"/>
            <a:ext cx="146304" cy="1463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RNNs add memory by reusing one cell across a sequence.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255264"/>
            <a:ext cx="146304" cy="1463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Vanishing gradients make plain RNNs forget long-range context.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803904"/>
            <a:ext cx="146304" cy="146304"/>
          </a:xfrm>
          <a:prstGeom prst="ellipse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LSTMs &amp; GRUs use gates to protect memory over long spans.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188720"/>
            <a:ext cx="3017520" cy="2468880"/>
          </a:xfrm>
          <a:prstGeom prst="roundRect">
            <a:avLst>
              <a:gd name="adj" fmla="val 5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371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DC"/>
                </a:solidFill>
                <a:latin typeface="Trebuchet MS"/>
              </a:rPr>
              <a:t>Next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810512"/>
            <a:ext cx="2651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8EC"/>
                </a:solidFill>
                <a:latin typeface="Calibri"/>
              </a:rPr>
              <a:t>The limits we hit today — long-range memory — are exactly what </a:t>
            </a:r>
            <a:r>
              <a:rPr sz="1150" b="1">
                <a:solidFill>
                  <a:srgbClr val="FFFFFF"/>
                </a:solidFill>
                <a:latin typeface="Calibri"/>
              </a:rPr>
              <a:t>attention</a:t>
            </a:r>
            <a:r>
              <a:rPr sz="1150" b="0">
                <a:solidFill>
                  <a:srgbClr val="C9D8EC"/>
                </a:solidFill>
                <a:latin typeface="Calibri"/>
              </a:rPr>
              <a:t> and </a:t>
            </a:r>
            <a:r>
              <a:rPr sz="1150" b="1">
                <a:solidFill>
                  <a:srgbClr val="FFFFFF"/>
                </a:solidFill>
                <a:latin typeface="Calibri"/>
              </a:rPr>
              <a:t>Transformers</a:t>
            </a:r>
            <a:r>
              <a:rPr sz="1150" b="0">
                <a:solidFill>
                  <a:srgbClr val="C9D8EC"/>
                </a:solidFill>
                <a:latin typeface="Calibri"/>
              </a:rPr>
              <a:t> solve.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C9D8E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FB3D9"/>
                </a:solidFill>
                <a:latin typeface="Calibri"/>
              </a:rPr>
              <a:t>Hands-on now: build a char-level RNN/LSTM/GRU in the notebook.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alibri"/>
              </a:rPr>
              <a:t>Image credits: </a:t>
            </a:r>
            <a:r>
              <a:rPr sz="950" b="0">
                <a:solidFill>
                  <a:srgbClr val="64748B"/>
                </a:solidFill>
                <a:latin typeface="Calibri"/>
              </a:rPr>
              <a:t>Wikimedia Commons — feed-forward net (Glosser.ca, CC BY-SA 3.0); RNN &amp; LSTM (fdeloche, CC BY-SA 4.0); GRU (Jeblad, CC BY-SA 4.0); sigmoid (Qef, public domain).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