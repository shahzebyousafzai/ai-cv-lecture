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52390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097280"/>
            <a:ext cx="8979408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kern="0" spc="5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14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7772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&amp;</a:t>
            </a:r>
            <a:endParaRPr lang="en-US" sz="4400" dirty="0"/>
          </a:p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Mechanisms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164592" y="4023360"/>
            <a:ext cx="8979408" cy="45720"/>
          </a:xfrm>
          <a:prstGeom prst="rect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  ·  Vision Transformers (ViT)  ·  DETR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A8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&amp; AI — Theoretical Session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 Today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143000"/>
            <a:ext cx="274320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143000"/>
            <a:ext cx="2743200" cy="274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481328"/>
            <a:ext cx="384048" cy="38404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1920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5760" y="237744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transformers let every token communicate with every other token simultaneously — the core QKV mechanism.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00400" y="1143000"/>
            <a:ext cx="274320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1143000"/>
            <a:ext cx="2743200" cy="27432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37560" y="1481328"/>
            <a:ext cx="384048" cy="384048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3756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91840" y="1920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Transformers (ViT)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291840" y="237744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transformer architecture to images by treating patches as tokens — no convolutions needed.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26480" y="1143000"/>
            <a:ext cx="274320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26480" y="1143000"/>
            <a:ext cx="2743200" cy="27432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63640" y="1481328"/>
            <a:ext cx="384048" cy="38404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1920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DETR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217920" y="237744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object detection using transformers — eliminating anchors and NMS with set prediction.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Transformers? The Problem with RNNs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40233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097280"/>
            <a:ext cx="4023360" cy="292608"/>
          </a:xfrm>
          <a:prstGeom prst="rect">
            <a:avLst/>
          </a:prstGeom>
          <a:solidFill>
            <a:srgbClr val="E55039"/>
          </a:solidFill>
          <a:ln w="12700">
            <a:solidFill>
              <a:srgbClr val="E5503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430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RNNs / LSTMs — Limitations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1536192"/>
            <a:ext cx="384048" cy="384048"/>
          </a:xfrm>
          <a:prstGeom prst="ellipse">
            <a:avLst/>
          </a:prstGeom>
          <a:solidFill>
            <a:srgbClr val="E55039"/>
          </a:solidFill>
          <a:ln w="12700">
            <a:solidFill>
              <a:srgbClr val="E5503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1508760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processing — one token at a time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157984"/>
            <a:ext cx="384048" cy="384048"/>
          </a:xfrm>
          <a:prstGeom prst="ellipse">
            <a:avLst/>
          </a:prstGeom>
          <a:solidFill>
            <a:srgbClr val="E55039"/>
          </a:solidFill>
          <a:ln w="12700">
            <a:solidFill>
              <a:srgbClr val="E5503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213055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Long-range dependencies fade (vanishing gradients)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2779776"/>
            <a:ext cx="384048" cy="384048"/>
          </a:xfrm>
          <a:prstGeom prst="ellipse">
            <a:avLst/>
          </a:prstGeom>
          <a:solidFill>
            <a:srgbClr val="E55039"/>
          </a:solidFill>
          <a:ln w="12700">
            <a:solidFill>
              <a:srgbClr val="E5503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275234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be parallelised during training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401568"/>
            <a:ext cx="384048" cy="384048"/>
          </a:xfrm>
          <a:prstGeom prst="ellipse">
            <a:avLst/>
          </a:prstGeom>
          <a:solidFill>
            <a:srgbClr val="E55039"/>
          </a:solidFill>
          <a:ln w="12700">
            <a:solidFill>
              <a:srgbClr val="E5503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401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3374136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Bottleneck: hidden state must carry all context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0" y="1097280"/>
            <a:ext cx="42519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0" y="1097280"/>
            <a:ext cx="4251960" cy="292608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63440" y="114300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Transformers — Solutions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663440" y="1536192"/>
            <a:ext cx="384048" cy="384048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63440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120640" y="1508760"/>
            <a:ext cx="3520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processing — all tokens at once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663440" y="2157984"/>
            <a:ext cx="384048" cy="384048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63440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120640" y="2130552"/>
            <a:ext cx="3520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attention — any token can attend to any other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663440" y="2779776"/>
            <a:ext cx="384048" cy="384048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120640" y="2752344"/>
            <a:ext cx="3520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efficiently on GPUs and TPUs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663440" y="3401568"/>
            <a:ext cx="384048" cy="384048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0" y="3401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120640" y="3374136"/>
            <a:ext cx="3520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shared directly, not bottlenecked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74320" y="475488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A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"Attention Is All You Need" — Vaswani et al., 2017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Idea: Attention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10058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token can directly communicate with every other token — in parallel.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74320" y="1508760"/>
            <a:ext cx="8595360" cy="1005840"/>
          </a:xfrm>
          <a:prstGeom prst="rect">
            <a:avLst/>
          </a:prstGeom>
          <a:solidFill>
            <a:srgbClr val="EAF6FF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727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Analogy: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cat sat on the mat" — to understand what "sat" means, the model asks: which other words are relevant to me? It finds "cat" (the subject) and "mat" (the location) directly, without scanning sequentially.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1188720" cy="475488"/>
          </a:xfrm>
          <a:prstGeom prst="rect">
            <a:avLst/>
          </a:prstGeom>
          <a:solidFill>
            <a:srgbClr val="D0D0D0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69748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828800" y="2697480"/>
            <a:ext cx="1188720" cy="47548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0" y="269748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00400" y="2697480"/>
            <a:ext cx="1188720" cy="475488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269748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0" y="2697480"/>
            <a:ext cx="1188720" cy="475488"/>
          </a:xfrm>
          <a:prstGeom prst="rect">
            <a:avLst/>
          </a:prstGeom>
          <a:solidFill>
            <a:srgbClr val="D0D0D0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0" y="269748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43600" y="2697480"/>
            <a:ext cx="1188720" cy="475488"/>
          </a:xfrm>
          <a:prstGeom prst="rect">
            <a:avLst/>
          </a:prstGeom>
          <a:solidFill>
            <a:srgbClr val="D0D0D0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0" y="269748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0" y="2697480"/>
            <a:ext cx="1188720" cy="475488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0" y="269748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397034" y="3291840"/>
            <a:ext cx="27432" cy="5029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68634" y="3291840"/>
            <a:ext cx="27432" cy="5029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424466" y="3775164"/>
            <a:ext cx="1371600" cy="274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3840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"sat" attends to "cat" and "mat"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74320" y="429768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attention weights are learned — the model decides what matters.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0: Words → Vectors (Embeddings)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100584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attention, each token is converted to a dense numerical vector that captures its meaning.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508760"/>
            <a:ext cx="38404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600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→ Embedding Vector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" y="2011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"cat"  →  [ 0.23, -0.14, 0.87, 0.05, … ]  (512 dims)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11480" y="242316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words have similar vectors: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"cat" ≈ "dog" (both animals)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"cat" ≠ "airplane" (very different)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embedding space encodes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semantics as geometry.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508760"/>
            <a:ext cx="44805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26280" y="16002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as a Matrix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2029968"/>
            <a:ext cx="457200" cy="310896"/>
          </a:xfrm>
          <a:prstGeom prst="rect">
            <a:avLst/>
          </a:prstGeom>
          <a:solidFill>
            <a:srgbClr val="E8F4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0560" y="202996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56048" y="2029968"/>
            <a:ext cx="3566160" cy="310896"/>
          </a:xfrm>
          <a:prstGeom prst="rect">
            <a:avLst/>
          </a:prstGeom>
          <a:solidFill>
            <a:srgbClr val="F5FA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74336" y="2029968"/>
            <a:ext cx="3529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7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[ 0.xx, -0.xx, 0.xx, … × 512 ]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480560" y="2377440"/>
            <a:ext cx="457200" cy="310896"/>
          </a:xfrm>
          <a:prstGeom prst="rect">
            <a:avLst/>
          </a:prstGeom>
          <a:solidFill>
            <a:srgbClr val="E8F4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80560" y="237744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56048" y="2377440"/>
            <a:ext cx="3566160" cy="310896"/>
          </a:xfrm>
          <a:prstGeom prst="rect">
            <a:avLst/>
          </a:prstGeom>
          <a:solidFill>
            <a:srgbClr val="F5FA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74336" y="2377440"/>
            <a:ext cx="3529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7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[ 0.xx, -0.xx, 0.xx, … × 512 ]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480560" y="2724912"/>
            <a:ext cx="457200" cy="310896"/>
          </a:xfrm>
          <a:prstGeom prst="rect">
            <a:avLst/>
          </a:prstGeom>
          <a:solidFill>
            <a:srgbClr val="00B4D8"/>
          </a:solidFill>
          <a:ln w="12700">
            <a:solidFill>
              <a:srgbClr val="0096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0560" y="27249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956048" y="2724912"/>
            <a:ext cx="3566160" cy="310896"/>
          </a:xfrm>
          <a:prstGeom prst="rect">
            <a:avLst/>
          </a:prstGeom>
          <a:solidFill>
            <a:srgbClr val="D0EEFA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74336" y="2724912"/>
            <a:ext cx="3529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96C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[ 0.xx, -0.xx, 0.xx, … × 512 ]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480560" y="3072384"/>
            <a:ext cx="457200" cy="310896"/>
          </a:xfrm>
          <a:prstGeom prst="rect">
            <a:avLst/>
          </a:prstGeom>
          <a:solidFill>
            <a:srgbClr val="E8F4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80560" y="30723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56048" y="3072384"/>
            <a:ext cx="3566160" cy="310896"/>
          </a:xfrm>
          <a:prstGeom prst="rect">
            <a:avLst/>
          </a:prstGeom>
          <a:solidFill>
            <a:srgbClr val="F5FA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74336" y="3072384"/>
            <a:ext cx="3529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7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[ 0.xx, -0.xx, 0.xx, … × 512 ]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80560" y="3419856"/>
            <a:ext cx="457200" cy="310896"/>
          </a:xfrm>
          <a:prstGeom prst="rect">
            <a:avLst/>
          </a:prstGeom>
          <a:solidFill>
            <a:srgbClr val="E8F4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80560" y="341985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6048" y="3419856"/>
            <a:ext cx="3566160" cy="310896"/>
          </a:xfrm>
          <a:prstGeom prst="rect">
            <a:avLst/>
          </a:prstGeom>
          <a:solidFill>
            <a:srgbClr val="F5FA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74336" y="3419856"/>
            <a:ext cx="3529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7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[ 0.xx, -0.xx, 0.xx, … × 512 ]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480560" y="3767328"/>
            <a:ext cx="457200" cy="310896"/>
          </a:xfrm>
          <a:prstGeom prst="rect">
            <a:avLst/>
          </a:prstGeom>
          <a:solidFill>
            <a:srgbClr val="E8F4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80560" y="376732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956048" y="3767328"/>
            <a:ext cx="3566160" cy="310896"/>
          </a:xfrm>
          <a:prstGeom prst="rect">
            <a:avLst/>
          </a:prstGeom>
          <a:solidFill>
            <a:srgbClr val="F5FA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74336" y="3767328"/>
            <a:ext cx="3529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7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[ 0.xx, -0.xx, 0.xx, … × 512 ]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480560" y="4187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A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shape: (6 tokens × 512 dimensions)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Self-Attention: The Q, K, V Framework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10058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token plays three roles simultaneously — Query, Key, and Value.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74320" y="1508760"/>
            <a:ext cx="27889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188720" y="1627632"/>
            <a:ext cx="1005840" cy="100584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627632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65760" y="272491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5760" y="309067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am I looking for?"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3456432"/>
            <a:ext cx="2514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Represents what the current token needs from others.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 search query.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18688" y="1508760"/>
            <a:ext cx="27889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133088" y="1627632"/>
            <a:ext cx="1005840" cy="100584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33088" y="1627632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3310128" y="272491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310128" y="309067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do I represent?"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55848" y="3456432"/>
            <a:ext cx="2514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Advertises what information this token can provide.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 database index.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63056" y="1508760"/>
            <a:ext cx="27889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077456" y="1627632"/>
            <a:ext cx="1005840" cy="1005840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77456" y="1627632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6254496" y="272491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254496" y="309067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is my actual content?"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00216" y="3456432"/>
            <a:ext cx="2514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information that gets passed on if attention is high.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the actual data returned.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74320" y="482803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A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created by multiplying the same input embedding by three different learned weight matrices: W_Q, W_K, W_V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Intuition: Attention as a Soft Database Lookup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8595360" cy="914400"/>
          </a:xfrm>
          <a:prstGeom prst="rect">
            <a:avLst/>
          </a:prstGeom>
          <a:solidFill>
            <a:srgbClr val="EAF6FF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7899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attention like a fuzzy search engine that returns blended results instead of exact matches.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2103120"/>
            <a:ext cx="19659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" y="2103120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04288" y="2103120"/>
            <a:ext cx="30632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68296" y="2103120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Analogy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31536" y="2103120"/>
            <a:ext cx="3246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95544" y="21031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Role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505456"/>
            <a:ext cx="1965960" cy="475488"/>
          </a:xfrm>
          <a:prstGeom prst="rect">
            <a:avLst/>
          </a:prstGeom>
          <a:solidFill>
            <a:srgbClr val="F5FA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" y="251460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(Q)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304288" y="2505456"/>
            <a:ext cx="3063240" cy="475488"/>
          </a:xfrm>
          <a:prstGeom prst="rect">
            <a:avLst/>
          </a:prstGeom>
          <a:solidFill>
            <a:srgbClr val="F5FA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77440" y="2514600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term you type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31536" y="2505456"/>
            <a:ext cx="3246120" cy="475488"/>
          </a:xfrm>
          <a:prstGeom prst="rect">
            <a:avLst/>
          </a:prstGeom>
          <a:solidFill>
            <a:srgbClr val="F5FA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04688" y="2514600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token is looking for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008376"/>
            <a:ext cx="19659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7472" y="301752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(K)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304288" y="3008376"/>
            <a:ext cx="3063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377440" y="3017520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/ index of each record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31536" y="3008376"/>
            <a:ext cx="3246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04688" y="3017520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other token advertises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3511296"/>
            <a:ext cx="1965960" cy="475488"/>
          </a:xfrm>
          <a:prstGeom prst="rect">
            <a:avLst/>
          </a:prstGeom>
          <a:solidFill>
            <a:srgbClr val="F5FA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472" y="35204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(V)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304288" y="3511296"/>
            <a:ext cx="3063240" cy="475488"/>
          </a:xfrm>
          <a:prstGeom prst="rect">
            <a:avLst/>
          </a:prstGeom>
          <a:solidFill>
            <a:srgbClr val="F5FA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377440" y="3520440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content of the record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31536" y="3511296"/>
            <a:ext cx="3246120" cy="475488"/>
          </a:xfrm>
          <a:prstGeom prst="rect">
            <a:avLst/>
          </a:prstGeom>
          <a:solidFill>
            <a:srgbClr val="F5FA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04688" y="3520440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passed if relevant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74320" y="4014216"/>
            <a:ext cx="19659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7472" y="402336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Weight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304288" y="4014216"/>
            <a:ext cx="3063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77440" y="4023360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score / ranking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431536" y="4014216"/>
            <a:ext cx="3246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04688" y="4023360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to weight each Value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74320" y="475488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A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a real database, attention returns a weighted blend — all values contribute, proportional to their relevance.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Scaled Dot-Product Attention Formula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804672"/>
          </a:xfrm>
          <a:prstGeom prst="rect">
            <a:avLst/>
          </a:prstGeom>
          <a:solidFill>
            <a:srgbClr val="0D1B2A"/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05840"/>
            <a:ext cx="8229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Attention(Q, K, V)  =  softmax( QKT / sqrt(dk) )  x  V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82880" y="1993392"/>
            <a:ext cx="210312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05840" y="2103120"/>
            <a:ext cx="384048" cy="384048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" y="2587752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Scores: QKᵀ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74320" y="3054096"/>
            <a:ext cx="192024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 product of Query with every Key → measures similarity. Score = how relevant is token j to token i?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404872" y="1993392"/>
            <a:ext cx="210312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27832" y="2103120"/>
            <a:ext cx="384048" cy="384048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27832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496312" y="2587752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by √dₖ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496312" y="3054096"/>
            <a:ext cx="192024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by square root of key dimension. Prevents scores from getting too large, keeping softmax gradients healthy.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26864" y="1993392"/>
            <a:ext cx="210312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49824" y="2103120"/>
            <a:ext cx="384048" cy="38404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4982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718304" y="2587752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 → Weights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718304" y="3054096"/>
            <a:ext cx="192024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scores to probabilities (0-1, sum to 1). Each weight tells us how much to attend to each position.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848856" y="1993392"/>
            <a:ext cx="210312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671816" y="2103120"/>
            <a:ext cx="384048" cy="384048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718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940296" y="2587752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Sum of V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940296" y="3054096"/>
            <a:ext cx="192024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each Value by its attention weight and sum. Result = new enriched representation for this token.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Scaled Dot-Product Attention — Architecture Diagram</a:t>
            </a:r>
            <a:endParaRPr lang="en-US" sz="2600" dirty="0"/>
          </a:p>
        </p:txBody>
      </p:sp>
      <p:pic>
        <p:nvPicPr>
          <p:cNvPr id="5" name="Image 0" descr="https://jtlicardo.com/assets/attention-mechanism-explained/scaled_dot_product_attenti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754880" y="1005840"/>
            <a:ext cx="4114800" cy="3840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82880" y="1188720"/>
            <a:ext cx="4389120" cy="548640"/>
          </a:xfrm>
          <a:prstGeom prst="rect">
            <a:avLst/>
          </a:prstGeom>
          <a:solidFill>
            <a:srgbClr val="F0F8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20040" y="12161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Q, K, V inputs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20040" y="14630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input, projected via W_Q, W_K, W_V weight matrices.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182880" y="1920240"/>
            <a:ext cx="4389120" cy="548640"/>
          </a:xfrm>
          <a:prstGeom prst="rect">
            <a:avLst/>
          </a:prstGeom>
          <a:solidFill>
            <a:srgbClr val="F0F8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" y="194767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MatMul (QKᵀ)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20040" y="21945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 product gives raw attention scores between every pair.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82880" y="2606040"/>
            <a:ext cx="4389120" cy="548640"/>
          </a:xfrm>
          <a:prstGeom prst="rect">
            <a:avLst/>
          </a:prstGeom>
          <a:solidFill>
            <a:srgbClr val="F0F8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20040" y="263347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(÷√dₖ)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320040" y="28803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Stabilises gradients. Without this, softmax becomes too peaked.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82880" y="3291840"/>
            <a:ext cx="4389120" cy="548640"/>
          </a:xfrm>
          <a:prstGeom prst="rect">
            <a:avLst/>
          </a:prstGeom>
          <a:solidFill>
            <a:srgbClr val="F0F8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20040" y="331927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20040" y="35661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scores to probability weights that sum to 1.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82880" y="3977640"/>
            <a:ext cx="4389120" cy="548640"/>
          </a:xfrm>
          <a:prstGeom prst="rect">
            <a:avLst/>
          </a:prstGeom>
          <a:solidFill>
            <a:srgbClr val="F0F8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20040" y="400507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MatMul (×V)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320040" y="42519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combination of values — the enriched output.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82880" y="4800600"/>
            <a:ext cx="8778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A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jtlicardo.com/blog/self-attention-mechanism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Multi-Head Attention: Multiple Perspectives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1005840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one attention function, run h parallel attention heads — each learns different relationships.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" y="1572768"/>
            <a:ext cx="20848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1572768"/>
            <a:ext cx="2084832" cy="256032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572768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" y="1920240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Subject–Verb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" y="2286000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"cat" → "sat"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441448" y="1572768"/>
            <a:ext cx="20848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441448" y="1572768"/>
            <a:ext cx="2084832" cy="25603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41448" y="1572768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32888" y="1920240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Object–Preposition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32888" y="2286000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"sat" → "on mat"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54296" y="1572768"/>
            <a:ext cx="20848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54296" y="1572768"/>
            <a:ext cx="2084832" cy="2560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54296" y="1572768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45736" y="1920240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Long-range Dep.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45736" y="2286000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"The" → "mat"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67144" y="1572768"/>
            <a:ext cx="20848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67144" y="1572768"/>
            <a:ext cx="2084832" cy="256032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67144" y="1572768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958584" y="1920240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Context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958584" y="2286000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"a" → "mat"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8600" y="3337560"/>
            <a:ext cx="8686800" cy="960120"/>
          </a:xfrm>
          <a:prstGeom prst="rect">
            <a:avLst/>
          </a:prstGeom>
          <a:solidFill>
            <a:srgbClr val="EAF6FF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4015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Concat → Linear Projection (W_O)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65760" y="3712464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head outputs are concatenated and projected back to the original embedding dimension.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8 heads × 64-dim each → concat to 512-dim → multiply by W_O (512×512) → final 512-dim output.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74320" y="44348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embedding_size = num_heads × head_dim  →  512 = 8 × 64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74320" y="4846320"/>
            <a:ext cx="8595360" cy="20116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484632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Specialisation happens automatically during training — we never tell each head what to focus on.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Multi-Head Attention — Architecture Diagram</a:t>
            </a:r>
            <a:endParaRPr lang="en-US" sz="2600" dirty="0"/>
          </a:p>
        </p:txBody>
      </p:sp>
      <p:pic>
        <p:nvPicPr>
          <p:cNvPr id="5" name="Image 0" descr="https://jtlicardo.com/assets/attention-mechanism-explained/mha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389120" y="960120"/>
            <a:ext cx="4480560" cy="3931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82880" y="1097280"/>
            <a:ext cx="54864" cy="777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47472" y="110642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V, K, Q — same input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347472" y="13898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come from the same embeddings X, projected through different linear layers.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82880" y="2048256"/>
            <a:ext cx="54864" cy="777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47472" y="2057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parallel heads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347472" y="234086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head independently runs scaled dot-product attention, learning its own W_Q, W_K, W_V.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82880" y="2999232"/>
            <a:ext cx="54864" cy="777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47472" y="30083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Concat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347472" y="32918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of all h heads (each 64-dim) concatenated → 512-dim vector.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82880" y="3950208"/>
            <a:ext cx="54864" cy="777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7472" y="39593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(W_O)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347472" y="424281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projection integrates all head outputs into one coherent representation.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82880" y="4809744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A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jtlicardo.com/blog/self-attention-mechanism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Transformer Encoder Block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1005840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 sits inside a larger block that adds normalisation and a feed-forward network.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011680" y="1508760"/>
            <a:ext cx="5120640" cy="457200"/>
          </a:xfrm>
          <a:prstGeom prst="rect">
            <a:avLst/>
          </a:prstGeom>
          <a:solidFill>
            <a:srgbClr val="F8FEFF"/>
          </a:solidFill>
          <a:ln w="25400">
            <a:solidFill>
              <a:srgbClr val="95A5A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11680" y="1508760"/>
            <a:ext cx="109728" cy="457200"/>
          </a:xfrm>
          <a:prstGeom prst="rect">
            <a:avLst/>
          </a:prstGeom>
          <a:solidFill>
            <a:srgbClr val="95A5A6"/>
          </a:solidFill>
          <a:ln w="12700">
            <a:solidFill>
              <a:srgbClr val="95A5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76272" y="1554480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Embeddings + Positional Encoding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76272" y="1755648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vectors with position info injected.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17136" y="1965960"/>
            <a:ext cx="109728" cy="91440"/>
          </a:xfrm>
          <a:prstGeom prst="rect">
            <a:avLst/>
          </a:prstGeom>
          <a:solidFill>
            <a:srgbClr val="5A7BA0"/>
          </a:solidFill>
          <a:ln w="12700">
            <a:solidFill>
              <a:srgbClr val="5A7BA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11680" y="2057400"/>
            <a:ext cx="5120640" cy="457200"/>
          </a:xfrm>
          <a:prstGeom prst="rect">
            <a:avLst/>
          </a:prstGeom>
          <a:solidFill>
            <a:srgbClr val="F8FEFF"/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11680" y="2057400"/>
            <a:ext cx="109728" cy="4572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76272" y="2103120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Multi-Head Self-Attention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176272" y="2304288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attend to each other. Core mechanism.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17136" y="2514600"/>
            <a:ext cx="109728" cy="91440"/>
          </a:xfrm>
          <a:prstGeom prst="rect">
            <a:avLst/>
          </a:prstGeom>
          <a:solidFill>
            <a:srgbClr val="5A7BA0"/>
          </a:solidFill>
          <a:ln w="12700">
            <a:solidFill>
              <a:srgbClr val="5A7B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11680" y="2606040"/>
            <a:ext cx="5120640" cy="457200"/>
          </a:xfrm>
          <a:prstGeom prst="rect">
            <a:avLst/>
          </a:prstGeom>
          <a:solidFill>
            <a:srgbClr val="F8FEFF"/>
          </a:solidFill>
          <a:ln w="25400">
            <a:solidFill>
              <a:srgbClr val="8E44A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11680" y="2606040"/>
            <a:ext cx="109728" cy="45720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76272" y="2651760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&amp; Norm (Residual Connection)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76272" y="2852928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is added back — helps gradients flow during training.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17136" y="3063240"/>
            <a:ext cx="109728" cy="91440"/>
          </a:xfrm>
          <a:prstGeom prst="rect">
            <a:avLst/>
          </a:prstGeom>
          <a:solidFill>
            <a:srgbClr val="5A7BA0"/>
          </a:solidFill>
          <a:ln w="12700">
            <a:solidFill>
              <a:srgbClr val="5A7B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11680" y="3154680"/>
            <a:ext cx="5120640" cy="457200"/>
          </a:xfrm>
          <a:prstGeom prst="rect">
            <a:avLst/>
          </a:prstGeom>
          <a:solidFill>
            <a:srgbClr val="F8FEFF"/>
          </a:solidFill>
          <a:ln w="25400">
            <a:solidFill>
              <a:srgbClr val="E67E2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11680" y="3154680"/>
            <a:ext cx="109728" cy="45720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76272" y="3200400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Feed-Forward Network (FFN)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176272" y="3401568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linear layers with ReLU. Processes each token independently.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17136" y="3611880"/>
            <a:ext cx="109728" cy="91440"/>
          </a:xfrm>
          <a:prstGeom prst="rect">
            <a:avLst/>
          </a:prstGeom>
          <a:solidFill>
            <a:srgbClr val="5A7BA0"/>
          </a:solidFill>
          <a:ln w="12700">
            <a:solidFill>
              <a:srgbClr val="5A7BA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11680" y="3703320"/>
            <a:ext cx="5120640" cy="457200"/>
          </a:xfrm>
          <a:prstGeom prst="rect">
            <a:avLst/>
          </a:prstGeom>
          <a:solidFill>
            <a:srgbClr val="F8FEFF"/>
          </a:solidFill>
          <a:ln w="25400">
            <a:solidFill>
              <a:srgbClr val="8E44A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11680" y="3703320"/>
            <a:ext cx="109728" cy="45720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176272" y="3749040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&amp; Norm (Residual Connection)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176272" y="3950208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skip connection after the FFN.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17136" y="4160520"/>
            <a:ext cx="109728" cy="91440"/>
          </a:xfrm>
          <a:prstGeom prst="rect">
            <a:avLst/>
          </a:prstGeom>
          <a:solidFill>
            <a:srgbClr val="5A7BA0"/>
          </a:solidFill>
          <a:ln w="12700">
            <a:solidFill>
              <a:srgbClr val="5A7BA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11680" y="4251960"/>
            <a:ext cx="5120640" cy="457200"/>
          </a:xfrm>
          <a:prstGeom prst="rect">
            <a:avLst/>
          </a:prstGeom>
          <a:solidFill>
            <a:srgbClr val="F8FEFF"/>
          </a:solidFill>
          <a:ln w="25400">
            <a:solidFill>
              <a:srgbClr val="06D6A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11680" y="4251960"/>
            <a:ext cx="109728" cy="4572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176272" y="4297680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(Repeat N times)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176272" y="4498848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multiple encoder blocks (e.g. 12 in BERT, 6 in original paper).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" y="1965960"/>
            <a:ext cx="8942832" cy="4572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2801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Transformers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(ViT)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48640" y="34747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 Image is Worth 16×16 Words" — Dosovitskiy et al., Google Brain, 2021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AB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Transformer architecture — unchanged — to image classification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NLP to Vision: Can Transformers Handle Images?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28600" y="1005840"/>
            <a:ext cx="41148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1005840"/>
            <a:ext cx="4114800" cy="292608"/>
          </a:xfrm>
          <a:prstGeom prst="rect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03327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Transformers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1417320"/>
            <a:ext cx="384048" cy="384048"/>
          </a:xfrm>
          <a:prstGeom prst="ellipse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41248" y="138988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sequence of word tokens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1984248"/>
            <a:ext cx="384048" cy="384048"/>
          </a:xfrm>
          <a:prstGeom prst="ellipse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1956816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→ embeddings (dense vectors)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2551176"/>
            <a:ext cx="384048" cy="384048"/>
          </a:xfrm>
          <a:prstGeom prst="ellipse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551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41248" y="2523744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Positional encoding for order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118104"/>
            <a:ext cx="384048" cy="384048"/>
          </a:xfrm>
          <a:prstGeom prst="ellipse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118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41248" y="3090672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encoder processes sequence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3685032"/>
            <a:ext cx="384048" cy="384048"/>
          </a:xfrm>
          <a:prstGeom prst="ellipse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41248" y="3657600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class / next token / translation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0" y="1005840"/>
            <a:ext cx="43434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0" y="1005840"/>
            <a:ext cx="4343400" cy="292608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63440" y="10332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ViT: Transformers for Images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709160" y="1417320"/>
            <a:ext cx="384048" cy="384048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0916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184648" y="1389888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image split into 16×16 pixel patches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709160" y="1984248"/>
            <a:ext cx="384048" cy="384048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09160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184648" y="1956816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Patches → flattened + linear embedding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09160" y="2551176"/>
            <a:ext cx="384048" cy="384048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2551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184648" y="2523744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Learnable positional embeddings for patch order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709160" y="3118104"/>
            <a:ext cx="384048" cy="384048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09160" y="3118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184648" y="3090672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Transformer encoder processes patches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709160" y="3685032"/>
            <a:ext cx="384048" cy="384048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09160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184648" y="365760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CLS token used for final classification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228600" y="478231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transformer architecture is used almost unchanged — only the input representation differs.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Slice the Image into Patches</a:t>
            </a:r>
            <a:endParaRPr lang="en-US" sz="2600" dirty="0"/>
          </a:p>
        </p:txBody>
      </p:sp>
      <p:pic>
        <p:nvPicPr>
          <p:cNvPr id="5" name="Image 0" descr="https://storage.ghost.io/c/bc/24/bc2443b9-eb39-4b32-b473-8eb4576181dd/content/images/2023/12/Patch---Positi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28600" y="1005840"/>
            <a:ext cx="5120640" cy="3840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532120" y="1051560"/>
            <a:ext cx="64008" cy="804672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0" y="1060704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Size: 16×16 pixels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669280" y="1371600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224×224 image → 14×14 = 196 patches. Each patch is the transformer's "word".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532120" y="1984248"/>
            <a:ext cx="64008" cy="804672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0" y="1993392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 Each Patch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669280" y="2304288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16×16×3 (RGB) = 768 numbers per patch. Flattened to a 1D vector.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532120" y="2916936"/>
            <a:ext cx="64008" cy="804672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0" y="292608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Projection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669280" y="3236976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768-vector is projected to dimension D (e.g. 768 or 1024) via a learned weight matrix.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532120" y="3849624"/>
            <a:ext cx="64008" cy="804672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0" y="3858768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669280" y="4169664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sequence of N patch embeddings — directly usable by a standard Transformer encoder.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228600" y="482803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A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oxen.ai — Arxiv Dives: Vision Transformers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 Architecture — Full Pipeline</a:t>
            </a:r>
            <a:endParaRPr lang="en-US" sz="2600" dirty="0"/>
          </a:p>
        </p:txBody>
      </p:sp>
      <p:pic>
        <p:nvPicPr>
          <p:cNvPr id="5" name="Image 0" descr="https://storage.ghost.io/c/bc/24/bc2443b9-eb39-4b32-b473-8eb4576181dd/content/images/2023/12/Image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2880" y="987552"/>
            <a:ext cx="8778240" cy="3291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82880" y="4407408"/>
            <a:ext cx="1627632" cy="59436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82880" y="4407408"/>
            <a:ext cx="1627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Patches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1938528" y="4407408"/>
            <a:ext cx="1627632" cy="59436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938528" y="4407408"/>
            <a:ext cx="1627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+ Position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694176" y="4407408"/>
            <a:ext cx="1627632" cy="59436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94176" y="4407408"/>
            <a:ext cx="1627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×N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449824" y="4407408"/>
            <a:ext cx="1627632" cy="59436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49824" y="4407408"/>
            <a:ext cx="1627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205472" y="4407408"/>
            <a:ext cx="1627632" cy="59436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205472" y="4407408"/>
            <a:ext cx="1627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82880" y="5001768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A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Dosovitskiy et al. 2021 via oxen.ai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CLS Token &amp; Positional Encoding</a:t>
            </a:r>
            <a:endParaRPr lang="en-US" sz="2600" dirty="0"/>
          </a:p>
        </p:txBody>
      </p:sp>
      <p:pic>
        <p:nvPicPr>
          <p:cNvPr id="5" name="Image 0" descr="https://storage.ghost.io/c/bc/24/bc2443b9-eb39-4b32-b473-8eb4576181dd/content/images/2023/12/Clas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28600" y="1051560"/>
            <a:ext cx="4206240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8600" y="3886200"/>
            <a:ext cx="42062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365760" y="39776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CLS Token (Learnable Classification Token)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65760" y="431596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special learnable token prepended to the patch sequence. By the end of the encoder, it aggregates information from all patches and is used for the final classification decision.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663440" y="1051560"/>
            <a:ext cx="425196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63440" y="1051560"/>
            <a:ext cx="4251960" cy="292608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54880" y="107899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Positional Encoding in ViT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709160" y="1444752"/>
            <a:ext cx="54864" cy="658368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46320" y="146304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needed?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846320" y="17373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have no built-in notion of order — without position info, all patches are treated as a bag.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709160" y="2267712"/>
            <a:ext cx="54864" cy="658368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46320" y="22860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Learnable Positions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46320" y="25603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 uses simple learnable 1D position embeddings. Despite being 1D, the model can infer 2D position because row × width gives the absolute location.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709160" y="3090672"/>
            <a:ext cx="54864" cy="658368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46320" y="31089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to patch embeddings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846320" y="3383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patch embedding = linear projection of patch pixels + position vector for its index.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709160" y="3913632"/>
            <a:ext cx="54864" cy="658368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846320" y="393192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846320" y="42062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positional encodings showed no significant improvement over 1D in ViT experiments.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182880" y="4965192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A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Dosovitskiy et al. 2021 via oxen.ai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ViT Actually Look At?</a:t>
            </a:r>
            <a:endParaRPr lang="en-US" sz="2600" dirty="0"/>
          </a:p>
        </p:txBody>
      </p:sp>
      <p:pic>
        <p:nvPicPr>
          <p:cNvPr id="5" name="Image 0" descr="https://storage.ghost.io/c/bc/24/bc2443b9-eb39-4b32-b473-8eb4576181dd/content/images/2023/12/Attenti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28600" y="1005840"/>
            <a:ext cx="5029200" cy="37490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0" y="1005840"/>
            <a:ext cx="34290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577840" y="109728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Visualisation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577840" y="1572768"/>
            <a:ext cx="256032" cy="256032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25312" y="1563624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from the start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925312" y="183794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CNNs, ViT can attend to distant patches even in its earliest layers.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577840" y="2350008"/>
            <a:ext cx="256032" cy="256032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25312" y="2340864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focus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925312" y="261518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heads learn to highlight object-relevant regions (ears, eyes, body contours).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577840" y="3127248"/>
            <a:ext cx="256032" cy="256032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925312" y="3118104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heads specialise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925312" y="339242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heads look nearby; others span the whole image — complementary coverage.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577840" y="3904488"/>
            <a:ext cx="256032" cy="256032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925312" y="3895344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925312" y="416966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weights can be visualised and mapped back to image regions, giving insight into model decisions.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82880" y="4818888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A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@mensweardog / oxen.ai — Arxiv Dives ViT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CNNs vs Vision Transformers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82880" y="1005840"/>
            <a:ext cx="2157984" cy="493776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42416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23160" y="1005840"/>
            <a:ext cx="3163824" cy="493776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14600" y="1042416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CNNs (ResNet)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0" y="1005840"/>
            <a:ext cx="3163824" cy="493776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60720" y="1042416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82880" y="1536192"/>
            <a:ext cx="2157984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572768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Inductive Bias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423160" y="1536192"/>
            <a:ext cx="3163824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14600" y="1572768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— locality + translation invariance baked in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0" y="1536192"/>
            <a:ext cx="3163824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0720" y="1572768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— must learn spatial structure from data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066544"/>
            <a:ext cx="2157984" cy="493776"/>
          </a:xfrm>
          <a:prstGeom prst="rect">
            <a:avLst/>
          </a:prstGeom>
          <a:solidFill>
            <a:srgbClr val="F0F8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2103120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Datasets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423160" y="2066544"/>
            <a:ext cx="3163824" cy="493776"/>
          </a:xfrm>
          <a:prstGeom prst="rect">
            <a:avLst/>
          </a:prstGeom>
          <a:solidFill>
            <a:srgbClr val="F0F8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14600" y="2103120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Works well with less data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0" y="2066544"/>
            <a:ext cx="3163824" cy="493776"/>
          </a:xfrm>
          <a:prstGeom prst="rect">
            <a:avLst/>
          </a:prstGeom>
          <a:solidFill>
            <a:srgbClr val="F0F8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60720" y="2103120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Needs large datasets to match CNN accuracy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82880" y="2596896"/>
            <a:ext cx="2157984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2633472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Datasets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423160" y="2596896"/>
            <a:ext cx="3163824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14600" y="2633472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performance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0" y="2596896"/>
            <a:ext cx="3163824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760720" y="2633472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Matches or exceeds CNNs at 14M–300M images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182880" y="3127248"/>
            <a:ext cx="2157984" cy="493776"/>
          </a:xfrm>
          <a:prstGeom prst="rect">
            <a:avLst/>
          </a:prstGeom>
          <a:solidFill>
            <a:srgbClr val="F0F8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3163824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423160" y="3127248"/>
            <a:ext cx="3163824" cy="493776"/>
          </a:xfrm>
          <a:prstGeom prst="rect">
            <a:avLst/>
          </a:prstGeom>
          <a:solidFill>
            <a:srgbClr val="F0F8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14600" y="3163824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many stacked layers to reach far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0" y="3127248"/>
            <a:ext cx="3163824" cy="493776"/>
          </a:xfrm>
          <a:prstGeom prst="rect">
            <a:avLst/>
          </a:prstGeom>
          <a:solidFill>
            <a:srgbClr val="F0F8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60720" y="3163824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Global attention in every single layer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82880" y="3657600"/>
            <a:ext cx="2157984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" y="3694176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Efficiency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2423160" y="3657600"/>
            <a:ext cx="3163824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14600" y="3694176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compute per image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669280" y="3657600"/>
            <a:ext cx="3163824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760720" y="3694176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More efficient per FLOP — better GPU parallelism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182880" y="4187952"/>
            <a:ext cx="2157984" cy="493776"/>
          </a:xfrm>
          <a:prstGeom prst="rect">
            <a:avLst/>
          </a:prstGeom>
          <a:solidFill>
            <a:srgbClr val="F0F8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4224528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Interpretability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2423160" y="4187952"/>
            <a:ext cx="3163824" cy="493776"/>
          </a:xfrm>
          <a:prstGeom prst="rect">
            <a:avLst/>
          </a:prstGeom>
          <a:solidFill>
            <a:srgbClr val="F0F8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14600" y="4224528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(activation maps)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5669280" y="4187952"/>
            <a:ext cx="3163824" cy="493776"/>
          </a:xfrm>
          <a:prstGeom prst="rect">
            <a:avLst/>
          </a:prstGeom>
          <a:solidFill>
            <a:srgbClr val="F0F8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60720" y="4224528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Attention weights visualisable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182880" y="481888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ViT's lower inductive bias is a weakness on small data but a strength at scale.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" y="2011680"/>
            <a:ext cx="8942832" cy="4572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258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DETR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(Detection Transformer)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48640" y="3520440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E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"End-to-End Object Detection with Transformers" — Carion et al., Facebook AI Research, 2020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977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CA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anchors.  No NMS.  One unified end-to-end model.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Object Detection — What's Wrong?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1005840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Detectors like Faster R-CNN rely on hand-crafted components that complicate training.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228600" y="1508760"/>
            <a:ext cx="42519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1508760"/>
            <a:ext cx="4251960" cy="292608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508760"/>
            <a:ext cx="384048" cy="384048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" y="154533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 Boxes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1874520"/>
            <a:ext cx="3977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Pre-defined boxes of different sizes and ratios must be manually tuned per dataset. A hyper-parameter nightmare.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663440" y="1508760"/>
            <a:ext cx="42519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1508760"/>
            <a:ext cx="4251960" cy="29260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0" y="1508760"/>
            <a:ext cx="384048" cy="384048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230368" y="154533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Proposal Network (RPN)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00600" y="1874520"/>
            <a:ext cx="3977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sub-network proposes candidate regions before classification. Two-stage = more complexity.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28600" y="3108960"/>
            <a:ext cx="42519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28600" y="3108960"/>
            <a:ext cx="4251960" cy="292608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" y="3108960"/>
            <a:ext cx="384048" cy="384048"/>
          </a:xfrm>
          <a:prstGeom prst="ellips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95528" y="314553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Non-Maximum Suppression (NMS)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3474720"/>
            <a:ext cx="3977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duplicate detections post-prediction. Hand-tuned threshold, not learned, not differentiable.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663440" y="3108960"/>
            <a:ext cx="42519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3108960"/>
            <a:ext cx="4251960" cy="2926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54880" y="3108960"/>
            <a:ext cx="384048" cy="38404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230368" y="314553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Fragile Pipeline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800600" y="3474720"/>
            <a:ext cx="3977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component is trained or tuned separately. Errors cascade and the system is hard to optimise end-to-end.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228600" y="48006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DETR eliminates all of these in a single, trainable end-to-end architecture.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DETR — The Core Idea: Set Prediction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8595360" cy="841248"/>
          </a:xfrm>
          <a:prstGeom prst="rect">
            <a:avLst/>
          </a:prstGeom>
          <a:solidFill>
            <a:srgbClr val="FFF8E0"/>
          </a:solidFill>
          <a:ln w="25400">
            <a:solidFill>
              <a:srgbClr val="FFD1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6984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detection as a direct set prediction problem.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143560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an image, predict a set of (class, bounding box) pairs — no ordering, no duplicates, all in one pass.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28600" y="2011680"/>
            <a:ext cx="4224528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2148840"/>
            <a:ext cx="384048" cy="38404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50392" y="218084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N Predictions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2450592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DETR always predicts exactly N=100 object slots. Slots that correspond to "no object" output a special ∅ (no-object) class.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81728" y="2011680"/>
            <a:ext cx="4224528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18888" y="2080260"/>
            <a:ext cx="384048" cy="38404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20802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303520" y="211226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Queries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18888" y="2450592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learnable embeddings fed into the decoder. Each query learns to ask about objects at specific image locations.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28600" y="3337560"/>
            <a:ext cx="4224528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5760" y="3406140"/>
            <a:ext cx="384048" cy="38404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4061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0392" y="343814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Bipartite Matching (Training)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760" y="3776472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Hungarian algorithm finds the optimal 1-to-1 match between predictions and ground truth. Ensures unique assignments.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81728" y="3337560"/>
            <a:ext cx="4224528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18888" y="3410712"/>
            <a:ext cx="384048" cy="38404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18888" y="3410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03520" y="344271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Training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18888" y="3776472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system — backbone, encoder, decoder, prediction heads — is trained with a single loss function jointly.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DETR Architecture — Full Pipeline</a:t>
            </a:r>
            <a:endParaRPr lang="en-US" sz="2600" dirty="0"/>
          </a:p>
        </p:txBody>
      </p:sp>
      <p:pic>
        <p:nvPicPr>
          <p:cNvPr id="5" name="Image 0" descr="https://storage.ghost.io/c/2c/8d/2c8d8c0d-1c15-4b6d-825e-02b78d61d40a/content/images/2026/01/1-12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2880" y="960120"/>
            <a:ext cx="8778240" cy="3200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82880" y="4279392"/>
            <a:ext cx="2084832" cy="640080"/>
          </a:xfrm>
          <a:prstGeom prst="rect">
            <a:avLst/>
          </a:prstGeom>
          <a:solidFill>
            <a:srgbClr val="95A5A6"/>
          </a:solidFill>
          <a:ln w="12700">
            <a:solidFill>
              <a:srgbClr val="95A5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82880" y="4279392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Backbone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395728" y="4279392"/>
            <a:ext cx="2084832" cy="6400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395728" y="4279392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08576" y="4279392"/>
            <a:ext cx="2084832" cy="64008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08576" y="4279392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821424" y="4279392"/>
            <a:ext cx="2084832" cy="64008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21424" y="4279392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Heads (FFN)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82880" y="4974336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A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Carion et al. 2020 via blog.roboflow.com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DETR — Component by Component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82880" y="1024128"/>
            <a:ext cx="8732520" cy="694944"/>
          </a:xfrm>
          <a:prstGeom prst="rect">
            <a:avLst/>
          </a:prstGeom>
          <a:solidFill>
            <a:srgbClr val="F8FE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" y="1024128"/>
            <a:ext cx="73152" cy="694944"/>
          </a:xfrm>
          <a:prstGeom prst="rect">
            <a:avLst/>
          </a:prstGeom>
          <a:solidFill>
            <a:srgbClr val="7F8C8D"/>
          </a:solidFill>
          <a:ln w="12700">
            <a:solidFill>
              <a:srgbClr val="7F8C8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1147572"/>
            <a:ext cx="384048" cy="384048"/>
          </a:xfrm>
          <a:prstGeom prst="ellipse">
            <a:avLst/>
          </a:prstGeom>
          <a:solidFill>
            <a:srgbClr val="7F8C8D"/>
          </a:solidFill>
          <a:ln w="12700">
            <a:solidFill>
              <a:srgbClr val="7F8C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1475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12024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Backbone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54680" y="1097280"/>
            <a:ext cx="5650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ResNet-50/101 extracts a feature map from the input image. Output: H/32 × W/32 × C spatial feature grid, flattened to a sequence.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90672" y="1161288"/>
            <a:ext cx="36576" cy="420624"/>
          </a:xfrm>
          <a:prstGeom prst="rect">
            <a:avLst/>
          </a:prstGeom>
          <a:solidFill>
            <a:srgbClr val="D0E8F5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82880" y="1792224"/>
            <a:ext cx="873252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2880" y="1792224"/>
            <a:ext cx="73152" cy="694944"/>
          </a:xfrm>
          <a:prstGeom prst="rect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" y="1915668"/>
            <a:ext cx="384048" cy="384048"/>
          </a:xfrm>
          <a:prstGeom prst="ellipse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19156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19705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Positional Encoding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154680" y="1865376"/>
            <a:ext cx="5650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(2D) positional encodings added to feature map. Unlike NLP (1D), object positions are 2-dimensional.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090672" y="1929384"/>
            <a:ext cx="36576" cy="420624"/>
          </a:xfrm>
          <a:prstGeom prst="rect">
            <a:avLst/>
          </a:prstGeom>
          <a:solidFill>
            <a:srgbClr val="D0E8F5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2880" y="2560320"/>
            <a:ext cx="8732520" cy="694944"/>
          </a:xfrm>
          <a:prstGeom prst="rect">
            <a:avLst/>
          </a:prstGeom>
          <a:solidFill>
            <a:srgbClr val="F8FE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82880" y="2560320"/>
            <a:ext cx="73152" cy="6949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" y="2683764"/>
            <a:ext cx="384048" cy="38404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6837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" y="27386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Encoder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154680" y="2633472"/>
            <a:ext cx="5650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Flattened features processed with self-attention. Each position can reason about every other position in the image.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090672" y="2697480"/>
            <a:ext cx="36576" cy="420624"/>
          </a:xfrm>
          <a:prstGeom prst="rect">
            <a:avLst/>
          </a:prstGeom>
          <a:solidFill>
            <a:srgbClr val="D0E8F5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2880" y="3328416"/>
            <a:ext cx="873252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2880" y="3328416"/>
            <a:ext cx="73152" cy="694944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" y="3451860"/>
            <a:ext cx="384048" cy="384048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34518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22960" y="350672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Queries (Decoder)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154680" y="3401568"/>
            <a:ext cx="5650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N=100 learnable embeddings. Each query specialises in detecting objects in certain regions. Cross-attends to encoder output.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090672" y="3465576"/>
            <a:ext cx="36576" cy="420624"/>
          </a:xfrm>
          <a:prstGeom prst="rect">
            <a:avLst/>
          </a:prstGeom>
          <a:solidFill>
            <a:srgbClr val="D0E8F5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82880" y="4096512"/>
            <a:ext cx="8732520" cy="694944"/>
          </a:xfrm>
          <a:prstGeom prst="rect">
            <a:avLst/>
          </a:prstGeom>
          <a:solidFill>
            <a:srgbClr val="F8FEFF"/>
          </a:solidFill>
          <a:ln w="12700">
            <a:solidFill>
              <a:srgbClr val="D0E8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82880" y="4096512"/>
            <a:ext cx="73152" cy="694944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" y="4219956"/>
            <a:ext cx="384048" cy="38404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0040" y="42199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22960" y="42748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FFNs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154680" y="4169664"/>
            <a:ext cx="5650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parallel MLP heads per query: (1) class label prediction, (2) bounding box coordinates (normalised cx, cy, w, h).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090672" y="4233672"/>
            <a:ext cx="36576" cy="420624"/>
          </a:xfrm>
          <a:prstGeom prst="rect">
            <a:avLst/>
          </a:prstGeom>
          <a:solidFill>
            <a:srgbClr val="D0E8F5"/>
          </a:solidFill>
          <a:ln w="12700">
            <a:solidFill>
              <a:srgbClr val="D0E8F5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DETR — Transformer Encoder-Decoder Detail</a:t>
            </a:r>
            <a:endParaRPr lang="en-US" sz="2600" dirty="0"/>
          </a:p>
        </p:txBody>
      </p:sp>
      <p:pic>
        <p:nvPicPr>
          <p:cNvPr id="5" name="Image 0" descr="https://storage.ghost.io/c/2c/8d/2c8d8c0d-1c15-4b6d-825e-02b78d61d40a/content/images/2026/01/2-8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28600" y="1005840"/>
            <a:ext cx="5303520" cy="37490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760720" y="1005840"/>
            <a:ext cx="31546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852160" y="111556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vs Decoder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806440" y="1554480"/>
            <a:ext cx="54864" cy="65836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43600" y="158191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(top)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943600" y="184708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 on image features. All spatial positions reason about each other.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806440" y="2350008"/>
            <a:ext cx="54864" cy="658368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0" y="237744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(bottom)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943600" y="2642616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queries cross-attend to encoder output. Each query produces one detection.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806440" y="3145536"/>
            <a:ext cx="54864" cy="658368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943600" y="31729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Multi-head Attn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943600" y="3438144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encoder and decoder use the same multi-head attention mechanism we studied in Part 1.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806440" y="3941064"/>
            <a:ext cx="54864" cy="658368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943600" y="396849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decoding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943600" y="4233672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 queries are decoded simultaneously — unlike language models, no autoregression.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82880" y="4818888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A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Carion et al. 2020 via blog.roboflow.com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Bipartite Matching — How DETR Trains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8595360" cy="658368"/>
          </a:xfrm>
          <a:prstGeom prst="rect">
            <a:avLst/>
          </a:prstGeom>
          <a:solidFill>
            <a:srgbClr val="FFF8E0"/>
          </a:solidFill>
          <a:ln w="19050">
            <a:solidFill>
              <a:srgbClr val="FFD1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6984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Challenge: 100 predictions, but only 3 ground truth objects. Which prediction should be penalised for which mistake?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28600" y="1828800"/>
            <a:ext cx="422452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920240"/>
            <a:ext cx="384048" cy="384048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50392" y="195224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Cost Matrix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2304288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predicted box vs every ground truth object, compute a cost combining class probability and box distance.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81728" y="1828800"/>
            <a:ext cx="422452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18888" y="1920240"/>
            <a:ext cx="384048" cy="38404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18888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303520" y="195224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Hungarian Algorithm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18888" y="2304288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optimal 1-to-1 assignment minimising total cost. Each ground truth is matched to exactly one prediction.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8600" y="3255264"/>
            <a:ext cx="422452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3323844"/>
            <a:ext cx="384048" cy="384048"/>
          </a:xfrm>
          <a:prstGeom prst="ellipse">
            <a:avLst/>
          </a:prstGeom>
          <a:solidFill>
            <a:srgbClr val="7F8C8D"/>
          </a:solidFill>
          <a:ln w="12700">
            <a:solidFill>
              <a:srgbClr val="7F8C8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3238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50392" y="33558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Unmatched → ∅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3730752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N−|GT| predictions are assigned to the 'no-object' class (∅). Loss encourages them to predict background.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81728" y="3255264"/>
            <a:ext cx="422452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18888" y="3319272"/>
            <a:ext cx="384048" cy="384048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18888" y="3319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03520" y="335127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Loss &amp; Backprop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18888" y="3730752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cross-entropy for class labels + L1 + GIoU loss for bounding boxes. The whole model trained jointly.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28600" y="48006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elegant matching is what allows DETR to train without hand-crafted anchors or NMS.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DETR — Strengths &amp; Limitations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28600" y="1005840"/>
            <a:ext cx="411480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1005840"/>
            <a:ext cx="4114800" cy="292608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03327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Strengths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1417320"/>
            <a:ext cx="384048" cy="384048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41248" y="1399032"/>
            <a:ext cx="3337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— no anchors, no NMS needed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11680"/>
            <a:ext cx="384048" cy="384048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1993392"/>
            <a:ext cx="3337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decoding — all objects at once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2606040"/>
            <a:ext cx="384048" cy="384048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41248" y="2587752"/>
            <a:ext cx="3337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at detecting occluded objects via global attention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200400"/>
            <a:ext cx="384048" cy="384048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41248" y="3182112"/>
            <a:ext cx="3337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clean architecture — easy to extend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3794760"/>
            <a:ext cx="384048" cy="384048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41248" y="3776472"/>
            <a:ext cx="3337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Naturally handles varying object counts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0" y="1005840"/>
            <a:ext cx="434340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0" y="1005840"/>
            <a:ext cx="4343400" cy="292608"/>
          </a:xfrm>
          <a:prstGeom prst="rect">
            <a:avLst/>
          </a:prstGeom>
          <a:solidFill>
            <a:srgbClr val="E55039"/>
          </a:solidFill>
          <a:ln w="12700">
            <a:solidFill>
              <a:srgbClr val="E5503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63440" y="10332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Limitations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709160" y="1417320"/>
            <a:ext cx="384048" cy="384048"/>
          </a:xfrm>
          <a:prstGeom prst="ellipse">
            <a:avLst/>
          </a:prstGeom>
          <a:solidFill>
            <a:srgbClr val="E55039"/>
          </a:solidFill>
          <a:ln w="12700">
            <a:solidFill>
              <a:srgbClr val="E5503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0916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184648" y="1399032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training — 500 epochs needed vs ~36 for Faster R-CNN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709160" y="2011680"/>
            <a:ext cx="384048" cy="384048"/>
          </a:xfrm>
          <a:prstGeom prst="ellipse">
            <a:avLst/>
          </a:prstGeom>
          <a:solidFill>
            <a:srgbClr val="E55039"/>
          </a:solidFill>
          <a:ln w="12700">
            <a:solidFill>
              <a:srgbClr val="E5503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0916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184648" y="1993392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query count — must set N in advance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09160" y="2606040"/>
            <a:ext cx="384048" cy="384048"/>
          </a:xfrm>
          <a:prstGeom prst="ellipse">
            <a:avLst/>
          </a:prstGeom>
          <a:solidFill>
            <a:srgbClr val="E55039"/>
          </a:solidFill>
          <a:ln w="12700">
            <a:solidFill>
              <a:srgbClr val="E5503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184648" y="2587752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Struggles with small objects (limited spatial resolution)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709160" y="3200400"/>
            <a:ext cx="384048" cy="384048"/>
          </a:xfrm>
          <a:prstGeom prst="ellipse">
            <a:avLst/>
          </a:prstGeom>
          <a:solidFill>
            <a:srgbClr val="E55039"/>
          </a:solidFill>
          <a:ln w="12700">
            <a:solidFill>
              <a:srgbClr val="E5503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0916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184648" y="3182112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Computationally heavy — full image attention is expensive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709160" y="3794760"/>
            <a:ext cx="384048" cy="384048"/>
          </a:xfrm>
          <a:prstGeom prst="ellipse">
            <a:avLst/>
          </a:prstGeom>
          <a:solidFill>
            <a:srgbClr val="E55039"/>
          </a:solidFill>
          <a:ln w="12700">
            <a:solidFill>
              <a:srgbClr val="E5503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0916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184648" y="3776472"/>
            <a:ext cx="3566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Superseded by RT-DETR and other successors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228600" y="484632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i="1" dirty="0">
                <a:solidFill>
                  <a:srgbClr val="5A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DETR's importance is architectural — it proved transformers can replace the full detection pipeline end-to-end.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DETR Performance vs Faster R-CNN (COCO)</a:t>
            </a:r>
            <a:endParaRPr lang="en-US" sz="2600" dirty="0"/>
          </a:p>
        </p:txBody>
      </p:sp>
      <p:pic>
        <p:nvPicPr>
          <p:cNvPr id="5" name="Image 0" descr="https://storage.ghost.io/c/2c/8d/2c8d8c0d-1c15-4b6d-825e-02b78d61d40a/content/images/2026/01/3-8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28600" y="1005840"/>
            <a:ext cx="8686800" cy="3200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8600" y="4343400"/>
            <a:ext cx="54864" cy="64008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65760" y="436168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accuracy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65760" y="463600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DETR-DC5-R101 achieves 44.9 AP on COCO — on par with Faster R-CNN baselines.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172968" y="4343400"/>
            <a:ext cx="54864" cy="64008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310128" y="436168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DC5 = dilated backbone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310128" y="463600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Dilated C5 stage improves feature resolution, especially for small objects.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117336" y="4343400"/>
            <a:ext cx="54864" cy="64008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54496" y="436168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proof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254496" y="463600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DETR showed that a pure transformer approach to detection is viable — paving the way for successors.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82880" y="5029200"/>
            <a:ext cx="8778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A7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Carion et al. 2020 via blog.roboflow.com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the Dots: One Mechanism, Three Applications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1005840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 is the engine. ViT and DETR are two ways to drive it in computer vision.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" y="1536192"/>
            <a:ext cx="283464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1536192"/>
            <a:ext cx="2834640" cy="2926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56362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188366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mechanism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267712"/>
            <a:ext cx="384048" cy="38404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95528" y="219456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Q, K, V from same input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907792"/>
            <a:ext cx="384048" cy="38404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907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95528" y="283464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Scaled dot-product formula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547872"/>
            <a:ext cx="384048" cy="38404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547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95528" y="347472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Multi-head = multiple views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4187952"/>
            <a:ext cx="384048" cy="38404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4187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95528" y="411480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what to attend to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0" y="1536192"/>
            <a:ext cx="283464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00400" y="1536192"/>
            <a:ext cx="2834640" cy="292608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0" y="156362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Transformer (ViT)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291840" y="188366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as sequences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37560" y="2267712"/>
            <a:ext cx="384048" cy="384048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3756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767328" y="219456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→ patches → tokens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337560" y="2907792"/>
            <a:ext cx="384048" cy="384048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37560" y="2907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767328" y="283464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CLS token for classification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337560" y="3547872"/>
            <a:ext cx="384048" cy="384048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37560" y="3547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767328" y="347472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Encoder-only architecture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337560" y="4187952"/>
            <a:ext cx="384048" cy="384048"/>
          </a:xfrm>
          <a:prstGeom prst="ellipse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37560" y="4187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767328" y="411480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at Google scale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172200" y="1536192"/>
            <a:ext cx="283464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F5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172200" y="1536192"/>
            <a:ext cx="2834640" cy="292608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63640" y="156362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DETR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263640" y="188366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as set prediction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09360" y="2267712"/>
            <a:ext cx="384048" cy="38404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0936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739128" y="219456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features → encoder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09360" y="2907792"/>
            <a:ext cx="384048" cy="38404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09360" y="2907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6739128" y="283464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queries → decoder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309360" y="3547872"/>
            <a:ext cx="384048" cy="38404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9360" y="3547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739128" y="347472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Bipartite matching loss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309360" y="4187952"/>
            <a:ext cx="384048" cy="38404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9360" y="4187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6739128" y="411480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anchors, no NMS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01168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14 —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777240"/>
            <a:ext cx="850392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960120"/>
            <a:ext cx="8549640" cy="603504"/>
          </a:xfrm>
          <a:prstGeom prst="rect">
            <a:avLst/>
          </a:prstGeom>
          <a:solidFill>
            <a:srgbClr val="132035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960120"/>
            <a:ext cx="73152" cy="60350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9966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2710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Allows every token to directly attend to every other — solving RNNs' sequential bottleneck.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1627632"/>
            <a:ext cx="8549640" cy="603504"/>
          </a:xfrm>
          <a:prstGeom prst="rect">
            <a:avLst/>
          </a:prstGeom>
          <a:solidFill>
            <a:srgbClr val="132035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627632"/>
            <a:ext cx="73152" cy="60350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642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QKV Formula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1938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Attention(Q,K,V) = softmax(QKᵀ / √dk) × V — compute scores, scale, normalise, blend.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" y="2295144"/>
            <a:ext cx="8549640" cy="603504"/>
          </a:xfrm>
          <a:prstGeom prst="rect">
            <a:avLst/>
          </a:prstGeom>
          <a:solidFill>
            <a:srgbClr val="132035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" y="2295144"/>
            <a:ext cx="73152" cy="60350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3317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Multi-Head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26060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attention heads capture different relationship types simultaneously (syntax, semantics, long-range).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2962656"/>
            <a:ext cx="8549640" cy="603504"/>
          </a:xfrm>
          <a:prstGeom prst="rect">
            <a:avLst/>
          </a:prstGeom>
          <a:solidFill>
            <a:srgbClr val="132035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2962656"/>
            <a:ext cx="73152" cy="603504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9992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32735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split into 16×16 patches treated as tokens. Works better than CNNs at large data scale.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0040" y="3630168"/>
            <a:ext cx="8549640" cy="603504"/>
          </a:xfrm>
          <a:prstGeom prst="rect">
            <a:avLst/>
          </a:prstGeom>
          <a:solidFill>
            <a:srgbClr val="132035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" y="3630168"/>
            <a:ext cx="73152" cy="603504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366674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" y="394106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detection reframed as set prediction. Object queries + bipartite matching replace anchors and NMS.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" y="4297680"/>
            <a:ext cx="8549640" cy="603504"/>
          </a:xfrm>
          <a:prstGeom prst="rect">
            <a:avLst/>
          </a:prstGeom>
          <a:solidFill>
            <a:srgbClr val="132035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" y="4297680"/>
            <a:ext cx="73152" cy="603504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43342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E4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picture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" y="460857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attention mechanism, applied differently, powers image classification and object detection.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</TotalTime>
  <Words>3076</Words>
  <Application>Microsoft Office PowerPoint</Application>
  <PresentationFormat>On-screen Show (16:9)</PresentationFormat>
  <Paragraphs>466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14 – Transformers &amp; Attention Mechanisms</dc:title>
  <dc:subject>PptxGenJS Presentation</dc:subject>
  <dc:creator>PptxGenJS</dc:creator>
  <cp:lastModifiedBy>Shah Zeb</cp:lastModifiedBy>
  <cp:revision>3</cp:revision>
  <dcterms:created xsi:type="dcterms:W3CDTF">2026-05-24T15:17:35Z</dcterms:created>
  <dcterms:modified xsi:type="dcterms:W3CDTF">2026-05-25T02:36:38Z</dcterms:modified>
</cp:coreProperties>
</file>