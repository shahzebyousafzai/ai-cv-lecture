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23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97280"/>
            <a:ext cx="897940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64592" y="4023360"/>
            <a:ext cx="8979408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 ·  Vision Transformers (ViT)  ·  DETR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— Theoretical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8132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transformers let every token communicate with every other token simultaneously — the core QKV mechanism.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48132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transformer architecture to images by treating patches as tokens — no convolutions needed.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43000"/>
            <a:ext cx="27432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481328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object detection using transformers — eliminating anchors and NMS with set prediction.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Transformers? The Problem with RNNs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2926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RNNs / LSTMs — Limitations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5087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— one token at a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1305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 fade (vanishing gradients)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7523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parallelised during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37413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hidden state must carry all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97280"/>
            <a:ext cx="425196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Transformers — Solutions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3619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150876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— all tokens at once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157984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13055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 — any token can attend to any other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779776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275234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efficiently on GPUs and TPUs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40156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337413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shared directly, not bottlenecked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Vaswani et al., 2017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Attention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can directly communicate with every other token — in parallel.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1005840"/>
          </a:xfrm>
          <a:prstGeom prst="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 mat" — to understand what "sat" means, the model asks: which other words are relevant to me? It finds "cat" (the subject) and "mat" (the location) directly, without scanning sequentially.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88720" cy="475488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697480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697480"/>
            <a:ext cx="118872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1188720" cy="475488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2697480"/>
            <a:ext cx="1188720" cy="475488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2697480"/>
            <a:ext cx="118872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697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45920" y="3291840"/>
            <a:ext cx="2743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3291840"/>
            <a:ext cx="2743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73352" y="3749040"/>
            <a:ext cx="1371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"sat" attends to "cat" and "mat"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attention weights are learned — the model decides what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0: Words → Vectors (Embeddings)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attention, each token is converted to a dense numerical vector that captures its meaning.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Embedding Vector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 →  [ 0.23, -0.14, 0.87, 0.05, … ]  (512 dims)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words have similar vectors: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"cat" ≈ "dog" (both animals)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"cat" ≠ "airplane" (very different)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space encodes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 as geometry.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4480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as a Matrix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2029968"/>
            <a:ext cx="457200" cy="310896"/>
          </a:xfrm>
          <a:prstGeom prst="rect">
            <a:avLst/>
          </a:prstGeom>
          <a:solidFill>
            <a:srgbClr val="E8F4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299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56048" y="2029968"/>
            <a:ext cx="3566160" cy="310896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202996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377440"/>
            <a:ext cx="457200" cy="310896"/>
          </a:xfrm>
          <a:prstGeom prst="rect">
            <a:avLst/>
          </a:prstGeom>
          <a:solidFill>
            <a:srgbClr val="E8F4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774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56048" y="2377440"/>
            <a:ext cx="3566160" cy="310896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37744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2724912"/>
            <a:ext cx="45720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724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2724912"/>
            <a:ext cx="3566160" cy="310896"/>
          </a:xfrm>
          <a:prstGeom prst="rect">
            <a:avLst/>
          </a:prstGeom>
          <a:solidFill>
            <a:srgbClr val="D0EEFA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272491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072384"/>
            <a:ext cx="457200" cy="310896"/>
          </a:xfrm>
          <a:prstGeom prst="rect">
            <a:avLst/>
          </a:prstGeom>
          <a:solidFill>
            <a:srgbClr val="E8F4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0723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3072384"/>
            <a:ext cx="3566160" cy="310896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07238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419856"/>
            <a:ext cx="457200" cy="310896"/>
          </a:xfrm>
          <a:prstGeom prst="rect">
            <a:avLst/>
          </a:prstGeom>
          <a:solidFill>
            <a:srgbClr val="E8F4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4198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56048" y="3419856"/>
            <a:ext cx="3566160" cy="310896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341985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3767328"/>
            <a:ext cx="457200" cy="310896"/>
          </a:xfrm>
          <a:prstGeom prst="rect">
            <a:avLst/>
          </a:prstGeom>
          <a:solidFill>
            <a:srgbClr val="E8F4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37673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56048" y="3767328"/>
            <a:ext cx="3566160" cy="310896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76732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[ 0.xx, -0.xx, 0.xx, … × 512 ]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80560" y="4187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shape: (6 tokens × 512 dimensions)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The Q, K, V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plays three roles simultaneously — Query, Key, and Value.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627632"/>
            <a:ext cx="1005840" cy="10058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am I looking for?"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564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what the current token needs from others.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search query.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33088" y="1627632"/>
            <a:ext cx="1005840" cy="10058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10128" y="2724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0128" y="3090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represent?"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34564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Advertises what information this token can provide.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database index.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15087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77456" y="1627632"/>
            <a:ext cx="1005840" cy="10058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16276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54496" y="27249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54496" y="3090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my actual content?"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0216" y="345643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that gets passed on if attention is high.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actual data returned.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created by multiplying the same input embedding by three different learned weight matrices: W_Q, W_K, W_V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Attention as a Soft Database Lookup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attention like a fuzzy search engine that returns blended results instead of exact matches.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1965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21031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04288" y="2103120"/>
            <a:ext cx="3063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8296" y="210312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31536" y="2103120"/>
            <a:ext cx="3246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5544" y="21031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196596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146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04288" y="2505456"/>
            <a:ext cx="306324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146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you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31536" y="2505456"/>
            <a:ext cx="324612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25146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token is looking for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17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04288" y="3008376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01752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/ index of each record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31536" y="3008376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301752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other token advertises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196596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204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04288" y="3511296"/>
            <a:ext cx="306324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52044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content of the record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31536" y="3511296"/>
            <a:ext cx="3246120" cy="47548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5204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passed if relevant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1421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233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04288" y="4014216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40233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 / ranking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31536" y="4014216"/>
            <a:ext cx="3246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weight each Value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real database, attention returns a weighted blend — all values contribute, proportional to their relevance.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Scaled Dot-Product Attention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 =  softmax( QKT / sqrt(dk) )  x  V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1993392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10312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Scores: QKᵀ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3054096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Query with every Key → measures similarity. Score = how relevant is token j to token i?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1993392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2103120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6312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√dₖ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96312" y="3054096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square root of key dimension. Prevents scores from getting too large, keeping softmax gradients healthy.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993392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2103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Weights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18304" y="3054096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scores to probabilities (0-1, sum to 1). Each weight tells us how much to attend to each position.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993392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71816" y="210312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0296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40296" y="3054096"/>
            <a:ext cx="19202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Value by its attention weight and sum. Result = new enriched representation for this token.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 — Architecture Diagram</a:t>
            </a:r>
            <a:endParaRPr lang="en-US" sz="2600" dirty="0"/>
          </a:p>
        </p:txBody>
      </p:sp>
      <p:pic>
        <p:nvPicPr>
          <p:cNvPr id="5" name="Image 0" descr="https://jtlicardo.com/assets/attention-mechanism-explained/scaled_dot_product_atten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41148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188720"/>
            <a:ext cx="43891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216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inputs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projected via W_Q, W_K, W_V weight matrices.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82880" y="1920240"/>
            <a:ext cx="43891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947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 (QKᵀ)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194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gives raw attention scores between every pair.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606040"/>
            <a:ext cx="43891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633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(÷√dₖ)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gradients. Without this, softmax becomes too peaked.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2880" y="3291840"/>
            <a:ext cx="43891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3192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scores to probability weights that sum to 1.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82880" y="3977640"/>
            <a:ext cx="4389120" cy="548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005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MatMul (×V)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values — the enriched output.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82880" y="480060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jtlicardo.com/blog/self-attention-mechanism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 Multiple Perspectives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attention function, run h parallel attention heads — each learns different relationships.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72768"/>
            <a:ext cx="20848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→ "sat"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572768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572768"/>
            <a:ext cx="2084832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Object–Preposition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32888" y="22860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"sat" → "on mat"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1572768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572768"/>
            <a:ext cx="20848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22860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 → "mat"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67144" y="1572768"/>
            <a:ext cx="2084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67144" y="1572768"/>
            <a:ext cx="208483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58584" y="1920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58584" y="2286000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"a" → "mat"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337560"/>
            <a:ext cx="8686800" cy="960120"/>
          </a:xfrm>
          <a:prstGeom prst="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01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→ Linear Projection (W_O)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7124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 outputs are concatenated and projected back to the original embedding dimension.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 heads × 64-dim each → concat to 512-dim → multiply by W_O (512×512) → final 512-dim output.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embedding_size = num_heads × head_dim  →  512 = 8 × 64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happens automatically during training — we never tell each head what to focus 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— Architecture Diagram</a:t>
            </a:r>
            <a:endParaRPr lang="en-US" sz="2600" dirty="0"/>
          </a:p>
        </p:txBody>
      </p:sp>
      <p:pic>
        <p:nvPicPr>
          <p:cNvPr id="5" name="Image 0" descr="https://jtlicardo.com/assets/attention-mechanism-explained/mh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960120"/>
            <a:ext cx="448056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09728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K, Q — same input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7472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come from the same embeddings X, projected through different linear layers.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" y="2048256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parallel heads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7472" y="2340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independently runs scaled dot-product attention, learning its own W_Q, W_K, W_V.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" y="2999232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3008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7472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of all h heads (each 64-dim) concatenated → 512-dim vector.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2880" y="3950208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(W_O)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47472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projection integrates all head outputs into one coherent representation.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2880" y="48097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jtlicardo.com/blog/self-attention-mechanism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Encoder Block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sits inside a larger block that adds normalisation and a feed-forward 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50876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95A5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508760"/>
            <a:ext cx="109728" cy="45720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5544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Embeddings + Positional Encoding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76272" y="17556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vectors with position info injected.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17136" y="1965960"/>
            <a:ext cx="109728" cy="91440"/>
          </a:xfrm>
          <a:prstGeom prst="rect">
            <a:avLst/>
          </a:prstGeom>
          <a:solidFill>
            <a:srgbClr val="5A7BA0"/>
          </a:solidFill>
          <a:ln w="12700">
            <a:solidFill>
              <a:srgbClr val="5A7B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05740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057400"/>
            <a:ext cx="10972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2103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3042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attend to each other. Core mechanism.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17136" y="2514600"/>
            <a:ext cx="109728" cy="91440"/>
          </a:xfrm>
          <a:prstGeom prst="rect">
            <a:avLst/>
          </a:prstGeom>
          <a:solidFill>
            <a:srgbClr val="5A7BA0"/>
          </a:solidFill>
          <a:ln w="12700">
            <a:solidFill>
              <a:srgbClr val="5A7B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60604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606040"/>
            <a:ext cx="109728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6517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 (Residual Connection)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76272" y="28529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added back — helps gradients flow during training.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17136" y="3063240"/>
            <a:ext cx="109728" cy="91440"/>
          </a:xfrm>
          <a:prstGeom prst="rect">
            <a:avLst/>
          </a:prstGeom>
          <a:solidFill>
            <a:srgbClr val="5A7BA0"/>
          </a:solidFill>
          <a:ln w="12700">
            <a:solidFill>
              <a:srgbClr val="5A7B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15468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154680"/>
            <a:ext cx="10972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32004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(FFN)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76272" y="34015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linear layers with ReLU. Processes each token independently.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17136" y="3611880"/>
            <a:ext cx="109728" cy="91440"/>
          </a:xfrm>
          <a:prstGeom prst="rect">
            <a:avLst/>
          </a:prstGeom>
          <a:solidFill>
            <a:srgbClr val="5A7BA0"/>
          </a:solidFill>
          <a:ln w="12700">
            <a:solidFill>
              <a:srgbClr val="5A7B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370332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3703320"/>
            <a:ext cx="109728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3749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 (Residual Connection)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76272" y="39502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skip connection after the FFN.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17136" y="4160520"/>
            <a:ext cx="109728" cy="91440"/>
          </a:xfrm>
          <a:prstGeom prst="rect">
            <a:avLst/>
          </a:prstGeom>
          <a:solidFill>
            <a:srgbClr val="5A7BA0"/>
          </a:solidFill>
          <a:ln w="12700">
            <a:solidFill>
              <a:srgbClr val="5A7B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4251960"/>
            <a:ext cx="5120640" cy="457200"/>
          </a:xfrm>
          <a:prstGeom prst="rect">
            <a:avLst/>
          </a:prstGeom>
          <a:solidFill>
            <a:srgbClr val="F8FE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4251960"/>
            <a:ext cx="109728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42976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(Repeat N times)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76272" y="44988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multiple encoder blocks (e.g. 12 in BERT, 6 in original paper).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965960"/>
            <a:ext cx="8942832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Image is Worth 16×16 Words" — Dosovitskiy et al., Google Brain, 2021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B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Transformer architecture — unchanged — to image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NLP to Vision: Can Transformers Handle Images?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Transformers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sequence of word tokens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95681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embeddings (dense vectors)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5237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for order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0906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processes sequence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class / next token / translation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343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05840"/>
            <a:ext cx="434340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33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Transformers for Images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84648" y="13898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image split into 16×16 pixel patches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98424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84648" y="195681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→ flattened + linear embedding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551176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84648" y="25237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positional embeddings for patch order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118104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84648" y="30906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Transformer encoder processes patches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368503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4648" y="36576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used for final classification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" y="47823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 is used almost unchanged — only the input representation differs.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Slice the Image into Patches</a:t>
            </a:r>
            <a:endParaRPr lang="en-US" sz="2600" dirty="0"/>
          </a:p>
        </p:txBody>
      </p:sp>
      <p:pic>
        <p:nvPicPr>
          <p:cNvPr id="5" name="Image 0" descr="https://storage.ghost.io/c/bc/24/bc2443b9-eb39-4b32-b473-8eb4576181dd/content/images/2023/12/Patch---Posi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51206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051560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060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Size: 16×16 pixels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0" y="137160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224×224 image → 14×14 = 196 patches. Each patch is the transformer's "word".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32120" y="1984248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9933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Each Patch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0" y="23042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16×16×3 (RGB) = 768 numbers per patch. Flattened to a 1D vector.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916936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9260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0" y="323697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768-vector is projected to dimension D (e.g. 768 or 1024) via a learned weight matrix.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32120" y="3849624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38587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0" y="416966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N patch embeddings — directly usable by a standard Transformer encoder.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oxen.ai — Arxiv Dives: Vision Transformers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Architecture — Full Pipeline</a:t>
            </a:r>
            <a:endParaRPr lang="en-US" sz="2600" dirty="0"/>
          </a:p>
        </p:txBody>
      </p:sp>
      <p:pic>
        <p:nvPicPr>
          <p:cNvPr id="5" name="Image 0" descr="https://storage.ghost.io/c/bc/24/bc2443b9-eb39-4b32-b473-8eb4576181dd/content/images/2023/12/Image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87552"/>
            <a:ext cx="87782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4407408"/>
            <a:ext cx="162763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40740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Patches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38528" y="4407408"/>
            <a:ext cx="162763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8528" y="440740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 Position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94176" y="4407408"/>
            <a:ext cx="162763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4176" y="440740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49824" y="4407408"/>
            <a:ext cx="162763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9824" y="440740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05472" y="4407408"/>
            <a:ext cx="1627632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05472" y="4407408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82880" y="5001768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Dosovitskiy et al. 2021 via oxen.ai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&amp; Positional Encoding</a:t>
            </a:r>
            <a:endParaRPr lang="en-US" sz="2600" dirty="0"/>
          </a:p>
        </p:txBody>
      </p:sp>
      <p:pic>
        <p:nvPicPr>
          <p:cNvPr id="5" name="Image 0" descr="https://storage.ghost.io/c/bc/24/bc2443b9-eb39-4b32-b473-8eb4576181dd/content/images/2023/12/Cla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51560"/>
            <a:ext cx="420624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38862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(Learnable Classification Token)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3159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learnable token prepended to the patch sequence. By the end of the encoder, it aggregates information from all patches and is used for the final classification decision.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251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51560"/>
            <a:ext cx="425196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078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in ViT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444752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have no built-in notion of order — without position info, all patches are treated as a bag.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09160" y="2267712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Learnable Positions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uses simple learnable 1D position embeddings. Despite being 1D, the model can infer 2D position because row × width gives the absolute location.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090672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patch embeddings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patch embedding = linear projection of patch pixels + position vector for its index.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3913632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positional encodings showed no significant improvement over 1D in ViT experiments.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Dosovitskiy et al. 2021 via oxen.ai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ViT Actually Look At?</a:t>
            </a:r>
            <a:endParaRPr lang="en-US" sz="2600" dirty="0"/>
          </a:p>
        </p:txBody>
      </p:sp>
      <p:pic>
        <p:nvPicPr>
          <p:cNvPr id="5" name="Image 0" descr="https://storage.ghost.io/c/bc/24/bc2443b9-eb39-4b32-b473-8eb4576181dd/content/images/2023/12/Atten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50292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005840"/>
            <a:ext cx="34290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Visualisation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572768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5312" y="156362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from the start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25312" y="18379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CNNs, ViT can attend to distant patches even in its earliest layers.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350008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23408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focus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25312" y="26151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 learn to highlight object-relevant regions (ears, eyes, body contours).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3127248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31181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heads specialise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25312" y="339242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heads look nearby; others span the whole image — complementary coverage.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3904488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38953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25312" y="41696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can be visualised and mapped back to image regions, giving insight into model decisions.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82880" y="48188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@mensweardog / oxen.ai — Arxiv Dives ViT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vs Vision Transformers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157984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424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3163824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42416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(ResNet)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3163824" cy="4937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042416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1536192"/>
            <a:ext cx="2157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727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1536192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7276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locality + translation invariance baked 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536192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57276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must learn spatial structure from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066544"/>
            <a:ext cx="215798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031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3160" y="2066544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1031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well with less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066544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1031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Needs large datasets to match CNN accuracy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2596896"/>
            <a:ext cx="2157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3347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23160" y="2596896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2633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performance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2596896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633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Matches or exceeds CNNs at 14M–300M images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" y="3127248"/>
            <a:ext cx="215798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6382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23160" y="3127248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16382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stacked layers to reach far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3127248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16382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Global attention in every single layer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3657600"/>
            <a:ext cx="2157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69417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Efficiency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23160" y="3657600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3694176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 per image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3657600"/>
            <a:ext cx="31638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694176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More efficient per FLOP — better GPU parallelism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2880" y="4187952"/>
            <a:ext cx="215798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245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423160" y="4187952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422452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(activation maps)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0" y="4187952"/>
            <a:ext cx="3163824" cy="493776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422452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Attention weights visualisable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82880" y="48188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ViT's lower inductive bias is a weakness on small data but a strength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0"/>
            <a:ext cx="894283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(Detection Transformer)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E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"End-to-End Object Detection with Transformers" — Carion et al., Facebook AI Research, 2020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A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anchors.  No NMS.  One unified end-to-end model.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Object Detection — What's Wrong?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like Faster R-CNN rely on hand-crafted components that complicate training.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08760"/>
            <a:ext cx="425196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boxes of different sizes and ratios must be manually tuned per dataset. A hyper-parameter nightmare.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425196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1545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 Network (RPN)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sub-network proposes candidate regions before classification. Two-stage = more complexity.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31089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108960"/>
            <a:ext cx="425196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08960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(NMS)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detections post-prediction. Hand-tuned threshold, not learned, not differentiable.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108960"/>
            <a:ext cx="42519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10896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47472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trained or tuned separately. Errors cascade and the system is hard to optimise end-to-end.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eliminates all of these in a single, trainable end-to-end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— The Core Idea: Set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41248"/>
          </a:xfrm>
          <a:prstGeom prst="rect">
            <a:avLst/>
          </a:prstGeom>
          <a:solidFill>
            <a:srgbClr val="FFF8E0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as a direct set prediction problem.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image, predict a set of (class, bounding box) pairs — no ordering, no duplicates, all in one pass.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2011680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1808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 Predictions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always predicts exactly N=100 object slots. Slots that correspond to "no object" output a special ∅ (no-object) class.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011680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2080260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80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Queries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24505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learnable embeddings fed into the decoder. Each query learns to ask about objects at specific image locations.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3337560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6140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06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 (Training)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764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finds the optimal 1-to-1 match between predictions and ground truth. Ensures unique assignments.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3337560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3410712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4427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37764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system — backbone, encoder, decoder, prediction heads — is trained with a single loss function jointly.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Architecture — Full Pipeline</a:t>
            </a:r>
            <a:endParaRPr lang="en-US" sz="2600" dirty="0"/>
          </a:p>
        </p:txBody>
      </p:sp>
      <p:pic>
        <p:nvPicPr>
          <p:cNvPr id="5" name="Image 0" descr="https://storage.ghost.io/c/2c/8d/2c8d8c0d-1c15-4b6d-825e-02b78d61d40a/content/images/2026/01/1-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60120"/>
            <a:ext cx="87782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4279392"/>
            <a:ext cx="2084832" cy="6400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95728" y="4279392"/>
            <a:ext cx="208483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95728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08576" y="4279392"/>
            <a:ext cx="2084832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21424" y="4279392"/>
            <a:ext cx="2084832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21424" y="427939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(FFN)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Carion et al. 2020 via blog.roboflow.com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— Component by Component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8732520" cy="694944"/>
          </a:xfrm>
          <a:prstGeom prst="rect">
            <a:avLst/>
          </a:prstGeom>
          <a:solidFill>
            <a:srgbClr val="F8FE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24128"/>
            <a:ext cx="73152" cy="69494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7572"/>
            <a:ext cx="384048" cy="38404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75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2024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097280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ResNet-50/101 extracts a feature map from the input image. Output: H/32 × W/32 × C spatial feature grid, flattened to a sequence.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0672" y="1161288"/>
            <a:ext cx="36576" cy="420624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792224"/>
            <a:ext cx="8732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92224"/>
            <a:ext cx="73152" cy="69494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15668"/>
            <a:ext cx="384048" cy="384048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15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19705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1865376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(2D) positional encodings added to feature map. Unlike NLP (1D), object positions are 2-dimensional.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90672" y="1929384"/>
            <a:ext cx="36576" cy="420624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560320"/>
            <a:ext cx="8732520" cy="694944"/>
          </a:xfrm>
          <a:prstGeom prst="rect">
            <a:avLst/>
          </a:prstGeom>
          <a:solidFill>
            <a:srgbClr val="F8FE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560320"/>
            <a:ext cx="73152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8376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83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7386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2633472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features processed with self-attention. Each position can reason about every other position in the image.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90672" y="2697480"/>
            <a:ext cx="36576" cy="420624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3328416"/>
            <a:ext cx="8732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328416"/>
            <a:ext cx="73152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5186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51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5067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Queries (Decoder)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3401568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 learnable embeddings. Each query specialises in detecting objects in certain regions. Cross-attends to encoder output.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90672" y="3465576"/>
            <a:ext cx="36576" cy="420624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4096512"/>
            <a:ext cx="8732520" cy="694944"/>
          </a:xfrm>
          <a:prstGeom prst="rect">
            <a:avLst/>
          </a:prstGeom>
          <a:solidFill>
            <a:srgbClr val="F8FEFF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096512"/>
            <a:ext cx="7315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219956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42748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FFNs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54680" y="4169664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MLP heads per query: (1) class label prediction, (2) bounding box coordinates (normalised cx, cy, w, h).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90672" y="4233672"/>
            <a:ext cx="36576" cy="420624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— Transformer Encoder-Decoder Detail</a:t>
            </a:r>
            <a:endParaRPr lang="en-US" sz="2600" dirty="0"/>
          </a:p>
        </p:txBody>
      </p:sp>
      <p:pic>
        <p:nvPicPr>
          <p:cNvPr id="5" name="Image 0" descr="https://storage.ghost.io/c/2c/8d/2c8d8c0d-1c15-4b6d-825e-02b78d61d40a/content/images/2026/01/2-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53035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05840"/>
            <a:ext cx="3154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115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vs Decoder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06440" y="155448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(top)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8470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on image features. All spatial positions reason about each other.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350008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(bottom)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6426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queries cross-attend to encoder output. Each query produces one detection.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145536"/>
            <a:ext cx="54864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172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34381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encoder and decoder use the same multi-head attention mechanism we studied in Part 1.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941064"/>
            <a:ext cx="54864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968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decoding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42336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queries are decoded simultaneously — unlike language models, no autoregression.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82880" y="48188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Carion et al. 2020 via blog.roboflow.com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 — How DETR Trains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FFF8E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100 predictions, but only 3 ground truth objects. Which prediction should be penalised for which mistake?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422452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19522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predicted box vs every ground truth object, compute a cost combining class probability and box distance.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1828800"/>
            <a:ext cx="422452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920240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9522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23042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1-to-1 assignment minimising total cost. Each ground truth is matched to exactly one prediction.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255264"/>
            <a:ext cx="422452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23844"/>
            <a:ext cx="384048" cy="38404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23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→ 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7307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N−|GT| predictions are assigned to the 'no-object' class (∅). Loss encourages them to predict background.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3255264"/>
            <a:ext cx="422452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31927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33512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&amp; Backprop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18888" y="37307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cross-entropy for class labels + L1 + GIoU loss for bounding boxes. The whole model trained jointly.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elegant matching is what allows DETR to train without hand-crafted anchors or NMS.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— Strengths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39903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— no anchors, no NMS needed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99339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decoding — all objects at once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58775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detecting occluded objects via global attention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18211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clean architecture — easy to extend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77647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handles varying object counts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343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05840"/>
            <a:ext cx="4343400" cy="292608"/>
          </a:xfrm>
          <a:prstGeom prst="rect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33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Limitations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84648" y="139903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 — 500 epochs needed vs ~36 for Faster R-CNN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84648" y="199339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count — must set N in advance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606040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84648" y="258775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small objects (limited spatial resolution)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200400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84648" y="318211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heavy — full image attention is expensive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3794760"/>
            <a:ext cx="384048" cy="384048"/>
          </a:xfrm>
          <a:prstGeom prst="ellipse">
            <a:avLst/>
          </a:prstGeom>
          <a:solidFill>
            <a:srgbClr val="E55039"/>
          </a:solidFill>
          <a:ln w="12700">
            <a:solidFill>
              <a:srgbClr val="E550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4648" y="377647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by RT-DETR and other successors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" y="4846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DETR's importance is architectural — it proved transformers can replace the full detection pipeline end-to-end.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Performance vs Faster R-CNN (COCO)</a:t>
            </a:r>
            <a:endParaRPr lang="en-US" sz="2600" dirty="0"/>
          </a:p>
        </p:txBody>
      </p:sp>
      <p:pic>
        <p:nvPicPr>
          <p:cNvPr id="5" name="Image 0" descr="https://storage.ghost.io/c/2c/8d/2c8d8c0d-1c15-4b6d-825e-02b78d61d40a/content/images/2026/01/3-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8686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43400"/>
            <a:ext cx="54864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636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DETR-DC5-R101 achieves 44.9 AP on COCO — on par with Faster R-CNN baselines.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4343400"/>
            <a:ext cx="54864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DC5 = dilated backbone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10128" y="4636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C5 stage improves feature resolution, especially for small objects.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17336" y="4343400"/>
            <a:ext cx="54864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4496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proof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54496" y="4636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showed that a pure transformer approach to detection is viable — paving the way for successors.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2880" y="5029200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Carion et al. 2020 via blog.roboflow.com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Dots: One Mechanism, Three Applications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is the engine. ViT and DETR are two ways to drive it in computer vision.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536192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36192"/>
            <a:ext cx="28346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63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2194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from same input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28346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formula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34747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= multiple 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8795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41148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 to attend 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536192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536192"/>
            <a:ext cx="28346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563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as sequences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26771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2194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patches → tokens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290779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67328" y="28346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for classification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54787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67328" y="34747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architecture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418795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67328" y="41148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Google scale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1536192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536192"/>
            <a:ext cx="2834640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563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as set prediction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2267712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39128" y="2194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features → encoder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2907792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39128" y="28346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queries → decoder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3547872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39128" y="34747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 loss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187952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39128" y="41148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anchors, no NMS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14 —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5039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96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71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every token to directly attend to every other — solving RNNs' sequential bottleneck.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27632"/>
            <a:ext cx="73152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QKV Formula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 / √dk) × V — compute scores, scale, normalise, blend.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95144"/>
            <a:ext cx="73152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heads capture different relationship types simultaneously (syntax, semantics, long-range).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62656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62656"/>
            <a:ext cx="73152" cy="6035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split into 16×16 patches treated as tokens. Works better than CNNs at large data scale.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30168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30168"/>
            <a:ext cx="73152" cy="6035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41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reframed as set prediction. Object queries + bipartite matching replace anchors and NMS.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8549640" cy="60350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97680"/>
            <a:ext cx="73152" cy="60350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attention mechanism, applied differently, powers image classification and object detection.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3076</Words>
  <Application>Microsoft Office PowerPoint</Application>
  <PresentationFormat>On-screen Show (16:9)</PresentationFormat>
  <Paragraphs>466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14 – Transformers &amp; Attention Mechanisms</dc:title>
  <dc:subject>PptxGenJS Presentation</dc:subject>
  <dc:creator>PptxGenJS</dc:creator>
  <cp:lastModifiedBy>Shah Zeb</cp:lastModifiedBy>
  <cp:revision>2</cp:revision>
  <dcterms:created xsi:type="dcterms:W3CDTF">2026-05-24T15:17:35Z</dcterms:created>
  <dcterms:modified xsi:type="dcterms:W3CDTF">2026-05-24T15:27:38Z</dcterms:modified>
</cp:coreProperties>
</file>