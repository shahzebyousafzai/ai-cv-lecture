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Session 23. Last session we ended with RNNs/LSTMs and hinted that attention was coming. Today: the single most important idea in modern AI. First half theory, second half we build attention from scratch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first half is concepts with visuals, second half we code every equation we see today. Nothing today is beyond matrix multiplication and softmax - both already familiar.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of Session 22's cliffhanger. Emphasize: hidden state worked, but it is a relay race - information must survive being handed from word to word. Attention replaces the relay with direct connections.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example to spend time on. The darker the line, the more attention. When encoding 'it', the model attends strongly to 'The animal'. Ask the client: how would an LSTM have to carry this information? Contrast with direct lookup.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quick - it's a map, not the territory. The interesting machinery is inside each encoder box, which is where we go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FFN is applied per position - it's the same network for every word, so it parallelizes perfectly. The only place words interact is the attention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Search-engine analogy: your query is matched against video titles/descriptions (keys), and what you get back is the videos themselves (values). The three W matrices are what training learns.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numbers in the figure: 112 and 96 become 14 and 12 after scaling, then 0.88 and 0.12 after softmax. That 0.88/0.12 split IS the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slide for the mechanics: attention output = weighted average of value vectors, with weights decided by query-key similarity. Say that sentence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the notebook: this formula is literally 3 lines of PyTorch. scores = Q @ K.T / sqrt(dk); weights = softmax(scores); out = weights @ V. We'll write exactly this after the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eight specialists reading the same sentence, each highlighting different things, then pooling notes. Head count is a hyperparameter - GPT-3 uses 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slide - trace left to right slowly: input sentence, embed, split into 8 heads, attention per head, concat, multiply by WO, single Z out. Pause here for questions before moving to positional encoding.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self-attention is a set operation - permute the words, get permuted outputs. Order must be injected explicitly. Don't dwell on the sine formulas; the notebook has a heatmap visualization.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already knows ResNet skip connections from the CV phase - lean on that. Nothing new conceptually, just applied to sequence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Victory-lap slide: put up the full diagram and have the client explain it back to you box by box. The masking is why GPT can't see the future during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output machinery as every classifier they've seen: logits then softmax, just with a 30k-class vocabulary. Training uses cross-entropy against the true next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2017 architecture split into two family lines. BERT keeps the encoder (bidirectional, great at understanding); GPT keeps the decoder (causal, great at generating). ViT preview ties this back to the CV thread of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theory with the one-sentence summary: attention is a differentiable lookup table. Then switch to the notebook. Next session builds on this with the transformer architecture in code / ViT depending on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 &amp; Transformers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looks at every other word — the idea that replaced recurrence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 K, V) = softmax(QKᵀ / √dₖ) 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Hands-on  ·  ~1.5 hours  ·  Computer Vision &amp; AI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theory (slides) and half hands-on (notebook)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THEORY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RNNs weren't enough — the bottleneck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intuition: what does “it” refer to?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Keys, Values step by step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&amp; positional encoding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Transformer architecture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GPT &amp; the Transformer family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HANDS-ON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minutes · Jupyter notebook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attention scores by hand (NumPy)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attention in PyTorch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multi-head attention module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attention weights as heatmaps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inside a pretrained Transformer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Session 22 Left Off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and LSTMs read one word at a time — and that causes three problems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= slow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54203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50 can't be processed until words 1–49 are done. No parallelism — GPUs sit idle.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600200"/>
            <a:ext cx="411480" cy="411480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forgetting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254203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LSTMs struggle to connect words that are far apart. Information fades as it's passed along.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600200"/>
            <a:ext cx="411480" cy="411480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One-vector bottleneck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254203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seq2seq, the whole input is squeezed into a single hidden vector before decoding. Detail is lost.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2017 paper </a:t>
            </a:r>
            <a:pPr indent="0" marL="0">
              <a:buNone/>
            </a:pPr>
            <a:r>
              <a:rPr lang="en-US" sz="1400" b="1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“Attention Is All You Need”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asked: what if we drop recurrence entirely and let every word look at every other word directly?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 The Intuition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decide which words matter for understanding each word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animal didn't cross the street because </a:t>
            </a:r>
            <a:pPr indent="0" marL="0">
              <a:buNone/>
            </a:pPr>
            <a:r>
              <a:rPr lang="en-US" sz="1400" b="1" i="1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pPr indent="0" marL="0">
              <a:buNone/>
            </a:pPr>
            <a:r>
              <a:rPr lang="en-US" sz="1400" i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too tired.”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“it” refer to — the street or the animal? Trivial for you, hard for a model.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lets “it” look at every other word and assign each one a weight.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weight on “animal” → its meaning is blended into the representation of “it”.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does this simultaneously — no step-by-step reading, fully parallel.</a:t>
            </a:r>
            <a:endParaRPr lang="en-US" sz="1350" dirty="0"/>
          </a:p>
        </p:txBody>
      </p:sp>
      <p:pic>
        <p:nvPicPr>
          <p:cNvPr id="9" name="Image 0" descr="Attention weights for the word 'it'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1564" y="1325880"/>
            <a:ext cx="3192872" cy="3017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0" y="4398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at 30,000 Feet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encoder stack that reads, a decoder stack that writes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for machine translation: sentence in → sentence out.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stack (×6): builds a rich, attention-aware representation of the input.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stack (×6): generates the output one word at a time, consulting the encoder.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recurrence anywhere — all words are processed at once.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is not magic; it's just what the paper used.</a:t>
            </a:r>
            <a:endParaRPr lang="en-US" sz="1350" dirty="0"/>
          </a:p>
        </p:txBody>
      </p:sp>
      <p:pic>
        <p:nvPicPr>
          <p:cNvPr id="7" name="Image 0" descr="Encoder and decoder sta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421787"/>
            <a:ext cx="4480560" cy="29171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0" y="4393797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One Encoder (and Decoder)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simple sub-layers, repeated — that's the whole trick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= self-attention + feed-forward network.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each word gathers context from all other words.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Feed-forward: the same small MLP applied to each position independently.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adds a third layer: encoder-decoder attention, so output words can look back at the input sentence.</a:t>
            </a:r>
            <a:endParaRPr lang="en-US" sz="1350" dirty="0"/>
          </a:p>
        </p:txBody>
      </p:sp>
      <p:pic>
        <p:nvPicPr>
          <p:cNvPr id="7" name="Image 0" descr="Encoder sub-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9984" y="1325880"/>
            <a:ext cx="2907392" cy="1508760"/>
          </a:xfrm>
          <a:prstGeom prst="rect">
            <a:avLst/>
          </a:prstGeom>
        </p:spPr>
      </p:pic>
      <p:pic>
        <p:nvPicPr>
          <p:cNvPr id="8" name="Image 1" descr="Decoder sub-lay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105" y="2971800"/>
            <a:ext cx="3889150" cy="1234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0560" y="4251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Keys &amp; Values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learned projections of every word — think of a search engine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(q): “what am I looking for?” — the word doing the searching.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(k): “what do I contain?” — the label other words match against.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(v): “what do I actually pass on?” — the content that gets blended.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just the embedding × a learned weight matrix (WQ, WK, WV).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than the embedding (64 vs 512) — a design choice for multi-head efficiency.</a:t>
            </a:r>
            <a:endParaRPr lang="en-US" sz="1300" dirty="0"/>
          </a:p>
        </p:txBody>
      </p:sp>
      <p:pic>
        <p:nvPicPr>
          <p:cNvPr id="7" name="Image 0" descr="Creating q, k, v vec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507872"/>
            <a:ext cx="4206240" cy="26535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0" y="4216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Step: Score, Scale, Softmax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should “Thinking” attend to “Machines”?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dot product q·k between the current word's query and every word's key.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divide by √dₖ (= 8 in the paper) to keep gradients stable.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Softmax: turn scores into positive weights that sum to 1.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probability-like weighting over the whole sentence for this word.</a:t>
            </a:r>
            <a:endParaRPr lang="en-US" sz="1350" dirty="0"/>
          </a:p>
        </p:txBody>
      </p:sp>
      <p:pic>
        <p:nvPicPr>
          <p:cNvPr id="7" name="Image 0" descr="Score, divide, softmax ste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510184"/>
            <a:ext cx="4206240" cy="264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0" y="4213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Step: The Weighted Sum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value by its weight, add them up — done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word's value vector by its softmax weight.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words survive almost intact; irrelevant ones are drowned out (×0.001).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 weighted values → z, the attention output for this position.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now contains a context-aware mix: mostly this word, plus whatever it attended to.</a:t>
            </a:r>
            <a:endParaRPr lang="en-US" sz="1350" dirty="0"/>
          </a:p>
        </p:txBody>
      </p:sp>
      <p:pic>
        <p:nvPicPr>
          <p:cNvPr id="7" name="Image 0" descr="Weighted sum of value vec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8042" y="1298448"/>
            <a:ext cx="3271275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0" y="44439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Steps in One Formula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it's a single matrix expression — fast and GPU-friendly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Image 0" descr="Matrix form of self-atten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8868" y="1371600"/>
            <a:ext cx="5966263" cy="2331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7581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554480" y="3977640"/>
            <a:ext cx="6035040" cy="640080"/>
          </a:xfrm>
          <a:prstGeom prst="roundRect">
            <a:avLst>
              <a:gd name="adj" fmla="val 8571"/>
            </a:avLst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83080" y="4041648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X = words.  Pack embeddings into X, compute Q = X·WQ, K = X·WK, V = X·WV — the whole sentence is attended to in one shot.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Beast With Many Heads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attention 8 times in parallel, each with its own Q/K/V matrices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 can be dominated by the word attending to itself.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heads = eight “representation subspaces”, each learning a different relationship.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 may track syntax (subject↔verb), another coreference (“it”↔“animal”).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concatenated and projected back with WO to a single matrix.</a:t>
            </a:r>
            <a:endParaRPr lang="en-US" sz="1300" dirty="0"/>
          </a:p>
        </p:txBody>
      </p:sp>
      <p:pic>
        <p:nvPicPr>
          <p:cNvPr id="7" name="Image 0" descr="Multi-head Q/K/V matr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551513"/>
            <a:ext cx="4343400" cy="25662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43400" y="4172631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Attention: The Whole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sentence to attention output — every matrix in one picture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6" name="Image 0" descr="Complete multi-head attention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931" y="1280160"/>
            <a:ext cx="5716137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5262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has no idea about word order — so we add position to every embedding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“Dog bites man” vs “Man bites dog” — attention alone can't tell them apart!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a position vector to each word embedding before the first encoder.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uses fixed sine/cosine waves of different frequencies.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generalizes to sentence lengths never seen in training.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often learn positions instead (or use RoPE).</a:t>
            </a:r>
            <a:endParaRPr lang="en-US" sz="1300" dirty="0"/>
          </a:p>
        </p:txBody>
      </p:sp>
      <p:pic>
        <p:nvPicPr>
          <p:cNvPr id="7" name="Image 0" descr="Sinusoidal positional encoding patt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581056"/>
            <a:ext cx="4206240" cy="2507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0" y="4143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&amp; Layer Normalization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plumbing that lets us stack many layers without breaking training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connection: each sub-layer's input is added to its output (x + Sublayer(x)).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get a “highway” straight through the network — same trick as ResNet in vision!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keeps activations in a healthy range after every sub-layer.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Attention → Add &amp; Norm → FFN → Add &amp; Norm, repeated N times.</a:t>
            </a:r>
            <a:endParaRPr lang="en-US" sz="1350" dirty="0"/>
          </a:p>
        </p:txBody>
      </p:sp>
      <p:pic>
        <p:nvPicPr>
          <p:cNvPr id="7" name="Image 0" descr="Residual connections and layer normaliz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3274" y="1298448"/>
            <a:ext cx="3323693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44439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we've built today, assembled — the famous Figure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tower: encoder — self-attention + FFN, ×N layers.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tower: decoder — with two twists:</a:t>
            </a:r>
            <a:endParaRPr lang="en-US" sz="1300" dirty="0"/>
          </a:p>
          <a:p>
            <a:pPr lvl="1" marL="3048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self-attention: the decoder may only look at words it has already produced.</a:t>
            </a:r>
            <a:endParaRPr lang="en-US" sz="1300" dirty="0"/>
          </a:p>
          <a:p>
            <a:pPr lvl="1" marL="3048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Cross-attention: Q from the decoder, K &amp; V from the encoder output.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enters at the bottom of both towers.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read this entire diagram — every box is something we covered.</a:t>
            </a:r>
            <a:endParaRPr lang="en-US" sz="1300" dirty="0"/>
          </a:p>
        </p:txBody>
      </p:sp>
      <p:pic>
        <p:nvPicPr>
          <p:cNvPr id="7" name="Image 0" descr="Full Transformer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9291" y="1170432"/>
            <a:ext cx="3085978" cy="3246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09160" y="44439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Wikimedia Commons, after Vaswani et al. (2017), “Attention Is All You Need”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Vectors Back to Words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linear + softmax layer turns the decoder output into a word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stack outputs one vector per position.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layer projects it to vocabulary size (e.g. 30,000 logits).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converts logits into a probability for every word.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top word (greedy) or keep several candidates (beam search).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repeats until an end-of-sentence token appears.</a:t>
            </a:r>
            <a:endParaRPr lang="en-US" sz="1350" dirty="0"/>
          </a:p>
        </p:txBody>
      </p:sp>
      <p:pic>
        <p:nvPicPr>
          <p:cNvPr id="7" name="Image 0" descr="Linear and softmax output lay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476930"/>
            <a:ext cx="4206240" cy="27154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0" y="424721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Transformer” (CC BY-NC-SA 4.0)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Family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half of the architecture — and it scales to everything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6" name="Image 0" descr="GPT-2 (decoders), BERT (encoders), Transformer-X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545" y="1234440"/>
            <a:ext cx="565691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107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GPT-2” (CC BY-NC-SA 4.0)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370332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3813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· BERT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Understanding: classification, search, NER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370332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74720" y="3813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· GPT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474720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 chat, code, modern LLMs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70332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3813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images · ViT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309360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= words → Transformers for vision (Session 27!)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What's Next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ideas to remember — then we go build them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23  ·  Attention Mechanism &amp; Transformers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= weighted average of values, weights from query–key similarity.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removes recurrence → fully parallel, direct long-range links.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heads capture multiple relationships at once.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encodings inject word order.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+ LayerNorm make deep stacks trainable.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(BERT), decoder-only (GPT) — one blueprint, all of modern AI.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371600"/>
            <a:ext cx="3108960" cy="1600200"/>
          </a:xfrm>
          <a:prstGeom prst="roundRect">
            <a:avLst>
              <a:gd name="adj" fmla="val 4571"/>
            </a:avLst>
          </a:prstGeom>
          <a:solidFill>
            <a:srgbClr val="0F2440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06440" y="1554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· NOTEBOOK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scaled dot-product &amp; multi-head attention from scratch in PyTorch, and visualize real attention maps.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3154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3310128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“Attention Is All You Need” — Vaswani et al., 2017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Illustrated Transformer” — jalammar.github.io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23 - Attention Mechanism &amp; Transformers</dc:title>
  <dc:subject>PptxGenJS Presentation</dc:subject>
  <dc:creator>Shah</dc:creator>
  <cp:lastModifiedBy>Shah</cp:lastModifiedBy>
  <cp:revision>1</cp:revision>
  <dcterms:created xsi:type="dcterms:W3CDTF">2026-07-07T17:25:51Z</dcterms:created>
  <dcterms:modified xsi:type="dcterms:W3CDTF">2026-07-07T17:25:51Z</dcterms:modified>
</cp:coreProperties>
</file>