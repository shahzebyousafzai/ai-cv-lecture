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PHASE 1 · FOUNDATIONS  ·  SESSION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Image Fundamentals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251460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B4C8"/>
                </a:solidFill>
              </a:rPr>
              <a:t>Pixels  ·  Channels  ·  Colour Spaces (BGR / RGB / HSV / LAB)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0" y="338328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3383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Theory Session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338328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3383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Week 1 · Friday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338328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3383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~1.5 hrs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99"/>
                </a:solidFill>
              </a:rPr>
              <a:t>AI &amp; Computer Vision · One-on-One Training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Session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9052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What is a Digital Image?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How computers see images; the digital representation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1709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Pixels &amp; Resolution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9751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building blocks of every image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86584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23744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514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Colour Channels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7797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How images store colour information in layers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191256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28416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3192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Colour Spaces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5844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BGR, RGB, HSV, and LAB – when and why to use each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95928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33088"/>
            <a:ext cx="502920" cy="502920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33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1239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Images as NumPy Arrays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Bridging theory to code from Session 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a Digital Image?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 digital image is a 2D grid of tiny coloured squares called pixels.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Each pixel stores a colour value (or intensity)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The grid has Width × Height pixels (resolution)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Stored as numbers — computers only understand numbers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 1920×1080 image = 2,073,600 pixels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611880"/>
            <a:ext cx="4754880" cy="868680"/>
          </a:xfrm>
          <a:prstGeom prst="rect">
            <a:avLst/>
          </a:prstGeom>
          <a:solidFill>
            <a:srgbClr val="E8F8FC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611880"/>
            <a:ext cx="54864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39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B7"/>
                </a:solidFill>
              </a:rPr>
              <a:t>Key Insight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136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Every image = a matrix of numbers. Computer Vision = analysing those numbers.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822960"/>
            <a:ext cx="3383280" cy="3749040"/>
          </a:xfrm>
          <a:prstGeom prst="rect">
            <a:avLst/>
          </a:prstGeom>
          <a:solidFill>
            <a:srgbClr val="E8F4F8"/>
          </a:solidFill>
          <a:ln w="19050">
            <a:solidFill>
              <a:srgbClr val="00B4D8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B7"/>
                </a:solidFill>
              </a:rPr>
              <a:t>[ INSERT FIGURE HERE 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26517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Fig: Image digitisation and pixel grid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(Gonzalez &amp; Woods, Digital Image Processing)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Pixels — The Building Blocks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84048" cy="384048"/>
          </a:xfrm>
          <a:prstGeom prst="rect">
            <a:avLst/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868680"/>
            <a:ext cx="384048" cy="384048"/>
          </a:xfrm>
          <a:prstGeom prst="rect">
            <a:avLst/>
          </a:prstGeom>
          <a:solidFill>
            <a:srgbClr val="1624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868680"/>
            <a:ext cx="384048" cy="384048"/>
          </a:xfrm>
          <a:prstGeom prst="rect">
            <a:avLst/>
          </a:prstGeom>
          <a:solidFill>
            <a:srgbClr val="1F40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2768" y="868680"/>
            <a:ext cx="384048" cy="384048"/>
          </a:xfrm>
          <a:prstGeom prst="rect">
            <a:avLst/>
          </a:prstGeom>
          <a:solidFill>
            <a:srgbClr val="1B262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5104" y="868680"/>
            <a:ext cx="384048" cy="384048"/>
          </a:xfrm>
          <a:prstGeom prst="rect">
            <a:avLst/>
          </a:prstGeom>
          <a:solidFill>
            <a:srgbClr val="0F34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868680"/>
            <a:ext cx="384048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9776" y="868680"/>
            <a:ext cx="384048" cy="384048"/>
          </a:xfrm>
          <a:prstGeom prst="rect">
            <a:avLst/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868680"/>
            <a:ext cx="384048" cy="384048"/>
          </a:xfrm>
          <a:prstGeom prst="rect">
            <a:avLst/>
          </a:prstGeom>
          <a:solidFill>
            <a:srgbClr val="1624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84448" y="868680"/>
            <a:ext cx="384048" cy="384048"/>
          </a:xfrm>
          <a:prstGeom prst="rect">
            <a:avLst/>
          </a:prstGeom>
          <a:solidFill>
            <a:srgbClr val="1F40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86784" y="868680"/>
            <a:ext cx="384048" cy="384048"/>
          </a:xfrm>
          <a:prstGeom prst="rect">
            <a:avLst/>
          </a:prstGeom>
          <a:solidFill>
            <a:srgbClr val="1B262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271016"/>
            <a:ext cx="384048" cy="384048"/>
          </a:xfrm>
          <a:prstGeom prst="rect">
            <a:avLst/>
          </a:prstGeom>
          <a:solidFill>
            <a:srgbClr val="0F34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1271016"/>
            <a:ext cx="384048" cy="384048"/>
          </a:xfrm>
          <a:prstGeom prst="rect">
            <a:avLst/>
          </a:prstGeom>
          <a:solidFill>
            <a:srgbClr val="1B262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0432" y="1271016"/>
            <a:ext cx="384048" cy="384048"/>
          </a:xfrm>
          <a:prstGeom prst="rect">
            <a:avLst/>
          </a:prstGeom>
          <a:solidFill>
            <a:srgbClr val="1F40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72768" y="1271016"/>
            <a:ext cx="384048" cy="384048"/>
          </a:xfrm>
          <a:prstGeom prst="rect">
            <a:avLst/>
          </a:prstGeom>
          <a:solidFill>
            <a:srgbClr val="1624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75104" y="1271016"/>
            <a:ext cx="384048" cy="384048"/>
          </a:xfrm>
          <a:prstGeom prst="rect">
            <a:avLst/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1271016"/>
            <a:ext cx="384048" cy="384048"/>
          </a:xfrm>
          <a:prstGeom prst="rect">
            <a:avLst/>
          </a:prstGeom>
          <a:solidFill>
            <a:srgbClr val="0F34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79776" y="1271016"/>
            <a:ext cx="384048" cy="384048"/>
          </a:xfrm>
          <a:prstGeom prst="rect">
            <a:avLst/>
          </a:prstGeom>
          <a:solidFill>
            <a:srgbClr val="1B262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82112" y="1271016"/>
            <a:ext cx="384048" cy="384048"/>
          </a:xfrm>
          <a:prstGeom prst="rect">
            <a:avLst/>
          </a:prstGeom>
          <a:solidFill>
            <a:srgbClr val="1F406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84448" y="1271016"/>
            <a:ext cx="384048" cy="384048"/>
          </a:xfrm>
          <a:prstGeom prst="rect">
            <a:avLst/>
          </a:prstGeom>
          <a:solidFill>
            <a:srgbClr val="16244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86784" y="1271016"/>
            <a:ext cx="384048" cy="384048"/>
          </a:xfrm>
          <a:prstGeom prst="rect">
            <a:avLst/>
          </a:prstGeom>
          <a:solidFill>
            <a:srgbClr val="1A1A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673352"/>
            <a:ext cx="384048" cy="384048"/>
          </a:xfrm>
          <a:prstGeom prst="rect">
            <a:avLst/>
          </a:prstGeom>
          <a:solidFill>
            <a:srgbClr val="00B4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" y="1673352"/>
            <a:ext cx="384048" cy="384048"/>
          </a:xfrm>
          <a:prstGeom prst="rect">
            <a:avLst/>
          </a:prstGeom>
          <a:solidFill>
            <a:srgbClr val="0096B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0432" y="1673352"/>
            <a:ext cx="384048" cy="384048"/>
          </a:xfrm>
          <a:prstGeom prst="rect">
            <a:avLst/>
          </a:prstGeom>
          <a:solidFill>
            <a:srgbClr val="0077B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72768" y="1673352"/>
            <a:ext cx="384048" cy="384048"/>
          </a:xfrm>
          <a:prstGeom prst="rect">
            <a:avLst/>
          </a:prstGeom>
          <a:solidFill>
            <a:srgbClr val="023E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75104" y="1673352"/>
            <a:ext cx="384048" cy="384048"/>
          </a:xfrm>
          <a:prstGeom prst="rect">
            <a:avLst/>
          </a:prstGeom>
          <a:solidFill>
            <a:srgbClr val="0F34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1673352"/>
            <a:ext cx="384048" cy="384048"/>
          </a:xfrm>
          <a:prstGeom prst="rect">
            <a:avLst/>
          </a:prstGeom>
          <a:solidFill>
            <a:srgbClr val="00B4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79776" y="1673352"/>
            <a:ext cx="384048" cy="384048"/>
          </a:xfrm>
          <a:prstGeom prst="rect">
            <a:avLst/>
          </a:prstGeom>
          <a:solidFill>
            <a:srgbClr val="0096B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2112" y="1673352"/>
            <a:ext cx="384048" cy="384048"/>
          </a:xfrm>
          <a:prstGeom prst="rect">
            <a:avLst/>
          </a:prstGeom>
          <a:solidFill>
            <a:srgbClr val="0077B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84448" y="1673352"/>
            <a:ext cx="384048" cy="384048"/>
          </a:xfrm>
          <a:prstGeom prst="rect">
            <a:avLst/>
          </a:prstGeom>
          <a:solidFill>
            <a:srgbClr val="023E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86784" y="1673352"/>
            <a:ext cx="384048" cy="384048"/>
          </a:xfrm>
          <a:prstGeom prst="rect">
            <a:avLst/>
          </a:prstGeom>
          <a:solidFill>
            <a:srgbClr val="0F34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075688"/>
            <a:ext cx="384048" cy="384048"/>
          </a:xfrm>
          <a:prstGeom prst="rect">
            <a:avLst/>
          </a:prstGeom>
          <a:solidFill>
            <a:srgbClr val="48CAE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" y="2075688"/>
            <a:ext cx="384048" cy="384048"/>
          </a:xfrm>
          <a:prstGeom prst="rect">
            <a:avLst/>
          </a:prstGeom>
          <a:solidFill>
            <a:srgbClr val="90E0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70432" y="2075688"/>
            <a:ext cx="384048" cy="384048"/>
          </a:xfrm>
          <a:prstGeom prst="rect">
            <a:avLst/>
          </a:prstGeom>
          <a:solidFill>
            <a:srgbClr val="ADE8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72768" y="2075688"/>
            <a:ext cx="384048" cy="384048"/>
          </a:xfrm>
          <a:prstGeom prst="rect">
            <a:avLst/>
          </a:prstGeom>
          <a:solidFill>
            <a:srgbClr val="CAF0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75104" y="2075688"/>
            <a:ext cx="384048" cy="384048"/>
          </a:xfrm>
          <a:prstGeom prst="rect">
            <a:avLst/>
          </a:prstGeom>
          <a:solidFill>
            <a:srgbClr val="00B4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2075688"/>
            <a:ext cx="384048" cy="384048"/>
          </a:xfrm>
          <a:prstGeom prst="rect">
            <a:avLst/>
          </a:prstGeom>
          <a:solidFill>
            <a:srgbClr val="48CAE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79776" y="2075688"/>
            <a:ext cx="384048" cy="384048"/>
          </a:xfrm>
          <a:prstGeom prst="rect">
            <a:avLst/>
          </a:prstGeom>
          <a:solidFill>
            <a:srgbClr val="90E0E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82112" y="2075688"/>
            <a:ext cx="384048" cy="384048"/>
          </a:xfrm>
          <a:prstGeom prst="rect">
            <a:avLst/>
          </a:prstGeom>
          <a:solidFill>
            <a:srgbClr val="ADE8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84448" y="2075688"/>
            <a:ext cx="384048" cy="384048"/>
          </a:xfrm>
          <a:prstGeom prst="rect">
            <a:avLst/>
          </a:prstGeom>
          <a:solidFill>
            <a:srgbClr val="CAF0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86784" y="2075688"/>
            <a:ext cx="384048" cy="384048"/>
          </a:xfrm>
          <a:prstGeom prst="rect">
            <a:avLst/>
          </a:prstGeom>
          <a:solidFill>
            <a:srgbClr val="00B4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2478024"/>
            <a:ext cx="384048" cy="384048"/>
          </a:xfrm>
          <a:prstGeom prst="rect">
            <a:avLst/>
          </a:prstGeom>
          <a:solidFill>
            <a:srgbClr val="E0FB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8096" y="2478024"/>
            <a:ext cx="384048" cy="384048"/>
          </a:xfrm>
          <a:prstGeom prst="rect">
            <a:avLst/>
          </a:prstGeom>
          <a:solidFill>
            <a:srgbClr val="98C1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70432" y="2478024"/>
            <a:ext cx="384048" cy="384048"/>
          </a:xfrm>
          <a:prstGeom prst="rect">
            <a:avLst/>
          </a:prstGeom>
          <a:solidFill>
            <a:srgbClr val="3D5A8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72768" y="2478024"/>
            <a:ext cx="384048" cy="384048"/>
          </a:xfrm>
          <a:prstGeom prst="rect">
            <a:avLst/>
          </a:prstGeom>
          <a:solidFill>
            <a:srgbClr val="29324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75104" y="2478024"/>
            <a:ext cx="384048" cy="384048"/>
          </a:xfrm>
          <a:prstGeom prst="rect">
            <a:avLst/>
          </a:prstGeom>
          <a:solidFill>
            <a:srgbClr val="E0E0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377440" y="2478024"/>
            <a:ext cx="384048" cy="384048"/>
          </a:xfrm>
          <a:prstGeom prst="rect">
            <a:avLst/>
          </a:prstGeom>
          <a:solidFill>
            <a:srgbClr val="E0FB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79776" y="2478024"/>
            <a:ext cx="384048" cy="384048"/>
          </a:xfrm>
          <a:prstGeom prst="rect">
            <a:avLst/>
          </a:prstGeom>
          <a:solidFill>
            <a:srgbClr val="98C1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82112" y="2478024"/>
            <a:ext cx="384048" cy="384048"/>
          </a:xfrm>
          <a:prstGeom prst="rect">
            <a:avLst/>
          </a:prstGeom>
          <a:solidFill>
            <a:srgbClr val="3D5A8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84448" y="2478024"/>
            <a:ext cx="384048" cy="384048"/>
          </a:xfrm>
          <a:prstGeom prst="rect">
            <a:avLst/>
          </a:prstGeom>
          <a:solidFill>
            <a:srgbClr val="29324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86784" y="2478024"/>
            <a:ext cx="384048" cy="384048"/>
          </a:xfrm>
          <a:prstGeom prst="rect">
            <a:avLst/>
          </a:prstGeom>
          <a:solidFill>
            <a:srgbClr val="E0E0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2880360"/>
            <a:ext cx="384048" cy="384048"/>
          </a:xfrm>
          <a:prstGeom prst="rect">
            <a:avLst/>
          </a:prstGeom>
          <a:solidFill>
            <a:srgbClr val="FFB70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8096" y="2880360"/>
            <a:ext cx="384048" cy="384048"/>
          </a:xfrm>
          <a:prstGeom prst="rect">
            <a:avLst/>
          </a:prstGeom>
          <a:solidFill>
            <a:srgbClr val="FB85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70432" y="2880360"/>
            <a:ext cx="384048" cy="384048"/>
          </a:xfrm>
          <a:prstGeom prst="rect">
            <a:avLst/>
          </a:prstGeom>
          <a:solidFill>
            <a:srgbClr val="E76F5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72768" y="2880360"/>
            <a:ext cx="384048" cy="384048"/>
          </a:xfrm>
          <a:prstGeom prst="rect">
            <a:avLst/>
          </a:prstGeom>
          <a:solidFill>
            <a:srgbClr val="EF23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75104" y="2880360"/>
            <a:ext cx="384048" cy="384048"/>
          </a:xfrm>
          <a:prstGeom prst="rect">
            <a:avLst/>
          </a:prstGeom>
          <a:solidFill>
            <a:srgbClr val="D6282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2880360"/>
            <a:ext cx="384048" cy="384048"/>
          </a:xfrm>
          <a:prstGeom prst="rect">
            <a:avLst/>
          </a:prstGeom>
          <a:solidFill>
            <a:srgbClr val="FFB70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79776" y="2880360"/>
            <a:ext cx="384048" cy="384048"/>
          </a:xfrm>
          <a:prstGeom prst="rect">
            <a:avLst/>
          </a:prstGeom>
          <a:solidFill>
            <a:srgbClr val="FB85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82112" y="2880360"/>
            <a:ext cx="384048" cy="384048"/>
          </a:xfrm>
          <a:prstGeom prst="rect">
            <a:avLst/>
          </a:prstGeom>
          <a:solidFill>
            <a:srgbClr val="E76F5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84448" y="2880360"/>
            <a:ext cx="384048" cy="384048"/>
          </a:xfrm>
          <a:prstGeom prst="rect">
            <a:avLst/>
          </a:prstGeom>
          <a:solidFill>
            <a:srgbClr val="EF23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986784" y="2880360"/>
            <a:ext cx="384048" cy="384048"/>
          </a:xfrm>
          <a:prstGeom prst="rect">
            <a:avLst/>
          </a:prstGeom>
          <a:solidFill>
            <a:srgbClr val="D6282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3282696"/>
            <a:ext cx="384048" cy="384048"/>
          </a:xfrm>
          <a:prstGeom prst="rect">
            <a:avLst/>
          </a:prstGeom>
          <a:solidFill>
            <a:srgbClr val="606C3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68096" y="3282696"/>
            <a:ext cx="384048" cy="384048"/>
          </a:xfrm>
          <a:prstGeom prst="rect">
            <a:avLst/>
          </a:prstGeom>
          <a:solidFill>
            <a:srgbClr val="28361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70432" y="3282696"/>
            <a:ext cx="384048" cy="384048"/>
          </a:xfrm>
          <a:prstGeom prst="rect">
            <a:avLst/>
          </a:prstGeom>
          <a:solidFill>
            <a:srgbClr val="DDA1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572768" y="3282696"/>
            <a:ext cx="384048" cy="384048"/>
          </a:xfrm>
          <a:prstGeom prst="rect">
            <a:avLst/>
          </a:prstGeom>
          <a:solidFill>
            <a:srgbClr val="BC6C2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975104" y="3282696"/>
            <a:ext cx="384048" cy="384048"/>
          </a:xfrm>
          <a:prstGeom prst="rect">
            <a:avLst/>
          </a:prstGeom>
          <a:solidFill>
            <a:srgbClr val="A7C95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77440" y="3282696"/>
            <a:ext cx="384048" cy="384048"/>
          </a:xfrm>
          <a:prstGeom prst="rect">
            <a:avLst/>
          </a:prstGeom>
          <a:solidFill>
            <a:srgbClr val="606C3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779776" y="3282696"/>
            <a:ext cx="384048" cy="384048"/>
          </a:xfrm>
          <a:prstGeom prst="rect">
            <a:avLst/>
          </a:prstGeom>
          <a:solidFill>
            <a:srgbClr val="28361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182112" y="3282696"/>
            <a:ext cx="384048" cy="384048"/>
          </a:xfrm>
          <a:prstGeom prst="rect">
            <a:avLst/>
          </a:prstGeom>
          <a:solidFill>
            <a:srgbClr val="DDA15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84448" y="3282696"/>
            <a:ext cx="384048" cy="384048"/>
          </a:xfrm>
          <a:prstGeom prst="rect">
            <a:avLst/>
          </a:prstGeom>
          <a:solidFill>
            <a:srgbClr val="BC6C2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986784" y="3282696"/>
            <a:ext cx="384048" cy="384048"/>
          </a:xfrm>
          <a:prstGeom prst="rect">
            <a:avLst/>
          </a:prstGeom>
          <a:solidFill>
            <a:srgbClr val="A7C95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5760" y="3685032"/>
            <a:ext cx="384048" cy="384048"/>
          </a:xfrm>
          <a:prstGeom prst="rect">
            <a:avLst/>
          </a:prstGeom>
          <a:solidFill>
            <a:srgbClr val="8338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68096" y="3685032"/>
            <a:ext cx="384048" cy="384048"/>
          </a:xfrm>
          <a:prstGeom prst="rect">
            <a:avLst/>
          </a:prstGeom>
          <a:solidFill>
            <a:srgbClr val="3A86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70432" y="3685032"/>
            <a:ext cx="384048" cy="384048"/>
          </a:xfrm>
          <a:prstGeom prst="rect">
            <a:avLst/>
          </a:prstGeom>
          <a:solidFill>
            <a:srgbClr val="FF00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572768" y="3685032"/>
            <a:ext cx="384048" cy="384048"/>
          </a:xfrm>
          <a:prstGeom prst="rect">
            <a:avLst/>
          </a:prstGeom>
          <a:solidFill>
            <a:srgbClr val="FB560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975104" y="3685032"/>
            <a:ext cx="384048" cy="384048"/>
          </a:xfrm>
          <a:prstGeom prst="rect">
            <a:avLst/>
          </a:prstGeom>
          <a:solidFill>
            <a:srgbClr val="FFBE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377440" y="3685032"/>
            <a:ext cx="384048" cy="384048"/>
          </a:xfrm>
          <a:prstGeom prst="rect">
            <a:avLst/>
          </a:prstGeom>
          <a:solidFill>
            <a:srgbClr val="8338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79776" y="3685032"/>
            <a:ext cx="384048" cy="384048"/>
          </a:xfrm>
          <a:prstGeom prst="rect">
            <a:avLst/>
          </a:prstGeom>
          <a:solidFill>
            <a:srgbClr val="3A86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182112" y="3685032"/>
            <a:ext cx="384048" cy="384048"/>
          </a:xfrm>
          <a:prstGeom prst="rect">
            <a:avLst/>
          </a:prstGeom>
          <a:solidFill>
            <a:srgbClr val="FF006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84448" y="3685032"/>
            <a:ext cx="384048" cy="384048"/>
          </a:xfrm>
          <a:prstGeom prst="rect">
            <a:avLst/>
          </a:prstGeom>
          <a:solidFill>
            <a:srgbClr val="FB560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986784" y="3685032"/>
            <a:ext cx="384048" cy="384048"/>
          </a:xfrm>
          <a:prstGeom prst="rect">
            <a:avLst/>
          </a:prstGeom>
          <a:solidFill>
            <a:srgbClr val="FFBE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43000" y="1645920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627632" y="1490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1 pixel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365760" y="4133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Pixel Grid (zoomed-in view)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5394960" y="82296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5394960" y="822960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532120" y="8869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Pixel = Picture Element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5532120" y="117043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Smallest unit of a digital image. Each pixel has a location (x, y) and a colour value.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5394960" y="219456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5394960" y="2194560"/>
            <a:ext cx="54864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532120" y="22585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Intensity Values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5532120" y="254203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Grayscale: 0 (black) → 255 (white)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Colour: 3 values per pixel (R, G, B)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394960" y="3566160"/>
            <a:ext cx="3383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5394960" y="3566160"/>
            <a:ext cx="54864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532120" y="36301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Image Resolution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5532120" y="3913632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Width × Height pixels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640×480 = 307,200 pixels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1920×1080 = 2.07M pixels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Images as Numbers — The Matrix 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97680" cy="301752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" cy="566928"/>
          </a:xfrm>
          <a:prstGeom prst="rect">
            <a:avLst/>
          </a:prstGeom>
          <a:solidFill>
            <a:srgbClr val="1A3A5C">
              <a:alpha val="30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1005840"/>
            <a:ext cx="822960" cy="566928"/>
          </a:xfrm>
          <a:prstGeom prst="rect">
            <a:avLst/>
          </a:prstGeom>
          <a:solidFill>
            <a:srgbClr val="1A3A5C">
              <a:alpha val="32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0058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132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03120" y="1005840"/>
            <a:ext cx="822960" cy="566928"/>
          </a:xfrm>
          <a:prstGeom prst="rect">
            <a:avLst/>
          </a:prstGeom>
          <a:solidFill>
            <a:srgbClr val="1A3A5C">
              <a:alpha val="33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0058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140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1005840"/>
            <a:ext cx="822960" cy="566928"/>
          </a:xfrm>
          <a:prstGeom prst="rect">
            <a:avLst/>
          </a:prstGeom>
          <a:solidFill>
            <a:srgbClr val="1A3A5C">
              <a:alpha val="32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0058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135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49040" y="1005840"/>
            <a:ext cx="822960" cy="566928"/>
          </a:xfrm>
          <a:prstGeom prst="rect">
            <a:avLst/>
          </a:prstGeom>
          <a:solidFill>
            <a:srgbClr val="1A3A5C">
              <a:alpha val="30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0058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128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1572768"/>
            <a:ext cx="822960" cy="566928"/>
          </a:xfrm>
          <a:prstGeom prst="rect">
            <a:avLst/>
          </a:prstGeom>
          <a:solidFill>
            <a:srgbClr val="1A3A5C">
              <a:alpha val="31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57276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130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0160" y="1572768"/>
            <a:ext cx="822960" cy="566928"/>
          </a:xfrm>
          <a:prstGeom prst="rect">
            <a:avLst/>
          </a:prstGeom>
          <a:solidFill>
            <a:srgbClr val="1A3A5C">
              <a:alpha val="47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157276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03120" y="1572768"/>
            <a:ext cx="822960" cy="566928"/>
          </a:xfrm>
          <a:prstGeom prst="rect">
            <a:avLst/>
          </a:prstGeom>
          <a:solidFill>
            <a:srgbClr val="1A3A5C">
              <a:alpha val="50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157276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210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26080" y="1572768"/>
            <a:ext cx="822960" cy="566928"/>
          </a:xfrm>
          <a:prstGeom prst="rect">
            <a:avLst/>
          </a:prstGeom>
          <a:solidFill>
            <a:srgbClr val="1A3A5C">
              <a:alpha val="48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157276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49040" y="1572768"/>
            <a:ext cx="822960" cy="566928"/>
          </a:xfrm>
          <a:prstGeom prst="rect">
            <a:avLst/>
          </a:prstGeom>
          <a:solidFill>
            <a:srgbClr val="1A3A5C">
              <a:alpha val="30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157276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125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2139696"/>
            <a:ext cx="822960" cy="566928"/>
          </a:xfrm>
          <a:prstGeom prst="rect">
            <a:avLst/>
          </a:prstGeom>
          <a:solidFill>
            <a:srgbClr val="1A3A5C">
              <a:alpha val="30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13969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128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280160" y="2139696"/>
            <a:ext cx="822960" cy="566928"/>
          </a:xfrm>
          <a:prstGeom prst="rect">
            <a:avLst/>
          </a:prstGeom>
          <a:solidFill>
            <a:srgbClr val="1A3A5C">
              <a:alpha val="48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213969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03120" y="2139696"/>
            <a:ext cx="822960" cy="566928"/>
          </a:xfrm>
          <a:prstGeom prst="rect">
            <a:avLst/>
          </a:prstGeom>
          <a:solidFill>
            <a:srgbClr val="1A3A5C">
              <a:alpha val="60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213969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255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926080" y="2139696"/>
            <a:ext cx="822960" cy="566928"/>
          </a:xfrm>
          <a:prstGeom prst="rect">
            <a:avLst/>
          </a:prstGeom>
          <a:solidFill>
            <a:srgbClr val="1A3A5C">
              <a:alpha val="50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213969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208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749040" y="2139696"/>
            <a:ext cx="822960" cy="566928"/>
          </a:xfrm>
          <a:prstGeom prst="rect">
            <a:avLst/>
          </a:prstGeom>
          <a:solidFill>
            <a:srgbClr val="1A3A5C">
              <a:alpha val="31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213969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130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2706624"/>
            <a:ext cx="822960" cy="566928"/>
          </a:xfrm>
          <a:prstGeom prst="rect">
            <a:avLst/>
          </a:prstGeom>
          <a:solidFill>
            <a:srgbClr val="1A3A5C">
              <a:alpha val="32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70662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132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280160" y="2706624"/>
            <a:ext cx="822960" cy="566928"/>
          </a:xfrm>
          <a:prstGeom prst="rect">
            <a:avLst/>
          </a:prstGeom>
          <a:solidFill>
            <a:srgbClr val="1A3A5C">
              <a:alpha val="50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80160" y="270662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208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103120" y="2706624"/>
            <a:ext cx="822960" cy="566928"/>
          </a:xfrm>
          <a:prstGeom prst="rect">
            <a:avLst/>
          </a:prstGeom>
          <a:solidFill>
            <a:srgbClr val="1A3A5C">
              <a:alpha val="50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270662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212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926080" y="2706624"/>
            <a:ext cx="822960" cy="566928"/>
          </a:xfrm>
          <a:prstGeom prst="rect">
            <a:avLst/>
          </a:prstGeom>
          <a:solidFill>
            <a:srgbClr val="1A3A5C">
              <a:alpha val="47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0" y="270662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749040" y="2706624"/>
            <a:ext cx="822960" cy="566928"/>
          </a:xfrm>
          <a:prstGeom prst="rect">
            <a:avLst/>
          </a:prstGeom>
          <a:solidFill>
            <a:srgbClr val="1A3A5C">
              <a:alpha val="30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0" y="270662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128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3273552"/>
            <a:ext cx="822960" cy="566928"/>
          </a:xfrm>
          <a:prstGeom prst="rect">
            <a:avLst/>
          </a:prstGeom>
          <a:solidFill>
            <a:srgbClr val="1A3A5C">
              <a:alpha val="30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2735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126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280160" y="3273552"/>
            <a:ext cx="822960" cy="566928"/>
          </a:xfrm>
          <a:prstGeom prst="rect">
            <a:avLst/>
          </a:prstGeom>
          <a:solidFill>
            <a:srgbClr val="1A3A5C">
              <a:alpha val="31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80160" y="32735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130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103120" y="3273552"/>
            <a:ext cx="822960" cy="566928"/>
          </a:xfrm>
          <a:prstGeom prst="rect">
            <a:avLst/>
          </a:prstGeom>
          <a:solidFill>
            <a:srgbClr val="1A3A5C">
              <a:alpha val="32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03120" y="32735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135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926080" y="3273552"/>
            <a:ext cx="822960" cy="566928"/>
          </a:xfrm>
          <a:prstGeom prst="rect">
            <a:avLst/>
          </a:prstGeom>
          <a:solidFill>
            <a:srgbClr val="1A3A5C">
              <a:alpha val="30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0" y="32735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128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749040" y="3273552"/>
            <a:ext cx="822960" cy="566928"/>
          </a:xfrm>
          <a:prstGeom prst="rect">
            <a:avLst/>
          </a:prstGeom>
          <a:solidFill>
            <a:srgbClr val="1A3A5C">
              <a:alpha val="30000"/>
            </a:srgbClr>
          </a:solidFill>
          <a:ln w="6350">
            <a:solidFill>
              <a:srgbClr val="2A4A7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0" y="32735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FCF"/>
                </a:solidFill>
              </a:rPr>
              <a:t>124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5720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Grayscale pixel values (0–255)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1148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← Width (columns) →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029200" y="914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Reading pixel values: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029200" y="1325880"/>
            <a:ext cx="59436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13258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715000" y="1389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Pure black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029200" y="1920240"/>
            <a:ext cx="594360" cy="411480"/>
          </a:xfrm>
          <a:prstGeom prst="rect">
            <a:avLst/>
          </a:prstGeom>
          <a:solidFill>
            <a:srgbClr val="80808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0" y="19202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128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715000" y="1984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Mid grey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029200" y="2514600"/>
            <a:ext cx="594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0" y="25146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255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715000" y="2578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Pure white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029200" y="3246120"/>
            <a:ext cx="374904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66360" y="33375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Python (NumPy)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img.shape   # (height, width)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img[2,2]    # -&gt; 255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Colour Channels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 colour image has multiple layers (channels) — each storing one component of colour.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709928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 Channel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82496"/>
            <a:ext cx="1709928" cy="960120"/>
          </a:xfrm>
          <a:prstGeom prst="rect">
            <a:avLst/>
          </a:prstGeom>
          <a:solidFill>
            <a:srgbClr val="FDEDEC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719072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Records how much RED light each pixel contains.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 = no red,  255 = full red intensity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734056"/>
            <a:ext cx="213741" cy="274320"/>
          </a:xfrm>
          <a:prstGeom prst="rect">
            <a:avLst/>
          </a:prstGeom>
          <a:solidFill>
            <a:srgbClr val="C0392B">
              <a:alpha val="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9501" y="2734056"/>
            <a:ext cx="213741" cy="274320"/>
          </a:xfrm>
          <a:prstGeom prst="rect">
            <a:avLst/>
          </a:prstGeom>
          <a:solidFill>
            <a:srgbClr val="C0392B">
              <a:alpha val="14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3242" y="2734056"/>
            <a:ext cx="213741" cy="274320"/>
          </a:xfrm>
          <a:prstGeom prst="rect">
            <a:avLst/>
          </a:prstGeom>
          <a:solidFill>
            <a:srgbClr val="C0392B">
              <a:alpha val="29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6983" y="2734056"/>
            <a:ext cx="213741" cy="274320"/>
          </a:xfrm>
          <a:prstGeom prst="rect">
            <a:avLst/>
          </a:prstGeom>
          <a:solidFill>
            <a:srgbClr val="C0392B">
              <a:alpha val="43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20724" y="2734056"/>
            <a:ext cx="213741" cy="274320"/>
          </a:xfrm>
          <a:prstGeom prst="rect">
            <a:avLst/>
          </a:prstGeom>
          <a:solidFill>
            <a:srgbClr val="C0392B">
              <a:alpha val="57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34465" y="2734056"/>
            <a:ext cx="213741" cy="274320"/>
          </a:xfrm>
          <a:prstGeom prst="rect">
            <a:avLst/>
          </a:prstGeom>
          <a:solidFill>
            <a:srgbClr val="C0392B">
              <a:alpha val="71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8206" y="2734056"/>
            <a:ext cx="213741" cy="274320"/>
          </a:xfrm>
          <a:prstGeom prst="rect">
            <a:avLst/>
          </a:prstGeom>
          <a:solidFill>
            <a:srgbClr val="C0392B">
              <a:alpha val="86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1947" y="2734056"/>
            <a:ext cx="213741" cy="274320"/>
          </a:xfrm>
          <a:prstGeom prst="rect">
            <a:avLst/>
          </a:prstGeom>
          <a:solidFill>
            <a:srgbClr val="C0392B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35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09928" y="3035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255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85416" y="1261872"/>
            <a:ext cx="1709928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85416" y="1261872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Green Channel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85416" y="1682496"/>
            <a:ext cx="1709928" cy="960120"/>
          </a:xfrm>
          <a:prstGeom prst="rect">
            <a:avLst/>
          </a:prstGeom>
          <a:solidFill>
            <a:srgbClr val="EAFAF1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58568" y="1719072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Records how much GREEN light each pixel contains.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 = no green,  255 = full green intensity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85416" y="2734056"/>
            <a:ext cx="213741" cy="274320"/>
          </a:xfrm>
          <a:prstGeom prst="rect">
            <a:avLst/>
          </a:prstGeom>
          <a:solidFill>
            <a:srgbClr val="27AE60">
              <a:alpha val="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99157" y="2734056"/>
            <a:ext cx="213741" cy="274320"/>
          </a:xfrm>
          <a:prstGeom prst="rect">
            <a:avLst/>
          </a:prstGeom>
          <a:solidFill>
            <a:srgbClr val="27AE60">
              <a:alpha val="14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12898" y="2734056"/>
            <a:ext cx="213741" cy="274320"/>
          </a:xfrm>
          <a:prstGeom prst="rect">
            <a:avLst/>
          </a:prstGeom>
          <a:solidFill>
            <a:srgbClr val="27AE60">
              <a:alpha val="29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26639" y="2734056"/>
            <a:ext cx="213741" cy="274320"/>
          </a:xfrm>
          <a:prstGeom prst="rect">
            <a:avLst/>
          </a:prstGeom>
          <a:solidFill>
            <a:srgbClr val="27AE60">
              <a:alpha val="43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40380" y="2734056"/>
            <a:ext cx="213741" cy="274320"/>
          </a:xfrm>
          <a:prstGeom prst="rect">
            <a:avLst/>
          </a:prstGeom>
          <a:solidFill>
            <a:srgbClr val="27AE60">
              <a:alpha val="57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54121" y="2734056"/>
            <a:ext cx="213741" cy="274320"/>
          </a:xfrm>
          <a:prstGeom prst="rect">
            <a:avLst/>
          </a:prstGeom>
          <a:solidFill>
            <a:srgbClr val="27AE60">
              <a:alpha val="71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67862" y="2734056"/>
            <a:ext cx="213741" cy="274320"/>
          </a:xfrm>
          <a:prstGeom prst="rect">
            <a:avLst/>
          </a:prstGeom>
          <a:solidFill>
            <a:srgbClr val="27AE60">
              <a:alpha val="86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81603" y="2734056"/>
            <a:ext cx="213741" cy="274320"/>
          </a:xfrm>
          <a:prstGeom prst="rect">
            <a:avLst/>
          </a:prstGeom>
          <a:solidFill>
            <a:srgbClr val="27AE60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85416" y="3035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29584" y="3035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255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005072" y="1261872"/>
            <a:ext cx="1709928" cy="42062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5072" y="1261872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Blue Channel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005072" y="1682496"/>
            <a:ext cx="1709928" cy="960120"/>
          </a:xfrm>
          <a:prstGeom prst="rect">
            <a:avLst/>
          </a:prstGeom>
          <a:solidFill>
            <a:srgbClr val="EBF5FB"/>
          </a:solidFill>
          <a:ln w="10160">
            <a:solidFill>
              <a:srgbClr val="2980B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78224" y="1719072"/>
            <a:ext cx="15636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Records how much BLUE light each pixel contains.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 = no blue,  255 = full blue intensity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05072" y="2734056"/>
            <a:ext cx="213741" cy="274320"/>
          </a:xfrm>
          <a:prstGeom prst="rect">
            <a:avLst/>
          </a:prstGeom>
          <a:solidFill>
            <a:srgbClr val="2980B9">
              <a:alpha val="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18813" y="2734056"/>
            <a:ext cx="213741" cy="274320"/>
          </a:xfrm>
          <a:prstGeom prst="rect">
            <a:avLst/>
          </a:prstGeom>
          <a:solidFill>
            <a:srgbClr val="2980B9">
              <a:alpha val="14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2554" y="2734056"/>
            <a:ext cx="213741" cy="274320"/>
          </a:xfrm>
          <a:prstGeom prst="rect">
            <a:avLst/>
          </a:prstGeom>
          <a:solidFill>
            <a:srgbClr val="2980B9">
              <a:alpha val="29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46295" y="2734056"/>
            <a:ext cx="213741" cy="274320"/>
          </a:xfrm>
          <a:prstGeom prst="rect">
            <a:avLst/>
          </a:prstGeom>
          <a:solidFill>
            <a:srgbClr val="2980B9">
              <a:alpha val="43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60036" y="2734056"/>
            <a:ext cx="213741" cy="274320"/>
          </a:xfrm>
          <a:prstGeom prst="rect">
            <a:avLst/>
          </a:prstGeom>
          <a:solidFill>
            <a:srgbClr val="2980B9">
              <a:alpha val="57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73777" y="2734056"/>
            <a:ext cx="213741" cy="274320"/>
          </a:xfrm>
          <a:prstGeom prst="rect">
            <a:avLst/>
          </a:prstGeom>
          <a:solidFill>
            <a:srgbClr val="2980B9">
              <a:alpha val="71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87518" y="2734056"/>
            <a:ext cx="213741" cy="274320"/>
          </a:xfrm>
          <a:prstGeom prst="rect">
            <a:avLst/>
          </a:prstGeom>
          <a:solidFill>
            <a:srgbClr val="2980B9">
              <a:alpha val="86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01259" y="2734056"/>
            <a:ext cx="213741" cy="274320"/>
          </a:xfrm>
          <a:prstGeom prst="rect">
            <a:avLst/>
          </a:prstGeom>
          <a:solidFill>
            <a:srgbClr val="2980B9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05072" y="3035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49240" y="30358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255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336499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Combine all 3 channels  =  Full colour image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65760" y="3767328"/>
            <a:ext cx="7772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7673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R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234440" y="3767328"/>
            <a:ext cx="77724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37673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+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103120" y="3767328"/>
            <a:ext cx="7772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03120" y="37673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</a:rPr>
              <a:t>G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2971800" y="3767328"/>
            <a:ext cx="777240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71800" y="37673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+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40480" y="3767328"/>
            <a:ext cx="7772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0" y="37673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80B9"/>
                </a:solidFill>
              </a:rPr>
              <a:t>B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4709160" y="3767328"/>
            <a:ext cx="7772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09160" y="37673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= Colour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715000" y="1234440"/>
            <a:ext cx="3063240" cy="3063240"/>
          </a:xfrm>
          <a:prstGeom prst="rect">
            <a:avLst/>
          </a:prstGeom>
          <a:solidFill>
            <a:srgbClr val="E8F4F8"/>
          </a:solidFill>
          <a:ln w="19050">
            <a:solidFill>
              <a:srgbClr val="00B4D8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806440" y="23545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B7"/>
                </a:solidFill>
              </a:rPr>
              <a:t>[ INSERT FIGURE HERE ]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806440" y="2720340"/>
            <a:ext cx="288036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Fig: RGB channel separation showing how a colour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image decomposes into R, G, B layers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(Szeliski, Computer Vision: Algorithms and Applications)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BGR vs RGB — Why Does Channel Order Matter?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Same data. Different order.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Most libraries use RGB (Red first). OpenCV historically stores images in BGR (Blue first). Swapping channels by accident is a very common source of bugs!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118872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48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4480" y="2148840"/>
            <a:ext cx="10515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1488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Channel 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148840"/>
            <a:ext cx="10515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1488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Channel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148840"/>
            <a:ext cx="10515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1488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Channel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32888"/>
            <a:ext cx="11887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328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RGB  (Standard)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54480" y="2532888"/>
            <a:ext cx="1051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253288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2532888"/>
            <a:ext cx="1051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53288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Green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0" y="2532888"/>
            <a:ext cx="10515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53288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Blue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971800"/>
            <a:ext cx="1188720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718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BGR  (OpenCV)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554480" y="2971800"/>
            <a:ext cx="1051560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29718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Blue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06040" y="2971800"/>
            <a:ext cx="1051560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29718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Green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2971800"/>
            <a:ext cx="1051560" cy="438912"/>
          </a:xfrm>
          <a:prstGeom prst="rect">
            <a:avLst/>
          </a:prstGeom>
          <a:solidFill>
            <a:srgbClr val="FFF3E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29718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337560"/>
            <a:ext cx="4389120" cy="960120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33756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3741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(!) Common Gotcha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36301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cv2.imread() returns BGR. If you display with Matplotlib (which expects RGB), colours will look wrong.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Fix: cv2.cvtColor(img, cv2.COLOR_BGR2RGB)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74920" y="777240"/>
            <a:ext cx="3749040" cy="3931920"/>
          </a:xfrm>
          <a:prstGeom prst="rect">
            <a:avLst/>
          </a:prstGeom>
          <a:solidFill>
            <a:srgbClr val="E8F4F8"/>
          </a:solidFill>
          <a:ln w="19050">
            <a:solidFill>
              <a:srgbClr val="00B4D8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166360" y="2331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B7"/>
                </a:solidFill>
              </a:rPr>
              <a:t>[ INSERT FIGURE HERE ]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26974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Fig: Side-by-side BGR vs RGB colour swap example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(Bradski &amp; Kaehler, Learning OpenCV)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COLOUR SPACES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242316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0B4C8"/>
                </a:solidFill>
              </a:rPr>
              <a:t>Different ways to represent the same colour — each has its strengths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63040" y="3291840"/>
            <a:ext cx="1280160" cy="1280160"/>
          </a:xfrm>
          <a:prstGeom prst="ellipse">
            <a:avLst/>
          </a:prstGeom>
          <a:solidFill>
            <a:srgbClr val="C0392B">
              <a:alpha val="30000"/>
            </a:srgbClr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291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RGB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54680" y="3291840"/>
            <a:ext cx="1280160" cy="1280160"/>
          </a:xfrm>
          <a:prstGeom prst="ellipse">
            <a:avLst/>
          </a:prstGeom>
          <a:solidFill>
            <a:srgbClr val="2980B9">
              <a:alpha val="30000"/>
            </a:srgbClr>
          </a:solidFill>
          <a:ln w="1905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3291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80B9"/>
                </a:solidFill>
              </a:rPr>
              <a:t>BGR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46320" y="3291840"/>
            <a:ext cx="1280160" cy="128016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291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HSV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7960" y="3291840"/>
            <a:ext cx="1280160" cy="1280160"/>
          </a:xfrm>
          <a:prstGeom prst="ellipse">
            <a:avLst/>
          </a:prstGeom>
          <a:solidFill>
            <a:srgbClr val="10B981">
              <a:alpha val="3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291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LAB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RGB Colour Space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RGB is the most natural colour model — it mimics how screens emit light.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74520" y="1399032"/>
            <a:ext cx="1371600" cy="1371600"/>
          </a:xfrm>
          <a:prstGeom prst="ellipse">
            <a:avLst/>
          </a:prstGeom>
          <a:solidFill>
            <a:srgbClr val="FF0000">
              <a:alpha val="45000"/>
            </a:srgbClr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1016" y="2505456"/>
            <a:ext cx="1371600" cy="1371600"/>
          </a:xfrm>
          <a:prstGeom prst="ellipse">
            <a:avLst/>
          </a:prstGeom>
          <a:solidFill>
            <a:srgbClr val="00CC00">
              <a:alpha val="45000"/>
            </a:srgbClr>
          </a:solidFill>
          <a:ln w="12700">
            <a:solidFill>
              <a:srgbClr val="00C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78024" y="2505456"/>
            <a:ext cx="1371600" cy="1371600"/>
          </a:xfrm>
          <a:prstGeom prst="ellipse">
            <a:avLst/>
          </a:prstGeom>
          <a:solidFill>
            <a:srgbClr val="0055FF">
              <a:alpha val="45000"/>
            </a:srgbClr>
          </a:solidFill>
          <a:ln w="12700">
            <a:solidFill>
              <a:srgbClr val="005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0280" y="246888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53619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(255, 0, 0)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08176" y="264261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(0, 255, 0)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15184" y="264261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(0, 0, 255)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26791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White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8872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Additive Colour Mixing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023360"/>
            <a:ext cx="54864" cy="7772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965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RGB values range from (0,0,0) = black  to  (255,255,255) = white. The full colour space forms a 3D cube with over 16 million possible colours (256³).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777240"/>
            <a:ext cx="3840480" cy="3108960"/>
          </a:xfrm>
          <a:prstGeom prst="rect">
            <a:avLst/>
          </a:prstGeom>
          <a:solidFill>
            <a:srgbClr val="E8F4F8"/>
          </a:solidFill>
          <a:ln w="19050">
            <a:solidFill>
              <a:srgbClr val="00B4D8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B7"/>
                </a:solidFill>
              </a:rPr>
              <a:t>[ INSERT FIGURE HERE 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28600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Fig: RGB colour cube and additive mixing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(Gonzalez &amp; Woods, Digital Image Processing)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HSV Colour Space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HSV separates colour (Hue) from brightness (Value) — great for colour-based detection!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51760" cy="29718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3716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Range: 0° – 360°  (OpenCV: 0–179)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pure colour — red, green, blue, yellow etc. Represented as an angle on the colour wheel.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51760" cy="29718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Saturation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Range: 0 – 255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7889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intensity/purity of the colour. 0 = grey (no colour), 255 = fully vivid colour.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51760" cy="297180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0" y="137160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Value (Brightness)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Range: 0 – 255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278892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How bright or dark the pixel is. 0 = black, 255 = maximum brightness.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343400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4074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Tip: Filtering colours by Hue alone is robust to lighting changes — very useful for colour-based object detection in OpenCV.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HSV — Visualising the Colour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38528" y="1243584"/>
            <a:ext cx="512064" cy="51206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1397942"/>
            <a:ext cx="512064" cy="512064"/>
          </a:xfrm>
          <a:prstGeom prst="ellipse">
            <a:avLst/>
          </a:prstGeom>
          <a:solidFill>
            <a:srgbClr val="FF7F00"/>
          </a:solidFill>
          <a:ln w="12700">
            <a:solidFill>
              <a:srgbClr val="FF7F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36314" y="1819656"/>
            <a:ext cx="512064" cy="512064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90672" y="2395728"/>
            <a:ext cx="512064" cy="512064"/>
          </a:xfrm>
          <a:prstGeom prst="ellipse">
            <a:avLst/>
          </a:prstGeom>
          <a:solidFill>
            <a:srgbClr val="7FFF00"/>
          </a:solidFill>
          <a:ln w="12700">
            <a:solidFill>
              <a:srgbClr val="7FFF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36314" y="2971800"/>
            <a:ext cx="512064" cy="512064"/>
          </a:xfrm>
          <a:prstGeom prst="ellipse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3393514"/>
            <a:ext cx="512064" cy="512064"/>
          </a:xfrm>
          <a:prstGeom prst="ellipse">
            <a:avLst/>
          </a:prstGeom>
          <a:solidFill>
            <a:srgbClr val="00FF7F"/>
          </a:solidFill>
          <a:ln w="12700">
            <a:solidFill>
              <a:srgbClr val="00FF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3547872"/>
            <a:ext cx="512064" cy="512064"/>
          </a:xfrm>
          <a:prstGeom prst="ellipse">
            <a:avLst/>
          </a:prstGeom>
          <a:solidFill>
            <a:srgbClr val="00FFFF"/>
          </a:solidFill>
          <a:ln w="12700">
            <a:solidFill>
              <a:srgbClr val="00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62456" y="3393514"/>
            <a:ext cx="512064" cy="512064"/>
          </a:xfrm>
          <a:prstGeom prst="ellipse">
            <a:avLst/>
          </a:prstGeom>
          <a:solidFill>
            <a:srgbClr val="007FFF"/>
          </a:solidFill>
          <a:ln w="12700">
            <a:solidFill>
              <a:srgbClr val="007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0742" y="2971800"/>
            <a:ext cx="512064" cy="512064"/>
          </a:xfrm>
          <a:prstGeom prst="ellipse">
            <a:avLst/>
          </a:prstGeom>
          <a:solidFill>
            <a:srgbClr val="0000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" y="2395728"/>
            <a:ext cx="512064" cy="512064"/>
          </a:xfrm>
          <a:prstGeom prst="ellipse">
            <a:avLst/>
          </a:prstGeom>
          <a:solidFill>
            <a:srgbClr val="7F00FF"/>
          </a:solidFill>
          <a:ln w="12700">
            <a:solidFill>
              <a:srgbClr val="7F00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0742" y="1819656"/>
            <a:ext cx="512064" cy="512064"/>
          </a:xfrm>
          <a:prstGeom prst="ellipse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62456" y="1397942"/>
            <a:ext cx="512064" cy="512064"/>
          </a:xfrm>
          <a:prstGeom prst="ellipse">
            <a:avLst/>
          </a:prstGeom>
          <a:solidFill>
            <a:srgbClr val="FF007F"/>
          </a:solidFill>
          <a:ln w="12700">
            <a:solidFill>
              <a:srgbClr val="FF00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2331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Wheel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Hue (0–360°) shown as colour wheel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Saturation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329184" cy="320040"/>
          </a:xfrm>
          <a:prstGeom prst="rect">
            <a:avLst/>
          </a:prstGeom>
          <a:solidFill>
            <a:srgbClr val="FF0000">
              <a:alpha val="20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" y="3977640"/>
            <a:ext cx="329184" cy="320040"/>
          </a:xfrm>
          <a:prstGeom prst="rect">
            <a:avLst/>
          </a:prstGeom>
          <a:solidFill>
            <a:srgbClr val="FF0000">
              <a:alpha val="29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" y="3977640"/>
            <a:ext cx="329184" cy="320040"/>
          </a:xfrm>
          <a:prstGeom prst="rect">
            <a:avLst/>
          </a:prstGeom>
          <a:solidFill>
            <a:srgbClr val="FF0000">
              <a:alpha val="38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3312" y="3977640"/>
            <a:ext cx="329184" cy="320040"/>
          </a:xfrm>
          <a:prstGeom prst="rect">
            <a:avLst/>
          </a:prstGeom>
          <a:solidFill>
            <a:srgbClr val="FF0000">
              <a:alpha val="47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82496" y="3977640"/>
            <a:ext cx="329184" cy="320040"/>
          </a:xfrm>
          <a:prstGeom prst="rect">
            <a:avLst/>
          </a:prstGeom>
          <a:solidFill>
            <a:srgbClr val="FF0000">
              <a:alpha val="56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0" y="3977640"/>
            <a:ext cx="329184" cy="320040"/>
          </a:xfrm>
          <a:prstGeom prst="rect">
            <a:avLst/>
          </a:prstGeom>
          <a:solidFill>
            <a:srgbClr val="FF0000">
              <a:alpha val="64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40864" y="3977640"/>
            <a:ext cx="329184" cy="320040"/>
          </a:xfrm>
          <a:prstGeom prst="rect">
            <a:avLst/>
          </a:prstGeom>
          <a:solidFill>
            <a:srgbClr val="FF0000">
              <a:alpha val="73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70048" y="3977640"/>
            <a:ext cx="329184" cy="320040"/>
          </a:xfrm>
          <a:prstGeom prst="rect">
            <a:avLst/>
          </a:prstGeom>
          <a:solidFill>
            <a:srgbClr val="FF0000">
              <a:alpha val="82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977640"/>
            <a:ext cx="329184" cy="320040"/>
          </a:xfrm>
          <a:prstGeom prst="rect">
            <a:avLst/>
          </a:prstGeom>
          <a:solidFill>
            <a:srgbClr val="FF0000">
              <a:alpha val="91000"/>
            </a:srgbClr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28416" y="3977640"/>
            <a:ext cx="329184" cy="320040"/>
          </a:xfrm>
          <a:prstGeom prst="rect">
            <a:avLst/>
          </a:prstGeom>
          <a:solidFill>
            <a:srgbClr val="FF0000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3251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Low (grey)  →  High (vivid)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31920" y="804672"/>
            <a:ext cx="4846320" cy="3200400"/>
          </a:xfrm>
          <a:prstGeom prst="rect">
            <a:avLst/>
          </a:prstGeom>
          <a:solidFill>
            <a:srgbClr val="E8F4F8"/>
          </a:solidFill>
          <a:ln w="19050">
            <a:solidFill>
              <a:srgbClr val="00B4D8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023360" y="1993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B7"/>
                </a:solidFill>
              </a:rPr>
              <a:t>[ INSERT FIGURE HERE 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23360" y="2359152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Fig: HSV colour model cylinder / cone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H = hue angle, S = saturation radius, V = brightness height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(Gonzalez &amp; Woods, Digital Image Processing — Fig 6.xx)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31920" y="4114800"/>
            <a:ext cx="4846320" cy="749808"/>
          </a:xfrm>
          <a:prstGeom prst="rect">
            <a:avLst/>
          </a:prstGeom>
          <a:solidFill>
            <a:srgbClr val="EBF5FB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0" y="4114800"/>
            <a:ext cx="54864" cy="749808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416966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OpenCV Note: Hue range is halved to 0–179 (to fit in uint8). So red = 0 or 179, green ≈ 60, blue ≈ 120.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LAB Colour Space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LAB (or L*a*b*) is designed to match human perception — equal numerical distances ≈ equal perceived colour differences.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51760" cy="2606040"/>
          </a:xfrm>
          <a:prstGeom prst="rect">
            <a:avLst/>
          </a:prstGeom>
          <a:solidFill>
            <a:srgbClr val="F8F9FA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" cy="2606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</a:rPr>
              <a:t>L*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" y="1883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Lightness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194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Range: 0 – 100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49631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0 = pure black,  100 = pure white.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Completely separates luminance from colour.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651760" cy="260604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54864" cy="2606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a*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55848" y="1883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Green–Red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2194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Range: −128 to +127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249631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Negative = green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Positive = red/magenta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2651760" cy="260604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25880"/>
            <a:ext cx="54864" cy="26060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80B9"/>
                </a:solidFill>
              </a:rPr>
              <a:t>b*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36208" y="18836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Blue–Yellow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36208" y="2194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980B9"/>
                </a:solidFill>
              </a:rPr>
              <a:t>Range: −128 to +127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36208" y="2496312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Negative = blue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Positive = yellow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23360"/>
            <a:ext cx="4937760" cy="82296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023360"/>
            <a:ext cx="5486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599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</a:rPr>
              <a:t>When to use LAB: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343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Colour matching, colour transfer, skin-tone detection, and any task needing perceptually uniform colour distances.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1280160"/>
            <a:ext cx="3200400" cy="3520440"/>
          </a:xfrm>
          <a:prstGeom prst="rect">
            <a:avLst/>
          </a:prstGeom>
          <a:solidFill>
            <a:srgbClr val="E8F4F8"/>
          </a:solidFill>
          <a:ln w="19050">
            <a:solidFill>
              <a:srgbClr val="00B4D8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69280" y="26289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B7"/>
                </a:solidFill>
              </a:rPr>
              <a:t>[ INSERT FIGURE HERE 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2994660"/>
            <a:ext cx="301752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Fig: L*a*b* colour space diagram showing a*b* plane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(Gonzalez &amp; Woods, Digital Image Processing)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Colour Space Comparison — When to Use What?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23444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Colour Space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00200" y="822960"/>
            <a:ext cx="15087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82296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Components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822960"/>
            <a:ext cx="31089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82296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Used For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822960"/>
            <a:ext cx="25603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82296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OpenCV Code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225296"/>
            <a:ext cx="1234440" cy="53035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225296"/>
            <a:ext cx="54864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225296"/>
            <a:ext cx="1069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RGB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00200" y="1225296"/>
            <a:ext cx="1508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55064" y="1225296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 · G · 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1225296"/>
            <a:ext cx="3108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63824" y="1225296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Display, web images, Matplotlib visualisation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225296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225296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cv2.COLOR_BGR2RGB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755648"/>
            <a:ext cx="1234440" cy="53035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1755648"/>
            <a:ext cx="54864" cy="5303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1755648"/>
            <a:ext cx="1069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BGR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00200" y="1755648"/>
            <a:ext cx="150876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55064" y="1755648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 · G · 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08960" y="1755648"/>
            <a:ext cx="310896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3824" y="1755648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Default in OpenCV — reading/writing images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1755648"/>
            <a:ext cx="256032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1755648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(Default in OpenCV)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286000"/>
            <a:ext cx="1234440" cy="53035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286000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2286000"/>
            <a:ext cx="1069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HSV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00200" y="2286000"/>
            <a:ext cx="1508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55064" y="2286000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Hue · Sat · Val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08960" y="2286000"/>
            <a:ext cx="3108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63824" y="2286000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Colour-based segmentation, object tracking by colour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228600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2286000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cv2.COLOR_BGR2HSV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2816352"/>
            <a:ext cx="1234440" cy="53035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2816352"/>
            <a:ext cx="54864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2816352"/>
            <a:ext cx="1069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LAB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600200" y="2816352"/>
            <a:ext cx="150876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55064" y="2816352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L* · a* · b*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108960" y="2816352"/>
            <a:ext cx="310896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63824" y="2816352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Colour matching, perceptual uniformity, skin detection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17920" y="2816352"/>
            <a:ext cx="256032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2816352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cv2.COLOR_BGR2LAB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3346704"/>
            <a:ext cx="1234440" cy="530352"/>
          </a:xfrm>
          <a:prstGeom prst="rect">
            <a:avLst/>
          </a:prstGeom>
          <a:solidFill>
            <a:srgbClr val="F8FB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3346704"/>
            <a:ext cx="54864" cy="5303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3346704"/>
            <a:ext cx="1069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Gray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600200" y="3346704"/>
            <a:ext cx="1508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55064" y="3346704"/>
            <a:ext cx="1399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Intensity (single)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108960" y="3346704"/>
            <a:ext cx="3108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63824" y="3346704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Edge detection, thresholding, morphological ops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17920" y="3346704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72784" y="3346704"/>
            <a:ext cx="2450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cv2.COLOR_BGR2GRAY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EEF2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" y="4297680"/>
            <a:ext cx="54864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3616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Rule of thumb: Use BGR/RGB for loading &amp; saving, HSV for colour filtering, LAB for colour comparison, Grayscale for structural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Images as NumPy Arrays — Bridging Theory to Code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In OpenCV + Python, images are just NumPy arrays. Everything we learnt in Session 1 applies directly!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846320" cy="3474720"/>
          </a:xfrm>
          <a:prstGeom prst="rect">
            <a:avLst/>
          </a:prstGeom>
          <a:solidFill>
            <a:srgbClr val="1E1E2E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45720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image (BGR by default)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cv2.imread('photo.jpg')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Shape: (height, width, channels)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print(img.shape)  # (480, 640, 3)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Access one pixel [row, col]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 = img[100, 200]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[B, G, R] values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colour 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hsv = cv2.cvtColor(img,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cv2.COLOR_BGR2HSV)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Slice a region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= img[50:200, 100:300]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28016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94960" y="1280160"/>
            <a:ext cx="54864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13441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Shape Convention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1627632"/>
            <a:ext cx="3154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NumPy uses (height, width, channels)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Not (width, height) — easy mistake!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246888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94960" y="2468880"/>
            <a:ext cx="54864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5328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Colour Channel Order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2816352"/>
            <a:ext cx="3154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img[:, :, 0] = Blue channel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img[:, :, 1] = Green channel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img[:, :, 2] = Red channel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365760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3657600"/>
            <a:ext cx="54864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3721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Type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4005072"/>
            <a:ext cx="3154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Default dtype = uint8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Values: 0–255 per channel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Images are grids of numbers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13075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Every pixel is a numerical value (0–255). CV = mathematical operations on these numbers.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 channels = 1 colour image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9744" y="13075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Red, Green, and Blue channels combine to form millions of colours (additive model).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40233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40280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BGR is not RGB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" y="26334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OpenCV uses BGR order by default. Always convert when using Matplotlib or other libraries.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240280"/>
            <a:ext cx="40233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240280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2331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HSV for colour detection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9744" y="26334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Separate hue from brightness. More robust to lighting changes than RGB.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40233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566160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LAB for perceptual accuracy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" y="39593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Designed to match human vision. Best for colour comparison and matching tasks.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566160"/>
            <a:ext cx="40233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566160"/>
            <a:ext cx="54864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Images = NumPy arrays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9744" y="39593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All Session 1 NumPy skills apply directly to image manipulation in Python.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What's Next?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0" y="150876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2560320" cy="256032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25603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Session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B8"/>
                </a:solidFill>
              </a:rPr>
              <a:t>Next Monday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OpenCV Basics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imread, imshow, resize, threshold, morphological ops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828800"/>
            <a:ext cx="2560320" cy="2560320"/>
          </a:xfrm>
          <a:prstGeom prst="rect">
            <a:avLst/>
          </a:prstGeom>
          <a:solidFill>
            <a:srgbClr val="1B2A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828800"/>
            <a:ext cx="25603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Session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B8"/>
                </a:solidFill>
              </a:rPr>
              <a:t>Wednesday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Filtering &amp; Edge Detection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1089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Gaussian blur, Sobel, Canny edge detector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2560320" cy="2560320"/>
          </a:xfrm>
          <a:prstGeom prst="rect">
            <a:avLst/>
          </a:prstGeom>
          <a:solidFill>
            <a:srgbClr val="1B2A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828800"/>
            <a:ext cx="25603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Session 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B8"/>
                </a:solidFill>
              </a:rPr>
              <a:t>Friday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Geometric Transforms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31089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Affine, perspective transforms, warp, homography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Phase 1 Milestone (Session 8): Document Scanner / Card Detector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 – Image Fundamentals</dc:title>
  <dc:subject>PptxGenJS Presentation</dc:subject>
  <dc:creator>AI &amp; CV Course</dc:creator>
  <cp:lastModifiedBy>AI &amp; CV Course</cp:lastModifiedBy>
  <cp:revision>1</cp:revision>
  <dcterms:created xsi:type="dcterms:W3CDTF">2026-04-10T15:42:16Z</dcterms:created>
  <dcterms:modified xsi:type="dcterms:W3CDTF">2026-04-10T15:42:16Z</dcterms:modified>
</cp:coreProperties>
</file>