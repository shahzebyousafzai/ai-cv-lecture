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 &amp; 3D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657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786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Depth  ·  MiDaS  ·  Point Clouds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Hours   </a:t>
            </a:r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Format: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Hands-on Coding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" cy="566928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9509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 Fundamentals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21615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depth matters and the different approaches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502920" cy="566928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70992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17465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vs. Monocular Depth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20116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maps, depth cues, and the ill-posed problem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502920" cy="566928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50545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7552" y="2542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— Robust Monocular Depth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7552" y="28072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multi-dataset training, model zoo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00984"/>
            <a:ext cx="502920" cy="566928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30098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87552" y="33375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Point Clouds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7552" y="36027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LiDAR, RGB-D cameras, and Open3D processing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502920" cy="566928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409651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05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7552" y="41330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Coding Session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7552" y="43982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inference + point cloud exploration with Open3D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Depth Matter?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20624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see in 2D — but the world is 3D. Depth bridges that gap.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367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obstacles, estimate distances in real-time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2139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21214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865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spaces, grip objects, avoid collisions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2889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🥽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28712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Reality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1363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virtual objects seamlessly in real scenes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75304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05840" y="36210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886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3D anatomy, assist surgeries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0" descr="/sessions/wonderful-youthful-ptolemy/mnt/outputs/pptx_build/imgs/d415_dep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868680"/>
            <a:ext cx="3931920" cy="31089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663440" y="3931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Intel RealSense D415 — Depth Map Output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663440" y="41696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Intel RealSense / GitHub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Depth Sensing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201168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📷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Vision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cameras, one baseline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disparity between views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human binocular vision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calibrated camera pair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32888" y="86868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32888" y="868680"/>
            <a:ext cx="20116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960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🎯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624328" y="1664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24328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camera only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24328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deep learning / AI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24328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relative depth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24328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camera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0016" y="86868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0016" y="868680"/>
            <a:ext cx="201168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700016" y="960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⚡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791456" y="1664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91456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pulses (Time-of-Flight)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91456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3D points/sec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91456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self-driving cars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accurate, expensive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67144" y="868680"/>
            <a:ext cx="2011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67144" y="868680"/>
            <a:ext cx="201168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867144" y="960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📡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958584" y="1664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 Camera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58584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+ Depth together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58584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structured light or ToF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58584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Kinect, RealSense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58584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use, limited range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Depth Estimation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3891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4206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sessions/wonderful-youthful-ptolemy/mnt/outputs/pptx_build/imgs/rectifi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402336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200400"/>
            <a:ext cx="4206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Rectified stereo image pair (left + right camera)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342900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Intel RealSense / GitHub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Stereo Vision Works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1298448"/>
            <a:ext cx="347472" cy="347472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93792" y="131673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cameras placed a fixed baseline apart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938528"/>
            <a:ext cx="347472" cy="347472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54880" y="1938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93792" y="195681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scene captured from slightly different angles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2578608"/>
            <a:ext cx="347472" cy="347472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0" y="2578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93792" y="25968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corresponding pixels (block matching)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3218688"/>
            <a:ext cx="347472" cy="347472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754880" y="3218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93792" y="323697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d = pixel offset between left and right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54880" y="3858768"/>
            <a:ext cx="347472" cy="347472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754880" y="3858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193792" y="38770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(focal length × baseline) / disparity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4572000"/>
            <a:ext cx="4023360" cy="411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754880" y="4572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= (f × B) / d     [ f=focal, B=baseline, d=disparity ]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Maps: Seeing in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41248"/>
            <a:ext cx="4114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sessions/wonderful-youthful-ptolemy/mnt/outputs/pptx_build/imgs/stereo_ss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32688"/>
            <a:ext cx="393192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95020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Block matching: finding pixel correspondences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417880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Intel RealSense / GitHub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841248"/>
            <a:ext cx="4114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sessions/wonderful-youthful-ptolemy/mnt/outputs/pptx_build/imgs/ssd_dept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932688"/>
            <a:ext cx="3931920" cy="2560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395020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Resulting depth map — brighter = closer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663440" y="417880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Intel RealSense / GitHub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💡 Key Insight: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Large disparity (big shift) → object is CLOSE.   Small disparity → object is FAR away.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Depth Estimation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Inferring depth from a SINGLE image — the harder problem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1417320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89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depth is an ILL-POSED problem.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different 3D scenes can produce the exact same 2D image — there is no unique solution without learned priors.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1417320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64008" cy="1417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89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depth priors from millions of labelled examples.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recognise perspective, texture density, shading, and object size to predict plausible depth.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Depth Cues Exploited by AI Models: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perspective — parallel lines converge at a vanishing point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gradient — texture density decreases with distance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005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object size — familiar objects appear smaller when far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3068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Shading &amp; shadows — lighting cues reveal surface orientation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6085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— near objects partially cover far objects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Deep Learning Estimates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1280160" cy="1463040"/>
          </a:xfrm>
          <a:prstGeom prst="rect">
            <a:avLst/>
          </a:prstGeom>
          <a:solidFill>
            <a:srgbClr val="0EA5E9">
              <a:alpha val="35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91640" y="1655064"/>
            <a:ext cx="24688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892808" y="1572768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0" y="960120"/>
            <a:ext cx="1828800" cy="1463040"/>
          </a:xfrm>
          <a:prstGeom prst="rect">
            <a:avLst/>
          </a:prstGeom>
          <a:solidFill>
            <a:srgbClr val="0369A1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9601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/ ViT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86200" y="1655064"/>
            <a:ext cx="24688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087368" y="1572768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960120"/>
            <a:ext cx="1828800" cy="14630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9601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 layers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output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655064"/>
            <a:ext cx="24688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572768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960120"/>
            <a:ext cx="1280160" cy="1463040"/>
          </a:xfrm>
          <a:prstGeom prst="rect">
            <a:avLst/>
          </a:prstGeom>
          <a:solidFill>
            <a:srgbClr val="059669">
              <a:alpha val="35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96012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251460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Encoder–Decoder Architecture (U-Net style)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907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Model Architectures: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3364992"/>
            <a:ext cx="41605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364992"/>
            <a:ext cx="54864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" y="3401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 / Swin Transformer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" y="3630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— captures long-range context across the image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86784"/>
            <a:ext cx="41605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86784"/>
            <a:ext cx="54864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DPT (Dense Prediction Transformer)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" y="42519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adapted for pixel-level outputs like depth maps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73168" y="3364992"/>
            <a:ext cx="41605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3364992"/>
            <a:ext cx="54864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4901184" y="3401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+ U-Net Decoder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01184" y="3630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 — reliable and fast, great baseline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73168" y="3986784"/>
            <a:ext cx="41605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3986784"/>
            <a:ext cx="54864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4901184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Anything v2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01184" y="42519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SOTA — self-supervised on 62 M unlabelled images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Data as Supervision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Monocular Depth Estimation · Intel ISL · Open-Source (MIT)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463040" cy="1261872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146304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A5E9"/>
                </a:solidFill>
              </a:rPr>
              <a:t>12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84832" y="1828800"/>
            <a:ext cx="1463040" cy="1261872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84832" y="1828800"/>
            <a:ext cx="146304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192024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A5E9"/>
                </a:solidFill>
              </a:rPr>
              <a:t>5+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084832" y="26151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12464" y="1828800"/>
            <a:ext cx="1463040" cy="1261872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1828800"/>
            <a:ext cx="146304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192024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A5E9"/>
                </a:solidFill>
              </a:rPr>
              <a:t>28%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712464" y="26151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v3.0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7124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cross-dataset transfer (generalises well)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014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relative inverse depth (not metric)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315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indoor &amp; outdoor data (12 datasets)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on GitHub — MIT License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228600"/>
            <a:ext cx="3749040" cy="45720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0" descr="/sessions/wonderful-youthful-ptolemy/mnt/outputs/pptx_build/imgs/midas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320040"/>
            <a:ext cx="3566160" cy="4114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0" y="47274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MiDaS Depth Map Comparison Across Model Versions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0" y="489204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isl-org/MiDaS · GitHub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MiDaS: Speed vs. Quality Trade-off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41248"/>
            <a:ext cx="5029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sessions/wonderful-youthful-ptolemy/mnt/outputs/pptx_build/imgs/midas_f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32688"/>
            <a:ext cx="484632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8188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Bubble size = number of parameters   |   Source: isl-org/MiDaS · GitHub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577840" y="841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Variants: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77840" y="1298448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298448"/>
            <a:ext cx="54864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5687568" y="1344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BEiTL-512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87568" y="16276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07808" y="1344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FPS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07808" y="16276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77840" y="2185416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185416"/>
            <a:ext cx="54864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5687568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Swin2L-384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87568" y="2514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07808" y="22311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FPS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07808" y="25146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577840" y="3072384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3072384"/>
            <a:ext cx="54864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0"/>
          <p:cNvSpPr/>
          <p:nvPr/>
        </p:nvSpPr>
        <p:spPr>
          <a:xfrm>
            <a:off x="5687568" y="31181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Swin2T-256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87568" y="34015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607808" y="3118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FPS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607808" y="34015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577840" y="3959352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577840" y="3959352"/>
            <a:ext cx="54864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6"/>
          <p:cNvSpPr/>
          <p:nvPr/>
        </p:nvSpPr>
        <p:spPr>
          <a:xfrm>
            <a:off x="5687568" y="4005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LeViT-224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687568" y="42885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real-time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607808" y="4005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FPS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607808" y="42885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in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41248"/>
            <a:ext cx="5029200" cy="4114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32688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torch, cv2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Load MiDaS model from PyTorch Hub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midas = torch.hub.load(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"intel-isl/MiDaS", "DPT_Large"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midas.eval()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Load the matching transforms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transforms = torch.hub.load(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"intel-isl/MiDaS", "transforms"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).dpt_transform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Load and prepare 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    = cv2.imread("photo.jpg")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img_rgb = cv2.cvtColor(img, cv2.COLOR_BGR2RGB)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  = transforms(img_rgb)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Inference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torch.no_grad():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depth = midas(batch)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depth = torch.nn.functional.interpolate(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depth.unsqueeze(1),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size=img.shape[:2],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mode="bicubic"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).squeeze()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depth_np = depth.numpy()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Visualise: plt.imshow(depth_np, cmap='inferno')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77840" y="841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Notes: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77840" y="1298448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298448"/>
            <a:ext cx="54864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687568" y="13350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relative depth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87568" y="1600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NOT in metres — closer objects are higher values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0" y="2212848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2212848"/>
            <a:ext cx="54864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687568" y="2249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model to transform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87568" y="2514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variant needs its own input transform pipeline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77840" y="3127248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3127248"/>
            <a:ext cx="54864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687568" y="3163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Colormap for visualisation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87568" y="3429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"inferno" or "magma" cmap for perceptually clear maps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77840" y="4041648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4041648"/>
            <a:ext cx="54864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687568" y="4078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metric depth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87568" y="4343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ZoeDepth on top of MiDaS for absolute distance in 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74320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 &amp; distances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04825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depth for safe following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3591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assistance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1440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0058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023360" y="10058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Drones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7373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unknown spaces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204825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3D maps (SLAM)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3591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grasping &amp; manipulation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91440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914400"/>
            <a:ext cx="27432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0058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🥽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903720" y="10058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Reality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36208" y="17373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object placement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204825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handling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23591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Scene-aware AR overlays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97180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71800"/>
            <a:ext cx="27432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0632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🎬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143000" y="30632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Reconstruction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" y="37947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reconstruction from video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" y="410565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digitisation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" y="44165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VFX &amp; film production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297180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2971800"/>
            <a:ext cx="274320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3246120" y="30632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4023360" y="30632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55848" y="37947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depth awareness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55848" y="410565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measurement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55848" y="44165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Endoscopy 3D mapping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297180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971800"/>
            <a:ext cx="27432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30632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6903720" y="30632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36208" y="37947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mode (bokeh)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36208" y="410565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(iPhone)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36208" y="44165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photo enhancement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Point Clouds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representation of the world as discrete points in space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Point Cloud?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cloud is a collection of data points defined by (x, y, z) coordinates in 3D space, each representing a location on a scanned surface.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can also store: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Intensity / Reflectance value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RGB colour (if camera-fused)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number (LiDAR multi-return)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330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Point Clouds: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LiDAR sensors (Velodyne, Ouster)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RGB-D cameras (Kinect, RealSense)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Photogrammetry / Structure from Motion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Depth map → 3D back-projection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206240" cy="34747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sessions/wonderful-youthful-ptolemy/mnt/outputs/pptx_build/imgs/kitti_dis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1325880"/>
            <a:ext cx="4023360" cy="3017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0" y="4663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KITTI Dataset — LiDAR Point Cloud (Distance → Colour)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484632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yudhisteer/Point-Clouds-3D-Perception · GitHub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LiDAR: 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Detection and Ranging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38328" cy="3383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61872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pulses emitted in all directions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338328" cy="3383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28800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847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 reflect off objects and return to sensor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338328" cy="3383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395728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4140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Time-of-flight measured for each return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338328" cy="3383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962656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9809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(Speed of light × flight time) / 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529584"/>
            <a:ext cx="338328" cy="3383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529584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" y="3547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points captured per second → 3D map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4114800" cy="502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4160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(c × t) / 2    where c = speed of light, t = time of flight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804672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0" descr="/sessions/wonderful-youthful-ptolemy/mnt/outputs/pptx_build/imgs/lidar_ty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896112"/>
            <a:ext cx="3931920" cy="2926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663440" y="41879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Types of LiDAR scanning mechanisms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63440" y="43891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Semantic Scholar via yudhisteer/Point-Clouds-3D-Perception · GitHub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663440" y="46451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Mechanical (360°)  ·  Solid-State (MEMS / OPA)  ·  Flash LiDAR  ·  2D / 3D / 4D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Processing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1298448" cy="438912"/>
          </a:xfrm>
          <a:prstGeom prst="rect">
            <a:avLst/>
          </a:prstGeom>
          <a:solidFill>
            <a:srgbClr val="0369A1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Capture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664208" y="868680"/>
            <a:ext cx="137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01368" y="822960"/>
            <a:ext cx="1298448" cy="438912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01368" y="82296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Visualise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99816" y="868680"/>
            <a:ext cx="137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36976" y="822960"/>
            <a:ext cx="1298448" cy="43891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36976" y="82296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Downsample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35424" y="868680"/>
            <a:ext cx="137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2584" y="822960"/>
            <a:ext cx="1298448" cy="438912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72584" y="82296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Segment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71032" y="868680"/>
            <a:ext cx="137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08192" y="822960"/>
            <a:ext cx="1298448" cy="438912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08192" y="82296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Cluster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06640" y="868680"/>
            <a:ext cx="137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43800" y="822960"/>
            <a:ext cx="1298448" cy="438912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3800" y="82296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Analyse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1417320"/>
            <a:ext cx="420624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0" descr="/sessions/wonderful-youthful-ptolemy/mnt/outputs/pptx_build/imgs/vox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90472"/>
            <a:ext cx="2578608" cy="142646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154680" y="15087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Downsampling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154680" y="192024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number of points while preserving shape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00600" y="1417320"/>
            <a:ext cx="420624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1" descr="/sessions/wonderful-youthful-ptolemy/mnt/outputs/pptx_build/imgs/ransa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3752" y="1490472"/>
            <a:ext cx="2578608" cy="142646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89520" y="150876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Segmentation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589520" y="192024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ground plane from obstacles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65760" y="3200400"/>
            <a:ext cx="420624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2" descr="/sessions/wonderful-youthful-ptolemy/mnt/outputs/pptx_build/imgs/dbsca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73552"/>
            <a:ext cx="2578608" cy="142646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154680" y="32918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Clustering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3154680" y="370332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nearby points into distinct objects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800600" y="3200400"/>
            <a:ext cx="420624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pic>
        <p:nvPicPr>
          <p:cNvPr id="35" name="Image 3" descr="/sessions/wonderful-youthful-ptolemy/mnt/outputs/pptx_build/imgs/bboxe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73752" y="3273552"/>
            <a:ext cx="2578608" cy="142646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589520" y="32918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Bounding Boxes (PCA)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589520" y="370332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oriented boxes around each cluster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365760" y="501091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yudhisteer/Point-Clouds-3D-Perception-with-Open3D · GitHub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Depth Maps to Point Clouds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 from a 2D depth map → 3D point cloud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88720" cy="1005840"/>
          </a:xfrm>
          <a:prstGeom prst="rect">
            <a:avLst/>
          </a:prstGeom>
          <a:solidFill>
            <a:srgbClr val="0369A1">
              <a:alpha val="40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8016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H×W×3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91640" y="1755648"/>
            <a:ext cx="34747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166420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48840" y="1280160"/>
            <a:ext cx="1188720" cy="1005840"/>
          </a:xfrm>
          <a:prstGeom prst="rect">
            <a:avLst/>
          </a:prstGeom>
          <a:solidFill>
            <a:srgbClr val="7C3AED">
              <a:alpha val="45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128016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755648"/>
            <a:ext cx="34747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66420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0" y="1280160"/>
            <a:ext cx="1188720" cy="1005840"/>
          </a:xfrm>
          <a:prstGeom prst="rect">
            <a:avLst/>
          </a:prstGeom>
          <a:solidFill>
            <a:srgbClr val="7C3AED">
              <a:alpha val="45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0" y="128016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2029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H×W×1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0" y="1755648"/>
            <a:ext cx="34747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166420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32120" y="1280160"/>
            <a:ext cx="1188720" cy="1005840"/>
          </a:xfrm>
          <a:prstGeom prst="rect">
            <a:avLst/>
          </a:prstGeom>
          <a:solidFill>
            <a:srgbClr val="059669">
              <a:alpha val="45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128016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1755648"/>
            <a:ext cx="34747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166420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23760" y="1280160"/>
            <a:ext cx="1188720" cy="1005840"/>
          </a:xfrm>
          <a:prstGeom prst="rect">
            <a:avLst/>
          </a:prstGeom>
          <a:solidFill>
            <a:srgbClr val="059669">
              <a:alpha val="45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128016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23760" y="2029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N×3+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2487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Back-Projection Formula: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2852928"/>
            <a:ext cx="8229600" cy="102412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2852928"/>
            <a:ext cx="8229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(u - cx) × depth / fx
</a:t>
            </a:r>
            <a:pPr algn="ctr"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(v - cy) × depth / fy
</a:t>
            </a:r>
            <a:pPr algn="ctr"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depth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57200" y="39502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(u, v) = pixel coords   ·   (cx, cy) = principal point   ·   fx, fy = focal lengths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Tools: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Open3D  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·  PyTorch3D  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·  PCL (Point Cloud Library)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 in Code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74320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4241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167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Depth Estimation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1901952"/>
            <a:ext cx="2523744" cy="27432"/>
          </a:xfrm>
          <a:prstGeom prst="rect">
            <a:avLst/>
          </a:prstGeom>
          <a:solidFill>
            <a:srgbClr val="0369A1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01168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MiDaS model from PyTorch Hub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inference on a real photograph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" y="2980944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with different colormaps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" y="3465576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variants (speed vs quality)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27432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104241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13167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Exploration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55848" y="1901952"/>
            <a:ext cx="2523744" cy="27432"/>
          </a:xfrm>
          <a:prstGeom prst="rect">
            <a:avLst/>
          </a:prstGeom>
          <a:solidFill>
            <a:srgbClr val="059669">
              <a:alpha val="4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55848" y="201168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KITTI .bin point cloud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55848" y="249631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with Open3D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55848" y="2980944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voxel downsampling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55848" y="3465576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RANSAC + DBSCAN clustering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91440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104241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6208" y="1316736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Map → Point Cloud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36208" y="1901952"/>
            <a:ext cx="2523744" cy="27432"/>
          </a:xfrm>
          <a:prstGeom prst="rect">
            <a:avLst/>
          </a:prstGeom>
          <a:solidFill>
            <a:srgbClr val="7C3AED">
              <a:alpha val="4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36208" y="201168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MiDaS depth output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36208" y="2496312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Back-project using camera intrinsics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236208" y="2980944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3D point cloud in Open3D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32004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4160520" cy="100584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64008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2471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1124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4630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machines a 3D understanding of the world from 2D camera images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92040" y="1051560"/>
            <a:ext cx="4160520" cy="100584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051560"/>
            <a:ext cx="64008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001768" y="112471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👁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715000" y="1124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vs Monocular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15000" y="14630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is accurate but needs 2 cameras; monocular uses AI on a single image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4160520" cy="100584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86000"/>
            <a:ext cx="64008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35915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28016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26974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monocular depth — 12 datasets, zero-shot generalisation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92040" y="2286000"/>
            <a:ext cx="4160520" cy="100584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286000"/>
            <a:ext cx="64008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001768" y="235915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☁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71500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15000" y="26974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3D representation — each point has (x, y, z) and optional attributes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4160520" cy="100584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20440"/>
            <a:ext cx="64008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59359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280160" y="3593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39319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Gold-standard 3D sensor — laser time-of-flight at millions of points/sec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92040" y="3520440"/>
            <a:ext cx="4160520" cy="1005840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3520440"/>
            <a:ext cx="64008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359359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5715000" y="3593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→ 3D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715000" y="39319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maps can be back-projected to 3D point clouds with camera intrinsics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Session 17 Complete  ·  Next: Hands-on Coding with MiDaS &amp; Open3D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3816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17: Depth Estimation &amp; 3D</dc:title>
  <dc:subject>PptxGenJS Presentation</dc:subject>
  <dc:creator>AI-CV Lecture</dc:creator>
  <cp:lastModifiedBy>AI-CV Lecture</cp:lastModifiedBy>
  <cp:revision>1</cp:revision>
  <dcterms:created xsi:type="dcterms:W3CDTF">2026-06-04T11:43:11Z</dcterms:created>
  <dcterms:modified xsi:type="dcterms:W3CDTF">2026-06-04T11:43:11Z</dcterms:modified>
</cp:coreProperties>
</file>