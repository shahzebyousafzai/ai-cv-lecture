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0019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Estimation &amp; 3D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365760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7860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Monocular Depth  ·  MiDaS  ·  Point Clouds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502920" cy="566928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914400"/>
            <a:ext cx="502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95097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Estimation Fundamentals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87552" y="1216152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depth matters and the different approaches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09928"/>
            <a:ext cx="502920" cy="566928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709928"/>
            <a:ext cx="502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</a:rPr>
              <a:t>02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17465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vs. Monocular Depth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7552" y="201168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maps, depth cues, and the ill-posed problem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05456"/>
            <a:ext cx="502920" cy="566928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2505456"/>
            <a:ext cx="502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</a:rPr>
              <a:t>03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87552" y="254203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 — Robust Monocular Depth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87552" y="280720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multi-dataset training, model zoo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300984"/>
            <a:ext cx="502920" cy="566928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3300984"/>
            <a:ext cx="502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</a:rPr>
              <a:t>04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87552" y="33375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Point Clouds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87552" y="3602736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LiDAR, RGB-D cameras, and Open3D processing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096512"/>
            <a:ext cx="502920" cy="566928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4096512"/>
            <a:ext cx="502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8FAFC"/>
                </a:solidFill>
              </a:rPr>
              <a:t>05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87552" y="41330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Coding Session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87552" y="439826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 inference + point cloud exploration with Open3D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Depth Matter?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420624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822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see in 2D — but the world is 3D. Depth bridges that gap.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" y="13898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🚗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13716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Driving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6367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obstacles, estimate distances in real-time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075688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21396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212140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8658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spaces, grip objects, avoid collisions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825496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8912" y="28895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🥽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05840" y="2871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 Reality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1363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virtual objects seamlessly in real scenes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575304"/>
            <a:ext cx="41148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8912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🏥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5840" y="362102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88620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3D anatomy, assist surgeries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77724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0" descr="/sessions/wonderful-youthful-ptolemy/mnt/outputs/pptx_build/imgs/d415_depth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54880" y="868680"/>
            <a:ext cx="3931920" cy="31089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663440" y="39319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Intel RealSense D415 — Depth Map Output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663440" y="416966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Source: Intel RealSense / GitHub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Depth Sensing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68680"/>
            <a:ext cx="201168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868680"/>
            <a:ext cx="201168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📷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Vision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cameras, one baseline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disparity between views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human binocular vision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calibrated camera pair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32888" y="868680"/>
            <a:ext cx="201168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32888" y="868680"/>
            <a:ext cx="201168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2532888" y="960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🎯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2624328" y="1664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Monocular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24328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camera only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2606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deep learning / AI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24328" y="3108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relative depth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624328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camera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0016" y="868680"/>
            <a:ext cx="201168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0016" y="868680"/>
            <a:ext cx="201168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700016" y="960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⚡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4791456" y="1664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91456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pulses (Time-of-Flight)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791456" y="2606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3D points/sec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91456" y="3108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self-driving cars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91456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accurate, expensive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67144" y="868680"/>
            <a:ext cx="201168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67144" y="868680"/>
            <a:ext cx="2011680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Text 29"/>
          <p:cNvSpPr/>
          <p:nvPr/>
        </p:nvSpPr>
        <p:spPr>
          <a:xfrm>
            <a:off x="6867144" y="960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📡</a:t>
            </a:r>
            <a:endParaRPr lang="en-US" sz="3800" dirty="0"/>
          </a:p>
        </p:txBody>
      </p:sp>
      <p:sp>
        <p:nvSpPr>
          <p:cNvPr id="32" name="Text 30"/>
          <p:cNvSpPr/>
          <p:nvPr/>
        </p:nvSpPr>
        <p:spPr>
          <a:xfrm>
            <a:off x="6958584" y="1664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 Camera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58584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+ Depth together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958584" y="2606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structured light or ToF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58584" y="3108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Kinect, RealSense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58584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use, limited range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Depth Estimation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438912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22960"/>
            <a:ext cx="42062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/sessions/wonderful-youthful-ptolemy/mnt/outputs/pptx_build/imgs/rectifi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914400"/>
            <a:ext cx="4023360" cy="2286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3200400"/>
            <a:ext cx="4206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Rectified stereo image pair (left + right camera)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65760" y="3429000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Source: Intel RealSense / GitHub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754880" y="8229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Stereo Vision Works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754880" y="1298448"/>
            <a:ext cx="347472" cy="347472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54880" y="12984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193792" y="131673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cameras placed a fixed baseline apart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1938528"/>
            <a:ext cx="347472" cy="347472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754880" y="19385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193792" y="195681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scene captured from slightly different angles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2578608"/>
            <a:ext cx="347472" cy="347472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754880" y="257860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193792" y="259689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corresponding pixels (block matching)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3218688"/>
            <a:ext cx="347472" cy="347472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754880" y="321868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193792" y="323697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d = pixel offset between left and right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754880" y="3858768"/>
            <a:ext cx="347472" cy="347472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754880" y="38587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193792" y="38770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= (focal length × baseline) / disparity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754880" y="4572000"/>
            <a:ext cx="4023360" cy="41148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754880" y="45720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 = (f × B) / d     [ f=focal, B=baseline, d=disparity 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Maps: Seeing in Depth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41248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/sessions/wonderful-youthful-ptolemy/mnt/outputs/pptx_build/imgs/stereo_ss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932688"/>
            <a:ext cx="3931920" cy="256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3950208"/>
            <a:ext cx="4114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Block matching: finding pixel correspondences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65760" y="417880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Source: Intel RealSense / GitHub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841248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1" descr="/sessions/wonderful-youthful-ptolemy/mnt/outputs/pptx_build/imgs/ssd_depth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932688"/>
            <a:ext cx="3931920" cy="2560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3950208"/>
            <a:ext cx="4114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Resulting depth map — brighter = closer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663440" y="417880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Source: Intel RealSense / GitHub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65760" y="4462272"/>
            <a:ext cx="8412480" cy="50292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365760" y="44622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</a:rPr>
              <a:t>💡 Key Insight: </a:t>
            </a:r>
            <a:r>
              <a:rPr lang="en-US" sz="1300" dirty="0">
                <a:solidFill>
                  <a:srgbClr val="F8FAFC"/>
                </a:solidFill>
              </a:rPr>
              <a:t>Large disparity (big shift) → object is CLOSE.   Small disparity → object is FAR away.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Monocular Depth Estimation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Inferring depth from a SINGLE image — the harder problem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31920" cy="1417320"/>
          </a:xfrm>
          <a:prstGeom prst="rect">
            <a:avLst/>
          </a:prstGeom>
          <a:solidFill>
            <a:srgbClr val="DC2626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64008" cy="1417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89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7373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Monocular depth is an ILL-POSED problem.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different 3D scenes can produce the exact same 2D image — there is no unique solution without learned priors.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3931920" cy="1417320"/>
          </a:xfrm>
          <a:prstGeom prst="rect">
            <a:avLst/>
          </a:prstGeom>
          <a:solidFill>
            <a:srgbClr val="05966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25880"/>
            <a:ext cx="64008" cy="1417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389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Solution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7373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learn depth priors from millions of labelled examples.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recognise perspective, texture density, shading, and object size to predict plausible depth.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29443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Depth Cues Exploited by AI Models: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perspective — parallel lines converge at a vanishing point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gradient — texture density decreases with distance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0050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object size — familiar objects appear smaller when far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3068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3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Shading &amp; shadows — lighting cues reveal surface orientation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6085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 — near objects partially cover far objects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Deep Learning Estimates Depth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60120"/>
            <a:ext cx="1280160" cy="1463040"/>
          </a:xfrm>
          <a:prstGeom prst="rect">
            <a:avLst/>
          </a:prstGeom>
          <a:solidFill>
            <a:srgbClr val="0EA5E9">
              <a:alpha val="35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960120"/>
            <a:ext cx="1280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Image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691640" y="1655064"/>
            <a:ext cx="246888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892808" y="1572768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A5E9"/>
                </a:solidFill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11680" y="960120"/>
            <a:ext cx="1828800" cy="1463040"/>
          </a:xfrm>
          <a:prstGeom prst="rect">
            <a:avLst/>
          </a:prstGeom>
          <a:solidFill>
            <a:srgbClr val="0369A1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9601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 / ViT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features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1655064"/>
            <a:ext cx="246888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087368" y="1572768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A5E9"/>
                </a:solidFill>
              </a:rPr>
              <a:t>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828800" cy="1463040"/>
          </a:xfrm>
          <a:prstGeom prst="rect">
            <a:avLst/>
          </a:prstGeom>
          <a:solidFill>
            <a:srgbClr val="7C3AED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06240" y="9601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Upsample layers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output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80760" y="1655064"/>
            <a:ext cx="246888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572768"/>
            <a:ext cx="228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A5E9"/>
                </a:solidFill>
              </a:rPr>
              <a:t>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960120"/>
            <a:ext cx="1280160" cy="1463040"/>
          </a:xfrm>
          <a:prstGeom prst="rect">
            <a:avLst/>
          </a:prstGeom>
          <a:solidFill>
            <a:srgbClr val="059669">
              <a:alpha val="35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960120"/>
            <a:ext cx="1280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ECF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Map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5760" y="2514600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</a:rPr>
              <a:t>Encoder–Decoder Architecture (U-Net style)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2907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Model Architectures: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5760" y="3364992"/>
            <a:ext cx="41605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364992"/>
            <a:ext cx="54864" cy="5303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" y="34015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 / Swin Transformer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" y="3630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— captures long-range context across the image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986784"/>
            <a:ext cx="41605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986784"/>
            <a:ext cx="54864" cy="5303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" y="40233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DPT (Dense Prediction Transformer)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" y="42519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adapted for pixel-level outputs like depth maps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73168" y="3364992"/>
            <a:ext cx="41605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3364992"/>
            <a:ext cx="54864" cy="5303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34015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 + U-Net Decoder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01184" y="3630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backbone — reliable and fast, great baseline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73168" y="3986784"/>
            <a:ext cx="41605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73168" y="3986784"/>
            <a:ext cx="54864" cy="5303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5" name="Text 33"/>
          <p:cNvSpPr/>
          <p:nvPr/>
        </p:nvSpPr>
        <p:spPr>
          <a:xfrm>
            <a:off x="4901184" y="40233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Anything v2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01184" y="42519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SOTA — self-supervised on 62 M unlabelled images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Data as Supervision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Monocular Depth Estimation · Intel ISL · Open-Source (MIT)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1463040" cy="1261872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28800"/>
            <a:ext cx="146304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920240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EA5E9"/>
                </a:solidFill>
              </a:rPr>
              <a:t>12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57200" y="2615184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84832" y="1828800"/>
            <a:ext cx="1463040" cy="1261872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84832" y="1828800"/>
            <a:ext cx="146304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2084832" y="1920240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EA5E9"/>
                </a:solidFill>
              </a:rPr>
              <a:t>5+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2084832" y="2615184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12464" y="1828800"/>
            <a:ext cx="1463040" cy="1261872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12464" y="1828800"/>
            <a:ext cx="146304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12464" y="1920240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EA5E9"/>
                </a:solidFill>
              </a:rPr>
              <a:t>28%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3712464" y="2615184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 v3.0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291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Capabilities: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37124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cross-dataset transfer (generalises well)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014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relative inverse depth (not metric)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315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indoor &amp; outdoor data (12 datasets)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on GitHub — MIT License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228600"/>
            <a:ext cx="3749040" cy="4572000"/>
          </a:xfrm>
          <a:prstGeom prst="rect">
            <a:avLst/>
          </a:prstGeom>
          <a:solidFill>
            <a:srgbClr val="162032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0" descr="/sessions/wonderful-youthful-ptolemy/mnt/outputs/pptx_build/imgs/midas_comparis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20640" y="320040"/>
            <a:ext cx="3566160" cy="41148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029200" y="472744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MiDaS Depth Map Comparison Across Model Versions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029200" y="489204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Source: isl-org/MiDaS · GitHub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MiDaS: Speed vs. Quality Trade-off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41248"/>
            <a:ext cx="5029200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/sessions/wonderful-youthful-ptolemy/mnt/outputs/pptx_build/imgs/midas_fp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932688"/>
            <a:ext cx="48463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8188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Bubble size = number of parameters   |   Source: isl-org/MiDaS · GitHub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577840" y="841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Variants: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577840" y="1298448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77840" y="1298448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8"/>
          <p:cNvSpPr/>
          <p:nvPr/>
        </p:nvSpPr>
        <p:spPr>
          <a:xfrm>
            <a:off x="5687568" y="13441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BEiTL-512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87568" y="162763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accuracy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07808" y="13441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 FPS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07808" y="16276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★★★★★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577840" y="2185416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577840" y="2185416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7" name="Text 14"/>
          <p:cNvSpPr/>
          <p:nvPr/>
        </p:nvSpPr>
        <p:spPr>
          <a:xfrm>
            <a:off x="5687568" y="22311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Swin2L-384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87568" y="25146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balance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2311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FPS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607808" y="25146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★★★★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577840" y="3072384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577840" y="3072384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0"/>
          <p:cNvSpPr/>
          <p:nvPr/>
        </p:nvSpPr>
        <p:spPr>
          <a:xfrm>
            <a:off x="5687568" y="31181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Swin2T-256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87568" y="340156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607808" y="31181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FPS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607808" y="340156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77840" y="3959352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577840" y="3959352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9" name="Text 26"/>
          <p:cNvSpPr/>
          <p:nvPr/>
        </p:nvSpPr>
        <p:spPr>
          <a:xfrm>
            <a:off x="5687568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LeViT-224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687568" y="428853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/ real-time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607808" y="40050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FPS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607808" y="42885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★★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 in Practice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41248"/>
            <a:ext cx="5029200" cy="4114800"/>
          </a:xfrm>
          <a:prstGeom prst="rect">
            <a:avLst/>
          </a:prstGeom>
          <a:solidFill>
            <a:srgbClr val="0F17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32688"/>
            <a:ext cx="48463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torch, cv2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Load MiDaS model from PyTorch Hub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midas = torch.hub.load(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"intel-isl/MiDaS", "DPT_Large"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midas.eval()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Load the matching transforms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transforms = torch.hub.load(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"intel-isl/MiDaS", "transforms"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).dpt_transform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Load and prepare image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     = cv2.imread("photo.jpg")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img_rgb = cv2.cvtColor(img, cv2.COLOR_BGR2RGB)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   = transforms(img_rgb)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Inference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torch.no_grad():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depth = midas(batch)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depth = torch.nn.functional.interpolate(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depth.unsqueeze(1),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size=img.shape[:2],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mode="bicubic"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).squeeze()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depth_np = depth.numpy()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Visualise: plt.imshow(depth_np, cmap='inferno')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577840" y="841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Notes: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77840" y="1298448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77840" y="1298448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5687568" y="13350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relative depth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87568" y="16002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are NOT in metres — closer objects are higher values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2212848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0" y="2212848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5687568" y="22494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model to transform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87568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variant needs its own input transform pipeline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577840" y="3127248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77840" y="3127248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5687568" y="31638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Colormap for visualisation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87568" y="34290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"inferno" or "magma" cmap for perceptually clear maps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577840" y="4041648"/>
            <a:ext cx="320040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77840" y="4041648"/>
            <a:ext cx="54864" cy="7498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2" name="Text 20"/>
          <p:cNvSpPr/>
          <p:nvPr/>
        </p:nvSpPr>
        <p:spPr>
          <a:xfrm>
            <a:off x="5687568" y="40782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metric depth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87568" y="43434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ZoeDepth on top of MiDaS for absolute distance in 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Applications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27432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274320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822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🚗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143000" y="100584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Driving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17373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detection &amp; distances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204825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depth for safe following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3591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assistance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914400"/>
            <a:ext cx="27432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914400"/>
            <a:ext cx="27432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1005840"/>
            <a:ext cx="822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023360" y="100584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&amp; Drones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55848" y="17373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unknown spaces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55848" y="204825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maps (SLAM)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55848" y="23591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grasping &amp; manipulation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914400"/>
            <a:ext cx="27432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914400"/>
            <a:ext cx="274320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1005840"/>
            <a:ext cx="822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🥽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903720" y="100584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 Reality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36208" y="17373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object placement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36208" y="204825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 handling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36208" y="23591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Scene-aware AR overlays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971800"/>
            <a:ext cx="27432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971800"/>
            <a:ext cx="274320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063240"/>
            <a:ext cx="822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🎬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143000" y="306324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Reconstruction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5488" y="37947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reconstruction from video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" y="410565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digitisation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" y="44165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VFX &amp; film production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46120" y="2971800"/>
            <a:ext cx="27432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46120" y="2971800"/>
            <a:ext cx="2743200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3246120" y="3063240"/>
            <a:ext cx="822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🏥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4023360" y="306324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55848" y="37947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depth awareness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355848" y="410565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Wound measurement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55848" y="44165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Endoscopy 3D mapping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26480" y="2971800"/>
            <a:ext cx="274320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971800"/>
            <a:ext cx="27432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2" name="Text 40"/>
          <p:cNvSpPr/>
          <p:nvPr/>
        </p:nvSpPr>
        <p:spPr>
          <a:xfrm>
            <a:off x="6126480" y="3063240"/>
            <a:ext cx="822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6903720" y="306324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Apps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36208" y="37947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Portrait mode (bokeh)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36208" y="410565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 (iPhone)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36208" y="44165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photo enhancement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Point Clouds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representation of the world as discrete points in space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Point Cloud?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point cloud is a collection of data points defined by (x, y, z) coordinates in 3D space, each representing a location on a scanned surface.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can also store: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Intensity / Reflectance value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RGB colour (if camera-fused)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Return number (LiDAR multi-return)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13308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of Point Clouds: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46227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LiDAR sensors (Velodyne, Ouster)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RGB-D cameras (Kinect, RealSense)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Photogrammetry / Structure from Motion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Depth map → 3D back-projection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4206240" cy="3474720"/>
          </a:xfrm>
          <a:prstGeom prst="rect">
            <a:avLst/>
          </a:prstGeom>
          <a:solidFill>
            <a:srgbClr val="162032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" name="Image 0" descr="/sessions/wonderful-youthful-ptolemy/mnt/outputs/pptx_build/imgs/kitti_distan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63440" y="1325880"/>
            <a:ext cx="4023360" cy="30175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0" y="466344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KITTI Dataset — LiDAR Point Cloud (Distance → Colour)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4846320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Source: yudhisteer/Point-Clouds-3D-Perception · GitHub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How It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822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Detection and Ranging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338328" cy="338328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261872"/>
            <a:ext cx="3383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E9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pulses emitted in all directions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338328" cy="338328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828800"/>
            <a:ext cx="3383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E9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18470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Pulses reflect off objects and return to sensor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395728"/>
            <a:ext cx="338328" cy="338328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2395728"/>
            <a:ext cx="3383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E9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41401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Time-of-flight measured for each return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338328" cy="338328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2962656"/>
            <a:ext cx="3383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E9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" y="29809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= (Speed of light × flight time) / 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3529584"/>
            <a:ext cx="338328" cy="338328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3529584"/>
            <a:ext cx="33832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E9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4672" y="35478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points captured per second → 3D map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4114800" cy="50292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41605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(c × t) / 2    where c = speed of light, t = time of flight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804672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0" descr="/sessions/wonderful-youthful-ptolemy/mnt/outputs/pptx_build/imgs/lidar_typ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54880" y="896112"/>
            <a:ext cx="3931920" cy="292608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663440" y="41879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Types of LiDAR scanning mechanisms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663440" y="438912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Source: Semantic Scholar via yudhisteer/Point-Clouds-3D-Perception · GitHub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663440" y="46451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 Mechanical (360°)  ·  Solid-State (MEMS / OPA)  ·  Flash LiDAR  ·  2D / 3D / 4D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 Processing Pipeline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22960"/>
            <a:ext cx="1298448" cy="438912"/>
          </a:xfrm>
          <a:prstGeom prst="rect">
            <a:avLst/>
          </a:prstGeom>
          <a:solidFill>
            <a:srgbClr val="0369A1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822960"/>
            <a:ext cx="12984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Capture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664208" y="868680"/>
            <a:ext cx="137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01368" y="822960"/>
            <a:ext cx="1298448" cy="438912"/>
          </a:xfrm>
          <a:prstGeom prst="rect">
            <a:avLst/>
          </a:prstGeom>
          <a:solidFill>
            <a:srgbClr val="0EA5E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01368" y="822960"/>
            <a:ext cx="12984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Visualise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99816" y="868680"/>
            <a:ext cx="137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36976" y="822960"/>
            <a:ext cx="1298448" cy="438912"/>
          </a:xfrm>
          <a:prstGeom prst="rect">
            <a:avLst/>
          </a:prstGeom>
          <a:solidFill>
            <a:srgbClr val="7C3AED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36976" y="822960"/>
            <a:ext cx="12984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Downsample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35424" y="868680"/>
            <a:ext cx="137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72584" y="822960"/>
            <a:ext cx="1298448" cy="438912"/>
          </a:xfrm>
          <a:prstGeom prst="rect">
            <a:avLst/>
          </a:prstGeom>
          <a:solidFill>
            <a:srgbClr val="059669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72584" y="822960"/>
            <a:ext cx="12984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Segment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71032" y="868680"/>
            <a:ext cx="137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▶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08192" y="822960"/>
            <a:ext cx="1298448" cy="438912"/>
          </a:xfrm>
          <a:prstGeom prst="rect">
            <a:avLst/>
          </a:prstGeom>
          <a:solidFill>
            <a:srgbClr val="D97706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08192" y="822960"/>
            <a:ext cx="12984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Cluster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06640" y="868680"/>
            <a:ext cx="137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43800" y="822960"/>
            <a:ext cx="1298448" cy="438912"/>
          </a:xfrm>
          <a:prstGeom prst="rect">
            <a:avLst/>
          </a:prstGeom>
          <a:solidFill>
            <a:srgbClr val="DC2626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43800" y="822960"/>
            <a:ext cx="12984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Analyse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65760" y="1417320"/>
            <a:ext cx="420624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0" descr="/sessions/wonderful-youthful-ptolemy/mnt/outputs/pptx_build/imgs/voxe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8912" y="1490472"/>
            <a:ext cx="2578608" cy="14264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3154680" y="150876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Downsampling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154680" y="192024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number of points while preserving shape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00600" y="1417320"/>
            <a:ext cx="420624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1" descr="/sessions/wonderful-youthful-ptolemy/mnt/outputs/pptx_build/imgs/ransac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73752" y="1490472"/>
            <a:ext cx="2578608" cy="142646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589520" y="150876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RANSAC Segmentation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7589520" y="192024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ground plane from obstacles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65760" y="3200400"/>
            <a:ext cx="420624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1" name="Image 2" descr="/sessions/wonderful-youthful-ptolemy/mnt/outputs/pptx_build/imgs/dbsca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8912" y="3273552"/>
            <a:ext cx="2578608" cy="142646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3154680" y="329184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Clustering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3154680" y="370332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nearby points into distinct objects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4800600" y="3200400"/>
            <a:ext cx="4206240" cy="1627632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5" name="Image 3" descr="/sessions/wonderful-youthful-ptolemy/mnt/outputs/pptx_build/imgs/bboxes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73752" y="3273552"/>
            <a:ext cx="2578608" cy="142646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589520" y="329184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Bounding Boxes (PCA)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7589520" y="370332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oriented boxes around each cluster</a:t>
            </a:r>
            <a:endParaRPr lang="en-US" sz="1100" dirty="0"/>
          </a:p>
        </p:txBody>
      </p:sp>
      <p:sp>
        <p:nvSpPr>
          <p:cNvPr id="38" name="Text 32"/>
          <p:cNvSpPr/>
          <p:nvPr/>
        </p:nvSpPr>
        <p:spPr>
          <a:xfrm>
            <a:off x="365760" y="5010912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Source: yudhisteer/Point-Clouds-3D-Perception-with-Open3D · GitHub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Depth Maps to Point Clouds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a 2D depth map → 3D point cloud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88720" cy="1005840"/>
          </a:xfrm>
          <a:prstGeom prst="rect">
            <a:avLst/>
          </a:prstGeom>
          <a:solidFill>
            <a:srgbClr val="0369A1">
              <a:alpha val="40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28016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H×W×3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91640" y="1755648"/>
            <a:ext cx="34747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1965960" y="1664208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A5E9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48840" y="1280160"/>
            <a:ext cx="1188720" cy="1005840"/>
          </a:xfrm>
          <a:prstGeom prst="rect">
            <a:avLst/>
          </a:prstGeom>
          <a:solidFill>
            <a:srgbClr val="7C3AED">
              <a:alpha val="45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48840" y="128016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83280" y="1755648"/>
            <a:ext cx="34747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1664208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A5E9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0" y="1280160"/>
            <a:ext cx="1188720" cy="1005840"/>
          </a:xfrm>
          <a:prstGeom prst="rect">
            <a:avLst/>
          </a:prstGeom>
          <a:solidFill>
            <a:srgbClr val="7C3AED">
              <a:alpha val="45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40480" y="128016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40480" y="20299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H×W×1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74920" y="1755648"/>
            <a:ext cx="34747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5349240" y="1664208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A5E9"/>
                </a:solidFill>
              </a:rPr>
              <a:t>▶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532120" y="1280160"/>
            <a:ext cx="1188720" cy="1005840"/>
          </a:xfrm>
          <a:prstGeom prst="rect">
            <a:avLst/>
          </a:prstGeom>
          <a:solidFill>
            <a:srgbClr val="059669">
              <a:alpha val="45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532120" y="128016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1755648"/>
            <a:ext cx="34747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1"/>
          <p:cNvSpPr/>
          <p:nvPr/>
        </p:nvSpPr>
        <p:spPr>
          <a:xfrm>
            <a:off x="7040880" y="1664208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A5E9"/>
                </a:solidFill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23760" y="1280160"/>
            <a:ext cx="1188720" cy="1005840"/>
          </a:xfrm>
          <a:prstGeom prst="rect">
            <a:avLst/>
          </a:prstGeom>
          <a:solidFill>
            <a:srgbClr val="059669">
              <a:alpha val="45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23760" y="128016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23760" y="20299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N×3+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24871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Back-Projection Formula: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57200" y="2852928"/>
            <a:ext cx="8229600" cy="1024128"/>
          </a:xfrm>
          <a:prstGeom prst="rect">
            <a:avLst/>
          </a:prstGeom>
          <a:solidFill>
            <a:srgbClr val="0F172A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7200" y="2852928"/>
            <a:ext cx="82296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(u - cx) × depth / fx
Y = (v - cy) × depth / fy
Z = depth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57200" y="39502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(u, v) = pixel coords   ·   (cx, cy) = principal point   ·   fx, fy = focal lengths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3159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</a:rPr>
              <a:t>Tools: </a:t>
            </a:r>
            <a:r>
              <a:rPr lang="en-US" sz="1400" dirty="0">
                <a:solidFill>
                  <a:srgbClr val="F8FAFC"/>
                </a:solidFill>
              </a:rPr>
              <a:t>Open3D   ·  PyTorch3D   ·  PCL (Point Cloud Library)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Build in Code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36576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274320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274320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042416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13167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 Depth Estimation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" y="1901952"/>
            <a:ext cx="2523744" cy="27432"/>
          </a:xfrm>
          <a:prstGeom prst="rect">
            <a:avLst/>
          </a:prstGeom>
          <a:solidFill>
            <a:srgbClr val="0369A1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201168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MiDaS model from PyTorch Hub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" y="2496312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inference on a real photograph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" y="2980944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with different colormaps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" y="3465576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variants (speed vs quality)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46120" y="914400"/>
            <a:ext cx="274320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914400"/>
            <a:ext cx="274320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3355848" y="1042416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55848" y="13167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 Exploration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55848" y="1901952"/>
            <a:ext cx="2523744" cy="27432"/>
          </a:xfrm>
          <a:prstGeom prst="rect">
            <a:avLst/>
          </a:prstGeom>
          <a:solidFill>
            <a:srgbClr val="059669">
              <a:alpha val="4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355848" y="201168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KITTI .bin point cloud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55848" y="2496312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with Open3D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55848" y="2980944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voxel downsampling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355848" y="3465576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RANSAC + DBSCAN clustering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26480" y="914400"/>
            <a:ext cx="274320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914400"/>
            <a:ext cx="27432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6236208" y="1042416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36208" y="1316736"/>
            <a:ext cx="2523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Map → Point Cloud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36208" y="1901952"/>
            <a:ext cx="2523744" cy="27432"/>
          </a:xfrm>
          <a:prstGeom prst="rect">
            <a:avLst/>
          </a:prstGeom>
          <a:solidFill>
            <a:srgbClr val="7C3AED">
              <a:alpha val="4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236208" y="201168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MiDaS depth output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236208" y="2496312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Back-project using camera intrinsics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236208" y="2980944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3D point cloud in Open3D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320040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51560"/>
            <a:ext cx="4160520" cy="1005840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124712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280160" y="1124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Estimation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46304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machines a 3D understanding of the world from 2D camera images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92040" y="1051560"/>
            <a:ext cx="4160520" cy="1005840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92040" y="105156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001768" y="1124712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👁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715000" y="1124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vs Monocular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15000" y="146304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is accurate but needs 2 cameras; monocular uses AI on a single image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286000"/>
            <a:ext cx="4160520" cy="1005840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28600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2359152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280160" y="2359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160" y="2697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State-of-the-art monocular depth — 12 datasets, zero-shot generalisation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892040" y="2286000"/>
            <a:ext cx="4160520" cy="1005840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92040" y="228600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1"/>
          <p:cNvSpPr/>
          <p:nvPr/>
        </p:nvSpPr>
        <p:spPr>
          <a:xfrm>
            <a:off x="5001768" y="2359152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☁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715000" y="2359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2697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3D representation — each point has (x, y, z) and optional attributes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4160520" cy="1005840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352044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593592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28016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80160" y="39319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Gold-standard 3D sensor — laser time-of-flight at millions of points/sec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892040" y="3520440"/>
            <a:ext cx="4160520" cy="1005840"/>
          </a:xfrm>
          <a:prstGeom prst="rect">
            <a:avLst/>
          </a:prstGeom>
          <a:solidFill>
            <a:srgbClr val="0EA5E9">
              <a:alpha val="12000"/>
            </a:srgbClr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92040" y="352044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3593592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🔗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571500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→ 3D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715000" y="39319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maps can be back-projected to 3D point clouds with camera intrinsics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48280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</a:rPr>
              <a:t>Session 17 Complete  ·  Next: Hands-on Coding with MiDaS &amp; Open3D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138160" y="491947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1784</Words>
  <Application>Microsoft Office PowerPoint</Application>
  <PresentationFormat>On-screen Show (16:9)</PresentationFormat>
  <Paragraphs>381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17: Depth Estimation &amp; 3D</dc:title>
  <dc:subject>PptxGenJS Presentation</dc:subject>
  <dc:creator>AI-CV Lecture</dc:creator>
  <cp:lastModifiedBy>Shah Zeb</cp:lastModifiedBy>
  <cp:revision>2</cp:revision>
  <dcterms:created xsi:type="dcterms:W3CDTF">2026-06-04T11:43:11Z</dcterms:created>
  <dcterms:modified xsi:type="dcterms:W3CDTF">2026-06-07T00:31:47Z</dcterms:modified>
</cp:coreProperties>
</file>