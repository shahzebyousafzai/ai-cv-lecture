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Session 27. Today we cover the Segment Anything family — the models that turned image segmentation from a task-specific problem into a promptable, foundation-model problem. We finish with a live SAM 3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Roughly 50/50 theory and hands-on: about 75 minutes of concepts and discussion, then a 15-minute live demo of SAM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what they know: classification says WHAT is in the image, detection adds WHERE with a box, segmentation answers exactly WHICH PIXELS. It is the finest-grained form of image understanding. The right image shows real SAM output — every object gets its own pixel-accurate 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classic flavors. Semantic: label every pixel by class, no instances (all sheep = 'sheep'). Instance: separate each object (sheep #1, #2...) — this is what SAM produces. Panoptic: both at once, including background 'stuff' like sky and road. SAM's masks are class-agnostic instance masks — it does not name what it segments; that becomes important later when we reach SAM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 = Segment Anything Model, released by Meta AI in April 2023. The pitch: a FOUNDATION MODEL for segmentation — like GPT for text, one model that segments anything you point at, zero-shot, without retraining. Trained on SA-1B: 11 million images, 1.1 billion masks — about 400x more masks than any prior dataset. The interface is a 'prompt': a click, a box, or a rough 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decision: define a new TASK — promptable segmentation. Given any prompt, return a VALID mask. 'Valid' is key: even when the prompt is ambiguous (a click on a shirt — did you mean the shirt or the person?), the model should output a reasonable mask for at least one interpretation. This mirrors next-token prediction in LLMs: a general pre-training task that transfers everywhere. Draw the pipeline: prompt + image → SAM → 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engineering ideas make SAM work. (1) Asymmetric design: run the heavy image encoder ONCE (~0.45s), then answer every new prompt with a tiny decoder in ~50 ms — that's what makes it feel interactive in a browser. (2) Ambiguity-awareness: output 3 masks (subpart / part / whole) with predicted IoU scores, pick the best. (3) The data engine: model helps humans annotate → more data trains a better model → repeat. Final stage was fully automatic: prompt the model with a grid of points to produce 1.1B masks.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official architecture figure from Meta's segment-anything repository. Walk it left to right: image → image encoder → image embedding (computed once). Below: prompts (points, box, text) go through the lightweight prompt encoder; a rough mask prompt is added to the embedding via convolutions. The mask decoder combines embedding + prompts and outputs three valid masks, each with a confidence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dive on each block. Image encoder: ViT-H, 632M params, pre-trained with MAE (masked autoencoding), input 1024x1024, output a 64x64x256 embedding. Prompt encoder: sparse prompts (points/boxes) become positional encodings + learned type embeddings; text used CLIP's encoder in the paper; dense prompts (masks) are added to the embedding via convolutions. Mask decoder: a 2-layer 'two-way' transformer — tokens attend to image and image attends to tokens — then upsampling; separate small head predicts IoU (quality) per mask. 3 output masks handle ambiguity.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ways to talk to SAM. Points: positive clicks say 'include this', negative clicks say 'not this' — iterate to refine. Boxes: strongest single prompt, little ambiguity. Masks: rough input mask refined into a clean one. Text: exploratory in SAM 1; became a first-class citizen in SAM 3, where a noun phrase like 'yellow school bus' segments ALL matching instances. Exemplars (SAM 3): show one example box, get every similar object. Emphasize: prompts compose — text + a negative box,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family tree. April 2023: original SAM. Within two months, two community answers to its speed problem: FastSAM (replace the pipeline with a fast CNN detector) and MobileSAM (distill the encoder ~60x smaller). July 2024: Meta's SAM 2 adds video with a streaming memory. November 2025: SAM 3 adds concept prompts — text and exemplars — plus a detector-tracker design. March 2026: SAM 3.1 checkpoints with faster multi-object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answers to 'SAM is too slow'. MobileSAM keeps SAM's architecture but replaces the 632M ViT-H encoder with a 5.78M TinyViT trained by DISTILLATION — the small encoder learns to reproduce the big encoder's embeddings, so the same decoder still works. FastSAM abandons the architecture entirely: a YOLOv8-seg CNN segments everything in one pass, then a second stage selects the mask matching your prompt. Trade-off: MobileSAM keeps SAM's interface and quality profile; FastSAM is very fast but less precise on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 2 (July 2024) extends promptable segmentation to VIDEO. The key addition is memory: after segmenting a frame, a memory encoder writes it to a memory bank; on the next frame, memory attention conditions the features on past frames, so the object is tracked without new prompts. You can click on any frame to add or fix an object. New Hiera encoder makes it ~6x faster than SAM 1 on images too, and it runs at ~44 FPS on video. Trained on SA-V: 51k videos, 600k+ masklets.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 3 (Nov 2025) changes the QUESTION. SAM 1/2: 'segment this thing I'm pointing at' — one object per prompt. SAM 3: 'segment every instance of this concept' — Promptable Concept Segmentation. Prompts are noun phrases or exemplar boxes. Architecture: a DETR-based detector and the SAM 2-style tracker share one Perception Encoder backbone (848M total). A 'presence token' separates recognition (is a red player present?) from localization (where?), which sharpens discrimination between similar concepts. Trained via a data engine with 4M concepts; evaluated on SA-Co (270k concepts) where it reaches 75-80% of human performance. This is the model we demo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recap. Use this to answer 'which one should I use?' — edge/mobile: MobileSAM or FastSAM; interactive image annotation: SAM 1 or SAM 2; video: SAM 2; open-vocabulary / text-driven segmentation of all instances: SAM 3. Note SAM 3 still supports SAM 1/2-style visual prompting, so it's largely a superset.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is used today: annotation tools (Roboflow, CVAT, Label Studio use SAM to turn hours of polygon-drawing into clicks), medical imaging (MedSAM and derivatives), video editing / VFX (SAM 2 tracking for rotoscoping), robotics &amp; AR (object picking, scene understanding), geospatial (building/field extraction from satellite imagery). Limitations to be honest about: compute for the big encoders; fine structures (wires, hair) still break; text understanding in SAM 3 is short noun phrases, not full sentences — 'the second-largest dog' needs an MLLM on top (SAM 3 Agent); domain gaps (e.g. some medical modalities) still benefit from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discussion — 10 minutes. Prompts on screen if the conversation needs a spark.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notebook: Session_27_SAM3_Practical.ipynb. Checklist before the session: (1) request access to facebook/sam3 on Hugging Face (gated — approve takes minutes), (2) create an HF access token, (3) open the notebook in Colab with a GPU runtime (T4 is fine). Demo flow: text prompt segments all matching instances; exemplar box prompt; combined text + negative box; visualize masks, boxes,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C"/>
        </a:solidFill>
      </p:bgPr>
    </p:bg>
    <p:spTree>
      <p:nvGrpSpPr>
        <p:cNvPr id="1" name=""/>
        <p:cNvGrpSpPr/>
        <p:nvPr/>
      </p:nvGrpSpPr>
      <p:grpSpPr>
        <a:xfrm>
          <a:off x="0" y="0"/>
          <a:ext cx="0" cy="0"/>
          <a:chOff x="0" y="0"/>
          <a:chExt cx="0" cy="0"/>
        </a:xfrm>
      </p:grpSpPr>
      <p:sp>
        <p:nvSpPr>
          <p:cNvPr id="2" name="Shape 0"/>
          <p:cNvSpPr/>
          <p:nvPr/>
        </p:nvSpPr>
        <p:spPr>
          <a:xfrm>
            <a:off x="9784080" y="914400"/>
            <a:ext cx="502920" cy="502920"/>
          </a:xfrm>
          <a:prstGeom prst="roundRect">
            <a:avLst>
              <a:gd name="adj" fmla="val 25000"/>
            </a:avLst>
          </a:prstGeom>
          <a:solidFill>
            <a:srgbClr val="02C39A">
              <a:alpha val="80000"/>
            </a:srgbClr>
          </a:solidFill>
          <a:ln/>
        </p:spPr>
      </p:sp>
      <p:sp>
        <p:nvSpPr>
          <p:cNvPr id="3" name="Shape 1"/>
          <p:cNvSpPr/>
          <p:nvPr/>
        </p:nvSpPr>
        <p:spPr>
          <a:xfrm>
            <a:off x="10515600" y="1417320"/>
            <a:ext cx="347472" cy="347472"/>
          </a:xfrm>
          <a:prstGeom prst="roundRect">
            <a:avLst>
              <a:gd name="adj" fmla="val 25000"/>
            </a:avLst>
          </a:prstGeom>
          <a:solidFill>
            <a:srgbClr val="F96167">
              <a:alpha val="80000"/>
            </a:srgbClr>
          </a:solidFill>
          <a:ln/>
        </p:spPr>
      </p:sp>
      <p:sp>
        <p:nvSpPr>
          <p:cNvPr id="4" name="Shape 2"/>
          <p:cNvSpPr/>
          <p:nvPr/>
        </p:nvSpPr>
        <p:spPr>
          <a:xfrm>
            <a:off x="10012680" y="1920240"/>
            <a:ext cx="274320" cy="274320"/>
          </a:xfrm>
          <a:prstGeom prst="roundRect">
            <a:avLst>
              <a:gd name="adj" fmla="val 25000"/>
            </a:avLst>
          </a:prstGeom>
          <a:solidFill>
            <a:srgbClr val="F2B33D">
              <a:alpha val="80000"/>
            </a:srgbClr>
          </a:solidFill>
          <a:ln/>
        </p:spPr>
      </p:sp>
      <p:sp>
        <p:nvSpPr>
          <p:cNvPr id="5" name="Shape 3"/>
          <p:cNvSpPr/>
          <p:nvPr/>
        </p:nvSpPr>
        <p:spPr>
          <a:xfrm>
            <a:off x="10789920" y="777240"/>
            <a:ext cx="237744" cy="237744"/>
          </a:xfrm>
          <a:prstGeom prst="roundRect">
            <a:avLst>
              <a:gd name="adj" fmla="val 25000"/>
            </a:avLst>
          </a:prstGeom>
          <a:solidFill>
            <a:srgbClr val="3E7CB1">
              <a:alpha val="80000"/>
            </a:srgbClr>
          </a:solidFill>
          <a:ln/>
        </p:spPr>
      </p:sp>
      <p:sp>
        <p:nvSpPr>
          <p:cNvPr id="6" name="Shape 4"/>
          <p:cNvSpPr/>
          <p:nvPr/>
        </p:nvSpPr>
        <p:spPr>
          <a:xfrm>
            <a:off x="731520" y="5120640"/>
            <a:ext cx="384048" cy="384048"/>
          </a:xfrm>
          <a:prstGeom prst="roundRect">
            <a:avLst>
              <a:gd name="adj" fmla="val 25000"/>
            </a:avLst>
          </a:prstGeom>
          <a:solidFill>
            <a:srgbClr val="3E7CB1">
              <a:alpha val="80000"/>
            </a:srgbClr>
          </a:solidFill>
          <a:ln/>
        </p:spPr>
      </p:sp>
      <p:sp>
        <p:nvSpPr>
          <p:cNvPr id="7" name="Shape 5"/>
          <p:cNvSpPr/>
          <p:nvPr/>
        </p:nvSpPr>
        <p:spPr>
          <a:xfrm>
            <a:off x="1325880" y="5623560"/>
            <a:ext cx="274320" cy="274320"/>
          </a:xfrm>
          <a:prstGeom prst="roundRect">
            <a:avLst>
              <a:gd name="adj" fmla="val 25000"/>
            </a:avLst>
          </a:prstGeom>
          <a:solidFill>
            <a:srgbClr val="02C39A">
              <a:alpha val="80000"/>
            </a:srgbClr>
          </a:solidFill>
          <a:ln/>
        </p:spPr>
      </p:sp>
      <p:sp>
        <p:nvSpPr>
          <p:cNvPr id="8" name="Shape 6"/>
          <p:cNvSpPr/>
          <p:nvPr/>
        </p:nvSpPr>
        <p:spPr>
          <a:xfrm>
            <a:off x="868680" y="5943600"/>
            <a:ext cx="219456" cy="219456"/>
          </a:xfrm>
          <a:prstGeom prst="roundRect">
            <a:avLst>
              <a:gd name="adj" fmla="val 25000"/>
            </a:avLst>
          </a:prstGeom>
          <a:solidFill>
            <a:srgbClr val="F96167">
              <a:alpha val="80000"/>
            </a:srgbClr>
          </a:solidFill>
          <a:ln/>
        </p:spPr>
      </p:sp>
      <p:sp>
        <p:nvSpPr>
          <p:cNvPr id="9" name="Text 7"/>
          <p:cNvSpPr/>
          <p:nvPr/>
        </p:nvSpPr>
        <p:spPr>
          <a:xfrm>
            <a:off x="822960" y="1554480"/>
            <a:ext cx="5486400" cy="457200"/>
          </a:xfrm>
          <a:prstGeom prst="rect">
            <a:avLst/>
          </a:prstGeom>
          <a:noFill/>
          <a:ln/>
        </p:spPr>
        <p:txBody>
          <a:bodyPr wrap="square" lIns="0" tIns="0" rIns="0" bIns="0" rtlCol="0" anchor="ctr"/>
          <a:lstStyle/>
          <a:p>
            <a:pPr indent="0" marL="0">
              <a:buNone/>
            </a:pPr>
            <a:r>
              <a:rPr lang="en-US" sz="1800" b="1" spc="400" kern="0" dirty="0">
                <a:solidFill>
                  <a:srgbClr val="02C39A"/>
                </a:solidFill>
                <a:latin typeface="Calibri" pitchFamily="34" charset="0"/>
                <a:ea typeface="Calibri" pitchFamily="34" charset="-122"/>
                <a:cs typeface="Calibri" pitchFamily="34" charset="-120"/>
              </a:rPr>
              <a:t>Session 27</a:t>
            </a:r>
            <a:endParaRPr lang="en-US" sz="1800" dirty="0"/>
          </a:p>
        </p:txBody>
      </p:sp>
      <p:sp>
        <p:nvSpPr>
          <p:cNvPr id="10" name="Text 8"/>
          <p:cNvSpPr/>
          <p:nvPr/>
        </p:nvSpPr>
        <p:spPr>
          <a:xfrm>
            <a:off x="777240" y="1965960"/>
            <a:ext cx="10607040" cy="10515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Segment Anything</a:t>
            </a:r>
            <a:endParaRPr lang="en-US" sz="6000" dirty="0"/>
          </a:p>
        </p:txBody>
      </p:sp>
      <p:sp>
        <p:nvSpPr>
          <p:cNvPr id="11" name="Text 9"/>
          <p:cNvSpPr/>
          <p:nvPr/>
        </p:nvSpPr>
        <p:spPr>
          <a:xfrm>
            <a:off x="822960" y="3063240"/>
            <a:ext cx="9601200" cy="5486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From Clicks to Concepts — SAM, SAM 2 &amp; SAM 3</a:t>
            </a:r>
            <a:endParaRPr lang="en-US" sz="2200" dirty="0"/>
          </a:p>
        </p:txBody>
      </p:sp>
      <p:sp>
        <p:nvSpPr>
          <p:cNvPr id="12" name="Text 10"/>
          <p:cNvSpPr/>
          <p:nvPr/>
        </p:nvSpPr>
        <p:spPr>
          <a:xfrm>
            <a:off x="822960" y="4297680"/>
            <a:ext cx="7315200" cy="365760"/>
          </a:xfrm>
          <a:prstGeom prst="rect">
            <a:avLst/>
          </a:prstGeom>
          <a:noFill/>
          <a:ln/>
        </p:spPr>
        <p:txBody>
          <a:bodyPr wrap="square" lIns="0" tIns="0" rIns="0" bIns="0" rtlCol="0" anchor="ctr"/>
          <a:lstStyle/>
          <a:p>
            <a:pPr indent="0" marL="0">
              <a:buNone/>
            </a:pPr>
            <a:r>
              <a:rPr lang="en-US" sz="1400" i="1" dirty="0">
                <a:solidFill>
                  <a:srgbClr val="8FA3C8"/>
                </a:solidFill>
                <a:latin typeface="Calibri" pitchFamily="34" charset="0"/>
                <a:ea typeface="Calibri" pitchFamily="34" charset="-122"/>
                <a:cs typeface="Calibri" pitchFamily="34" charset="-120"/>
              </a:rPr>
              <a:t>Computer Vision &amp; AI · One-on-One Series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Today's Roadmap</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 1.5 hours · theory first, hands-on demo to finish</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sp>
        <p:nvSpPr>
          <p:cNvPr id="8" name="Shape 5"/>
          <p:cNvSpPr/>
          <p:nvPr/>
        </p:nvSpPr>
        <p:spPr>
          <a:xfrm>
            <a:off x="502920" y="1600200"/>
            <a:ext cx="5532120" cy="566928"/>
          </a:xfrm>
          <a:prstGeom prst="roundRect">
            <a:avLst>
              <a:gd name="adj" fmla="val 12903"/>
            </a:avLst>
          </a:prstGeom>
          <a:solidFill>
            <a:srgbClr val="F2F5FB"/>
          </a:solidFill>
          <a:ln/>
        </p:spPr>
      </p:sp>
      <p:sp>
        <p:nvSpPr>
          <p:cNvPr id="9" name="Shape 6"/>
          <p:cNvSpPr/>
          <p:nvPr/>
        </p:nvSpPr>
        <p:spPr>
          <a:xfrm>
            <a:off x="667512" y="1741932"/>
            <a:ext cx="283464" cy="283464"/>
          </a:xfrm>
          <a:prstGeom prst="ellipse">
            <a:avLst/>
          </a:prstGeom>
          <a:solidFill>
            <a:srgbClr val="02C39A"/>
          </a:solidFill>
          <a:ln/>
        </p:spPr>
      </p:sp>
      <p:sp>
        <p:nvSpPr>
          <p:cNvPr id="10" name="Text 7"/>
          <p:cNvSpPr/>
          <p:nvPr/>
        </p:nvSpPr>
        <p:spPr>
          <a:xfrm>
            <a:off x="667512" y="1741932"/>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1069848" y="1600200"/>
            <a:ext cx="4069080" cy="566928"/>
          </a:xfrm>
          <a:prstGeom prst="rect">
            <a:avLst/>
          </a:prstGeom>
          <a:noFill/>
          <a:ln/>
        </p:spPr>
        <p:txBody>
          <a:bodyPr wrap="square" lIns="0" tIns="0" rIns="0" bIns="0" rtlCol="0" anchor="ctr"/>
          <a:lstStyle/>
          <a:p>
            <a:pPr indent="0" marL="0">
              <a:buNone/>
            </a:pPr>
            <a:r>
              <a:rPr lang="en-US" sz="1350" dirty="0">
                <a:solidFill>
                  <a:srgbClr val="1B2340"/>
                </a:solidFill>
                <a:latin typeface="Calibri" pitchFamily="34" charset="0"/>
                <a:ea typeface="Calibri" pitchFamily="34" charset="-122"/>
                <a:cs typeface="Calibri" pitchFamily="34" charset="-120"/>
              </a:rPr>
              <a:t>Introduction to Image Segmentation</a:t>
            </a:r>
            <a:endParaRPr lang="en-US" sz="1350" dirty="0"/>
          </a:p>
        </p:txBody>
      </p:sp>
      <p:sp>
        <p:nvSpPr>
          <p:cNvPr id="12" name="Text 9"/>
          <p:cNvSpPr/>
          <p:nvPr/>
        </p:nvSpPr>
        <p:spPr>
          <a:xfrm>
            <a:off x="5166360" y="1600200"/>
            <a:ext cx="777240" cy="566928"/>
          </a:xfrm>
          <a:prstGeom prst="rect">
            <a:avLst/>
          </a:prstGeom>
          <a:noFill/>
          <a:ln/>
        </p:spPr>
        <p:txBody>
          <a:bodyPr wrap="square" lIns="0" tIns="0" rIns="0" bIns="0" rtlCol="0" anchor="ctr"/>
          <a:lstStyle/>
          <a:p>
            <a:pPr algn="r" indent="0" marL="0">
              <a:buNone/>
            </a:pPr>
            <a:r>
              <a:rPr lang="en-US" sz="1200" b="1" dirty="0">
                <a:solidFill>
                  <a:srgbClr val="44506B"/>
                </a:solidFill>
                <a:latin typeface="Calibri" pitchFamily="34" charset="0"/>
                <a:ea typeface="Calibri" pitchFamily="34" charset="-122"/>
                <a:cs typeface="Calibri" pitchFamily="34" charset="-120"/>
              </a:rPr>
              <a:t>10 min</a:t>
            </a:r>
            <a:endParaRPr lang="en-US" sz="1200" dirty="0"/>
          </a:p>
        </p:txBody>
      </p:sp>
      <p:sp>
        <p:nvSpPr>
          <p:cNvPr id="13" name="Shape 10"/>
          <p:cNvSpPr/>
          <p:nvPr/>
        </p:nvSpPr>
        <p:spPr>
          <a:xfrm>
            <a:off x="502920" y="2386584"/>
            <a:ext cx="5532120" cy="566928"/>
          </a:xfrm>
          <a:prstGeom prst="roundRect">
            <a:avLst>
              <a:gd name="adj" fmla="val 12903"/>
            </a:avLst>
          </a:prstGeom>
          <a:solidFill>
            <a:srgbClr val="F2F5FB"/>
          </a:solidFill>
          <a:ln/>
        </p:spPr>
      </p:sp>
      <p:sp>
        <p:nvSpPr>
          <p:cNvPr id="14" name="Shape 11"/>
          <p:cNvSpPr/>
          <p:nvPr/>
        </p:nvSpPr>
        <p:spPr>
          <a:xfrm>
            <a:off x="667512" y="2528316"/>
            <a:ext cx="283464" cy="283464"/>
          </a:xfrm>
          <a:prstGeom prst="ellipse">
            <a:avLst/>
          </a:prstGeom>
          <a:solidFill>
            <a:srgbClr val="02C39A"/>
          </a:solidFill>
          <a:ln/>
        </p:spPr>
      </p:sp>
      <p:sp>
        <p:nvSpPr>
          <p:cNvPr id="15" name="Text 12"/>
          <p:cNvSpPr/>
          <p:nvPr/>
        </p:nvSpPr>
        <p:spPr>
          <a:xfrm>
            <a:off x="667512" y="2528316"/>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1069848" y="2386584"/>
            <a:ext cx="4069080" cy="566928"/>
          </a:xfrm>
          <a:prstGeom prst="rect">
            <a:avLst/>
          </a:prstGeom>
          <a:noFill/>
          <a:ln/>
        </p:spPr>
        <p:txBody>
          <a:bodyPr wrap="square" lIns="0" tIns="0" rIns="0" bIns="0" rtlCol="0" anchor="ctr"/>
          <a:lstStyle/>
          <a:p>
            <a:pPr indent="0" marL="0">
              <a:buNone/>
            </a:pPr>
            <a:r>
              <a:rPr lang="en-US" sz="1350" dirty="0">
                <a:solidFill>
                  <a:srgbClr val="1B2340"/>
                </a:solidFill>
                <a:latin typeface="Calibri" pitchFamily="34" charset="0"/>
                <a:ea typeface="Calibri" pitchFamily="34" charset="-122"/>
                <a:cs typeface="Calibri" pitchFamily="34" charset="-120"/>
              </a:rPr>
              <a:t>What is SAM?</a:t>
            </a:r>
            <a:endParaRPr lang="en-US" sz="1350" dirty="0"/>
          </a:p>
        </p:txBody>
      </p:sp>
      <p:sp>
        <p:nvSpPr>
          <p:cNvPr id="17" name="Text 14"/>
          <p:cNvSpPr/>
          <p:nvPr/>
        </p:nvSpPr>
        <p:spPr>
          <a:xfrm>
            <a:off x="5166360" y="2386584"/>
            <a:ext cx="777240" cy="566928"/>
          </a:xfrm>
          <a:prstGeom prst="rect">
            <a:avLst/>
          </a:prstGeom>
          <a:noFill/>
          <a:ln/>
        </p:spPr>
        <p:txBody>
          <a:bodyPr wrap="square" lIns="0" tIns="0" rIns="0" bIns="0" rtlCol="0" anchor="ctr"/>
          <a:lstStyle/>
          <a:p>
            <a:pPr algn="r" indent="0" marL="0">
              <a:buNone/>
            </a:pPr>
            <a:r>
              <a:rPr lang="en-US" sz="1200" b="1" dirty="0">
                <a:solidFill>
                  <a:srgbClr val="44506B"/>
                </a:solidFill>
                <a:latin typeface="Calibri" pitchFamily="34" charset="0"/>
                <a:ea typeface="Calibri" pitchFamily="34" charset="-122"/>
                <a:cs typeface="Calibri" pitchFamily="34" charset="-120"/>
              </a:rPr>
              <a:t>10 min</a:t>
            </a:r>
            <a:endParaRPr lang="en-US" sz="1200" dirty="0"/>
          </a:p>
        </p:txBody>
      </p:sp>
      <p:sp>
        <p:nvSpPr>
          <p:cNvPr id="18" name="Shape 15"/>
          <p:cNvSpPr/>
          <p:nvPr/>
        </p:nvSpPr>
        <p:spPr>
          <a:xfrm>
            <a:off x="502920" y="3172968"/>
            <a:ext cx="5532120" cy="566928"/>
          </a:xfrm>
          <a:prstGeom prst="roundRect">
            <a:avLst>
              <a:gd name="adj" fmla="val 12903"/>
            </a:avLst>
          </a:prstGeom>
          <a:solidFill>
            <a:srgbClr val="F2F5FB"/>
          </a:solidFill>
          <a:ln/>
        </p:spPr>
      </p:sp>
      <p:sp>
        <p:nvSpPr>
          <p:cNvPr id="19" name="Shape 16"/>
          <p:cNvSpPr/>
          <p:nvPr/>
        </p:nvSpPr>
        <p:spPr>
          <a:xfrm>
            <a:off x="667512" y="3314700"/>
            <a:ext cx="283464" cy="283464"/>
          </a:xfrm>
          <a:prstGeom prst="ellipse">
            <a:avLst/>
          </a:prstGeom>
          <a:solidFill>
            <a:srgbClr val="3E7CB1"/>
          </a:solidFill>
          <a:ln/>
        </p:spPr>
      </p:sp>
      <p:sp>
        <p:nvSpPr>
          <p:cNvPr id="20" name="Text 17"/>
          <p:cNvSpPr/>
          <p:nvPr/>
        </p:nvSpPr>
        <p:spPr>
          <a:xfrm>
            <a:off x="667512" y="3314700"/>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8"/>
          <p:cNvSpPr/>
          <p:nvPr/>
        </p:nvSpPr>
        <p:spPr>
          <a:xfrm>
            <a:off x="1069848" y="3172968"/>
            <a:ext cx="4069080" cy="566928"/>
          </a:xfrm>
          <a:prstGeom prst="rect">
            <a:avLst/>
          </a:prstGeom>
          <a:noFill/>
          <a:ln/>
        </p:spPr>
        <p:txBody>
          <a:bodyPr wrap="square" lIns="0" tIns="0" rIns="0" bIns="0" rtlCol="0" anchor="ctr"/>
          <a:lstStyle/>
          <a:p>
            <a:pPr indent="0" marL="0">
              <a:buNone/>
            </a:pPr>
            <a:r>
              <a:rPr lang="en-US" sz="1350" dirty="0">
                <a:solidFill>
                  <a:srgbClr val="1B2340"/>
                </a:solidFill>
                <a:latin typeface="Calibri" pitchFamily="34" charset="0"/>
                <a:ea typeface="Calibri" pitchFamily="34" charset="-122"/>
                <a:cs typeface="Calibri" pitchFamily="34" charset="-120"/>
              </a:rPr>
              <a:t>How SAM Works Internally</a:t>
            </a:r>
            <a:endParaRPr lang="en-US" sz="1350" dirty="0"/>
          </a:p>
        </p:txBody>
      </p:sp>
      <p:sp>
        <p:nvSpPr>
          <p:cNvPr id="22" name="Text 19"/>
          <p:cNvSpPr/>
          <p:nvPr/>
        </p:nvSpPr>
        <p:spPr>
          <a:xfrm>
            <a:off x="5166360" y="3172968"/>
            <a:ext cx="777240" cy="566928"/>
          </a:xfrm>
          <a:prstGeom prst="rect">
            <a:avLst/>
          </a:prstGeom>
          <a:noFill/>
          <a:ln/>
        </p:spPr>
        <p:txBody>
          <a:bodyPr wrap="square" lIns="0" tIns="0" rIns="0" bIns="0" rtlCol="0" anchor="ctr"/>
          <a:lstStyle/>
          <a:p>
            <a:pPr algn="r" indent="0" marL="0">
              <a:buNone/>
            </a:pPr>
            <a:r>
              <a:rPr lang="en-US" sz="1200" b="1" dirty="0">
                <a:solidFill>
                  <a:srgbClr val="44506B"/>
                </a:solidFill>
                <a:latin typeface="Calibri" pitchFamily="34" charset="0"/>
                <a:ea typeface="Calibri" pitchFamily="34" charset="-122"/>
                <a:cs typeface="Calibri" pitchFamily="34" charset="-120"/>
              </a:rPr>
              <a:t>15 min</a:t>
            </a:r>
            <a:endParaRPr lang="en-US" sz="1200" dirty="0"/>
          </a:p>
        </p:txBody>
      </p:sp>
      <p:sp>
        <p:nvSpPr>
          <p:cNvPr id="23" name="Shape 20"/>
          <p:cNvSpPr/>
          <p:nvPr/>
        </p:nvSpPr>
        <p:spPr>
          <a:xfrm>
            <a:off x="502920" y="3959352"/>
            <a:ext cx="5532120" cy="566928"/>
          </a:xfrm>
          <a:prstGeom prst="roundRect">
            <a:avLst>
              <a:gd name="adj" fmla="val 12903"/>
            </a:avLst>
          </a:prstGeom>
          <a:solidFill>
            <a:srgbClr val="F2F5FB"/>
          </a:solidFill>
          <a:ln/>
        </p:spPr>
      </p:sp>
      <p:sp>
        <p:nvSpPr>
          <p:cNvPr id="24" name="Shape 21"/>
          <p:cNvSpPr/>
          <p:nvPr/>
        </p:nvSpPr>
        <p:spPr>
          <a:xfrm>
            <a:off x="667512" y="4101084"/>
            <a:ext cx="283464" cy="283464"/>
          </a:xfrm>
          <a:prstGeom prst="ellipse">
            <a:avLst/>
          </a:prstGeom>
          <a:solidFill>
            <a:srgbClr val="3E7CB1"/>
          </a:solidFill>
          <a:ln/>
        </p:spPr>
      </p:sp>
      <p:sp>
        <p:nvSpPr>
          <p:cNvPr id="25" name="Text 22"/>
          <p:cNvSpPr/>
          <p:nvPr/>
        </p:nvSpPr>
        <p:spPr>
          <a:xfrm>
            <a:off x="667512" y="4101084"/>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3"/>
          <p:cNvSpPr/>
          <p:nvPr/>
        </p:nvSpPr>
        <p:spPr>
          <a:xfrm>
            <a:off x="1069848" y="3959352"/>
            <a:ext cx="4069080" cy="566928"/>
          </a:xfrm>
          <a:prstGeom prst="rect">
            <a:avLst/>
          </a:prstGeom>
          <a:noFill/>
          <a:ln/>
        </p:spPr>
        <p:txBody>
          <a:bodyPr wrap="square" lIns="0" tIns="0" rIns="0" bIns="0" rtlCol="0" anchor="ctr"/>
          <a:lstStyle/>
          <a:p>
            <a:pPr indent="0" marL="0">
              <a:buNone/>
            </a:pPr>
            <a:r>
              <a:rPr lang="en-US" sz="1350" dirty="0">
                <a:solidFill>
                  <a:srgbClr val="1B2340"/>
                </a:solidFill>
                <a:latin typeface="Calibri" pitchFamily="34" charset="0"/>
                <a:ea typeface="Calibri" pitchFamily="34" charset="-122"/>
                <a:cs typeface="Calibri" pitchFamily="34" charset="-120"/>
              </a:rPr>
              <a:t>SAM Architecture Deep Dive</a:t>
            </a:r>
            <a:endParaRPr lang="en-US" sz="1350" dirty="0"/>
          </a:p>
        </p:txBody>
      </p:sp>
      <p:sp>
        <p:nvSpPr>
          <p:cNvPr id="27" name="Text 24"/>
          <p:cNvSpPr/>
          <p:nvPr/>
        </p:nvSpPr>
        <p:spPr>
          <a:xfrm>
            <a:off x="5166360" y="3959352"/>
            <a:ext cx="777240" cy="566928"/>
          </a:xfrm>
          <a:prstGeom prst="rect">
            <a:avLst/>
          </a:prstGeom>
          <a:noFill/>
          <a:ln/>
        </p:spPr>
        <p:txBody>
          <a:bodyPr wrap="square" lIns="0" tIns="0" rIns="0" bIns="0" rtlCol="0" anchor="ctr"/>
          <a:lstStyle/>
          <a:p>
            <a:pPr algn="r" indent="0" marL="0">
              <a:buNone/>
            </a:pPr>
            <a:r>
              <a:rPr lang="en-US" sz="1200" b="1" dirty="0">
                <a:solidFill>
                  <a:srgbClr val="44506B"/>
                </a:solidFill>
                <a:latin typeface="Calibri" pitchFamily="34" charset="0"/>
                <a:ea typeface="Calibri" pitchFamily="34" charset="-122"/>
                <a:cs typeface="Calibri" pitchFamily="34" charset="-120"/>
              </a:rPr>
              <a:t>15 min</a:t>
            </a:r>
            <a:endParaRPr lang="en-US" sz="1200" dirty="0"/>
          </a:p>
        </p:txBody>
      </p:sp>
      <p:sp>
        <p:nvSpPr>
          <p:cNvPr id="28" name="Shape 25"/>
          <p:cNvSpPr/>
          <p:nvPr/>
        </p:nvSpPr>
        <p:spPr>
          <a:xfrm>
            <a:off x="502920" y="4745736"/>
            <a:ext cx="5532120" cy="566928"/>
          </a:xfrm>
          <a:prstGeom prst="roundRect">
            <a:avLst>
              <a:gd name="adj" fmla="val 12903"/>
            </a:avLst>
          </a:prstGeom>
          <a:solidFill>
            <a:srgbClr val="F2F5FB"/>
          </a:solidFill>
          <a:ln/>
        </p:spPr>
      </p:sp>
      <p:sp>
        <p:nvSpPr>
          <p:cNvPr id="29" name="Shape 26"/>
          <p:cNvSpPr/>
          <p:nvPr/>
        </p:nvSpPr>
        <p:spPr>
          <a:xfrm>
            <a:off x="667512" y="4887468"/>
            <a:ext cx="283464" cy="283464"/>
          </a:xfrm>
          <a:prstGeom prst="ellipse">
            <a:avLst/>
          </a:prstGeom>
          <a:solidFill>
            <a:srgbClr val="F2B33D"/>
          </a:solidFill>
          <a:ln/>
        </p:spPr>
      </p:sp>
      <p:sp>
        <p:nvSpPr>
          <p:cNvPr id="30" name="Text 27"/>
          <p:cNvSpPr/>
          <p:nvPr/>
        </p:nvSpPr>
        <p:spPr>
          <a:xfrm>
            <a:off x="667512" y="4887468"/>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8"/>
          <p:cNvSpPr/>
          <p:nvPr/>
        </p:nvSpPr>
        <p:spPr>
          <a:xfrm>
            <a:off x="1069848" y="4745736"/>
            <a:ext cx="4069080" cy="566928"/>
          </a:xfrm>
          <a:prstGeom prst="rect">
            <a:avLst/>
          </a:prstGeom>
          <a:noFill/>
          <a:ln/>
        </p:spPr>
        <p:txBody>
          <a:bodyPr wrap="square" lIns="0" tIns="0" rIns="0" bIns="0" rtlCol="0" anchor="ctr"/>
          <a:lstStyle/>
          <a:p>
            <a:pPr indent="0" marL="0">
              <a:buNone/>
            </a:pPr>
            <a:r>
              <a:rPr lang="en-US" sz="1350" dirty="0">
                <a:solidFill>
                  <a:srgbClr val="1B2340"/>
                </a:solidFill>
                <a:latin typeface="Calibri" pitchFamily="34" charset="0"/>
                <a:ea typeface="Calibri" pitchFamily="34" charset="-122"/>
                <a:cs typeface="Calibri" pitchFamily="34" charset="-120"/>
              </a:rPr>
              <a:t>Different Types of Prompts</a:t>
            </a:r>
            <a:endParaRPr lang="en-US" sz="1350" dirty="0"/>
          </a:p>
        </p:txBody>
      </p:sp>
      <p:sp>
        <p:nvSpPr>
          <p:cNvPr id="32" name="Text 29"/>
          <p:cNvSpPr/>
          <p:nvPr/>
        </p:nvSpPr>
        <p:spPr>
          <a:xfrm>
            <a:off x="5166360" y="4745736"/>
            <a:ext cx="777240" cy="566928"/>
          </a:xfrm>
          <a:prstGeom prst="rect">
            <a:avLst/>
          </a:prstGeom>
          <a:noFill/>
          <a:ln/>
        </p:spPr>
        <p:txBody>
          <a:bodyPr wrap="square" lIns="0" tIns="0" rIns="0" bIns="0" rtlCol="0" anchor="ctr"/>
          <a:lstStyle/>
          <a:p>
            <a:pPr algn="r" indent="0" marL="0">
              <a:buNone/>
            </a:pPr>
            <a:r>
              <a:rPr lang="en-US" sz="1200" b="1" dirty="0">
                <a:solidFill>
                  <a:srgbClr val="44506B"/>
                </a:solidFill>
                <a:latin typeface="Calibri" pitchFamily="34" charset="0"/>
                <a:ea typeface="Calibri" pitchFamily="34" charset="-122"/>
                <a:cs typeface="Calibri" pitchFamily="34" charset="-120"/>
              </a:rPr>
              <a:t>10 min</a:t>
            </a:r>
            <a:endParaRPr lang="en-US" sz="1200" dirty="0"/>
          </a:p>
        </p:txBody>
      </p:sp>
      <p:sp>
        <p:nvSpPr>
          <p:cNvPr id="33" name="Shape 30"/>
          <p:cNvSpPr/>
          <p:nvPr/>
        </p:nvSpPr>
        <p:spPr>
          <a:xfrm>
            <a:off x="6355080" y="1600200"/>
            <a:ext cx="5532120" cy="566928"/>
          </a:xfrm>
          <a:prstGeom prst="roundRect">
            <a:avLst>
              <a:gd name="adj" fmla="val 12903"/>
            </a:avLst>
          </a:prstGeom>
          <a:solidFill>
            <a:srgbClr val="F2F5FB"/>
          </a:solidFill>
          <a:ln/>
        </p:spPr>
      </p:sp>
      <p:sp>
        <p:nvSpPr>
          <p:cNvPr id="34" name="Shape 31"/>
          <p:cNvSpPr/>
          <p:nvPr/>
        </p:nvSpPr>
        <p:spPr>
          <a:xfrm>
            <a:off x="6519672" y="1741932"/>
            <a:ext cx="283464" cy="283464"/>
          </a:xfrm>
          <a:prstGeom prst="ellipse">
            <a:avLst/>
          </a:prstGeom>
          <a:solidFill>
            <a:srgbClr val="F2B33D"/>
          </a:solidFill>
          <a:ln/>
        </p:spPr>
      </p:sp>
      <p:sp>
        <p:nvSpPr>
          <p:cNvPr id="35" name="Text 32"/>
          <p:cNvSpPr/>
          <p:nvPr/>
        </p:nvSpPr>
        <p:spPr>
          <a:xfrm>
            <a:off x="6519672" y="1741932"/>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6" name="Text 33"/>
          <p:cNvSpPr/>
          <p:nvPr/>
        </p:nvSpPr>
        <p:spPr>
          <a:xfrm>
            <a:off x="6922008" y="1600200"/>
            <a:ext cx="4069080" cy="566928"/>
          </a:xfrm>
          <a:prstGeom prst="rect">
            <a:avLst/>
          </a:prstGeom>
          <a:noFill/>
          <a:ln/>
        </p:spPr>
        <p:txBody>
          <a:bodyPr wrap="square" lIns="0" tIns="0" rIns="0" bIns="0" rtlCol="0" anchor="ctr"/>
          <a:lstStyle/>
          <a:p>
            <a:pPr indent="0" marL="0">
              <a:buNone/>
            </a:pPr>
            <a:r>
              <a:rPr lang="en-US" sz="1350" dirty="0">
                <a:solidFill>
                  <a:srgbClr val="1B2340"/>
                </a:solidFill>
                <a:latin typeface="Calibri" pitchFamily="34" charset="0"/>
                <a:ea typeface="Calibri" pitchFamily="34" charset="-122"/>
                <a:cs typeface="Calibri" pitchFamily="34" charset="-120"/>
              </a:rPr>
              <a:t>SAM Variants — MobileSAM, FastSAM, SAM 2, SAM 3</a:t>
            </a:r>
            <a:endParaRPr lang="en-US" sz="1350" dirty="0"/>
          </a:p>
        </p:txBody>
      </p:sp>
      <p:sp>
        <p:nvSpPr>
          <p:cNvPr id="37" name="Text 34"/>
          <p:cNvSpPr/>
          <p:nvPr/>
        </p:nvSpPr>
        <p:spPr>
          <a:xfrm>
            <a:off x="11018520" y="1600200"/>
            <a:ext cx="777240" cy="566928"/>
          </a:xfrm>
          <a:prstGeom prst="rect">
            <a:avLst/>
          </a:prstGeom>
          <a:noFill/>
          <a:ln/>
        </p:spPr>
        <p:txBody>
          <a:bodyPr wrap="square" lIns="0" tIns="0" rIns="0" bIns="0" rtlCol="0" anchor="ctr"/>
          <a:lstStyle/>
          <a:p>
            <a:pPr algn="r" indent="0" marL="0">
              <a:buNone/>
            </a:pPr>
            <a:r>
              <a:rPr lang="en-US" sz="1200" b="1" dirty="0">
                <a:solidFill>
                  <a:srgbClr val="44506B"/>
                </a:solidFill>
                <a:latin typeface="Calibri" pitchFamily="34" charset="0"/>
                <a:ea typeface="Calibri" pitchFamily="34" charset="-122"/>
                <a:cs typeface="Calibri" pitchFamily="34" charset="-120"/>
              </a:rPr>
              <a:t>10 min</a:t>
            </a:r>
            <a:endParaRPr lang="en-US" sz="1200" dirty="0"/>
          </a:p>
        </p:txBody>
      </p:sp>
      <p:sp>
        <p:nvSpPr>
          <p:cNvPr id="38" name="Shape 35"/>
          <p:cNvSpPr/>
          <p:nvPr/>
        </p:nvSpPr>
        <p:spPr>
          <a:xfrm>
            <a:off x="6355080" y="2386584"/>
            <a:ext cx="5532120" cy="566928"/>
          </a:xfrm>
          <a:prstGeom prst="roundRect">
            <a:avLst>
              <a:gd name="adj" fmla="val 12903"/>
            </a:avLst>
          </a:prstGeom>
          <a:solidFill>
            <a:srgbClr val="F2F5FB"/>
          </a:solidFill>
          <a:ln/>
        </p:spPr>
      </p:sp>
      <p:sp>
        <p:nvSpPr>
          <p:cNvPr id="39" name="Shape 36"/>
          <p:cNvSpPr/>
          <p:nvPr/>
        </p:nvSpPr>
        <p:spPr>
          <a:xfrm>
            <a:off x="6519672" y="2528316"/>
            <a:ext cx="283464" cy="283464"/>
          </a:xfrm>
          <a:prstGeom prst="ellipse">
            <a:avLst/>
          </a:prstGeom>
          <a:solidFill>
            <a:srgbClr val="F96167"/>
          </a:solidFill>
          <a:ln/>
        </p:spPr>
      </p:sp>
      <p:sp>
        <p:nvSpPr>
          <p:cNvPr id="40" name="Text 37"/>
          <p:cNvSpPr/>
          <p:nvPr/>
        </p:nvSpPr>
        <p:spPr>
          <a:xfrm>
            <a:off x="6519672" y="2528316"/>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1" name="Text 38"/>
          <p:cNvSpPr/>
          <p:nvPr/>
        </p:nvSpPr>
        <p:spPr>
          <a:xfrm>
            <a:off x="6922008" y="2386584"/>
            <a:ext cx="4069080" cy="566928"/>
          </a:xfrm>
          <a:prstGeom prst="rect">
            <a:avLst/>
          </a:prstGeom>
          <a:noFill/>
          <a:ln/>
        </p:spPr>
        <p:txBody>
          <a:bodyPr wrap="square" lIns="0" tIns="0" rIns="0" bIns="0" rtlCol="0" anchor="ctr"/>
          <a:lstStyle/>
          <a:p>
            <a:pPr indent="0" marL="0">
              <a:buNone/>
            </a:pPr>
            <a:r>
              <a:rPr lang="en-US" sz="1350" dirty="0">
                <a:solidFill>
                  <a:srgbClr val="1B2340"/>
                </a:solidFill>
                <a:latin typeface="Calibri" pitchFamily="34" charset="0"/>
                <a:ea typeface="Calibri" pitchFamily="34" charset="-122"/>
                <a:cs typeface="Calibri" pitchFamily="34" charset="-120"/>
              </a:rPr>
              <a:t>Real-World Applications &amp; Limitations</a:t>
            </a:r>
            <a:endParaRPr lang="en-US" sz="1350" dirty="0"/>
          </a:p>
        </p:txBody>
      </p:sp>
      <p:sp>
        <p:nvSpPr>
          <p:cNvPr id="42" name="Text 39"/>
          <p:cNvSpPr/>
          <p:nvPr/>
        </p:nvSpPr>
        <p:spPr>
          <a:xfrm>
            <a:off x="11018520" y="2386584"/>
            <a:ext cx="777240" cy="566928"/>
          </a:xfrm>
          <a:prstGeom prst="rect">
            <a:avLst/>
          </a:prstGeom>
          <a:noFill/>
          <a:ln/>
        </p:spPr>
        <p:txBody>
          <a:bodyPr wrap="square" lIns="0" tIns="0" rIns="0" bIns="0" rtlCol="0" anchor="ctr"/>
          <a:lstStyle/>
          <a:p>
            <a:pPr algn="r" indent="0" marL="0">
              <a:buNone/>
            </a:pPr>
            <a:r>
              <a:rPr lang="en-US" sz="1200" b="1" dirty="0">
                <a:solidFill>
                  <a:srgbClr val="44506B"/>
                </a:solidFill>
                <a:latin typeface="Calibri" pitchFamily="34" charset="0"/>
                <a:ea typeface="Calibri" pitchFamily="34" charset="-122"/>
                <a:cs typeface="Calibri" pitchFamily="34" charset="-120"/>
              </a:rPr>
              <a:t>5 min</a:t>
            </a:r>
            <a:endParaRPr lang="en-US" sz="1200" dirty="0"/>
          </a:p>
        </p:txBody>
      </p:sp>
      <p:sp>
        <p:nvSpPr>
          <p:cNvPr id="43" name="Shape 40"/>
          <p:cNvSpPr/>
          <p:nvPr/>
        </p:nvSpPr>
        <p:spPr>
          <a:xfrm>
            <a:off x="6355080" y="3172968"/>
            <a:ext cx="5532120" cy="566928"/>
          </a:xfrm>
          <a:prstGeom prst="roundRect">
            <a:avLst>
              <a:gd name="adj" fmla="val 12903"/>
            </a:avLst>
          </a:prstGeom>
          <a:solidFill>
            <a:srgbClr val="F2F5FB"/>
          </a:solidFill>
          <a:ln/>
        </p:spPr>
      </p:sp>
      <p:sp>
        <p:nvSpPr>
          <p:cNvPr id="44" name="Shape 41"/>
          <p:cNvSpPr/>
          <p:nvPr/>
        </p:nvSpPr>
        <p:spPr>
          <a:xfrm>
            <a:off x="6519672" y="3314700"/>
            <a:ext cx="283464" cy="283464"/>
          </a:xfrm>
          <a:prstGeom prst="ellipse">
            <a:avLst/>
          </a:prstGeom>
          <a:solidFill>
            <a:srgbClr val="F96167"/>
          </a:solidFill>
          <a:ln/>
        </p:spPr>
      </p:sp>
      <p:sp>
        <p:nvSpPr>
          <p:cNvPr id="45" name="Text 42"/>
          <p:cNvSpPr/>
          <p:nvPr/>
        </p:nvSpPr>
        <p:spPr>
          <a:xfrm>
            <a:off x="6519672" y="3314700"/>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6" name="Text 43"/>
          <p:cNvSpPr/>
          <p:nvPr/>
        </p:nvSpPr>
        <p:spPr>
          <a:xfrm>
            <a:off x="6922008" y="3172968"/>
            <a:ext cx="4069080" cy="566928"/>
          </a:xfrm>
          <a:prstGeom prst="rect">
            <a:avLst/>
          </a:prstGeom>
          <a:noFill/>
          <a:ln/>
        </p:spPr>
        <p:txBody>
          <a:bodyPr wrap="square" lIns="0" tIns="0" rIns="0" bIns="0" rtlCol="0" anchor="ctr"/>
          <a:lstStyle/>
          <a:p>
            <a:pPr indent="0" marL="0">
              <a:buNone/>
            </a:pPr>
            <a:r>
              <a:rPr lang="en-US" sz="1350" dirty="0">
                <a:solidFill>
                  <a:srgbClr val="1B2340"/>
                </a:solidFill>
                <a:latin typeface="Calibri" pitchFamily="34" charset="0"/>
                <a:ea typeface="Calibri" pitchFamily="34" charset="-122"/>
                <a:cs typeface="Calibri" pitchFamily="34" charset="-120"/>
              </a:rPr>
              <a:t>Q&amp;A</a:t>
            </a:r>
            <a:endParaRPr lang="en-US" sz="1350" dirty="0"/>
          </a:p>
        </p:txBody>
      </p:sp>
      <p:sp>
        <p:nvSpPr>
          <p:cNvPr id="47" name="Text 44"/>
          <p:cNvSpPr/>
          <p:nvPr/>
        </p:nvSpPr>
        <p:spPr>
          <a:xfrm>
            <a:off x="11018520" y="3172968"/>
            <a:ext cx="777240" cy="566928"/>
          </a:xfrm>
          <a:prstGeom prst="rect">
            <a:avLst/>
          </a:prstGeom>
          <a:noFill/>
          <a:ln/>
        </p:spPr>
        <p:txBody>
          <a:bodyPr wrap="square" lIns="0" tIns="0" rIns="0" bIns="0" rtlCol="0" anchor="ctr"/>
          <a:lstStyle/>
          <a:p>
            <a:pPr algn="r" indent="0" marL="0">
              <a:buNone/>
            </a:pPr>
            <a:r>
              <a:rPr lang="en-US" sz="1200" b="1" dirty="0">
                <a:solidFill>
                  <a:srgbClr val="44506B"/>
                </a:solidFill>
                <a:latin typeface="Calibri" pitchFamily="34" charset="0"/>
                <a:ea typeface="Calibri" pitchFamily="34" charset="-122"/>
                <a:cs typeface="Calibri" pitchFamily="34" charset="-120"/>
              </a:rPr>
              <a:t>10 min</a:t>
            </a:r>
            <a:endParaRPr lang="en-US" sz="1200" dirty="0"/>
          </a:p>
        </p:txBody>
      </p:sp>
      <p:sp>
        <p:nvSpPr>
          <p:cNvPr id="48" name="Shape 45"/>
          <p:cNvSpPr/>
          <p:nvPr/>
        </p:nvSpPr>
        <p:spPr>
          <a:xfrm>
            <a:off x="6355080" y="3959352"/>
            <a:ext cx="5532120" cy="566928"/>
          </a:xfrm>
          <a:prstGeom prst="roundRect">
            <a:avLst>
              <a:gd name="adj" fmla="val 12903"/>
            </a:avLst>
          </a:prstGeom>
          <a:solidFill>
            <a:srgbClr val="F2F5FB"/>
          </a:solidFill>
          <a:ln/>
        </p:spPr>
      </p:sp>
      <p:sp>
        <p:nvSpPr>
          <p:cNvPr id="49" name="Shape 46"/>
          <p:cNvSpPr/>
          <p:nvPr/>
        </p:nvSpPr>
        <p:spPr>
          <a:xfrm>
            <a:off x="6519672" y="4101084"/>
            <a:ext cx="283464" cy="283464"/>
          </a:xfrm>
          <a:prstGeom prst="ellipse">
            <a:avLst/>
          </a:prstGeom>
          <a:solidFill>
            <a:srgbClr val="1E2761"/>
          </a:solidFill>
          <a:ln/>
        </p:spPr>
      </p:sp>
      <p:sp>
        <p:nvSpPr>
          <p:cNvPr id="50" name="Text 47"/>
          <p:cNvSpPr/>
          <p:nvPr/>
        </p:nvSpPr>
        <p:spPr>
          <a:xfrm>
            <a:off x="6519672" y="4101084"/>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1" name="Text 48"/>
          <p:cNvSpPr/>
          <p:nvPr/>
        </p:nvSpPr>
        <p:spPr>
          <a:xfrm>
            <a:off x="6922008" y="3959352"/>
            <a:ext cx="4069080" cy="566928"/>
          </a:xfrm>
          <a:prstGeom prst="rect">
            <a:avLst/>
          </a:prstGeom>
          <a:noFill/>
          <a:ln/>
        </p:spPr>
        <p:txBody>
          <a:bodyPr wrap="square" lIns="0" tIns="0" rIns="0" bIns="0" rtlCol="0" anchor="ctr"/>
          <a:lstStyle/>
          <a:p>
            <a:pPr indent="0" marL="0">
              <a:buNone/>
            </a:pPr>
            <a:r>
              <a:rPr lang="en-US" sz="1350" b="1" dirty="0">
                <a:solidFill>
                  <a:srgbClr val="1B2340"/>
                </a:solidFill>
                <a:latin typeface="Calibri" pitchFamily="34" charset="0"/>
                <a:ea typeface="Calibri" pitchFamily="34" charset="-122"/>
                <a:cs typeface="Calibri" pitchFamily="34" charset="-120"/>
              </a:rPr>
              <a:t>Live Demo — SAM 3 Inference</a:t>
            </a:r>
            <a:endParaRPr lang="en-US" sz="1350" dirty="0"/>
          </a:p>
        </p:txBody>
      </p:sp>
      <p:sp>
        <p:nvSpPr>
          <p:cNvPr id="52" name="Text 49"/>
          <p:cNvSpPr/>
          <p:nvPr/>
        </p:nvSpPr>
        <p:spPr>
          <a:xfrm>
            <a:off x="11018520" y="3959352"/>
            <a:ext cx="777240" cy="566928"/>
          </a:xfrm>
          <a:prstGeom prst="rect">
            <a:avLst/>
          </a:prstGeom>
          <a:noFill/>
          <a:ln/>
        </p:spPr>
        <p:txBody>
          <a:bodyPr wrap="square" lIns="0" tIns="0" rIns="0" bIns="0" rtlCol="0" anchor="ctr"/>
          <a:lstStyle/>
          <a:p>
            <a:pPr algn="r" indent="0" marL="0">
              <a:buNone/>
            </a:pPr>
            <a:r>
              <a:rPr lang="en-US" sz="1200" b="1" dirty="0">
                <a:solidFill>
                  <a:srgbClr val="44506B"/>
                </a:solidFill>
                <a:latin typeface="Calibri" pitchFamily="34" charset="0"/>
                <a:ea typeface="Calibri" pitchFamily="34" charset="-122"/>
                <a:cs typeface="Calibri" pitchFamily="34" charset="-120"/>
              </a:rPr>
              <a:t>15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Introduction to Image Segmentation</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From labels, to boxes, to pixels</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sp>
        <p:nvSpPr>
          <p:cNvPr id="8" name="Shape 5"/>
          <p:cNvSpPr/>
          <p:nvPr/>
        </p:nvSpPr>
        <p:spPr>
          <a:xfrm>
            <a:off x="502920" y="1600200"/>
            <a:ext cx="5394960" cy="1261872"/>
          </a:xfrm>
          <a:prstGeom prst="roundRect">
            <a:avLst>
              <a:gd name="adj" fmla="val 7246"/>
            </a:avLst>
          </a:prstGeom>
          <a:solidFill>
            <a:srgbClr val="F2F5FB"/>
          </a:solidFill>
          <a:ln/>
        </p:spPr>
      </p:sp>
      <p:sp>
        <p:nvSpPr>
          <p:cNvPr id="9" name="Shape 6"/>
          <p:cNvSpPr/>
          <p:nvPr/>
        </p:nvSpPr>
        <p:spPr>
          <a:xfrm>
            <a:off x="731520" y="1819656"/>
            <a:ext cx="237744" cy="237744"/>
          </a:xfrm>
          <a:prstGeom prst="roundRect">
            <a:avLst>
              <a:gd name="adj" fmla="val 23077"/>
            </a:avLst>
          </a:prstGeom>
          <a:solidFill>
            <a:srgbClr val="02C39A"/>
          </a:solidFill>
          <a:ln/>
        </p:spPr>
      </p:sp>
      <p:sp>
        <p:nvSpPr>
          <p:cNvPr id="10" name="Text 7"/>
          <p:cNvSpPr/>
          <p:nvPr/>
        </p:nvSpPr>
        <p:spPr>
          <a:xfrm>
            <a:off x="1097280" y="1728216"/>
            <a:ext cx="420624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Classification</a:t>
            </a:r>
            <a:endParaRPr lang="en-US" sz="1600" dirty="0"/>
          </a:p>
        </p:txBody>
      </p:sp>
      <p:sp>
        <p:nvSpPr>
          <p:cNvPr id="11" name="Text 8"/>
          <p:cNvSpPr/>
          <p:nvPr/>
        </p:nvSpPr>
        <p:spPr>
          <a:xfrm>
            <a:off x="1097280" y="2075688"/>
            <a:ext cx="4480560" cy="347472"/>
          </a:xfrm>
          <a:prstGeom prst="rect">
            <a:avLst/>
          </a:prstGeom>
          <a:noFill/>
          <a:ln/>
        </p:spPr>
        <p:txBody>
          <a:bodyPr wrap="square" lIns="0" tIns="0" rIns="0" bIns="0" rtlCol="0" anchor="ctr"/>
          <a:lstStyle/>
          <a:p>
            <a:pPr indent="0" marL="0">
              <a:buNone/>
            </a:pPr>
            <a:r>
              <a:rPr lang="en-US" sz="1300" i="1" dirty="0">
                <a:solidFill>
                  <a:srgbClr val="44506B"/>
                </a:solidFill>
                <a:latin typeface="Calibri" pitchFamily="34" charset="0"/>
                <a:ea typeface="Calibri" pitchFamily="34" charset="-122"/>
                <a:cs typeface="Calibri" pitchFamily="34" charset="-120"/>
              </a:rPr>
              <a:t>“There is a dog in this image.”</a:t>
            </a:r>
            <a:endParaRPr lang="en-US" sz="1300" dirty="0"/>
          </a:p>
        </p:txBody>
      </p:sp>
      <p:sp>
        <p:nvSpPr>
          <p:cNvPr id="12" name="Text 9"/>
          <p:cNvSpPr/>
          <p:nvPr/>
        </p:nvSpPr>
        <p:spPr>
          <a:xfrm>
            <a:off x="1097280" y="2423160"/>
            <a:ext cx="4480560" cy="347472"/>
          </a:xfrm>
          <a:prstGeom prst="rect">
            <a:avLst/>
          </a:prstGeom>
          <a:noFill/>
          <a:ln/>
        </p:spPr>
        <p:txBody>
          <a:bodyPr wrap="square" lIns="0" tIns="0" rIns="0" bIns="0" rtlCol="0" anchor="ctr"/>
          <a:lstStyle/>
          <a:p>
            <a:pPr indent="0" marL="0">
              <a:buNone/>
            </a:pPr>
            <a:r>
              <a:rPr lang="en-US" sz="1300" dirty="0">
                <a:solidFill>
                  <a:srgbClr val="1B2340"/>
                </a:solidFill>
                <a:latin typeface="Calibri" pitchFamily="34" charset="0"/>
                <a:ea typeface="Calibri" pitchFamily="34" charset="-122"/>
                <a:cs typeface="Calibri" pitchFamily="34" charset="-120"/>
              </a:rPr>
              <a:t>One label for the whole image</a:t>
            </a:r>
            <a:endParaRPr lang="en-US" sz="1300" dirty="0"/>
          </a:p>
        </p:txBody>
      </p:sp>
      <p:sp>
        <p:nvSpPr>
          <p:cNvPr id="13" name="Shape 10"/>
          <p:cNvSpPr/>
          <p:nvPr/>
        </p:nvSpPr>
        <p:spPr>
          <a:xfrm>
            <a:off x="502920" y="3081528"/>
            <a:ext cx="5394960" cy="1261872"/>
          </a:xfrm>
          <a:prstGeom prst="roundRect">
            <a:avLst>
              <a:gd name="adj" fmla="val 7246"/>
            </a:avLst>
          </a:prstGeom>
          <a:solidFill>
            <a:srgbClr val="F2F5FB"/>
          </a:solidFill>
          <a:ln/>
        </p:spPr>
      </p:sp>
      <p:sp>
        <p:nvSpPr>
          <p:cNvPr id="14" name="Shape 11"/>
          <p:cNvSpPr/>
          <p:nvPr/>
        </p:nvSpPr>
        <p:spPr>
          <a:xfrm>
            <a:off x="731520" y="3300984"/>
            <a:ext cx="237744" cy="237744"/>
          </a:xfrm>
          <a:prstGeom prst="roundRect">
            <a:avLst>
              <a:gd name="adj" fmla="val 23077"/>
            </a:avLst>
          </a:prstGeom>
          <a:solidFill>
            <a:srgbClr val="3E7CB1"/>
          </a:solidFill>
          <a:ln/>
        </p:spPr>
      </p:sp>
      <p:sp>
        <p:nvSpPr>
          <p:cNvPr id="15" name="Text 12"/>
          <p:cNvSpPr/>
          <p:nvPr/>
        </p:nvSpPr>
        <p:spPr>
          <a:xfrm>
            <a:off x="1097280" y="3209544"/>
            <a:ext cx="420624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Object Detection</a:t>
            </a:r>
            <a:endParaRPr lang="en-US" sz="1600" dirty="0"/>
          </a:p>
        </p:txBody>
      </p:sp>
      <p:sp>
        <p:nvSpPr>
          <p:cNvPr id="16" name="Text 13"/>
          <p:cNvSpPr/>
          <p:nvPr/>
        </p:nvSpPr>
        <p:spPr>
          <a:xfrm>
            <a:off x="1097280" y="3557016"/>
            <a:ext cx="4480560" cy="347472"/>
          </a:xfrm>
          <a:prstGeom prst="rect">
            <a:avLst/>
          </a:prstGeom>
          <a:noFill/>
          <a:ln/>
        </p:spPr>
        <p:txBody>
          <a:bodyPr wrap="square" lIns="0" tIns="0" rIns="0" bIns="0" rtlCol="0" anchor="ctr"/>
          <a:lstStyle/>
          <a:p>
            <a:pPr indent="0" marL="0">
              <a:buNone/>
            </a:pPr>
            <a:r>
              <a:rPr lang="en-US" sz="1300" i="1" dirty="0">
                <a:solidFill>
                  <a:srgbClr val="44506B"/>
                </a:solidFill>
                <a:latin typeface="Calibri" pitchFamily="34" charset="0"/>
                <a:ea typeface="Calibri" pitchFamily="34" charset="-122"/>
                <a:cs typeface="Calibri" pitchFamily="34" charset="-120"/>
              </a:rPr>
              <a:t>“The dog is inside this box.”</a:t>
            </a:r>
            <a:endParaRPr lang="en-US" sz="1300" dirty="0"/>
          </a:p>
        </p:txBody>
      </p:sp>
      <p:sp>
        <p:nvSpPr>
          <p:cNvPr id="17" name="Text 14"/>
          <p:cNvSpPr/>
          <p:nvPr/>
        </p:nvSpPr>
        <p:spPr>
          <a:xfrm>
            <a:off x="1097280" y="3904488"/>
            <a:ext cx="4480560" cy="347472"/>
          </a:xfrm>
          <a:prstGeom prst="rect">
            <a:avLst/>
          </a:prstGeom>
          <a:noFill/>
          <a:ln/>
        </p:spPr>
        <p:txBody>
          <a:bodyPr wrap="square" lIns="0" tIns="0" rIns="0" bIns="0" rtlCol="0" anchor="ctr"/>
          <a:lstStyle/>
          <a:p>
            <a:pPr indent="0" marL="0">
              <a:buNone/>
            </a:pPr>
            <a:r>
              <a:rPr lang="en-US" sz="1300" dirty="0">
                <a:solidFill>
                  <a:srgbClr val="1B2340"/>
                </a:solidFill>
                <a:latin typeface="Calibri" pitchFamily="34" charset="0"/>
                <a:ea typeface="Calibri" pitchFamily="34" charset="-122"/>
                <a:cs typeface="Calibri" pitchFamily="34" charset="-120"/>
              </a:rPr>
              <a:t>Rectangles around each object</a:t>
            </a:r>
            <a:endParaRPr lang="en-US" sz="1300" dirty="0"/>
          </a:p>
        </p:txBody>
      </p:sp>
      <p:sp>
        <p:nvSpPr>
          <p:cNvPr id="18" name="Shape 15"/>
          <p:cNvSpPr/>
          <p:nvPr/>
        </p:nvSpPr>
        <p:spPr>
          <a:xfrm>
            <a:off x="502920" y="4562856"/>
            <a:ext cx="5394960" cy="1261872"/>
          </a:xfrm>
          <a:prstGeom prst="roundRect">
            <a:avLst>
              <a:gd name="adj" fmla="val 7246"/>
            </a:avLst>
          </a:prstGeom>
          <a:solidFill>
            <a:srgbClr val="F2F5FB"/>
          </a:solidFill>
          <a:ln/>
        </p:spPr>
      </p:sp>
      <p:sp>
        <p:nvSpPr>
          <p:cNvPr id="19" name="Shape 16"/>
          <p:cNvSpPr/>
          <p:nvPr/>
        </p:nvSpPr>
        <p:spPr>
          <a:xfrm>
            <a:off x="731520" y="4782312"/>
            <a:ext cx="237744" cy="237744"/>
          </a:xfrm>
          <a:prstGeom prst="roundRect">
            <a:avLst>
              <a:gd name="adj" fmla="val 23077"/>
            </a:avLst>
          </a:prstGeom>
          <a:solidFill>
            <a:srgbClr val="F96167"/>
          </a:solidFill>
          <a:ln/>
        </p:spPr>
      </p:sp>
      <p:sp>
        <p:nvSpPr>
          <p:cNvPr id="20" name="Text 17"/>
          <p:cNvSpPr/>
          <p:nvPr/>
        </p:nvSpPr>
        <p:spPr>
          <a:xfrm>
            <a:off x="1097280" y="4690872"/>
            <a:ext cx="420624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Segmentation</a:t>
            </a:r>
            <a:endParaRPr lang="en-US" sz="1600" dirty="0"/>
          </a:p>
        </p:txBody>
      </p:sp>
      <p:sp>
        <p:nvSpPr>
          <p:cNvPr id="21" name="Text 18"/>
          <p:cNvSpPr/>
          <p:nvPr/>
        </p:nvSpPr>
        <p:spPr>
          <a:xfrm>
            <a:off x="1097280" y="5038344"/>
            <a:ext cx="4480560" cy="347472"/>
          </a:xfrm>
          <a:prstGeom prst="rect">
            <a:avLst/>
          </a:prstGeom>
          <a:noFill/>
          <a:ln/>
        </p:spPr>
        <p:txBody>
          <a:bodyPr wrap="square" lIns="0" tIns="0" rIns="0" bIns="0" rtlCol="0" anchor="ctr"/>
          <a:lstStyle/>
          <a:p>
            <a:pPr indent="0" marL="0">
              <a:buNone/>
            </a:pPr>
            <a:r>
              <a:rPr lang="en-US" sz="1300" i="1" dirty="0">
                <a:solidFill>
                  <a:srgbClr val="44506B"/>
                </a:solidFill>
                <a:latin typeface="Calibri" pitchFamily="34" charset="0"/>
                <a:ea typeface="Calibri" pitchFamily="34" charset="-122"/>
                <a:cs typeface="Calibri" pitchFamily="34" charset="-120"/>
              </a:rPr>
              <a:t>“These exact pixels are the dog.”</a:t>
            </a:r>
            <a:endParaRPr lang="en-US" sz="1300" dirty="0"/>
          </a:p>
        </p:txBody>
      </p:sp>
      <p:sp>
        <p:nvSpPr>
          <p:cNvPr id="22" name="Text 19"/>
          <p:cNvSpPr/>
          <p:nvPr/>
        </p:nvSpPr>
        <p:spPr>
          <a:xfrm>
            <a:off x="1097280" y="5385816"/>
            <a:ext cx="4480560" cy="347472"/>
          </a:xfrm>
          <a:prstGeom prst="rect">
            <a:avLst/>
          </a:prstGeom>
          <a:noFill/>
          <a:ln/>
        </p:spPr>
        <p:txBody>
          <a:bodyPr wrap="square" lIns="0" tIns="0" rIns="0" bIns="0" rtlCol="0" anchor="ctr"/>
          <a:lstStyle/>
          <a:p>
            <a:pPr indent="0" marL="0">
              <a:buNone/>
            </a:pPr>
            <a:r>
              <a:rPr lang="en-US" sz="1300" dirty="0">
                <a:solidFill>
                  <a:srgbClr val="1B2340"/>
                </a:solidFill>
                <a:latin typeface="Calibri" pitchFamily="34" charset="0"/>
                <a:ea typeface="Calibri" pitchFamily="34" charset="-122"/>
                <a:cs typeface="Calibri" pitchFamily="34" charset="-120"/>
              </a:rPr>
              <a:t>A pixel-accurate outline (mask)</a:t>
            </a:r>
            <a:endParaRPr lang="en-US" sz="1300" dirty="0"/>
          </a:p>
        </p:txBody>
      </p:sp>
      <p:pic>
        <p:nvPicPr>
          <p:cNvPr id="23" name="Image 0" descr="img/sam1_masks.jpg">    </p:cNvPr>
          <p:cNvPicPr>
            <a:picLocks noChangeAspect="1"/>
          </p:cNvPicPr>
          <p:nvPr/>
        </p:nvPicPr>
        <p:blipFill>
          <a:blip r:embed="rId1"/>
          <a:stretch>
            <a:fillRect/>
          </a:stretch>
        </p:blipFill>
        <p:spPr>
          <a:xfrm>
            <a:off x="6263640" y="1691640"/>
            <a:ext cx="5486400" cy="3657600"/>
          </a:xfrm>
          <a:prstGeom prst="rect">
            <a:avLst/>
          </a:prstGeom>
        </p:spPr>
      </p:pic>
      <p:sp>
        <p:nvSpPr>
          <p:cNvPr id="24" name="Text 20"/>
          <p:cNvSpPr/>
          <p:nvPr/>
        </p:nvSpPr>
        <p:spPr>
          <a:xfrm>
            <a:off x="6263640" y="5440680"/>
            <a:ext cx="5486400" cy="502920"/>
          </a:xfrm>
          <a:prstGeom prst="rect">
            <a:avLst/>
          </a:prstGeom>
          <a:noFill/>
          <a:ln/>
        </p:spPr>
        <p:txBody>
          <a:bodyPr wrap="square" lIns="0" tIns="0" rIns="0" bIns="0" rtlCol="0" anchor="ctr"/>
          <a:lstStyle/>
          <a:p>
            <a:pPr indent="0" marL="0">
              <a:buNone/>
            </a:pPr>
            <a:r>
              <a:rPr lang="en-US" sz="1000" i="1" dirty="0">
                <a:solidFill>
                  <a:srgbClr val="44506B"/>
                </a:solidFill>
                <a:latin typeface="Calibri" pitchFamily="34" charset="0"/>
                <a:ea typeface="Calibri" pitchFamily="34" charset="-122"/>
                <a:cs typeface="Calibri" pitchFamily="34" charset="-120"/>
              </a:rPr>
              <a:t>Real SAM output — one mask per object, down to the pixel  ·  Source: facebookresearch/segment-anything (GitHub)</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Three Flavors of Segmentation</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Same pixels, different questions</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sp>
        <p:nvSpPr>
          <p:cNvPr id="8" name="Shape 5"/>
          <p:cNvSpPr/>
          <p:nvPr/>
        </p:nvSpPr>
        <p:spPr>
          <a:xfrm>
            <a:off x="502920" y="1737360"/>
            <a:ext cx="3611880" cy="3383280"/>
          </a:xfrm>
          <a:prstGeom prst="roundRect">
            <a:avLst>
              <a:gd name="adj" fmla="val 3243"/>
            </a:avLst>
          </a:prstGeom>
          <a:solidFill>
            <a:srgbClr val="F2F5FB"/>
          </a:solidFill>
          <a:ln/>
        </p:spPr>
      </p:sp>
      <p:sp>
        <p:nvSpPr>
          <p:cNvPr id="9" name="Shape 6"/>
          <p:cNvSpPr/>
          <p:nvPr/>
        </p:nvSpPr>
        <p:spPr>
          <a:xfrm>
            <a:off x="822960" y="2057400"/>
            <a:ext cx="566928" cy="566928"/>
          </a:xfrm>
          <a:prstGeom prst="ellipse">
            <a:avLst/>
          </a:prstGeom>
          <a:solidFill>
            <a:srgbClr val="02C39A"/>
          </a:solidFill>
          <a:ln/>
        </p:spPr>
      </p:sp>
      <p:sp>
        <p:nvSpPr>
          <p:cNvPr id="10" name="Text 7"/>
          <p:cNvSpPr/>
          <p:nvPr/>
        </p:nvSpPr>
        <p:spPr>
          <a:xfrm>
            <a:off x="822960" y="20574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S</a:t>
            </a:r>
            <a:endParaRPr lang="en-US" sz="2200" dirty="0"/>
          </a:p>
        </p:txBody>
      </p:sp>
      <p:sp>
        <p:nvSpPr>
          <p:cNvPr id="11" name="Text 8"/>
          <p:cNvSpPr/>
          <p:nvPr/>
        </p:nvSpPr>
        <p:spPr>
          <a:xfrm>
            <a:off x="822960" y="2788920"/>
            <a:ext cx="3017520" cy="411480"/>
          </a:xfrm>
          <a:prstGeom prst="rect">
            <a:avLst/>
          </a:prstGeom>
          <a:noFill/>
          <a:ln/>
        </p:spPr>
        <p:txBody>
          <a:bodyPr wrap="square" lIns="0" tIns="0" rIns="0" bIns="0" rtlCol="0" anchor="ctr"/>
          <a:lstStyle/>
          <a:p>
            <a:pPr indent="0" marL="0">
              <a:buNone/>
            </a:pPr>
            <a:r>
              <a:rPr lang="en-US" sz="1900" b="1" dirty="0">
                <a:solidFill>
                  <a:srgbClr val="1E2761"/>
                </a:solidFill>
                <a:latin typeface="Calibri" pitchFamily="34" charset="0"/>
                <a:ea typeface="Calibri" pitchFamily="34" charset="-122"/>
                <a:cs typeface="Calibri" pitchFamily="34" charset="-120"/>
              </a:rPr>
              <a:t>Semantic</a:t>
            </a:r>
            <a:endParaRPr lang="en-US" sz="1900" dirty="0"/>
          </a:p>
        </p:txBody>
      </p:sp>
      <p:sp>
        <p:nvSpPr>
          <p:cNvPr id="12" name="Text 9"/>
          <p:cNvSpPr/>
          <p:nvPr/>
        </p:nvSpPr>
        <p:spPr>
          <a:xfrm>
            <a:off x="822960" y="3200400"/>
            <a:ext cx="3017520" cy="640080"/>
          </a:xfrm>
          <a:prstGeom prst="rect">
            <a:avLst/>
          </a:prstGeom>
          <a:noFill/>
          <a:ln/>
        </p:spPr>
        <p:txBody>
          <a:bodyPr wrap="square" lIns="0" tIns="0" rIns="0" bIns="0" rtlCol="0" anchor="ctr"/>
          <a:lstStyle/>
          <a:p>
            <a:pPr indent="0" marL="0">
              <a:buNone/>
            </a:pPr>
            <a:r>
              <a:rPr lang="en-US" sz="1250" i="1" dirty="0">
                <a:solidFill>
                  <a:srgbClr val="44506B"/>
                </a:solidFill>
                <a:latin typeface="Calibri" pitchFamily="34" charset="0"/>
                <a:ea typeface="Calibri" pitchFamily="34" charset="-122"/>
                <a:cs typeface="Calibri" pitchFamily="34" charset="-120"/>
              </a:rPr>
              <a:t>“Which class does each pixel belong to?”</a:t>
            </a:r>
            <a:endParaRPr lang="en-US" sz="1250" dirty="0"/>
          </a:p>
        </p:txBody>
      </p:sp>
      <p:sp>
        <p:nvSpPr>
          <p:cNvPr id="13" name="Text 10"/>
          <p:cNvSpPr/>
          <p:nvPr/>
        </p:nvSpPr>
        <p:spPr>
          <a:xfrm>
            <a:off x="822960" y="3840480"/>
            <a:ext cx="3017520" cy="1143000"/>
          </a:xfrm>
          <a:prstGeom prst="rect">
            <a:avLst/>
          </a:prstGeom>
          <a:noFill/>
          <a:ln/>
        </p:spPr>
        <p:txBody>
          <a:bodyPr wrap="square" lIns="0" tIns="0" rIns="0" bIns="0" rtlCol="0" anchor="ctr"/>
          <a:lstStyle/>
          <a:p>
            <a:pPr indent="0" marL="0">
              <a:buNone/>
            </a:pPr>
            <a:r>
              <a:rPr lang="en-US" sz="1250" dirty="0">
                <a:solidFill>
                  <a:srgbClr val="1B2340"/>
                </a:solidFill>
                <a:latin typeface="Calibri" pitchFamily="34" charset="0"/>
                <a:ea typeface="Calibri" pitchFamily="34" charset="-122"/>
                <a:cs typeface="Calibri" pitchFamily="34" charset="-120"/>
              </a:rPr>
              <a:t>All sheep share one label — no individuals. Background counts too (sky, grass, road).</a:t>
            </a:r>
            <a:endParaRPr lang="en-US" sz="1250" dirty="0"/>
          </a:p>
        </p:txBody>
      </p:sp>
      <p:sp>
        <p:nvSpPr>
          <p:cNvPr id="14" name="Shape 11"/>
          <p:cNvSpPr/>
          <p:nvPr/>
        </p:nvSpPr>
        <p:spPr>
          <a:xfrm>
            <a:off x="4389120" y="1737360"/>
            <a:ext cx="3611880" cy="3383280"/>
          </a:xfrm>
          <a:prstGeom prst="roundRect">
            <a:avLst>
              <a:gd name="adj" fmla="val 3243"/>
            </a:avLst>
          </a:prstGeom>
          <a:solidFill>
            <a:srgbClr val="F2F5FB"/>
          </a:solidFill>
          <a:ln/>
        </p:spPr>
      </p:sp>
      <p:sp>
        <p:nvSpPr>
          <p:cNvPr id="15" name="Shape 12"/>
          <p:cNvSpPr/>
          <p:nvPr/>
        </p:nvSpPr>
        <p:spPr>
          <a:xfrm>
            <a:off x="4709160" y="2057400"/>
            <a:ext cx="566928" cy="566928"/>
          </a:xfrm>
          <a:prstGeom prst="ellipse">
            <a:avLst/>
          </a:prstGeom>
          <a:solidFill>
            <a:srgbClr val="3E7CB1"/>
          </a:solidFill>
          <a:ln/>
        </p:spPr>
      </p:sp>
      <p:sp>
        <p:nvSpPr>
          <p:cNvPr id="16" name="Text 13"/>
          <p:cNvSpPr/>
          <p:nvPr/>
        </p:nvSpPr>
        <p:spPr>
          <a:xfrm>
            <a:off x="4709160" y="20574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I</a:t>
            </a:r>
            <a:endParaRPr lang="en-US" sz="2200" dirty="0"/>
          </a:p>
        </p:txBody>
      </p:sp>
      <p:sp>
        <p:nvSpPr>
          <p:cNvPr id="17" name="Text 14"/>
          <p:cNvSpPr/>
          <p:nvPr/>
        </p:nvSpPr>
        <p:spPr>
          <a:xfrm>
            <a:off x="4709160" y="2788920"/>
            <a:ext cx="3017520" cy="411480"/>
          </a:xfrm>
          <a:prstGeom prst="rect">
            <a:avLst/>
          </a:prstGeom>
          <a:noFill/>
          <a:ln/>
        </p:spPr>
        <p:txBody>
          <a:bodyPr wrap="square" lIns="0" tIns="0" rIns="0" bIns="0" rtlCol="0" anchor="ctr"/>
          <a:lstStyle/>
          <a:p>
            <a:pPr indent="0" marL="0">
              <a:buNone/>
            </a:pPr>
            <a:r>
              <a:rPr lang="en-US" sz="1900" b="1" dirty="0">
                <a:solidFill>
                  <a:srgbClr val="1E2761"/>
                </a:solidFill>
                <a:latin typeface="Calibri" pitchFamily="34" charset="0"/>
                <a:ea typeface="Calibri" pitchFamily="34" charset="-122"/>
                <a:cs typeface="Calibri" pitchFamily="34" charset="-120"/>
              </a:rPr>
              <a:t>Instance</a:t>
            </a:r>
            <a:endParaRPr lang="en-US" sz="1900" dirty="0"/>
          </a:p>
        </p:txBody>
      </p:sp>
      <p:sp>
        <p:nvSpPr>
          <p:cNvPr id="18" name="Text 15"/>
          <p:cNvSpPr/>
          <p:nvPr/>
        </p:nvSpPr>
        <p:spPr>
          <a:xfrm>
            <a:off x="4709160" y="3200400"/>
            <a:ext cx="3017520" cy="640080"/>
          </a:xfrm>
          <a:prstGeom prst="rect">
            <a:avLst/>
          </a:prstGeom>
          <a:noFill/>
          <a:ln/>
        </p:spPr>
        <p:txBody>
          <a:bodyPr wrap="square" lIns="0" tIns="0" rIns="0" bIns="0" rtlCol="0" anchor="ctr"/>
          <a:lstStyle/>
          <a:p>
            <a:pPr indent="0" marL="0">
              <a:buNone/>
            </a:pPr>
            <a:r>
              <a:rPr lang="en-US" sz="1250" i="1" dirty="0">
                <a:solidFill>
                  <a:srgbClr val="44506B"/>
                </a:solidFill>
                <a:latin typeface="Calibri" pitchFamily="34" charset="0"/>
                <a:ea typeface="Calibri" pitchFamily="34" charset="-122"/>
                <a:cs typeface="Calibri" pitchFamily="34" charset="-120"/>
              </a:rPr>
              <a:t>“Which object does each pixel belong to?”</a:t>
            </a:r>
            <a:endParaRPr lang="en-US" sz="1250" dirty="0"/>
          </a:p>
        </p:txBody>
      </p:sp>
      <p:sp>
        <p:nvSpPr>
          <p:cNvPr id="19" name="Text 16"/>
          <p:cNvSpPr/>
          <p:nvPr/>
        </p:nvSpPr>
        <p:spPr>
          <a:xfrm>
            <a:off x="4709160" y="3840480"/>
            <a:ext cx="3017520" cy="1143000"/>
          </a:xfrm>
          <a:prstGeom prst="rect">
            <a:avLst/>
          </a:prstGeom>
          <a:noFill/>
          <a:ln/>
        </p:spPr>
        <p:txBody>
          <a:bodyPr wrap="square" lIns="0" tIns="0" rIns="0" bIns="0" rtlCol="0" anchor="ctr"/>
          <a:lstStyle/>
          <a:p>
            <a:pPr indent="0" marL="0">
              <a:buNone/>
            </a:pPr>
            <a:r>
              <a:rPr lang="en-US" sz="1250" dirty="0">
                <a:solidFill>
                  <a:srgbClr val="1B2340"/>
                </a:solidFill>
                <a:latin typeface="Calibri" pitchFamily="34" charset="0"/>
                <a:ea typeface="Calibri" pitchFamily="34" charset="-122"/>
                <a:cs typeface="Calibri" pitchFamily="34" charset="-120"/>
              </a:rPr>
              <a:t>Sheep #1 vs sheep #2 — each object gets its own mask. This is what SAM outputs.</a:t>
            </a:r>
            <a:endParaRPr lang="en-US" sz="1250" dirty="0"/>
          </a:p>
        </p:txBody>
      </p:sp>
      <p:sp>
        <p:nvSpPr>
          <p:cNvPr id="20" name="Shape 17"/>
          <p:cNvSpPr/>
          <p:nvPr/>
        </p:nvSpPr>
        <p:spPr>
          <a:xfrm>
            <a:off x="8275320" y="1737360"/>
            <a:ext cx="3611880" cy="3383280"/>
          </a:xfrm>
          <a:prstGeom prst="roundRect">
            <a:avLst>
              <a:gd name="adj" fmla="val 3243"/>
            </a:avLst>
          </a:prstGeom>
          <a:solidFill>
            <a:srgbClr val="F2F5FB"/>
          </a:solidFill>
          <a:ln/>
        </p:spPr>
      </p:sp>
      <p:sp>
        <p:nvSpPr>
          <p:cNvPr id="21" name="Shape 18"/>
          <p:cNvSpPr/>
          <p:nvPr/>
        </p:nvSpPr>
        <p:spPr>
          <a:xfrm>
            <a:off x="8595360" y="2057400"/>
            <a:ext cx="566928" cy="566928"/>
          </a:xfrm>
          <a:prstGeom prst="ellipse">
            <a:avLst/>
          </a:prstGeom>
          <a:solidFill>
            <a:srgbClr val="F96167"/>
          </a:solidFill>
          <a:ln/>
        </p:spPr>
      </p:sp>
      <p:sp>
        <p:nvSpPr>
          <p:cNvPr id="22" name="Text 19"/>
          <p:cNvSpPr/>
          <p:nvPr/>
        </p:nvSpPr>
        <p:spPr>
          <a:xfrm>
            <a:off x="8595360" y="20574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P</a:t>
            </a:r>
            <a:endParaRPr lang="en-US" sz="2200" dirty="0"/>
          </a:p>
        </p:txBody>
      </p:sp>
      <p:sp>
        <p:nvSpPr>
          <p:cNvPr id="23" name="Text 20"/>
          <p:cNvSpPr/>
          <p:nvPr/>
        </p:nvSpPr>
        <p:spPr>
          <a:xfrm>
            <a:off x="8595360" y="2788920"/>
            <a:ext cx="3017520" cy="411480"/>
          </a:xfrm>
          <a:prstGeom prst="rect">
            <a:avLst/>
          </a:prstGeom>
          <a:noFill/>
          <a:ln/>
        </p:spPr>
        <p:txBody>
          <a:bodyPr wrap="square" lIns="0" tIns="0" rIns="0" bIns="0" rtlCol="0" anchor="ctr"/>
          <a:lstStyle/>
          <a:p>
            <a:pPr indent="0" marL="0">
              <a:buNone/>
            </a:pPr>
            <a:r>
              <a:rPr lang="en-US" sz="1900" b="1" dirty="0">
                <a:solidFill>
                  <a:srgbClr val="1E2761"/>
                </a:solidFill>
                <a:latin typeface="Calibri" pitchFamily="34" charset="0"/>
                <a:ea typeface="Calibri" pitchFamily="34" charset="-122"/>
                <a:cs typeface="Calibri" pitchFamily="34" charset="-120"/>
              </a:rPr>
              <a:t>Panoptic</a:t>
            </a:r>
            <a:endParaRPr lang="en-US" sz="1900" dirty="0"/>
          </a:p>
        </p:txBody>
      </p:sp>
      <p:sp>
        <p:nvSpPr>
          <p:cNvPr id="24" name="Text 21"/>
          <p:cNvSpPr/>
          <p:nvPr/>
        </p:nvSpPr>
        <p:spPr>
          <a:xfrm>
            <a:off x="8595360" y="3200400"/>
            <a:ext cx="3017520" cy="640080"/>
          </a:xfrm>
          <a:prstGeom prst="rect">
            <a:avLst/>
          </a:prstGeom>
          <a:noFill/>
          <a:ln/>
        </p:spPr>
        <p:txBody>
          <a:bodyPr wrap="square" lIns="0" tIns="0" rIns="0" bIns="0" rtlCol="0" anchor="ctr"/>
          <a:lstStyle/>
          <a:p>
            <a:pPr indent="0" marL="0">
              <a:buNone/>
            </a:pPr>
            <a:r>
              <a:rPr lang="en-US" sz="1250" i="1" dirty="0">
                <a:solidFill>
                  <a:srgbClr val="44506B"/>
                </a:solidFill>
                <a:latin typeface="Calibri" pitchFamily="34" charset="0"/>
                <a:ea typeface="Calibri" pitchFamily="34" charset="-122"/>
                <a:cs typeface="Calibri" pitchFamily="34" charset="-120"/>
              </a:rPr>
              <a:t>“Both at once.”</a:t>
            </a:r>
            <a:endParaRPr lang="en-US" sz="1250" dirty="0"/>
          </a:p>
        </p:txBody>
      </p:sp>
      <p:sp>
        <p:nvSpPr>
          <p:cNvPr id="25" name="Text 22"/>
          <p:cNvSpPr/>
          <p:nvPr/>
        </p:nvSpPr>
        <p:spPr>
          <a:xfrm>
            <a:off x="8595360" y="3840480"/>
            <a:ext cx="3017520" cy="1143000"/>
          </a:xfrm>
          <a:prstGeom prst="rect">
            <a:avLst/>
          </a:prstGeom>
          <a:noFill/>
          <a:ln/>
        </p:spPr>
        <p:txBody>
          <a:bodyPr wrap="square" lIns="0" tIns="0" rIns="0" bIns="0" rtlCol="0" anchor="ctr"/>
          <a:lstStyle/>
          <a:p>
            <a:pPr indent="0" marL="0">
              <a:buNone/>
            </a:pPr>
            <a:r>
              <a:rPr lang="en-US" sz="1250" dirty="0">
                <a:solidFill>
                  <a:srgbClr val="1B2340"/>
                </a:solidFill>
                <a:latin typeface="Calibri" pitchFamily="34" charset="0"/>
                <a:ea typeface="Calibri" pitchFamily="34" charset="-122"/>
                <a:cs typeface="Calibri" pitchFamily="34" charset="-120"/>
              </a:rPr>
              <a:t>Every pixel gets a class AND an instance identity — things (objects) + stuff (background).</a:t>
            </a:r>
            <a:endParaRPr lang="en-US" sz="1250" dirty="0"/>
          </a:p>
        </p:txBody>
      </p:sp>
      <p:sp>
        <p:nvSpPr>
          <p:cNvPr id="26" name="Text 23"/>
          <p:cNvSpPr/>
          <p:nvPr/>
        </p:nvSpPr>
        <p:spPr>
          <a:xfrm>
            <a:off x="502920" y="5486400"/>
            <a:ext cx="1115568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Key link to today: SAM produces class-agnostic instance masks — it outlines objects without naming them.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is SAM?</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Meta AI, April 2023 — a foundation model for segmentation</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sp>
        <p:nvSpPr>
          <p:cNvPr id="8" name="Shape 5"/>
          <p:cNvSpPr/>
          <p:nvPr/>
        </p:nvSpPr>
        <p:spPr>
          <a:xfrm>
            <a:off x="502920" y="1645920"/>
            <a:ext cx="3611880" cy="1828800"/>
          </a:xfrm>
          <a:prstGeom prst="roundRect">
            <a:avLst>
              <a:gd name="adj" fmla="val 6000"/>
            </a:avLst>
          </a:prstGeom>
          <a:solidFill>
            <a:srgbClr val="F2F5FB"/>
          </a:solidFill>
          <a:ln/>
        </p:spPr>
      </p:sp>
      <p:sp>
        <p:nvSpPr>
          <p:cNvPr id="9" name="Text 6"/>
          <p:cNvSpPr/>
          <p:nvPr/>
        </p:nvSpPr>
        <p:spPr>
          <a:xfrm>
            <a:off x="777240" y="1828800"/>
            <a:ext cx="3063240" cy="868680"/>
          </a:xfrm>
          <a:prstGeom prst="rect">
            <a:avLst/>
          </a:prstGeom>
          <a:noFill/>
          <a:ln/>
        </p:spPr>
        <p:txBody>
          <a:bodyPr wrap="square" lIns="0" tIns="0" rIns="0" bIns="0" rtlCol="0" anchor="ctr"/>
          <a:lstStyle/>
          <a:p>
            <a:pPr indent="0" marL="0">
              <a:buNone/>
            </a:pPr>
            <a:r>
              <a:rPr lang="en-US" sz="4800" b="1" dirty="0">
                <a:solidFill>
                  <a:srgbClr val="02C39A"/>
                </a:solidFill>
                <a:latin typeface="Cambria" pitchFamily="34" charset="0"/>
                <a:ea typeface="Cambria" pitchFamily="34" charset="-122"/>
                <a:cs typeface="Cambria" pitchFamily="34" charset="-120"/>
              </a:rPr>
              <a:t>11M</a:t>
            </a:r>
            <a:endParaRPr lang="en-US" sz="4800" dirty="0"/>
          </a:p>
        </p:txBody>
      </p:sp>
      <p:sp>
        <p:nvSpPr>
          <p:cNvPr id="10" name="Text 7"/>
          <p:cNvSpPr/>
          <p:nvPr/>
        </p:nvSpPr>
        <p:spPr>
          <a:xfrm>
            <a:off x="777240" y="2697480"/>
            <a:ext cx="3063240" cy="640080"/>
          </a:xfrm>
          <a:prstGeom prst="rect">
            <a:avLst/>
          </a:prstGeom>
          <a:noFill/>
          <a:ln/>
        </p:spPr>
        <p:txBody>
          <a:bodyPr wrap="square" lIns="0" tIns="0" rIns="0" bIns="0" rtlCol="0" anchor="ctr"/>
          <a:lstStyle/>
          <a:p>
            <a:pPr indent="0" marL="0">
              <a:buNone/>
            </a:pPr>
            <a:r>
              <a:rPr lang="en-US" sz="1250" dirty="0">
                <a:solidFill>
                  <a:srgbClr val="1B2340"/>
                </a:solidFill>
                <a:latin typeface="Calibri" pitchFamily="34" charset="0"/>
                <a:ea typeface="Calibri" pitchFamily="34" charset="-122"/>
                <a:cs typeface="Calibri" pitchFamily="34" charset="-120"/>
              </a:rPr>
              <a:t>images in the SA-1B training set</a:t>
            </a:r>
            <a:endParaRPr lang="en-US" sz="1250" dirty="0"/>
          </a:p>
        </p:txBody>
      </p:sp>
      <p:sp>
        <p:nvSpPr>
          <p:cNvPr id="11" name="Shape 8"/>
          <p:cNvSpPr/>
          <p:nvPr/>
        </p:nvSpPr>
        <p:spPr>
          <a:xfrm>
            <a:off x="4389120" y="1645920"/>
            <a:ext cx="3611880" cy="1828800"/>
          </a:xfrm>
          <a:prstGeom prst="roundRect">
            <a:avLst>
              <a:gd name="adj" fmla="val 6000"/>
            </a:avLst>
          </a:prstGeom>
          <a:solidFill>
            <a:srgbClr val="F2F5FB"/>
          </a:solidFill>
          <a:ln/>
        </p:spPr>
      </p:sp>
      <p:sp>
        <p:nvSpPr>
          <p:cNvPr id="12" name="Text 9"/>
          <p:cNvSpPr/>
          <p:nvPr/>
        </p:nvSpPr>
        <p:spPr>
          <a:xfrm>
            <a:off x="4663440" y="1828800"/>
            <a:ext cx="3063240" cy="868680"/>
          </a:xfrm>
          <a:prstGeom prst="rect">
            <a:avLst/>
          </a:prstGeom>
          <a:noFill/>
          <a:ln/>
        </p:spPr>
        <p:txBody>
          <a:bodyPr wrap="square" lIns="0" tIns="0" rIns="0" bIns="0" rtlCol="0" anchor="ctr"/>
          <a:lstStyle/>
          <a:p>
            <a:pPr indent="0" marL="0">
              <a:buNone/>
            </a:pPr>
            <a:r>
              <a:rPr lang="en-US" sz="4800" b="1" dirty="0">
                <a:solidFill>
                  <a:srgbClr val="3E7CB1"/>
                </a:solidFill>
                <a:latin typeface="Cambria" pitchFamily="34" charset="0"/>
                <a:ea typeface="Cambria" pitchFamily="34" charset="-122"/>
                <a:cs typeface="Cambria" pitchFamily="34" charset="-120"/>
              </a:rPr>
              <a:t>1.1B</a:t>
            </a:r>
            <a:endParaRPr lang="en-US" sz="4800" dirty="0"/>
          </a:p>
        </p:txBody>
      </p:sp>
      <p:sp>
        <p:nvSpPr>
          <p:cNvPr id="13" name="Text 10"/>
          <p:cNvSpPr/>
          <p:nvPr/>
        </p:nvSpPr>
        <p:spPr>
          <a:xfrm>
            <a:off x="4663440" y="2697480"/>
            <a:ext cx="3063240" cy="640080"/>
          </a:xfrm>
          <a:prstGeom prst="rect">
            <a:avLst/>
          </a:prstGeom>
          <a:noFill/>
          <a:ln/>
        </p:spPr>
        <p:txBody>
          <a:bodyPr wrap="square" lIns="0" tIns="0" rIns="0" bIns="0" rtlCol="0" anchor="ctr"/>
          <a:lstStyle/>
          <a:p>
            <a:pPr indent="0" marL="0">
              <a:buNone/>
            </a:pPr>
            <a:r>
              <a:rPr lang="en-US" sz="1250" dirty="0">
                <a:solidFill>
                  <a:srgbClr val="1B2340"/>
                </a:solidFill>
                <a:latin typeface="Calibri" pitchFamily="34" charset="0"/>
                <a:ea typeface="Calibri" pitchFamily="34" charset="-122"/>
                <a:cs typeface="Calibri" pitchFamily="34" charset="-120"/>
              </a:rPr>
              <a:t>masks — ~400× larger than any prior dataset</a:t>
            </a:r>
            <a:endParaRPr lang="en-US" sz="1250" dirty="0"/>
          </a:p>
        </p:txBody>
      </p:sp>
      <p:sp>
        <p:nvSpPr>
          <p:cNvPr id="14" name="Shape 11"/>
          <p:cNvSpPr/>
          <p:nvPr/>
        </p:nvSpPr>
        <p:spPr>
          <a:xfrm>
            <a:off x="8275320" y="1645920"/>
            <a:ext cx="3611880" cy="1828800"/>
          </a:xfrm>
          <a:prstGeom prst="roundRect">
            <a:avLst>
              <a:gd name="adj" fmla="val 6000"/>
            </a:avLst>
          </a:prstGeom>
          <a:solidFill>
            <a:srgbClr val="F2F5FB"/>
          </a:solidFill>
          <a:ln/>
        </p:spPr>
      </p:sp>
      <p:sp>
        <p:nvSpPr>
          <p:cNvPr id="15" name="Text 12"/>
          <p:cNvSpPr/>
          <p:nvPr/>
        </p:nvSpPr>
        <p:spPr>
          <a:xfrm>
            <a:off x="8549640" y="1828800"/>
            <a:ext cx="3063240" cy="868680"/>
          </a:xfrm>
          <a:prstGeom prst="rect">
            <a:avLst/>
          </a:prstGeom>
          <a:noFill/>
          <a:ln/>
        </p:spPr>
        <p:txBody>
          <a:bodyPr wrap="square" lIns="0" tIns="0" rIns="0" bIns="0" rtlCol="0" anchor="ctr"/>
          <a:lstStyle/>
          <a:p>
            <a:pPr indent="0" marL="0">
              <a:buNone/>
            </a:pPr>
            <a:r>
              <a:rPr lang="en-US" sz="4800" b="1" dirty="0">
                <a:solidFill>
                  <a:srgbClr val="F96167"/>
                </a:solidFill>
                <a:latin typeface="Cambria" pitchFamily="34" charset="0"/>
                <a:ea typeface="Cambria" pitchFamily="34" charset="-122"/>
                <a:cs typeface="Cambria" pitchFamily="34" charset="-120"/>
              </a:rPr>
              <a:t>0-shot</a:t>
            </a:r>
            <a:endParaRPr lang="en-US" sz="4800" dirty="0"/>
          </a:p>
        </p:txBody>
      </p:sp>
      <p:sp>
        <p:nvSpPr>
          <p:cNvPr id="16" name="Text 13"/>
          <p:cNvSpPr/>
          <p:nvPr/>
        </p:nvSpPr>
        <p:spPr>
          <a:xfrm>
            <a:off x="8549640" y="2697480"/>
            <a:ext cx="3063240" cy="640080"/>
          </a:xfrm>
          <a:prstGeom prst="rect">
            <a:avLst/>
          </a:prstGeom>
          <a:noFill/>
          <a:ln/>
        </p:spPr>
        <p:txBody>
          <a:bodyPr wrap="square" lIns="0" tIns="0" rIns="0" bIns="0" rtlCol="0" anchor="ctr"/>
          <a:lstStyle/>
          <a:p>
            <a:pPr indent="0" marL="0">
              <a:buNone/>
            </a:pPr>
            <a:r>
              <a:rPr lang="en-US" sz="1250" dirty="0">
                <a:solidFill>
                  <a:srgbClr val="1B2340"/>
                </a:solidFill>
                <a:latin typeface="Calibri" pitchFamily="34" charset="0"/>
                <a:ea typeface="Calibri" pitchFamily="34" charset="-122"/>
                <a:cs typeface="Calibri" pitchFamily="34" charset="-120"/>
              </a:rPr>
              <a:t>segments new domains with no retraining</a:t>
            </a:r>
            <a:endParaRPr lang="en-US" sz="1250" dirty="0"/>
          </a:p>
        </p:txBody>
      </p:sp>
      <p:sp>
        <p:nvSpPr>
          <p:cNvPr id="17" name="Shape 14"/>
          <p:cNvSpPr/>
          <p:nvPr/>
        </p:nvSpPr>
        <p:spPr>
          <a:xfrm>
            <a:off x="548640" y="3904488"/>
            <a:ext cx="310896" cy="310896"/>
          </a:xfrm>
          <a:prstGeom prst="ellipse">
            <a:avLst/>
          </a:prstGeom>
          <a:solidFill>
            <a:srgbClr val="1E2761"/>
          </a:solidFill>
          <a:ln/>
        </p:spPr>
      </p:sp>
      <p:sp>
        <p:nvSpPr>
          <p:cNvPr id="18" name="Text 15"/>
          <p:cNvSpPr/>
          <p:nvPr/>
        </p:nvSpPr>
        <p:spPr>
          <a:xfrm>
            <a:off x="548640" y="39044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6"/>
          <p:cNvSpPr/>
          <p:nvPr/>
        </p:nvSpPr>
        <p:spPr>
          <a:xfrm>
            <a:off x="1024128" y="3840480"/>
            <a:ext cx="10424160" cy="384048"/>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A promptable model</a:t>
            </a:r>
            <a:endParaRPr lang="en-US" sz="1550" dirty="0"/>
          </a:p>
        </p:txBody>
      </p:sp>
      <p:sp>
        <p:nvSpPr>
          <p:cNvPr id="20" name="Text 17"/>
          <p:cNvSpPr/>
          <p:nvPr/>
        </p:nvSpPr>
        <p:spPr>
          <a:xfrm>
            <a:off x="1024128" y="4206240"/>
            <a:ext cx="10607040" cy="384048"/>
          </a:xfrm>
          <a:prstGeom prst="rect">
            <a:avLst/>
          </a:prstGeom>
          <a:noFill/>
          <a:ln/>
        </p:spPr>
        <p:txBody>
          <a:bodyPr wrap="square" lIns="0" tIns="0" rIns="0" bIns="0" rtlCol="0" anchor="ctr"/>
          <a:lstStyle/>
          <a:p>
            <a:pPr indent="0" marL="0">
              <a:buNone/>
            </a:pPr>
            <a:r>
              <a:rPr lang="en-US" sz="1300" dirty="0">
                <a:solidFill>
                  <a:srgbClr val="44506B"/>
                </a:solidFill>
                <a:latin typeface="Calibri" pitchFamily="34" charset="0"/>
                <a:ea typeface="Calibri" pitchFamily="34" charset="-122"/>
                <a:cs typeface="Calibri" pitchFamily="34" charset="-120"/>
              </a:rPr>
              <a:t>You give it a hint — a click, a box, a rough mask — and it returns the segmentation mask you meant.</a:t>
            </a:r>
            <a:endParaRPr lang="en-US" sz="1300" dirty="0"/>
          </a:p>
        </p:txBody>
      </p:sp>
      <p:sp>
        <p:nvSpPr>
          <p:cNvPr id="21" name="Shape 18"/>
          <p:cNvSpPr/>
          <p:nvPr/>
        </p:nvSpPr>
        <p:spPr>
          <a:xfrm>
            <a:off x="548640" y="4773168"/>
            <a:ext cx="310896" cy="310896"/>
          </a:xfrm>
          <a:prstGeom prst="ellipse">
            <a:avLst/>
          </a:prstGeom>
          <a:solidFill>
            <a:srgbClr val="1E2761"/>
          </a:solidFill>
          <a:ln/>
        </p:spPr>
      </p:sp>
      <p:sp>
        <p:nvSpPr>
          <p:cNvPr id="22" name="Text 19"/>
          <p:cNvSpPr/>
          <p:nvPr/>
        </p:nvSpPr>
        <p:spPr>
          <a:xfrm>
            <a:off x="548640" y="477316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3" name="Text 20"/>
          <p:cNvSpPr/>
          <p:nvPr/>
        </p:nvSpPr>
        <p:spPr>
          <a:xfrm>
            <a:off x="1024128" y="4709160"/>
            <a:ext cx="10424160" cy="384048"/>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General-purpose, not task-specific</a:t>
            </a:r>
            <a:endParaRPr lang="en-US" sz="1550" dirty="0"/>
          </a:p>
        </p:txBody>
      </p:sp>
      <p:sp>
        <p:nvSpPr>
          <p:cNvPr id="24" name="Text 21"/>
          <p:cNvSpPr/>
          <p:nvPr/>
        </p:nvSpPr>
        <p:spPr>
          <a:xfrm>
            <a:off x="1024128" y="5074920"/>
            <a:ext cx="10607040" cy="384048"/>
          </a:xfrm>
          <a:prstGeom prst="rect">
            <a:avLst/>
          </a:prstGeom>
          <a:noFill/>
          <a:ln/>
        </p:spPr>
        <p:txBody>
          <a:bodyPr wrap="square" lIns="0" tIns="0" rIns="0" bIns="0" rtlCol="0" anchor="ctr"/>
          <a:lstStyle/>
          <a:p>
            <a:pPr indent="0" marL="0">
              <a:buNone/>
            </a:pPr>
            <a:r>
              <a:rPr lang="en-US" sz="1300" dirty="0">
                <a:solidFill>
                  <a:srgbClr val="44506B"/>
                </a:solidFill>
                <a:latin typeface="Calibri" pitchFamily="34" charset="0"/>
                <a:ea typeface="Calibri" pitchFamily="34" charset="-122"/>
                <a:cs typeface="Calibri" pitchFamily="34" charset="-120"/>
              </a:rPr>
              <a:t>Before SAM: one trained model per dataset/domain. After SAM: one model, any image, any object.</a:t>
            </a:r>
            <a:endParaRPr lang="en-US" sz="1300" dirty="0"/>
          </a:p>
        </p:txBody>
      </p:sp>
      <p:sp>
        <p:nvSpPr>
          <p:cNvPr id="25" name="Shape 22"/>
          <p:cNvSpPr/>
          <p:nvPr/>
        </p:nvSpPr>
        <p:spPr>
          <a:xfrm>
            <a:off x="548640" y="5641848"/>
            <a:ext cx="310896" cy="310896"/>
          </a:xfrm>
          <a:prstGeom prst="ellipse">
            <a:avLst/>
          </a:prstGeom>
          <a:solidFill>
            <a:srgbClr val="1E2761"/>
          </a:solidFill>
          <a:ln/>
        </p:spPr>
      </p:sp>
      <p:sp>
        <p:nvSpPr>
          <p:cNvPr id="26" name="Text 23"/>
          <p:cNvSpPr/>
          <p:nvPr/>
        </p:nvSpPr>
        <p:spPr>
          <a:xfrm>
            <a:off x="548640" y="56418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4"/>
          <p:cNvSpPr/>
          <p:nvPr/>
        </p:nvSpPr>
        <p:spPr>
          <a:xfrm>
            <a:off x="1024128" y="5577840"/>
            <a:ext cx="10424160" cy="384048"/>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An interface, like an LLM</a:t>
            </a:r>
            <a:endParaRPr lang="en-US" sz="1550" dirty="0"/>
          </a:p>
        </p:txBody>
      </p:sp>
      <p:sp>
        <p:nvSpPr>
          <p:cNvPr id="28" name="Text 25"/>
          <p:cNvSpPr/>
          <p:nvPr/>
        </p:nvSpPr>
        <p:spPr>
          <a:xfrm>
            <a:off x="1024128" y="5943600"/>
            <a:ext cx="10607040" cy="384048"/>
          </a:xfrm>
          <a:prstGeom prst="rect">
            <a:avLst/>
          </a:prstGeom>
          <a:noFill/>
          <a:ln/>
        </p:spPr>
        <p:txBody>
          <a:bodyPr wrap="square" lIns="0" tIns="0" rIns="0" bIns="0" rtlCol="0" anchor="ctr"/>
          <a:lstStyle/>
          <a:p>
            <a:pPr indent="0" marL="0">
              <a:buNone/>
            </a:pPr>
            <a:r>
              <a:rPr lang="en-US" sz="1300" dirty="0">
                <a:solidFill>
                  <a:srgbClr val="44506B"/>
                </a:solidFill>
                <a:latin typeface="Calibri" pitchFamily="34" charset="0"/>
                <a:ea typeface="Calibri" pitchFamily="34" charset="-122"/>
                <a:cs typeface="Calibri" pitchFamily="34" charset="-120"/>
              </a:rPr>
              <a:t>Prompting replaces retraining — the same shift GPT brought to NLP, applied to computer vision.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Core Idea: Promptable Segmentation</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One task to rule them all</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sp>
        <p:nvSpPr>
          <p:cNvPr id="8" name="Shape 5"/>
          <p:cNvSpPr/>
          <p:nvPr/>
        </p:nvSpPr>
        <p:spPr>
          <a:xfrm>
            <a:off x="640080" y="1783080"/>
            <a:ext cx="2240280" cy="1051560"/>
          </a:xfrm>
          <a:prstGeom prst="roundRect">
            <a:avLst>
              <a:gd name="adj" fmla="val 10435"/>
            </a:avLst>
          </a:prstGeom>
          <a:solidFill>
            <a:srgbClr val="F2F5FB"/>
          </a:solidFill>
          <a:ln w="19050">
            <a:solidFill>
              <a:srgbClr val="02C39A"/>
            </a:solidFill>
            <a:prstDash val="solid"/>
          </a:ln>
        </p:spPr>
      </p:sp>
      <p:sp>
        <p:nvSpPr>
          <p:cNvPr id="9" name="Text 6"/>
          <p:cNvSpPr/>
          <p:nvPr/>
        </p:nvSpPr>
        <p:spPr>
          <a:xfrm>
            <a:off x="640080" y="1901952"/>
            <a:ext cx="224028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libri" pitchFamily="34" charset="0"/>
                <a:ea typeface="Calibri" pitchFamily="34" charset="-122"/>
                <a:cs typeface="Calibri" pitchFamily="34" charset="-120"/>
              </a:rPr>
              <a:t>Image</a:t>
            </a:r>
            <a:endParaRPr lang="en-US" sz="1700" dirty="0"/>
          </a:p>
        </p:txBody>
      </p:sp>
      <p:sp>
        <p:nvSpPr>
          <p:cNvPr id="10" name="Text 7"/>
          <p:cNvSpPr/>
          <p:nvPr/>
        </p:nvSpPr>
        <p:spPr>
          <a:xfrm>
            <a:off x="640080" y="2331720"/>
            <a:ext cx="2240280" cy="365760"/>
          </a:xfrm>
          <a:prstGeom prst="rect">
            <a:avLst/>
          </a:prstGeom>
          <a:noFill/>
          <a:ln/>
        </p:spPr>
        <p:txBody>
          <a:bodyPr wrap="square" lIns="0" tIns="0" rIns="0" bIns="0" rtlCol="0" anchor="ctr"/>
          <a:lstStyle/>
          <a:p>
            <a:pPr algn="ctr" indent="0" marL="0">
              <a:buNone/>
            </a:pPr>
            <a:r>
              <a:rPr lang="en-US" sz="1050" i="1" dirty="0">
                <a:solidFill>
                  <a:srgbClr val="44506B"/>
                </a:solidFill>
                <a:latin typeface="Calibri" pitchFamily="34" charset="0"/>
                <a:ea typeface="Calibri" pitchFamily="34" charset="-122"/>
                <a:cs typeface="Calibri" pitchFamily="34" charset="-120"/>
              </a:rPr>
              <a:t>any photo, any domain</a:t>
            </a:r>
            <a:endParaRPr lang="en-US" sz="1050" dirty="0"/>
          </a:p>
        </p:txBody>
      </p:sp>
      <p:sp>
        <p:nvSpPr>
          <p:cNvPr id="11" name="Text 8"/>
          <p:cNvSpPr/>
          <p:nvPr/>
        </p:nvSpPr>
        <p:spPr>
          <a:xfrm>
            <a:off x="2852928" y="1993392"/>
            <a:ext cx="365760" cy="548640"/>
          </a:xfrm>
          <a:prstGeom prst="rect">
            <a:avLst/>
          </a:prstGeom>
          <a:noFill/>
          <a:ln/>
        </p:spPr>
        <p:txBody>
          <a:bodyPr wrap="square" lIns="0" tIns="0" rIns="0" bIns="0" rtlCol="0" anchor="ctr"/>
          <a:lstStyle/>
          <a:p>
            <a:pPr algn="ctr" indent="0" marL="0">
              <a:buNone/>
            </a:pPr>
            <a:r>
              <a:rPr lang="en-US" sz="2400" b="1" dirty="0">
                <a:solidFill>
                  <a:srgbClr val="44506B"/>
                </a:solidFill>
                <a:latin typeface="Calibri" pitchFamily="34" charset="0"/>
                <a:ea typeface="Calibri" pitchFamily="34" charset="-122"/>
                <a:cs typeface="Calibri" pitchFamily="34" charset="-120"/>
              </a:rPr>
              <a:t>→</a:t>
            </a:r>
            <a:endParaRPr lang="en-US" sz="2400" dirty="0"/>
          </a:p>
        </p:txBody>
      </p:sp>
      <p:sp>
        <p:nvSpPr>
          <p:cNvPr id="12" name="Shape 9"/>
          <p:cNvSpPr/>
          <p:nvPr/>
        </p:nvSpPr>
        <p:spPr>
          <a:xfrm>
            <a:off x="3154680" y="1783080"/>
            <a:ext cx="2240280" cy="1051560"/>
          </a:xfrm>
          <a:prstGeom prst="roundRect">
            <a:avLst>
              <a:gd name="adj" fmla="val 10435"/>
            </a:avLst>
          </a:prstGeom>
          <a:solidFill>
            <a:srgbClr val="F2F5FB"/>
          </a:solidFill>
          <a:ln w="19050">
            <a:solidFill>
              <a:srgbClr val="F2B33D"/>
            </a:solidFill>
            <a:prstDash val="solid"/>
          </a:ln>
        </p:spPr>
      </p:sp>
      <p:sp>
        <p:nvSpPr>
          <p:cNvPr id="13" name="Text 10"/>
          <p:cNvSpPr/>
          <p:nvPr/>
        </p:nvSpPr>
        <p:spPr>
          <a:xfrm>
            <a:off x="3154680" y="1901952"/>
            <a:ext cx="224028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libri" pitchFamily="34" charset="0"/>
                <a:ea typeface="Calibri" pitchFamily="34" charset="-122"/>
                <a:cs typeface="Calibri" pitchFamily="34" charset="-120"/>
              </a:rPr>
              <a:t>+  Prompt</a:t>
            </a:r>
            <a:endParaRPr lang="en-US" sz="1700" dirty="0"/>
          </a:p>
        </p:txBody>
      </p:sp>
      <p:sp>
        <p:nvSpPr>
          <p:cNvPr id="14" name="Text 11"/>
          <p:cNvSpPr/>
          <p:nvPr/>
        </p:nvSpPr>
        <p:spPr>
          <a:xfrm>
            <a:off x="3154680" y="2331720"/>
            <a:ext cx="2240280" cy="365760"/>
          </a:xfrm>
          <a:prstGeom prst="rect">
            <a:avLst/>
          </a:prstGeom>
          <a:noFill/>
          <a:ln/>
        </p:spPr>
        <p:txBody>
          <a:bodyPr wrap="square" lIns="0" tIns="0" rIns="0" bIns="0" rtlCol="0" anchor="ctr"/>
          <a:lstStyle/>
          <a:p>
            <a:pPr algn="ctr" indent="0" marL="0">
              <a:buNone/>
            </a:pPr>
            <a:r>
              <a:rPr lang="en-US" sz="1050" i="1" dirty="0">
                <a:solidFill>
                  <a:srgbClr val="44506B"/>
                </a:solidFill>
                <a:latin typeface="Calibri" pitchFamily="34" charset="0"/>
                <a:ea typeface="Calibri" pitchFamily="34" charset="-122"/>
                <a:cs typeface="Calibri" pitchFamily="34" charset="-120"/>
              </a:rPr>
              <a:t>click · box · mask · text</a:t>
            </a:r>
            <a:endParaRPr lang="en-US" sz="1050" dirty="0"/>
          </a:p>
        </p:txBody>
      </p:sp>
      <p:sp>
        <p:nvSpPr>
          <p:cNvPr id="15" name="Text 12"/>
          <p:cNvSpPr/>
          <p:nvPr/>
        </p:nvSpPr>
        <p:spPr>
          <a:xfrm>
            <a:off x="5367528" y="1993392"/>
            <a:ext cx="365760" cy="548640"/>
          </a:xfrm>
          <a:prstGeom prst="rect">
            <a:avLst/>
          </a:prstGeom>
          <a:noFill/>
          <a:ln/>
        </p:spPr>
        <p:txBody>
          <a:bodyPr wrap="square" lIns="0" tIns="0" rIns="0" bIns="0" rtlCol="0" anchor="ctr"/>
          <a:lstStyle/>
          <a:p>
            <a:pPr algn="ctr" indent="0" marL="0">
              <a:buNone/>
            </a:pPr>
            <a:r>
              <a:rPr lang="en-US" sz="2400" b="1" dirty="0">
                <a:solidFill>
                  <a:srgbClr val="44506B"/>
                </a:solidFill>
                <a:latin typeface="Calibri" pitchFamily="34" charset="0"/>
                <a:ea typeface="Calibri" pitchFamily="34" charset="-122"/>
                <a:cs typeface="Calibri" pitchFamily="34" charset="-120"/>
              </a:rPr>
              <a:t>→</a:t>
            </a:r>
            <a:endParaRPr lang="en-US" sz="2400" dirty="0"/>
          </a:p>
        </p:txBody>
      </p:sp>
      <p:sp>
        <p:nvSpPr>
          <p:cNvPr id="16" name="Shape 13"/>
          <p:cNvSpPr/>
          <p:nvPr/>
        </p:nvSpPr>
        <p:spPr>
          <a:xfrm>
            <a:off x="5669280" y="1783080"/>
            <a:ext cx="2240280" cy="1051560"/>
          </a:xfrm>
          <a:prstGeom prst="roundRect">
            <a:avLst>
              <a:gd name="adj" fmla="val 10435"/>
            </a:avLst>
          </a:prstGeom>
          <a:solidFill>
            <a:srgbClr val="1E2761"/>
          </a:solidFill>
          <a:ln w="19050">
            <a:solidFill>
              <a:srgbClr val="1E2761"/>
            </a:solidFill>
            <a:prstDash val="solid"/>
          </a:ln>
        </p:spPr>
      </p:sp>
      <p:sp>
        <p:nvSpPr>
          <p:cNvPr id="17" name="Text 14"/>
          <p:cNvSpPr/>
          <p:nvPr/>
        </p:nvSpPr>
        <p:spPr>
          <a:xfrm>
            <a:off x="5669280" y="1901952"/>
            <a:ext cx="224028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SAM</a:t>
            </a:r>
            <a:endParaRPr lang="en-US" sz="1700" dirty="0"/>
          </a:p>
        </p:txBody>
      </p:sp>
      <p:sp>
        <p:nvSpPr>
          <p:cNvPr id="18" name="Text 15"/>
          <p:cNvSpPr/>
          <p:nvPr/>
        </p:nvSpPr>
        <p:spPr>
          <a:xfrm>
            <a:off x="5669280" y="2331720"/>
            <a:ext cx="2240280" cy="365760"/>
          </a:xfrm>
          <a:prstGeom prst="rect">
            <a:avLst/>
          </a:prstGeom>
          <a:noFill/>
          <a:ln/>
        </p:spPr>
        <p:txBody>
          <a:bodyPr wrap="square" lIns="0" tIns="0" rIns="0" bIns="0" rtlCol="0" anchor="ctr"/>
          <a:lstStyle/>
          <a:p>
            <a:pPr algn="ctr" indent="0" marL="0">
              <a:buNone/>
            </a:pPr>
            <a:r>
              <a:rPr lang="en-US" sz="1050" i="1" dirty="0">
                <a:solidFill>
                  <a:srgbClr val="CADCFC"/>
                </a:solidFill>
                <a:latin typeface="Calibri" pitchFamily="34" charset="0"/>
                <a:ea typeface="Calibri" pitchFamily="34" charset="-122"/>
                <a:cs typeface="Calibri" pitchFamily="34" charset="-120"/>
              </a:rPr>
              <a:t>one forward pass</a:t>
            </a:r>
            <a:endParaRPr lang="en-US" sz="1050" dirty="0"/>
          </a:p>
        </p:txBody>
      </p:sp>
      <p:sp>
        <p:nvSpPr>
          <p:cNvPr id="19" name="Text 16"/>
          <p:cNvSpPr/>
          <p:nvPr/>
        </p:nvSpPr>
        <p:spPr>
          <a:xfrm>
            <a:off x="7882128" y="1993392"/>
            <a:ext cx="365760" cy="548640"/>
          </a:xfrm>
          <a:prstGeom prst="rect">
            <a:avLst/>
          </a:prstGeom>
          <a:noFill/>
          <a:ln/>
        </p:spPr>
        <p:txBody>
          <a:bodyPr wrap="square" lIns="0" tIns="0" rIns="0" bIns="0" rtlCol="0" anchor="ctr"/>
          <a:lstStyle/>
          <a:p>
            <a:pPr algn="ctr" indent="0" marL="0">
              <a:buNone/>
            </a:pPr>
            <a:r>
              <a:rPr lang="en-US" sz="2400" b="1" dirty="0">
                <a:solidFill>
                  <a:srgbClr val="44506B"/>
                </a:solidFill>
                <a:latin typeface="Calibri" pitchFamily="34" charset="0"/>
                <a:ea typeface="Calibri" pitchFamily="34" charset="-122"/>
                <a:cs typeface="Calibri" pitchFamily="34" charset="-120"/>
              </a:rPr>
              <a:t>→</a:t>
            </a:r>
            <a:endParaRPr lang="en-US" sz="2400" dirty="0"/>
          </a:p>
        </p:txBody>
      </p:sp>
      <p:sp>
        <p:nvSpPr>
          <p:cNvPr id="20" name="Shape 17"/>
          <p:cNvSpPr/>
          <p:nvPr/>
        </p:nvSpPr>
        <p:spPr>
          <a:xfrm>
            <a:off x="8183880" y="1783080"/>
            <a:ext cx="2240280" cy="1051560"/>
          </a:xfrm>
          <a:prstGeom prst="roundRect">
            <a:avLst>
              <a:gd name="adj" fmla="val 10435"/>
            </a:avLst>
          </a:prstGeom>
          <a:solidFill>
            <a:srgbClr val="F2F5FB"/>
          </a:solidFill>
          <a:ln w="19050">
            <a:solidFill>
              <a:srgbClr val="F96167"/>
            </a:solidFill>
            <a:prstDash val="solid"/>
          </a:ln>
        </p:spPr>
      </p:sp>
      <p:sp>
        <p:nvSpPr>
          <p:cNvPr id="21" name="Text 18"/>
          <p:cNvSpPr/>
          <p:nvPr/>
        </p:nvSpPr>
        <p:spPr>
          <a:xfrm>
            <a:off x="8183880" y="1901952"/>
            <a:ext cx="224028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libri" pitchFamily="34" charset="0"/>
                <a:ea typeface="Calibri" pitchFamily="34" charset="-122"/>
                <a:cs typeface="Calibri" pitchFamily="34" charset="-120"/>
              </a:rPr>
              <a:t>Valid Mask</a:t>
            </a:r>
            <a:endParaRPr lang="en-US" sz="1700" dirty="0"/>
          </a:p>
        </p:txBody>
      </p:sp>
      <p:sp>
        <p:nvSpPr>
          <p:cNvPr id="22" name="Text 19"/>
          <p:cNvSpPr/>
          <p:nvPr/>
        </p:nvSpPr>
        <p:spPr>
          <a:xfrm>
            <a:off x="8183880" y="2331720"/>
            <a:ext cx="2240280" cy="365760"/>
          </a:xfrm>
          <a:prstGeom prst="rect">
            <a:avLst/>
          </a:prstGeom>
          <a:noFill/>
          <a:ln/>
        </p:spPr>
        <p:txBody>
          <a:bodyPr wrap="square" lIns="0" tIns="0" rIns="0" bIns="0" rtlCol="0" anchor="ctr"/>
          <a:lstStyle/>
          <a:p>
            <a:pPr algn="ctr" indent="0" marL="0">
              <a:buNone/>
            </a:pPr>
            <a:r>
              <a:rPr lang="en-US" sz="1050" i="1" dirty="0">
                <a:solidFill>
                  <a:srgbClr val="44506B"/>
                </a:solidFill>
                <a:latin typeface="Calibri" pitchFamily="34" charset="0"/>
                <a:ea typeface="Calibri" pitchFamily="34" charset="-122"/>
                <a:cs typeface="Calibri" pitchFamily="34" charset="-120"/>
              </a:rPr>
              <a:t>+ confidence score</a:t>
            </a:r>
            <a:endParaRPr lang="en-US" sz="1050" dirty="0"/>
          </a:p>
        </p:txBody>
      </p:sp>
      <p:sp>
        <p:nvSpPr>
          <p:cNvPr id="23" name="Shape 20"/>
          <p:cNvSpPr/>
          <p:nvPr/>
        </p:nvSpPr>
        <p:spPr>
          <a:xfrm>
            <a:off x="640080" y="3346704"/>
            <a:ext cx="219456" cy="219456"/>
          </a:xfrm>
          <a:prstGeom prst="roundRect">
            <a:avLst>
              <a:gd name="adj" fmla="val 25000"/>
            </a:avLst>
          </a:prstGeom>
          <a:solidFill>
            <a:srgbClr val="F2B33D"/>
          </a:solidFill>
          <a:ln/>
        </p:spPr>
      </p:sp>
      <p:sp>
        <p:nvSpPr>
          <p:cNvPr id="24" name="Text 21"/>
          <p:cNvSpPr/>
          <p:nvPr/>
        </p:nvSpPr>
        <p:spPr>
          <a:xfrm>
            <a:off x="1005840" y="3291840"/>
            <a:ext cx="1033272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“Valid” beats “perfect”</a:t>
            </a:r>
            <a:endParaRPr lang="en-US" sz="1500" dirty="0"/>
          </a:p>
        </p:txBody>
      </p:sp>
      <p:sp>
        <p:nvSpPr>
          <p:cNvPr id="25" name="Text 22"/>
          <p:cNvSpPr/>
          <p:nvPr/>
        </p:nvSpPr>
        <p:spPr>
          <a:xfrm>
            <a:off x="1005840" y="3639312"/>
            <a:ext cx="10515600" cy="621792"/>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A click can be ambiguous — shirt, or the person wearing it? SAM must return a reasonable mask for at least one meaning. That's why it can output multiple candidate masks.</a:t>
            </a:r>
            <a:endParaRPr lang="en-US" sz="1250" dirty="0"/>
          </a:p>
        </p:txBody>
      </p:sp>
      <p:sp>
        <p:nvSpPr>
          <p:cNvPr id="26" name="Shape 23"/>
          <p:cNvSpPr/>
          <p:nvPr/>
        </p:nvSpPr>
        <p:spPr>
          <a:xfrm>
            <a:off x="640080" y="4398264"/>
            <a:ext cx="219456" cy="219456"/>
          </a:xfrm>
          <a:prstGeom prst="roundRect">
            <a:avLst>
              <a:gd name="adj" fmla="val 25000"/>
            </a:avLst>
          </a:prstGeom>
          <a:solidFill>
            <a:srgbClr val="3E7CB1"/>
          </a:solidFill>
          <a:ln/>
        </p:spPr>
      </p:sp>
      <p:sp>
        <p:nvSpPr>
          <p:cNvPr id="27" name="Text 24"/>
          <p:cNvSpPr/>
          <p:nvPr/>
        </p:nvSpPr>
        <p:spPr>
          <a:xfrm>
            <a:off x="1005840" y="4343400"/>
            <a:ext cx="1033272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The LLM parallel</a:t>
            </a:r>
            <a:endParaRPr lang="en-US" sz="1500" dirty="0"/>
          </a:p>
        </p:txBody>
      </p:sp>
      <p:sp>
        <p:nvSpPr>
          <p:cNvPr id="28" name="Text 25"/>
          <p:cNvSpPr/>
          <p:nvPr/>
        </p:nvSpPr>
        <p:spPr>
          <a:xfrm>
            <a:off x="1005840" y="4690872"/>
            <a:ext cx="10515600" cy="621792"/>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Next-token prediction is a simple task that unlocked general language ability. Promptable segmentation plays the same role for vision: general pre-training + prompting instead of task-specific training.</a:t>
            </a:r>
            <a:endParaRPr lang="en-US" sz="1250" dirty="0"/>
          </a:p>
        </p:txBody>
      </p:sp>
      <p:sp>
        <p:nvSpPr>
          <p:cNvPr id="29" name="Shape 26"/>
          <p:cNvSpPr/>
          <p:nvPr/>
        </p:nvSpPr>
        <p:spPr>
          <a:xfrm>
            <a:off x="640080" y="5449824"/>
            <a:ext cx="219456" cy="219456"/>
          </a:xfrm>
          <a:prstGeom prst="roundRect">
            <a:avLst>
              <a:gd name="adj" fmla="val 25000"/>
            </a:avLst>
          </a:prstGeom>
          <a:solidFill>
            <a:srgbClr val="02C39A"/>
          </a:solidFill>
          <a:ln/>
        </p:spPr>
      </p:sp>
      <p:sp>
        <p:nvSpPr>
          <p:cNvPr id="30" name="Text 27"/>
          <p:cNvSpPr/>
          <p:nvPr/>
        </p:nvSpPr>
        <p:spPr>
          <a:xfrm>
            <a:off x="1005840" y="5394960"/>
            <a:ext cx="1033272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Zero-shot transfer</a:t>
            </a:r>
            <a:endParaRPr lang="en-US" sz="1500" dirty="0"/>
          </a:p>
        </p:txBody>
      </p:sp>
      <p:sp>
        <p:nvSpPr>
          <p:cNvPr id="31" name="Text 28"/>
          <p:cNvSpPr/>
          <p:nvPr/>
        </p:nvSpPr>
        <p:spPr>
          <a:xfrm>
            <a:off x="1005840" y="5742432"/>
            <a:ext cx="10515600" cy="621792"/>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Because the task is general, the trained model works out-of-the-box on medical scans, satellite images, paintings — domains it never saw labeled.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How SAM Works Internally</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Three ideas that make it fast, robust and trainable</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sp>
        <p:nvSpPr>
          <p:cNvPr id="8" name="Shape 5"/>
          <p:cNvSpPr/>
          <p:nvPr/>
        </p:nvSpPr>
        <p:spPr>
          <a:xfrm>
            <a:off x="502920" y="1691640"/>
            <a:ext cx="11201400" cy="1371600"/>
          </a:xfrm>
          <a:prstGeom prst="roundRect">
            <a:avLst>
              <a:gd name="adj" fmla="val 8000"/>
            </a:avLst>
          </a:prstGeom>
          <a:solidFill>
            <a:srgbClr val="F2F5FB"/>
          </a:solidFill>
          <a:ln/>
        </p:spPr>
      </p:sp>
      <p:sp>
        <p:nvSpPr>
          <p:cNvPr id="9" name="Shape 6"/>
          <p:cNvSpPr/>
          <p:nvPr/>
        </p:nvSpPr>
        <p:spPr>
          <a:xfrm>
            <a:off x="777240" y="2075688"/>
            <a:ext cx="603504" cy="603504"/>
          </a:xfrm>
          <a:prstGeom prst="ellipse">
            <a:avLst/>
          </a:prstGeom>
          <a:solidFill>
            <a:srgbClr val="02C39A"/>
          </a:solidFill>
          <a:ln/>
        </p:spPr>
      </p:sp>
      <p:sp>
        <p:nvSpPr>
          <p:cNvPr id="10" name="Text 7"/>
          <p:cNvSpPr/>
          <p:nvPr/>
        </p:nvSpPr>
        <p:spPr>
          <a:xfrm>
            <a:off x="777240" y="2075688"/>
            <a:ext cx="603504" cy="603504"/>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1" name="Text 8"/>
          <p:cNvSpPr/>
          <p:nvPr/>
        </p:nvSpPr>
        <p:spPr>
          <a:xfrm>
            <a:off x="1645920" y="1837944"/>
            <a:ext cx="9784080" cy="41148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Encode once, prompt many</a:t>
            </a:r>
            <a:endParaRPr lang="en-US" sz="1700" dirty="0"/>
          </a:p>
        </p:txBody>
      </p:sp>
      <p:sp>
        <p:nvSpPr>
          <p:cNvPr id="12" name="Text 9"/>
          <p:cNvSpPr/>
          <p:nvPr/>
        </p:nvSpPr>
        <p:spPr>
          <a:xfrm>
            <a:off x="1645920" y="2240280"/>
            <a:ext cx="9829800" cy="731520"/>
          </a:xfrm>
          <a:prstGeom prst="rect">
            <a:avLst/>
          </a:prstGeom>
          <a:noFill/>
          <a:ln/>
        </p:spPr>
        <p:txBody>
          <a:bodyPr wrap="square" lIns="0" tIns="0" rIns="0" bIns="0" rtlCol="0" anchor="ctr"/>
          <a:lstStyle/>
          <a:p>
            <a:pPr indent="0" marL="0">
              <a:buNone/>
            </a:pPr>
            <a:r>
              <a:rPr lang="en-US" sz="1250" dirty="0">
                <a:solidFill>
                  <a:srgbClr val="1B2340"/>
                </a:solidFill>
                <a:latin typeface="Calibri" pitchFamily="34" charset="0"/>
                <a:ea typeface="Calibri" pitchFamily="34" charset="-122"/>
                <a:cs typeface="Calibri" pitchFamily="34" charset="-120"/>
              </a:rPr>
              <a:t>The heavy image encoder runs once per image (~0.45 s). Each new prompt only re-runs a lightweight decoder (~50 ms, runs in a browser) — segmentation becomes interactive.</a:t>
            </a:r>
            <a:endParaRPr lang="en-US" sz="1250" dirty="0"/>
          </a:p>
        </p:txBody>
      </p:sp>
      <p:sp>
        <p:nvSpPr>
          <p:cNvPr id="13" name="Shape 10"/>
          <p:cNvSpPr/>
          <p:nvPr/>
        </p:nvSpPr>
        <p:spPr>
          <a:xfrm>
            <a:off x="502920" y="3264408"/>
            <a:ext cx="11201400" cy="1371600"/>
          </a:xfrm>
          <a:prstGeom prst="roundRect">
            <a:avLst>
              <a:gd name="adj" fmla="val 8000"/>
            </a:avLst>
          </a:prstGeom>
          <a:solidFill>
            <a:srgbClr val="F2F5FB"/>
          </a:solidFill>
          <a:ln/>
        </p:spPr>
      </p:sp>
      <p:sp>
        <p:nvSpPr>
          <p:cNvPr id="14" name="Shape 11"/>
          <p:cNvSpPr/>
          <p:nvPr/>
        </p:nvSpPr>
        <p:spPr>
          <a:xfrm>
            <a:off x="777240" y="3648456"/>
            <a:ext cx="603504" cy="603504"/>
          </a:xfrm>
          <a:prstGeom prst="ellipse">
            <a:avLst/>
          </a:prstGeom>
          <a:solidFill>
            <a:srgbClr val="3E7CB1"/>
          </a:solidFill>
          <a:ln/>
        </p:spPr>
      </p:sp>
      <p:sp>
        <p:nvSpPr>
          <p:cNvPr id="15" name="Text 12"/>
          <p:cNvSpPr/>
          <p:nvPr/>
        </p:nvSpPr>
        <p:spPr>
          <a:xfrm>
            <a:off x="777240" y="3648456"/>
            <a:ext cx="603504" cy="603504"/>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6" name="Text 13"/>
          <p:cNvSpPr/>
          <p:nvPr/>
        </p:nvSpPr>
        <p:spPr>
          <a:xfrm>
            <a:off x="1645920" y="3410712"/>
            <a:ext cx="9784080" cy="41148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Embrace ambiguity</a:t>
            </a:r>
            <a:endParaRPr lang="en-US" sz="1700" dirty="0"/>
          </a:p>
        </p:txBody>
      </p:sp>
      <p:sp>
        <p:nvSpPr>
          <p:cNvPr id="17" name="Text 14"/>
          <p:cNvSpPr/>
          <p:nvPr/>
        </p:nvSpPr>
        <p:spPr>
          <a:xfrm>
            <a:off x="1645920" y="3813048"/>
            <a:ext cx="9829800" cy="731520"/>
          </a:xfrm>
          <a:prstGeom prst="rect">
            <a:avLst/>
          </a:prstGeom>
          <a:noFill/>
          <a:ln/>
        </p:spPr>
        <p:txBody>
          <a:bodyPr wrap="square" lIns="0" tIns="0" rIns="0" bIns="0" rtlCol="0" anchor="ctr"/>
          <a:lstStyle/>
          <a:p>
            <a:pPr indent="0" marL="0">
              <a:buNone/>
            </a:pPr>
            <a:r>
              <a:rPr lang="en-US" sz="1250" dirty="0">
                <a:solidFill>
                  <a:srgbClr val="1B2340"/>
                </a:solidFill>
                <a:latin typeface="Calibri" pitchFamily="34" charset="0"/>
                <a:ea typeface="Calibri" pitchFamily="34" charset="-122"/>
                <a:cs typeface="Calibri" pitchFamily="34" charset="-120"/>
              </a:rPr>
              <a:t>One click could mean subpart, part, or whole object. SAM returns 3 candidate masks, each with a predicted quality (IoU) score, and lets you choose.</a:t>
            </a:r>
            <a:endParaRPr lang="en-US" sz="1250" dirty="0"/>
          </a:p>
        </p:txBody>
      </p:sp>
      <p:sp>
        <p:nvSpPr>
          <p:cNvPr id="18" name="Shape 15"/>
          <p:cNvSpPr/>
          <p:nvPr/>
        </p:nvSpPr>
        <p:spPr>
          <a:xfrm>
            <a:off x="502920" y="4837176"/>
            <a:ext cx="11201400" cy="1371600"/>
          </a:xfrm>
          <a:prstGeom prst="roundRect">
            <a:avLst>
              <a:gd name="adj" fmla="val 8000"/>
            </a:avLst>
          </a:prstGeom>
          <a:solidFill>
            <a:srgbClr val="F2F5FB"/>
          </a:solidFill>
          <a:ln/>
        </p:spPr>
      </p:sp>
      <p:sp>
        <p:nvSpPr>
          <p:cNvPr id="19" name="Shape 16"/>
          <p:cNvSpPr/>
          <p:nvPr/>
        </p:nvSpPr>
        <p:spPr>
          <a:xfrm>
            <a:off x="777240" y="5221224"/>
            <a:ext cx="603504" cy="603504"/>
          </a:xfrm>
          <a:prstGeom prst="ellipse">
            <a:avLst/>
          </a:prstGeom>
          <a:solidFill>
            <a:srgbClr val="F96167"/>
          </a:solidFill>
          <a:ln/>
        </p:spPr>
      </p:sp>
      <p:sp>
        <p:nvSpPr>
          <p:cNvPr id="20" name="Text 17"/>
          <p:cNvSpPr/>
          <p:nvPr/>
        </p:nvSpPr>
        <p:spPr>
          <a:xfrm>
            <a:off x="777240" y="5221224"/>
            <a:ext cx="603504" cy="603504"/>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1" name="Text 18"/>
          <p:cNvSpPr/>
          <p:nvPr/>
        </p:nvSpPr>
        <p:spPr>
          <a:xfrm>
            <a:off x="1645920" y="4983480"/>
            <a:ext cx="9784080" cy="41148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The data engine flywheel</a:t>
            </a:r>
            <a:endParaRPr lang="en-US" sz="1700" dirty="0"/>
          </a:p>
        </p:txBody>
      </p:sp>
      <p:sp>
        <p:nvSpPr>
          <p:cNvPr id="22" name="Text 19"/>
          <p:cNvSpPr/>
          <p:nvPr/>
        </p:nvSpPr>
        <p:spPr>
          <a:xfrm>
            <a:off x="1645920" y="5385816"/>
            <a:ext cx="9829800" cy="731520"/>
          </a:xfrm>
          <a:prstGeom prst="rect">
            <a:avLst/>
          </a:prstGeom>
          <a:noFill/>
          <a:ln/>
        </p:spPr>
        <p:txBody>
          <a:bodyPr wrap="square" lIns="0" tIns="0" rIns="0" bIns="0" rtlCol="0" anchor="ctr"/>
          <a:lstStyle/>
          <a:p>
            <a:pPr indent="0" marL="0">
              <a:buNone/>
            </a:pPr>
            <a:r>
              <a:rPr lang="en-US" sz="1250" dirty="0">
                <a:solidFill>
                  <a:srgbClr val="1B2340"/>
                </a:solidFill>
                <a:latin typeface="Calibri" pitchFamily="34" charset="0"/>
                <a:ea typeface="Calibri" pitchFamily="34" charset="-122"/>
                <a:cs typeface="Calibri" pitchFamily="34" charset="-120"/>
              </a:rPr>
              <a:t>Stage 1: SAM assists human annotators. Stage 2: semi-automatic (humans fill in what SAM missed). Stage 3: fully automatic — a 32×32 grid of point prompts generates SA-1B's 1.1 billion masks.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SAM Architecture — The Big Picture</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Official diagram, Meta AI (segment-anything repo)</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pic>
        <p:nvPicPr>
          <p:cNvPr id="8" name="Image 0" descr="img/sam1_arch.png">    </p:cNvPr>
          <p:cNvPicPr>
            <a:picLocks noChangeAspect="1"/>
          </p:cNvPicPr>
          <p:nvPr/>
        </p:nvPicPr>
        <p:blipFill>
          <a:blip r:embed="rId1"/>
          <a:stretch>
            <a:fillRect/>
          </a:stretch>
        </p:blipFill>
        <p:spPr>
          <a:xfrm>
            <a:off x="521208" y="1737360"/>
            <a:ext cx="11155680" cy="2368296"/>
          </a:xfrm>
          <a:prstGeom prst="rect">
            <a:avLst/>
          </a:prstGeom>
        </p:spPr>
      </p:pic>
      <p:sp>
        <p:nvSpPr>
          <p:cNvPr id="9" name="Text 5"/>
          <p:cNvSpPr/>
          <p:nvPr/>
        </p:nvSpPr>
        <p:spPr>
          <a:xfrm>
            <a:off x="521208" y="4160520"/>
            <a:ext cx="11155680" cy="274320"/>
          </a:xfrm>
          <a:prstGeom prst="rect">
            <a:avLst/>
          </a:prstGeom>
          <a:noFill/>
          <a:ln/>
        </p:spPr>
        <p:txBody>
          <a:bodyPr wrap="square" lIns="0" tIns="0" rIns="0" bIns="0" rtlCol="0" anchor="ctr"/>
          <a:lstStyle/>
          <a:p>
            <a:pPr algn="ctr" indent="0" marL="0">
              <a:buNone/>
            </a:pPr>
            <a:r>
              <a:rPr lang="en-US" sz="1000" i="1" dirty="0">
                <a:solidFill>
                  <a:srgbClr val="44506B"/>
                </a:solidFill>
                <a:latin typeface="Calibri" pitchFamily="34" charset="0"/>
                <a:ea typeface="Calibri" pitchFamily="34" charset="-122"/>
                <a:cs typeface="Calibri" pitchFamily="34" charset="-120"/>
              </a:rPr>
              <a:t>Source: github.com/facebookresearch/segment-anything — assets/model_diagram.png</a:t>
            </a:r>
            <a:endParaRPr lang="en-US" sz="1000" dirty="0"/>
          </a:p>
        </p:txBody>
      </p:sp>
      <p:sp>
        <p:nvSpPr>
          <p:cNvPr id="10" name="Shape 6"/>
          <p:cNvSpPr/>
          <p:nvPr/>
        </p:nvSpPr>
        <p:spPr>
          <a:xfrm>
            <a:off x="502920" y="4709160"/>
            <a:ext cx="3611880" cy="1417320"/>
          </a:xfrm>
          <a:prstGeom prst="roundRect">
            <a:avLst>
              <a:gd name="adj" fmla="val 6452"/>
            </a:avLst>
          </a:prstGeom>
          <a:solidFill>
            <a:srgbClr val="F2F5FB"/>
          </a:solidFill>
          <a:ln/>
        </p:spPr>
      </p:sp>
      <p:sp>
        <p:nvSpPr>
          <p:cNvPr id="11" name="Shape 7"/>
          <p:cNvSpPr/>
          <p:nvPr/>
        </p:nvSpPr>
        <p:spPr>
          <a:xfrm>
            <a:off x="777240" y="4956048"/>
            <a:ext cx="219456" cy="219456"/>
          </a:xfrm>
          <a:prstGeom prst="roundRect">
            <a:avLst>
              <a:gd name="adj" fmla="val 25000"/>
            </a:avLst>
          </a:prstGeom>
          <a:solidFill>
            <a:srgbClr val="02C39A"/>
          </a:solidFill>
          <a:ln/>
        </p:spPr>
      </p:sp>
      <p:sp>
        <p:nvSpPr>
          <p:cNvPr id="12" name="Text 8"/>
          <p:cNvSpPr/>
          <p:nvPr/>
        </p:nvSpPr>
        <p:spPr>
          <a:xfrm>
            <a:off x="1124712" y="4864608"/>
            <a:ext cx="2834640" cy="38404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Runs once per image</a:t>
            </a:r>
            <a:endParaRPr lang="en-US" sz="1400" dirty="0"/>
          </a:p>
        </p:txBody>
      </p:sp>
      <p:sp>
        <p:nvSpPr>
          <p:cNvPr id="13" name="Text 9"/>
          <p:cNvSpPr/>
          <p:nvPr/>
        </p:nvSpPr>
        <p:spPr>
          <a:xfrm>
            <a:off x="777240" y="5285232"/>
            <a:ext cx="3108960" cy="73152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Image encoder → embedding. All the heavy compute lives here.</a:t>
            </a:r>
            <a:endParaRPr lang="en-US" sz="1150" dirty="0"/>
          </a:p>
        </p:txBody>
      </p:sp>
      <p:sp>
        <p:nvSpPr>
          <p:cNvPr id="14" name="Shape 10"/>
          <p:cNvSpPr/>
          <p:nvPr/>
        </p:nvSpPr>
        <p:spPr>
          <a:xfrm>
            <a:off x="4389120" y="4709160"/>
            <a:ext cx="3611880" cy="1417320"/>
          </a:xfrm>
          <a:prstGeom prst="roundRect">
            <a:avLst>
              <a:gd name="adj" fmla="val 6452"/>
            </a:avLst>
          </a:prstGeom>
          <a:solidFill>
            <a:srgbClr val="F2F5FB"/>
          </a:solidFill>
          <a:ln/>
        </p:spPr>
      </p:sp>
      <p:sp>
        <p:nvSpPr>
          <p:cNvPr id="15" name="Shape 11"/>
          <p:cNvSpPr/>
          <p:nvPr/>
        </p:nvSpPr>
        <p:spPr>
          <a:xfrm>
            <a:off x="4663440" y="4956048"/>
            <a:ext cx="219456" cy="219456"/>
          </a:xfrm>
          <a:prstGeom prst="roundRect">
            <a:avLst>
              <a:gd name="adj" fmla="val 25000"/>
            </a:avLst>
          </a:prstGeom>
          <a:solidFill>
            <a:srgbClr val="F2B33D"/>
          </a:solidFill>
          <a:ln/>
        </p:spPr>
      </p:sp>
      <p:sp>
        <p:nvSpPr>
          <p:cNvPr id="16" name="Text 12"/>
          <p:cNvSpPr/>
          <p:nvPr/>
        </p:nvSpPr>
        <p:spPr>
          <a:xfrm>
            <a:off x="5010912" y="4864608"/>
            <a:ext cx="2834640" cy="38404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Runs per prompt</a:t>
            </a:r>
            <a:endParaRPr lang="en-US" sz="1400" dirty="0"/>
          </a:p>
        </p:txBody>
      </p:sp>
      <p:sp>
        <p:nvSpPr>
          <p:cNvPr id="17" name="Text 13"/>
          <p:cNvSpPr/>
          <p:nvPr/>
        </p:nvSpPr>
        <p:spPr>
          <a:xfrm>
            <a:off x="4663440" y="5285232"/>
            <a:ext cx="3108960" cy="73152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Prompt encoder + mask decoder — light enough for real time.</a:t>
            </a:r>
            <a:endParaRPr lang="en-US" sz="1150" dirty="0"/>
          </a:p>
        </p:txBody>
      </p:sp>
      <p:sp>
        <p:nvSpPr>
          <p:cNvPr id="18" name="Shape 14"/>
          <p:cNvSpPr/>
          <p:nvPr/>
        </p:nvSpPr>
        <p:spPr>
          <a:xfrm>
            <a:off x="8275320" y="4709160"/>
            <a:ext cx="3611880" cy="1417320"/>
          </a:xfrm>
          <a:prstGeom prst="roundRect">
            <a:avLst>
              <a:gd name="adj" fmla="val 6452"/>
            </a:avLst>
          </a:prstGeom>
          <a:solidFill>
            <a:srgbClr val="F2F5FB"/>
          </a:solidFill>
          <a:ln/>
        </p:spPr>
      </p:sp>
      <p:sp>
        <p:nvSpPr>
          <p:cNvPr id="19" name="Shape 15"/>
          <p:cNvSpPr/>
          <p:nvPr/>
        </p:nvSpPr>
        <p:spPr>
          <a:xfrm>
            <a:off x="8549640" y="4956048"/>
            <a:ext cx="219456" cy="219456"/>
          </a:xfrm>
          <a:prstGeom prst="roundRect">
            <a:avLst>
              <a:gd name="adj" fmla="val 25000"/>
            </a:avLst>
          </a:prstGeom>
          <a:solidFill>
            <a:srgbClr val="F96167"/>
          </a:solidFill>
          <a:ln/>
        </p:spPr>
      </p:sp>
      <p:sp>
        <p:nvSpPr>
          <p:cNvPr id="20" name="Text 16"/>
          <p:cNvSpPr/>
          <p:nvPr/>
        </p:nvSpPr>
        <p:spPr>
          <a:xfrm>
            <a:off x="8897112" y="4864608"/>
            <a:ext cx="2834640" cy="38404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Output</a:t>
            </a:r>
            <a:endParaRPr lang="en-US" sz="1400" dirty="0"/>
          </a:p>
        </p:txBody>
      </p:sp>
      <p:sp>
        <p:nvSpPr>
          <p:cNvPr id="21" name="Text 17"/>
          <p:cNvSpPr/>
          <p:nvPr/>
        </p:nvSpPr>
        <p:spPr>
          <a:xfrm>
            <a:off x="8549640" y="5285232"/>
            <a:ext cx="3108960" cy="73152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Three candidate masks + a score for each — ambiguity resolved by choice.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Architecture Deep Dive — Three Components</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What's inside each block</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sp>
        <p:nvSpPr>
          <p:cNvPr id="8" name="Shape 5"/>
          <p:cNvSpPr/>
          <p:nvPr/>
        </p:nvSpPr>
        <p:spPr>
          <a:xfrm>
            <a:off x="502920" y="1691640"/>
            <a:ext cx="3611880" cy="4114800"/>
          </a:xfrm>
          <a:prstGeom prst="roundRect">
            <a:avLst>
              <a:gd name="adj" fmla="val 3038"/>
            </a:avLst>
          </a:prstGeom>
          <a:solidFill>
            <a:srgbClr val="F2F5FB"/>
          </a:solidFill>
          <a:ln/>
        </p:spPr>
      </p:sp>
      <p:sp>
        <p:nvSpPr>
          <p:cNvPr id="9" name="Shape 6"/>
          <p:cNvSpPr/>
          <p:nvPr/>
        </p:nvSpPr>
        <p:spPr>
          <a:xfrm>
            <a:off x="822960" y="1965960"/>
            <a:ext cx="310896" cy="310896"/>
          </a:xfrm>
          <a:prstGeom prst="roundRect">
            <a:avLst>
              <a:gd name="adj" fmla="val 26471"/>
            </a:avLst>
          </a:prstGeom>
          <a:solidFill>
            <a:srgbClr val="02C39A"/>
          </a:solidFill>
          <a:ln/>
        </p:spPr>
      </p:sp>
      <p:sp>
        <p:nvSpPr>
          <p:cNvPr id="10" name="Text 7"/>
          <p:cNvSpPr/>
          <p:nvPr/>
        </p:nvSpPr>
        <p:spPr>
          <a:xfrm>
            <a:off x="822960" y="2377440"/>
            <a:ext cx="3017520" cy="411480"/>
          </a:xfrm>
          <a:prstGeom prst="rect">
            <a:avLst/>
          </a:prstGeom>
          <a:noFill/>
          <a:ln/>
        </p:spPr>
        <p:txBody>
          <a:bodyPr wrap="square" lIns="0" tIns="0" rIns="0" bIns="0"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Image Encoder</a:t>
            </a:r>
            <a:endParaRPr lang="en-US" sz="1800" dirty="0"/>
          </a:p>
        </p:txBody>
      </p:sp>
      <p:sp>
        <p:nvSpPr>
          <p:cNvPr id="11" name="Text 8"/>
          <p:cNvSpPr/>
          <p:nvPr/>
        </p:nvSpPr>
        <p:spPr>
          <a:xfrm>
            <a:off x="822960" y="2788920"/>
            <a:ext cx="3017520" cy="320040"/>
          </a:xfrm>
          <a:prstGeom prst="rect">
            <a:avLst/>
          </a:prstGeom>
          <a:noFill/>
          <a:ln/>
        </p:spPr>
        <p:txBody>
          <a:bodyPr wrap="square" lIns="0" tIns="0" rIns="0" bIns="0" rtlCol="0" anchor="ctr"/>
          <a:lstStyle/>
          <a:p>
            <a:pPr indent="0" marL="0">
              <a:buNone/>
            </a:pPr>
            <a:r>
              <a:rPr lang="en-US" sz="1200" b="1" i="1" dirty="0">
                <a:solidFill>
                  <a:srgbClr val="02C39A"/>
                </a:solidFill>
                <a:latin typeface="Calibri" pitchFamily="34" charset="0"/>
                <a:ea typeface="Calibri" pitchFamily="34" charset="-122"/>
                <a:cs typeface="Calibri" pitchFamily="34" charset="-120"/>
              </a:rPr>
              <a:t>ViT-H · 632M params</a:t>
            </a:r>
            <a:endParaRPr lang="en-US" sz="1200" dirty="0"/>
          </a:p>
        </p:txBody>
      </p:sp>
      <p:sp>
        <p:nvSpPr>
          <p:cNvPr id="12" name="Text 9"/>
          <p:cNvSpPr/>
          <p:nvPr/>
        </p:nvSpPr>
        <p:spPr>
          <a:xfrm>
            <a:off x="822960" y="3246120"/>
            <a:ext cx="3063240" cy="23774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B2340"/>
                </a:solidFill>
                <a:latin typeface="Calibri" pitchFamily="34" charset="0"/>
                <a:ea typeface="Calibri" pitchFamily="34" charset="-122"/>
                <a:cs typeface="Calibri" pitchFamily="34" charset="-120"/>
              </a:rPr>
              <a:t>Pre-trained with MAE (masked autoencoders)</a:t>
            </a:r>
            <a:endParaRPr lang="en-US" sz="1250" dirty="0"/>
          </a:p>
          <a:p>
            <a:pPr marL="342900" indent="-342900">
              <a:spcAft>
                <a:spcPts val="1000"/>
              </a:spcAft>
              <a:buSzPct val="100000"/>
              <a:buChar char="•"/>
            </a:pPr>
            <a:r>
              <a:rPr lang="en-US" sz="1250" dirty="0">
                <a:solidFill>
                  <a:srgbClr val="1B2340"/>
                </a:solidFill>
                <a:latin typeface="Calibri" pitchFamily="34" charset="0"/>
                <a:ea typeface="Calibri" pitchFamily="34" charset="-122"/>
                <a:cs typeface="Calibri" pitchFamily="34" charset="-120"/>
              </a:rPr>
              <a:t>Input 1024×1024 → embedding of 64×64×256</a:t>
            </a:r>
            <a:endParaRPr lang="en-US" sz="1250" dirty="0"/>
          </a:p>
          <a:p>
            <a:pPr marL="342900" indent="-342900">
              <a:spcAft>
                <a:spcPts val="1000"/>
              </a:spcAft>
              <a:buSzPct val="100000"/>
              <a:buChar char="•"/>
            </a:pPr>
            <a:r>
              <a:rPr lang="en-US" sz="1250" dirty="0">
                <a:solidFill>
                  <a:srgbClr val="1B2340"/>
                </a:solidFill>
                <a:latin typeface="Calibri" pitchFamily="34" charset="0"/>
                <a:ea typeface="Calibri" pitchFamily="34" charset="-122"/>
                <a:cs typeface="Calibri" pitchFamily="34" charset="-120"/>
              </a:rPr>
              <a:t>~95% of total compute — but runs only once</a:t>
            </a:r>
            <a:endParaRPr lang="en-US" sz="1250" dirty="0"/>
          </a:p>
        </p:txBody>
      </p:sp>
      <p:sp>
        <p:nvSpPr>
          <p:cNvPr id="13" name="Shape 10"/>
          <p:cNvSpPr/>
          <p:nvPr/>
        </p:nvSpPr>
        <p:spPr>
          <a:xfrm>
            <a:off x="4389120" y="1691640"/>
            <a:ext cx="3611880" cy="4114800"/>
          </a:xfrm>
          <a:prstGeom prst="roundRect">
            <a:avLst>
              <a:gd name="adj" fmla="val 3038"/>
            </a:avLst>
          </a:prstGeom>
          <a:solidFill>
            <a:srgbClr val="F2F5FB"/>
          </a:solidFill>
          <a:ln/>
        </p:spPr>
      </p:sp>
      <p:sp>
        <p:nvSpPr>
          <p:cNvPr id="14" name="Shape 11"/>
          <p:cNvSpPr/>
          <p:nvPr/>
        </p:nvSpPr>
        <p:spPr>
          <a:xfrm>
            <a:off x="4709160" y="1965960"/>
            <a:ext cx="310896" cy="310896"/>
          </a:xfrm>
          <a:prstGeom prst="roundRect">
            <a:avLst>
              <a:gd name="adj" fmla="val 26471"/>
            </a:avLst>
          </a:prstGeom>
          <a:solidFill>
            <a:srgbClr val="3E7CB1"/>
          </a:solidFill>
          <a:ln/>
        </p:spPr>
      </p:sp>
      <p:sp>
        <p:nvSpPr>
          <p:cNvPr id="15" name="Text 12"/>
          <p:cNvSpPr/>
          <p:nvPr/>
        </p:nvSpPr>
        <p:spPr>
          <a:xfrm>
            <a:off x="4709160" y="2377440"/>
            <a:ext cx="3017520" cy="411480"/>
          </a:xfrm>
          <a:prstGeom prst="rect">
            <a:avLst/>
          </a:prstGeom>
          <a:noFill/>
          <a:ln/>
        </p:spPr>
        <p:txBody>
          <a:bodyPr wrap="square" lIns="0" tIns="0" rIns="0" bIns="0"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Prompt Encoder</a:t>
            </a:r>
            <a:endParaRPr lang="en-US" sz="1800" dirty="0"/>
          </a:p>
        </p:txBody>
      </p:sp>
      <p:sp>
        <p:nvSpPr>
          <p:cNvPr id="16" name="Text 13"/>
          <p:cNvSpPr/>
          <p:nvPr/>
        </p:nvSpPr>
        <p:spPr>
          <a:xfrm>
            <a:off x="4709160" y="2788920"/>
            <a:ext cx="3017520" cy="320040"/>
          </a:xfrm>
          <a:prstGeom prst="rect">
            <a:avLst/>
          </a:prstGeom>
          <a:noFill/>
          <a:ln/>
        </p:spPr>
        <p:txBody>
          <a:bodyPr wrap="square" lIns="0" tIns="0" rIns="0" bIns="0" rtlCol="0" anchor="ctr"/>
          <a:lstStyle/>
          <a:p>
            <a:pPr indent="0" marL="0">
              <a:buNone/>
            </a:pPr>
            <a:r>
              <a:rPr lang="en-US" sz="1200" b="1" i="1" dirty="0">
                <a:solidFill>
                  <a:srgbClr val="3E7CB1"/>
                </a:solidFill>
                <a:latin typeface="Calibri" pitchFamily="34" charset="0"/>
                <a:ea typeface="Calibri" pitchFamily="34" charset="-122"/>
                <a:cs typeface="Calibri" pitchFamily="34" charset="-120"/>
              </a:rPr>
              <a:t>lightweight · flexible</a:t>
            </a:r>
            <a:endParaRPr lang="en-US" sz="1200" dirty="0"/>
          </a:p>
        </p:txBody>
      </p:sp>
      <p:sp>
        <p:nvSpPr>
          <p:cNvPr id="17" name="Text 14"/>
          <p:cNvSpPr/>
          <p:nvPr/>
        </p:nvSpPr>
        <p:spPr>
          <a:xfrm>
            <a:off x="4709160" y="3246120"/>
            <a:ext cx="3063240" cy="23774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B2340"/>
                </a:solidFill>
                <a:latin typeface="Calibri" pitchFamily="34" charset="0"/>
                <a:ea typeface="Calibri" pitchFamily="34" charset="-122"/>
                <a:cs typeface="Calibri" pitchFamily="34" charset="-120"/>
              </a:rPr>
              <a:t>Sparse: points &amp; boxes → positional + learned embeddings</a:t>
            </a:r>
            <a:endParaRPr lang="en-US" sz="1250" dirty="0"/>
          </a:p>
          <a:p>
            <a:pPr marL="342900" indent="-342900">
              <a:spcAft>
                <a:spcPts val="1000"/>
              </a:spcAft>
              <a:buSzPct val="100000"/>
              <a:buChar char="•"/>
            </a:pPr>
            <a:r>
              <a:rPr lang="en-US" sz="1250" dirty="0">
                <a:solidFill>
                  <a:srgbClr val="1B2340"/>
                </a:solidFill>
                <a:latin typeface="Calibri" pitchFamily="34" charset="0"/>
                <a:ea typeface="Calibri" pitchFamily="34" charset="-122"/>
                <a:cs typeface="Calibri" pitchFamily="34" charset="-120"/>
              </a:rPr>
              <a:t>Text → CLIP text encoder (exploratory in SAM 1)</a:t>
            </a:r>
            <a:endParaRPr lang="en-US" sz="1250" dirty="0"/>
          </a:p>
          <a:p>
            <a:pPr marL="342900" indent="-342900">
              <a:spcAft>
                <a:spcPts val="1000"/>
              </a:spcAft>
              <a:buSzPct val="100000"/>
              <a:buChar char="•"/>
            </a:pPr>
            <a:r>
              <a:rPr lang="en-US" sz="1250" dirty="0">
                <a:solidFill>
                  <a:srgbClr val="1B2340"/>
                </a:solidFill>
                <a:latin typeface="Calibri" pitchFamily="34" charset="0"/>
                <a:ea typeface="Calibri" pitchFamily="34" charset="-122"/>
                <a:cs typeface="Calibri" pitchFamily="34" charset="-120"/>
              </a:rPr>
              <a:t>Dense: rough masks → added to embedding via conv</a:t>
            </a:r>
            <a:endParaRPr lang="en-US" sz="1250" dirty="0"/>
          </a:p>
        </p:txBody>
      </p:sp>
      <p:sp>
        <p:nvSpPr>
          <p:cNvPr id="18" name="Shape 15"/>
          <p:cNvSpPr/>
          <p:nvPr/>
        </p:nvSpPr>
        <p:spPr>
          <a:xfrm>
            <a:off x="8275320" y="1691640"/>
            <a:ext cx="3611880" cy="4114800"/>
          </a:xfrm>
          <a:prstGeom prst="roundRect">
            <a:avLst>
              <a:gd name="adj" fmla="val 3038"/>
            </a:avLst>
          </a:prstGeom>
          <a:solidFill>
            <a:srgbClr val="F2F5FB"/>
          </a:solidFill>
          <a:ln/>
        </p:spPr>
      </p:sp>
      <p:sp>
        <p:nvSpPr>
          <p:cNvPr id="19" name="Shape 16"/>
          <p:cNvSpPr/>
          <p:nvPr/>
        </p:nvSpPr>
        <p:spPr>
          <a:xfrm>
            <a:off x="8595360" y="1965960"/>
            <a:ext cx="310896" cy="310896"/>
          </a:xfrm>
          <a:prstGeom prst="roundRect">
            <a:avLst>
              <a:gd name="adj" fmla="val 26471"/>
            </a:avLst>
          </a:prstGeom>
          <a:solidFill>
            <a:srgbClr val="F96167"/>
          </a:solidFill>
          <a:ln/>
        </p:spPr>
      </p:sp>
      <p:sp>
        <p:nvSpPr>
          <p:cNvPr id="20" name="Text 17"/>
          <p:cNvSpPr/>
          <p:nvPr/>
        </p:nvSpPr>
        <p:spPr>
          <a:xfrm>
            <a:off x="8595360" y="2377440"/>
            <a:ext cx="3017520" cy="411480"/>
          </a:xfrm>
          <a:prstGeom prst="rect">
            <a:avLst/>
          </a:prstGeom>
          <a:noFill/>
          <a:ln/>
        </p:spPr>
        <p:txBody>
          <a:bodyPr wrap="square" lIns="0" tIns="0" rIns="0" bIns="0"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Mask Decoder</a:t>
            </a:r>
            <a:endParaRPr lang="en-US" sz="1800" dirty="0"/>
          </a:p>
        </p:txBody>
      </p:sp>
      <p:sp>
        <p:nvSpPr>
          <p:cNvPr id="21" name="Text 18"/>
          <p:cNvSpPr/>
          <p:nvPr/>
        </p:nvSpPr>
        <p:spPr>
          <a:xfrm>
            <a:off x="8595360" y="2788920"/>
            <a:ext cx="3017520" cy="320040"/>
          </a:xfrm>
          <a:prstGeom prst="rect">
            <a:avLst/>
          </a:prstGeom>
          <a:noFill/>
          <a:ln/>
        </p:spPr>
        <p:txBody>
          <a:bodyPr wrap="square" lIns="0" tIns="0" rIns="0" bIns="0" rtlCol="0" anchor="ctr"/>
          <a:lstStyle/>
          <a:p>
            <a:pPr indent="0" marL="0">
              <a:buNone/>
            </a:pPr>
            <a:r>
              <a:rPr lang="en-US" sz="1200" b="1" i="1" dirty="0">
                <a:solidFill>
                  <a:srgbClr val="F96167"/>
                </a:solidFill>
                <a:latin typeface="Calibri" pitchFamily="34" charset="0"/>
                <a:ea typeface="Calibri" pitchFamily="34" charset="-122"/>
                <a:cs typeface="Calibri" pitchFamily="34" charset="-120"/>
              </a:rPr>
              <a:t>2-layer two-way transformer</a:t>
            </a:r>
            <a:endParaRPr lang="en-US" sz="1200" dirty="0"/>
          </a:p>
        </p:txBody>
      </p:sp>
      <p:sp>
        <p:nvSpPr>
          <p:cNvPr id="22" name="Text 19"/>
          <p:cNvSpPr/>
          <p:nvPr/>
        </p:nvSpPr>
        <p:spPr>
          <a:xfrm>
            <a:off x="8595360" y="3246120"/>
            <a:ext cx="3063240" cy="23774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B2340"/>
                </a:solidFill>
                <a:latin typeface="Calibri" pitchFamily="34" charset="0"/>
                <a:ea typeface="Calibri" pitchFamily="34" charset="-122"/>
                <a:cs typeface="Calibri" pitchFamily="34" charset="-120"/>
              </a:rPr>
              <a:t>Prompt tokens ↔ image embedding attend to each other</a:t>
            </a:r>
            <a:endParaRPr lang="en-US" sz="1250" dirty="0"/>
          </a:p>
          <a:p>
            <a:pPr marL="342900" indent="-342900">
              <a:spcAft>
                <a:spcPts val="1000"/>
              </a:spcAft>
              <a:buSzPct val="100000"/>
              <a:buChar char="•"/>
            </a:pPr>
            <a:r>
              <a:rPr lang="en-US" sz="1250" dirty="0">
                <a:solidFill>
                  <a:srgbClr val="1B2340"/>
                </a:solidFill>
                <a:latin typeface="Calibri" pitchFamily="34" charset="0"/>
                <a:ea typeface="Calibri" pitchFamily="34" charset="-122"/>
                <a:cs typeface="Calibri" pitchFamily="34" charset="-120"/>
              </a:rPr>
              <a:t>Outputs 3 masks (subpart / part / whole)</a:t>
            </a:r>
            <a:endParaRPr lang="en-US" sz="1250" dirty="0"/>
          </a:p>
          <a:p>
            <a:pPr marL="342900" indent="-342900">
              <a:spcAft>
                <a:spcPts val="1000"/>
              </a:spcAft>
              <a:buSzPct val="100000"/>
              <a:buChar char="•"/>
            </a:pPr>
            <a:r>
              <a:rPr lang="en-US" sz="1250" dirty="0">
                <a:solidFill>
                  <a:srgbClr val="1B2340"/>
                </a:solidFill>
                <a:latin typeface="Calibri" pitchFamily="34" charset="0"/>
                <a:ea typeface="Calibri" pitchFamily="34" charset="-122"/>
                <a:cs typeface="Calibri" pitchFamily="34" charset="-120"/>
              </a:rPr>
              <a:t>A small IoU head scores each mask's quality</a:t>
            </a:r>
            <a:endParaRPr lang="en-US" sz="1250" dirty="0"/>
          </a:p>
        </p:txBody>
      </p:sp>
      <p:sp>
        <p:nvSpPr>
          <p:cNvPr id="23" name="Text 20"/>
          <p:cNvSpPr/>
          <p:nvPr/>
        </p:nvSpPr>
        <p:spPr>
          <a:xfrm>
            <a:off x="502920" y="6035040"/>
            <a:ext cx="11155680" cy="411480"/>
          </a:xfrm>
          <a:prstGeom prst="rect">
            <a:avLst/>
          </a:prstGeom>
          <a:noFill/>
          <a:ln/>
        </p:spPr>
        <p:txBody>
          <a:bodyPr wrap="square" lIns="0" tIns="0" rIns="0" bIns="0" rtlCol="0" anchor="ctr"/>
          <a:lstStyle/>
          <a:p>
            <a:pPr algn="ctr" indent="0" marL="0">
              <a:buNone/>
            </a:pPr>
            <a:r>
              <a:rPr lang="en-US" sz="1400" b="1" i="1" dirty="0">
                <a:solidFill>
                  <a:srgbClr val="1E2761"/>
                </a:solidFill>
                <a:latin typeface="Calibri" pitchFamily="34" charset="0"/>
                <a:ea typeface="Calibri" pitchFamily="34" charset="-122"/>
                <a:cs typeface="Calibri" pitchFamily="34" charset="-120"/>
              </a:rPr>
              <a:t>Design rule: put the intelligence in the encoder, keep the decoder light enough for real-time interaction.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Different Types of Prompts</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How you tell SAM what you mean</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sp>
        <p:nvSpPr>
          <p:cNvPr id="8" name="Shape 5"/>
          <p:cNvSpPr/>
          <p:nvPr/>
        </p:nvSpPr>
        <p:spPr>
          <a:xfrm>
            <a:off x="502920" y="1691640"/>
            <a:ext cx="3611880" cy="2011680"/>
          </a:xfrm>
          <a:prstGeom prst="roundRect">
            <a:avLst>
              <a:gd name="adj" fmla="val 5455"/>
            </a:avLst>
          </a:prstGeom>
          <a:solidFill>
            <a:srgbClr val="F2F5FB"/>
          </a:solidFill>
          <a:ln/>
        </p:spPr>
      </p:sp>
      <p:sp>
        <p:nvSpPr>
          <p:cNvPr id="9" name="Shape 6"/>
          <p:cNvSpPr/>
          <p:nvPr/>
        </p:nvSpPr>
        <p:spPr>
          <a:xfrm>
            <a:off x="777240" y="1947672"/>
            <a:ext cx="237744" cy="237744"/>
          </a:xfrm>
          <a:prstGeom prst="roundRect">
            <a:avLst>
              <a:gd name="adj" fmla="val 26923"/>
            </a:avLst>
          </a:prstGeom>
          <a:solidFill>
            <a:srgbClr val="02C39A"/>
          </a:solidFill>
          <a:ln/>
        </p:spPr>
      </p:sp>
      <p:sp>
        <p:nvSpPr>
          <p:cNvPr id="10" name="Text 7"/>
          <p:cNvSpPr/>
          <p:nvPr/>
        </p:nvSpPr>
        <p:spPr>
          <a:xfrm>
            <a:off x="1143000" y="1856232"/>
            <a:ext cx="1920240" cy="41148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Points</a:t>
            </a:r>
            <a:endParaRPr lang="en-US" sz="1650" dirty="0"/>
          </a:p>
        </p:txBody>
      </p:sp>
      <p:sp>
        <p:nvSpPr>
          <p:cNvPr id="11" name="Shape 8"/>
          <p:cNvSpPr/>
          <p:nvPr/>
        </p:nvSpPr>
        <p:spPr>
          <a:xfrm>
            <a:off x="3154680" y="1911096"/>
            <a:ext cx="713232" cy="310896"/>
          </a:xfrm>
          <a:prstGeom prst="roundRect">
            <a:avLst>
              <a:gd name="adj" fmla="val 50000"/>
            </a:avLst>
          </a:prstGeom>
          <a:solidFill>
            <a:srgbClr val="02C39A"/>
          </a:solidFill>
          <a:ln/>
        </p:spPr>
      </p:sp>
      <p:sp>
        <p:nvSpPr>
          <p:cNvPr id="12" name="Text 9"/>
          <p:cNvSpPr/>
          <p:nvPr/>
        </p:nvSpPr>
        <p:spPr>
          <a:xfrm>
            <a:off x="3154680" y="1911096"/>
            <a:ext cx="713232"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SAM 1+</a:t>
            </a:r>
            <a:endParaRPr lang="en-US" sz="950" dirty="0"/>
          </a:p>
        </p:txBody>
      </p:sp>
      <p:sp>
        <p:nvSpPr>
          <p:cNvPr id="13" name="Text 10"/>
          <p:cNvSpPr/>
          <p:nvPr/>
        </p:nvSpPr>
        <p:spPr>
          <a:xfrm>
            <a:off x="777240" y="2377440"/>
            <a:ext cx="3108960" cy="1234440"/>
          </a:xfrm>
          <a:prstGeom prst="rect">
            <a:avLst/>
          </a:prstGeom>
          <a:noFill/>
          <a:ln/>
        </p:spPr>
        <p:txBody>
          <a:bodyPr wrap="square" lIns="0" tIns="0" rIns="0" bIns="0" rtlCol="0" anchor="ctr"/>
          <a:lstStyle/>
          <a:p>
            <a:pPr indent="0" marL="0">
              <a:buNone/>
            </a:pPr>
            <a:r>
              <a:rPr lang="en-US" sz="1200" dirty="0">
                <a:solidFill>
                  <a:srgbClr val="1B2340"/>
                </a:solidFill>
                <a:latin typeface="Calibri" pitchFamily="34" charset="0"/>
                <a:ea typeface="Calibri" pitchFamily="34" charset="-122"/>
                <a:cs typeface="Calibri" pitchFamily="34" charset="-120"/>
              </a:rPr>
              <a:t>Click on the object. Positive points include, negative points exclude. Iterate clicks to refine the mask.</a:t>
            </a:r>
            <a:endParaRPr lang="en-US" sz="1200" dirty="0"/>
          </a:p>
        </p:txBody>
      </p:sp>
      <p:sp>
        <p:nvSpPr>
          <p:cNvPr id="14" name="Shape 11"/>
          <p:cNvSpPr/>
          <p:nvPr/>
        </p:nvSpPr>
        <p:spPr>
          <a:xfrm>
            <a:off x="4389120" y="1691640"/>
            <a:ext cx="3611880" cy="2011680"/>
          </a:xfrm>
          <a:prstGeom prst="roundRect">
            <a:avLst>
              <a:gd name="adj" fmla="val 5455"/>
            </a:avLst>
          </a:prstGeom>
          <a:solidFill>
            <a:srgbClr val="F2F5FB"/>
          </a:solidFill>
          <a:ln/>
        </p:spPr>
      </p:sp>
      <p:sp>
        <p:nvSpPr>
          <p:cNvPr id="15" name="Shape 12"/>
          <p:cNvSpPr/>
          <p:nvPr/>
        </p:nvSpPr>
        <p:spPr>
          <a:xfrm>
            <a:off x="4663440" y="1947672"/>
            <a:ext cx="237744" cy="237744"/>
          </a:xfrm>
          <a:prstGeom prst="roundRect">
            <a:avLst>
              <a:gd name="adj" fmla="val 26923"/>
            </a:avLst>
          </a:prstGeom>
          <a:solidFill>
            <a:srgbClr val="3E7CB1"/>
          </a:solidFill>
          <a:ln/>
        </p:spPr>
      </p:sp>
      <p:sp>
        <p:nvSpPr>
          <p:cNvPr id="16" name="Text 13"/>
          <p:cNvSpPr/>
          <p:nvPr/>
        </p:nvSpPr>
        <p:spPr>
          <a:xfrm>
            <a:off x="5029200" y="1856232"/>
            <a:ext cx="1920240" cy="41148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Boxes</a:t>
            </a:r>
            <a:endParaRPr lang="en-US" sz="1650" dirty="0"/>
          </a:p>
        </p:txBody>
      </p:sp>
      <p:sp>
        <p:nvSpPr>
          <p:cNvPr id="17" name="Shape 14"/>
          <p:cNvSpPr/>
          <p:nvPr/>
        </p:nvSpPr>
        <p:spPr>
          <a:xfrm>
            <a:off x="7040880" y="1911096"/>
            <a:ext cx="713232" cy="310896"/>
          </a:xfrm>
          <a:prstGeom prst="roundRect">
            <a:avLst>
              <a:gd name="adj" fmla="val 50000"/>
            </a:avLst>
          </a:prstGeom>
          <a:solidFill>
            <a:srgbClr val="3E7CB1"/>
          </a:solidFill>
          <a:ln/>
        </p:spPr>
      </p:sp>
      <p:sp>
        <p:nvSpPr>
          <p:cNvPr id="18" name="Text 15"/>
          <p:cNvSpPr/>
          <p:nvPr/>
        </p:nvSpPr>
        <p:spPr>
          <a:xfrm>
            <a:off x="7040880" y="1911096"/>
            <a:ext cx="713232"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SAM 1+</a:t>
            </a:r>
            <a:endParaRPr lang="en-US" sz="950" dirty="0"/>
          </a:p>
        </p:txBody>
      </p:sp>
      <p:sp>
        <p:nvSpPr>
          <p:cNvPr id="19" name="Text 16"/>
          <p:cNvSpPr/>
          <p:nvPr/>
        </p:nvSpPr>
        <p:spPr>
          <a:xfrm>
            <a:off x="4663440" y="2377440"/>
            <a:ext cx="3108960" cy="1234440"/>
          </a:xfrm>
          <a:prstGeom prst="rect">
            <a:avLst/>
          </a:prstGeom>
          <a:noFill/>
          <a:ln/>
        </p:spPr>
        <p:txBody>
          <a:bodyPr wrap="square" lIns="0" tIns="0" rIns="0" bIns="0" rtlCol="0" anchor="ctr"/>
          <a:lstStyle/>
          <a:p>
            <a:pPr indent="0" marL="0">
              <a:buNone/>
            </a:pPr>
            <a:r>
              <a:rPr lang="en-US" sz="1200" dirty="0">
                <a:solidFill>
                  <a:srgbClr val="1B2340"/>
                </a:solidFill>
                <a:latin typeface="Calibri" pitchFamily="34" charset="0"/>
                <a:ea typeface="Calibri" pitchFamily="34" charset="-122"/>
                <a:cs typeface="Calibri" pitchFamily="34" charset="-120"/>
              </a:rPr>
              <a:t>Draw a rectangle around the object — the least ambiguous single prompt.</a:t>
            </a:r>
            <a:endParaRPr lang="en-US" sz="1200" dirty="0"/>
          </a:p>
        </p:txBody>
      </p:sp>
      <p:sp>
        <p:nvSpPr>
          <p:cNvPr id="20" name="Shape 17"/>
          <p:cNvSpPr/>
          <p:nvPr/>
        </p:nvSpPr>
        <p:spPr>
          <a:xfrm>
            <a:off x="8275320" y="1691640"/>
            <a:ext cx="3611880" cy="2011680"/>
          </a:xfrm>
          <a:prstGeom prst="roundRect">
            <a:avLst>
              <a:gd name="adj" fmla="val 5455"/>
            </a:avLst>
          </a:prstGeom>
          <a:solidFill>
            <a:srgbClr val="F2F5FB"/>
          </a:solidFill>
          <a:ln/>
        </p:spPr>
      </p:sp>
      <p:sp>
        <p:nvSpPr>
          <p:cNvPr id="21" name="Shape 18"/>
          <p:cNvSpPr/>
          <p:nvPr/>
        </p:nvSpPr>
        <p:spPr>
          <a:xfrm>
            <a:off x="8549640" y="1947672"/>
            <a:ext cx="237744" cy="237744"/>
          </a:xfrm>
          <a:prstGeom prst="roundRect">
            <a:avLst>
              <a:gd name="adj" fmla="val 26923"/>
            </a:avLst>
          </a:prstGeom>
          <a:solidFill>
            <a:srgbClr val="F2B33D"/>
          </a:solidFill>
          <a:ln/>
        </p:spPr>
      </p:sp>
      <p:sp>
        <p:nvSpPr>
          <p:cNvPr id="22" name="Text 19"/>
          <p:cNvSpPr/>
          <p:nvPr/>
        </p:nvSpPr>
        <p:spPr>
          <a:xfrm>
            <a:off x="8915400" y="1856232"/>
            <a:ext cx="1920240" cy="41148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Masks</a:t>
            </a:r>
            <a:endParaRPr lang="en-US" sz="1650" dirty="0"/>
          </a:p>
        </p:txBody>
      </p:sp>
      <p:sp>
        <p:nvSpPr>
          <p:cNvPr id="23" name="Shape 20"/>
          <p:cNvSpPr/>
          <p:nvPr/>
        </p:nvSpPr>
        <p:spPr>
          <a:xfrm>
            <a:off x="10927080" y="1911096"/>
            <a:ext cx="713232" cy="310896"/>
          </a:xfrm>
          <a:prstGeom prst="roundRect">
            <a:avLst>
              <a:gd name="adj" fmla="val 50000"/>
            </a:avLst>
          </a:prstGeom>
          <a:solidFill>
            <a:srgbClr val="F2B33D"/>
          </a:solidFill>
          <a:ln/>
        </p:spPr>
      </p:sp>
      <p:sp>
        <p:nvSpPr>
          <p:cNvPr id="24" name="Text 21"/>
          <p:cNvSpPr/>
          <p:nvPr/>
        </p:nvSpPr>
        <p:spPr>
          <a:xfrm>
            <a:off x="10927080" y="1911096"/>
            <a:ext cx="713232"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SAM 1+</a:t>
            </a:r>
            <a:endParaRPr lang="en-US" sz="950" dirty="0"/>
          </a:p>
        </p:txBody>
      </p:sp>
      <p:sp>
        <p:nvSpPr>
          <p:cNvPr id="25" name="Text 22"/>
          <p:cNvSpPr/>
          <p:nvPr/>
        </p:nvSpPr>
        <p:spPr>
          <a:xfrm>
            <a:off x="8549640" y="2377440"/>
            <a:ext cx="3108960" cy="1234440"/>
          </a:xfrm>
          <a:prstGeom prst="rect">
            <a:avLst/>
          </a:prstGeom>
          <a:noFill/>
          <a:ln/>
        </p:spPr>
        <p:txBody>
          <a:bodyPr wrap="square" lIns="0" tIns="0" rIns="0" bIns="0" rtlCol="0" anchor="ctr"/>
          <a:lstStyle/>
          <a:p>
            <a:pPr indent="0" marL="0">
              <a:buNone/>
            </a:pPr>
            <a:r>
              <a:rPr lang="en-US" sz="1200" dirty="0">
                <a:solidFill>
                  <a:srgbClr val="1B2340"/>
                </a:solidFill>
                <a:latin typeface="Calibri" pitchFamily="34" charset="0"/>
                <a:ea typeface="Calibri" pitchFamily="34" charset="-122"/>
                <a:cs typeface="Calibri" pitchFamily="34" charset="-120"/>
              </a:rPr>
              <a:t>Provide a rough mask (e.g. from a previous model) — SAM returns a cleaned-up version.</a:t>
            </a:r>
            <a:endParaRPr lang="en-US" sz="1200" dirty="0"/>
          </a:p>
        </p:txBody>
      </p:sp>
      <p:sp>
        <p:nvSpPr>
          <p:cNvPr id="26" name="Shape 23"/>
          <p:cNvSpPr/>
          <p:nvPr/>
        </p:nvSpPr>
        <p:spPr>
          <a:xfrm>
            <a:off x="502920" y="3931920"/>
            <a:ext cx="3611880" cy="2011680"/>
          </a:xfrm>
          <a:prstGeom prst="roundRect">
            <a:avLst>
              <a:gd name="adj" fmla="val 5455"/>
            </a:avLst>
          </a:prstGeom>
          <a:solidFill>
            <a:srgbClr val="F2F5FB"/>
          </a:solidFill>
          <a:ln/>
        </p:spPr>
      </p:sp>
      <p:sp>
        <p:nvSpPr>
          <p:cNvPr id="27" name="Shape 24"/>
          <p:cNvSpPr/>
          <p:nvPr/>
        </p:nvSpPr>
        <p:spPr>
          <a:xfrm>
            <a:off x="777240" y="4187952"/>
            <a:ext cx="237744" cy="237744"/>
          </a:xfrm>
          <a:prstGeom prst="roundRect">
            <a:avLst>
              <a:gd name="adj" fmla="val 26923"/>
            </a:avLst>
          </a:prstGeom>
          <a:solidFill>
            <a:srgbClr val="F96167"/>
          </a:solidFill>
          <a:ln/>
        </p:spPr>
      </p:sp>
      <p:sp>
        <p:nvSpPr>
          <p:cNvPr id="28" name="Text 25"/>
          <p:cNvSpPr/>
          <p:nvPr/>
        </p:nvSpPr>
        <p:spPr>
          <a:xfrm>
            <a:off x="1143000" y="4096512"/>
            <a:ext cx="1920240" cy="41148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Text</a:t>
            </a:r>
            <a:endParaRPr lang="en-US" sz="1650" dirty="0"/>
          </a:p>
        </p:txBody>
      </p:sp>
      <p:sp>
        <p:nvSpPr>
          <p:cNvPr id="29" name="Shape 26"/>
          <p:cNvSpPr/>
          <p:nvPr/>
        </p:nvSpPr>
        <p:spPr>
          <a:xfrm>
            <a:off x="3154680" y="4151376"/>
            <a:ext cx="713232" cy="310896"/>
          </a:xfrm>
          <a:prstGeom prst="roundRect">
            <a:avLst>
              <a:gd name="adj" fmla="val 50000"/>
            </a:avLst>
          </a:prstGeom>
          <a:solidFill>
            <a:srgbClr val="F96167"/>
          </a:solidFill>
          <a:ln/>
        </p:spPr>
      </p:sp>
      <p:sp>
        <p:nvSpPr>
          <p:cNvPr id="30" name="Text 27"/>
          <p:cNvSpPr/>
          <p:nvPr/>
        </p:nvSpPr>
        <p:spPr>
          <a:xfrm>
            <a:off x="3154680" y="4151376"/>
            <a:ext cx="713232"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SAM 3</a:t>
            </a:r>
            <a:endParaRPr lang="en-US" sz="950" dirty="0"/>
          </a:p>
        </p:txBody>
      </p:sp>
      <p:sp>
        <p:nvSpPr>
          <p:cNvPr id="31" name="Text 28"/>
          <p:cNvSpPr/>
          <p:nvPr/>
        </p:nvSpPr>
        <p:spPr>
          <a:xfrm>
            <a:off x="777240" y="4617720"/>
            <a:ext cx="3108960" cy="1234440"/>
          </a:xfrm>
          <a:prstGeom prst="rect">
            <a:avLst/>
          </a:prstGeom>
          <a:noFill/>
          <a:ln/>
        </p:spPr>
        <p:txBody>
          <a:bodyPr wrap="square" lIns="0" tIns="0" rIns="0" bIns="0" rtlCol="0" anchor="ctr"/>
          <a:lstStyle/>
          <a:p>
            <a:pPr indent="0" marL="0">
              <a:buNone/>
            </a:pPr>
            <a:r>
              <a:rPr lang="en-US" sz="1200" dirty="0">
                <a:solidFill>
                  <a:srgbClr val="1B2340"/>
                </a:solidFill>
                <a:latin typeface="Calibri" pitchFamily="34" charset="0"/>
                <a:ea typeface="Calibri" pitchFamily="34" charset="-122"/>
                <a:cs typeface="Calibri" pitchFamily="34" charset="-120"/>
              </a:rPr>
              <a:t>A short noun phrase — “yellow school bus”. Segments every matching instance at once.</a:t>
            </a:r>
            <a:endParaRPr lang="en-US" sz="1200" dirty="0"/>
          </a:p>
        </p:txBody>
      </p:sp>
      <p:sp>
        <p:nvSpPr>
          <p:cNvPr id="32" name="Shape 29"/>
          <p:cNvSpPr/>
          <p:nvPr/>
        </p:nvSpPr>
        <p:spPr>
          <a:xfrm>
            <a:off x="4389120" y="3931920"/>
            <a:ext cx="3611880" cy="2011680"/>
          </a:xfrm>
          <a:prstGeom prst="roundRect">
            <a:avLst>
              <a:gd name="adj" fmla="val 5455"/>
            </a:avLst>
          </a:prstGeom>
          <a:solidFill>
            <a:srgbClr val="F2F5FB"/>
          </a:solidFill>
          <a:ln/>
        </p:spPr>
      </p:sp>
      <p:sp>
        <p:nvSpPr>
          <p:cNvPr id="33" name="Shape 30"/>
          <p:cNvSpPr/>
          <p:nvPr/>
        </p:nvSpPr>
        <p:spPr>
          <a:xfrm>
            <a:off x="4663440" y="4187952"/>
            <a:ext cx="237744" cy="237744"/>
          </a:xfrm>
          <a:prstGeom prst="roundRect">
            <a:avLst>
              <a:gd name="adj" fmla="val 26923"/>
            </a:avLst>
          </a:prstGeom>
          <a:solidFill>
            <a:srgbClr val="1E2761"/>
          </a:solidFill>
          <a:ln/>
        </p:spPr>
      </p:sp>
      <p:sp>
        <p:nvSpPr>
          <p:cNvPr id="34" name="Text 31"/>
          <p:cNvSpPr/>
          <p:nvPr/>
        </p:nvSpPr>
        <p:spPr>
          <a:xfrm>
            <a:off x="5029200" y="4096512"/>
            <a:ext cx="1920240" cy="41148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Exemplars</a:t>
            </a:r>
            <a:endParaRPr lang="en-US" sz="1650" dirty="0"/>
          </a:p>
        </p:txBody>
      </p:sp>
      <p:sp>
        <p:nvSpPr>
          <p:cNvPr id="35" name="Shape 32"/>
          <p:cNvSpPr/>
          <p:nvPr/>
        </p:nvSpPr>
        <p:spPr>
          <a:xfrm>
            <a:off x="7040880" y="4151376"/>
            <a:ext cx="713232" cy="310896"/>
          </a:xfrm>
          <a:prstGeom prst="roundRect">
            <a:avLst>
              <a:gd name="adj" fmla="val 50000"/>
            </a:avLst>
          </a:prstGeom>
          <a:solidFill>
            <a:srgbClr val="1E2761"/>
          </a:solidFill>
          <a:ln/>
        </p:spPr>
      </p:sp>
      <p:sp>
        <p:nvSpPr>
          <p:cNvPr id="36" name="Text 33"/>
          <p:cNvSpPr/>
          <p:nvPr/>
        </p:nvSpPr>
        <p:spPr>
          <a:xfrm>
            <a:off x="7040880" y="4151376"/>
            <a:ext cx="713232"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SAM 3</a:t>
            </a:r>
            <a:endParaRPr lang="en-US" sz="950" dirty="0"/>
          </a:p>
        </p:txBody>
      </p:sp>
      <p:sp>
        <p:nvSpPr>
          <p:cNvPr id="37" name="Text 34"/>
          <p:cNvSpPr/>
          <p:nvPr/>
        </p:nvSpPr>
        <p:spPr>
          <a:xfrm>
            <a:off x="4663440" y="4617720"/>
            <a:ext cx="3108960" cy="1234440"/>
          </a:xfrm>
          <a:prstGeom prst="rect">
            <a:avLst/>
          </a:prstGeom>
          <a:noFill/>
          <a:ln/>
        </p:spPr>
        <p:txBody>
          <a:bodyPr wrap="square" lIns="0" tIns="0" rIns="0" bIns="0" rtlCol="0" anchor="ctr"/>
          <a:lstStyle/>
          <a:p>
            <a:pPr indent="0" marL="0">
              <a:buNone/>
            </a:pPr>
            <a:r>
              <a:rPr lang="en-US" sz="1200" dirty="0">
                <a:solidFill>
                  <a:srgbClr val="1B2340"/>
                </a:solidFill>
                <a:latin typeface="Calibri" pitchFamily="34" charset="0"/>
                <a:ea typeface="Calibri" pitchFamily="34" charset="-122"/>
                <a:cs typeface="Calibri" pitchFamily="34" charset="-120"/>
              </a:rPr>
              <a:t>Box one example object — SAM 3 finds all other instances of the same concept.</a:t>
            </a:r>
            <a:endParaRPr lang="en-US" sz="1200" dirty="0"/>
          </a:p>
        </p:txBody>
      </p:sp>
      <p:sp>
        <p:nvSpPr>
          <p:cNvPr id="38" name="Shape 35"/>
          <p:cNvSpPr/>
          <p:nvPr/>
        </p:nvSpPr>
        <p:spPr>
          <a:xfrm>
            <a:off x="8275320" y="3931920"/>
            <a:ext cx="3611880" cy="2011680"/>
          </a:xfrm>
          <a:prstGeom prst="roundRect">
            <a:avLst>
              <a:gd name="adj" fmla="val 5455"/>
            </a:avLst>
          </a:prstGeom>
          <a:solidFill>
            <a:srgbClr val="F2F5FB"/>
          </a:solidFill>
          <a:ln/>
        </p:spPr>
      </p:sp>
      <p:sp>
        <p:nvSpPr>
          <p:cNvPr id="39" name="Shape 36"/>
          <p:cNvSpPr/>
          <p:nvPr/>
        </p:nvSpPr>
        <p:spPr>
          <a:xfrm>
            <a:off x="8549640" y="4187952"/>
            <a:ext cx="237744" cy="237744"/>
          </a:xfrm>
          <a:prstGeom prst="roundRect">
            <a:avLst>
              <a:gd name="adj" fmla="val 26923"/>
            </a:avLst>
          </a:prstGeom>
          <a:solidFill>
            <a:srgbClr val="44506B"/>
          </a:solidFill>
          <a:ln/>
        </p:spPr>
      </p:sp>
      <p:sp>
        <p:nvSpPr>
          <p:cNvPr id="40" name="Text 37"/>
          <p:cNvSpPr/>
          <p:nvPr/>
        </p:nvSpPr>
        <p:spPr>
          <a:xfrm>
            <a:off x="8915400" y="4096512"/>
            <a:ext cx="1920240" cy="411480"/>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Combined</a:t>
            </a:r>
            <a:endParaRPr lang="en-US" sz="1650" dirty="0"/>
          </a:p>
        </p:txBody>
      </p:sp>
      <p:sp>
        <p:nvSpPr>
          <p:cNvPr id="41" name="Shape 38"/>
          <p:cNvSpPr/>
          <p:nvPr/>
        </p:nvSpPr>
        <p:spPr>
          <a:xfrm>
            <a:off x="10927080" y="4151376"/>
            <a:ext cx="713232" cy="310896"/>
          </a:xfrm>
          <a:prstGeom prst="roundRect">
            <a:avLst>
              <a:gd name="adj" fmla="val 50000"/>
            </a:avLst>
          </a:prstGeom>
          <a:solidFill>
            <a:srgbClr val="44506B"/>
          </a:solidFill>
          <a:ln/>
        </p:spPr>
      </p:sp>
      <p:sp>
        <p:nvSpPr>
          <p:cNvPr id="42" name="Text 39"/>
          <p:cNvSpPr/>
          <p:nvPr/>
        </p:nvSpPr>
        <p:spPr>
          <a:xfrm>
            <a:off x="10927080" y="4151376"/>
            <a:ext cx="713232"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SAM 3</a:t>
            </a:r>
            <a:endParaRPr lang="en-US" sz="950" dirty="0"/>
          </a:p>
        </p:txBody>
      </p:sp>
      <p:sp>
        <p:nvSpPr>
          <p:cNvPr id="43" name="Text 40"/>
          <p:cNvSpPr/>
          <p:nvPr/>
        </p:nvSpPr>
        <p:spPr>
          <a:xfrm>
            <a:off x="8549640" y="4617720"/>
            <a:ext cx="3108960" cy="1234440"/>
          </a:xfrm>
          <a:prstGeom prst="rect">
            <a:avLst/>
          </a:prstGeom>
          <a:noFill/>
          <a:ln/>
        </p:spPr>
        <p:txBody>
          <a:bodyPr wrap="square" lIns="0" tIns="0" rIns="0" bIns="0" rtlCol="0" anchor="ctr"/>
          <a:lstStyle/>
          <a:p>
            <a:pPr indent="0" marL="0">
              <a:buNone/>
            </a:pPr>
            <a:r>
              <a:rPr lang="en-US" sz="1200" dirty="0">
                <a:solidFill>
                  <a:srgbClr val="1B2340"/>
                </a:solidFill>
                <a:latin typeface="Calibri" pitchFamily="34" charset="0"/>
                <a:ea typeface="Calibri" pitchFamily="34" charset="-122"/>
                <a:cs typeface="Calibri" pitchFamily="34" charset="-120"/>
              </a:rPr>
              <a:t>Mix them: text + negative box = “all handles, but not the oven handle”.</a:t>
            </a:r>
            <a:endParaRPr lang="en-US" sz="1200" dirty="0"/>
          </a:p>
        </p:txBody>
      </p:sp>
      <p:sp>
        <p:nvSpPr>
          <p:cNvPr id="44" name="Text 41"/>
          <p:cNvSpPr/>
          <p:nvPr/>
        </p:nvSpPr>
        <p:spPr>
          <a:xfrm>
            <a:off x="502920" y="6172200"/>
            <a:ext cx="11155680" cy="384048"/>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SAM 1 &amp; 2 answer “segment THIS thing” → SAM 3 also answers “segment ALL such things”.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SAM Family Tree</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Two community forks, then two Meta leaps</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sp>
        <p:nvSpPr>
          <p:cNvPr id="8" name="Shape 5"/>
          <p:cNvSpPr/>
          <p:nvPr/>
        </p:nvSpPr>
        <p:spPr>
          <a:xfrm>
            <a:off x="1005840" y="3310128"/>
            <a:ext cx="10149840" cy="0"/>
          </a:xfrm>
          <a:prstGeom prst="line">
            <a:avLst/>
          </a:prstGeom>
          <a:noFill/>
          <a:ln w="31750">
            <a:solidFill>
              <a:srgbClr val="44506B"/>
            </a:solidFill>
            <a:prstDash val="solid"/>
          </a:ln>
        </p:spPr>
      </p:sp>
      <p:sp>
        <p:nvSpPr>
          <p:cNvPr id="9" name="Shape 6"/>
          <p:cNvSpPr/>
          <p:nvPr/>
        </p:nvSpPr>
        <p:spPr>
          <a:xfrm>
            <a:off x="877824" y="3182112"/>
            <a:ext cx="256032" cy="256032"/>
          </a:xfrm>
          <a:prstGeom prst="ellipse">
            <a:avLst/>
          </a:prstGeom>
          <a:solidFill>
            <a:srgbClr val="1E2761"/>
          </a:solidFill>
          <a:ln w="25400">
            <a:solidFill>
              <a:srgbClr val="FFFFFF"/>
            </a:solidFill>
            <a:prstDash val="solid"/>
          </a:ln>
        </p:spPr>
      </p:sp>
      <p:sp>
        <p:nvSpPr>
          <p:cNvPr id="10" name="Shape 7"/>
          <p:cNvSpPr/>
          <p:nvPr/>
        </p:nvSpPr>
        <p:spPr>
          <a:xfrm>
            <a:off x="457200" y="1828800"/>
            <a:ext cx="2103120" cy="1143000"/>
          </a:xfrm>
          <a:prstGeom prst="roundRect">
            <a:avLst>
              <a:gd name="adj" fmla="val 8000"/>
            </a:avLst>
          </a:prstGeom>
          <a:solidFill>
            <a:srgbClr val="F2F5FB"/>
          </a:solidFill>
          <a:ln w="15875">
            <a:solidFill>
              <a:srgbClr val="1E2761"/>
            </a:solidFill>
            <a:prstDash val="solid"/>
          </a:ln>
        </p:spPr>
      </p:sp>
      <p:sp>
        <p:nvSpPr>
          <p:cNvPr id="11" name="Text 8"/>
          <p:cNvSpPr/>
          <p:nvPr/>
        </p:nvSpPr>
        <p:spPr>
          <a:xfrm>
            <a:off x="594360" y="1920240"/>
            <a:ext cx="182880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Apr 2023</a:t>
            </a:r>
            <a:endParaRPr lang="en-US" sz="1050" dirty="0"/>
          </a:p>
        </p:txBody>
      </p:sp>
      <p:sp>
        <p:nvSpPr>
          <p:cNvPr id="12" name="Text 9"/>
          <p:cNvSpPr/>
          <p:nvPr/>
        </p:nvSpPr>
        <p:spPr>
          <a:xfrm>
            <a:off x="594360" y="2176272"/>
            <a:ext cx="1828800" cy="347472"/>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SAM</a:t>
            </a:r>
            <a:endParaRPr lang="en-US" sz="1600" dirty="0"/>
          </a:p>
        </p:txBody>
      </p:sp>
      <p:sp>
        <p:nvSpPr>
          <p:cNvPr id="13" name="Text 10"/>
          <p:cNvSpPr/>
          <p:nvPr/>
        </p:nvSpPr>
        <p:spPr>
          <a:xfrm>
            <a:off x="594360" y="2505456"/>
            <a:ext cx="1874520" cy="438912"/>
          </a:xfrm>
          <a:prstGeom prst="rect">
            <a:avLst/>
          </a:prstGeom>
          <a:noFill/>
          <a:ln/>
        </p:spPr>
        <p:txBody>
          <a:bodyPr wrap="square" lIns="0" tIns="0" rIns="0" bIns="0" rtlCol="0" anchor="ctr"/>
          <a:lstStyle/>
          <a:p>
            <a:pPr indent="0" marL="0">
              <a:buNone/>
            </a:pPr>
            <a:r>
              <a:rPr lang="en-US" sz="1000" dirty="0">
                <a:solidFill>
                  <a:srgbClr val="44506B"/>
                </a:solidFill>
                <a:latin typeface="Calibri" pitchFamily="34" charset="0"/>
                <a:ea typeface="Calibri" pitchFamily="34" charset="-122"/>
                <a:cs typeface="Calibri" pitchFamily="34" charset="-120"/>
              </a:rPr>
              <a:t>the original — promptable masks</a:t>
            </a:r>
            <a:endParaRPr lang="en-US" sz="1000" dirty="0"/>
          </a:p>
        </p:txBody>
      </p:sp>
      <p:sp>
        <p:nvSpPr>
          <p:cNvPr id="14" name="Shape 11"/>
          <p:cNvSpPr/>
          <p:nvPr/>
        </p:nvSpPr>
        <p:spPr>
          <a:xfrm>
            <a:off x="3415284" y="3182112"/>
            <a:ext cx="256032" cy="256032"/>
          </a:xfrm>
          <a:prstGeom prst="ellipse">
            <a:avLst/>
          </a:prstGeom>
          <a:solidFill>
            <a:srgbClr val="F2B33D"/>
          </a:solidFill>
          <a:ln w="25400">
            <a:solidFill>
              <a:srgbClr val="FFFFFF"/>
            </a:solidFill>
            <a:prstDash val="solid"/>
          </a:ln>
        </p:spPr>
      </p:sp>
      <p:sp>
        <p:nvSpPr>
          <p:cNvPr id="15" name="Shape 12"/>
          <p:cNvSpPr/>
          <p:nvPr/>
        </p:nvSpPr>
        <p:spPr>
          <a:xfrm>
            <a:off x="2491740" y="3749040"/>
            <a:ext cx="2103120" cy="1143000"/>
          </a:xfrm>
          <a:prstGeom prst="roundRect">
            <a:avLst>
              <a:gd name="adj" fmla="val 8000"/>
            </a:avLst>
          </a:prstGeom>
          <a:solidFill>
            <a:srgbClr val="F2F5FB"/>
          </a:solidFill>
          <a:ln w="15875">
            <a:solidFill>
              <a:srgbClr val="F2B33D"/>
            </a:solidFill>
            <a:prstDash val="solid"/>
          </a:ln>
        </p:spPr>
      </p:sp>
      <p:sp>
        <p:nvSpPr>
          <p:cNvPr id="16" name="Text 13"/>
          <p:cNvSpPr/>
          <p:nvPr/>
        </p:nvSpPr>
        <p:spPr>
          <a:xfrm>
            <a:off x="2628900" y="3840480"/>
            <a:ext cx="1828800" cy="274320"/>
          </a:xfrm>
          <a:prstGeom prst="rect">
            <a:avLst/>
          </a:prstGeom>
          <a:noFill/>
          <a:ln/>
        </p:spPr>
        <p:txBody>
          <a:bodyPr wrap="square" lIns="0" tIns="0" rIns="0" bIns="0" rtlCol="0" anchor="ctr"/>
          <a:lstStyle/>
          <a:p>
            <a:pPr indent="0" marL="0">
              <a:buNone/>
            </a:pPr>
            <a:r>
              <a:rPr lang="en-US" sz="1050" b="1" dirty="0">
                <a:solidFill>
                  <a:srgbClr val="F2B33D"/>
                </a:solidFill>
                <a:latin typeface="Calibri" pitchFamily="34" charset="0"/>
                <a:ea typeface="Calibri" pitchFamily="34" charset="-122"/>
                <a:cs typeface="Calibri" pitchFamily="34" charset="-120"/>
              </a:rPr>
              <a:t>Jun 2023</a:t>
            </a:r>
            <a:endParaRPr lang="en-US" sz="1050" dirty="0"/>
          </a:p>
        </p:txBody>
      </p:sp>
      <p:sp>
        <p:nvSpPr>
          <p:cNvPr id="17" name="Text 14"/>
          <p:cNvSpPr/>
          <p:nvPr/>
        </p:nvSpPr>
        <p:spPr>
          <a:xfrm>
            <a:off x="2628900" y="4096512"/>
            <a:ext cx="1828800" cy="347472"/>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FastSAM</a:t>
            </a:r>
            <a:endParaRPr lang="en-US" sz="1600" dirty="0"/>
          </a:p>
        </p:txBody>
      </p:sp>
      <p:sp>
        <p:nvSpPr>
          <p:cNvPr id="18" name="Text 15"/>
          <p:cNvSpPr/>
          <p:nvPr/>
        </p:nvSpPr>
        <p:spPr>
          <a:xfrm>
            <a:off x="2628900" y="4425696"/>
            <a:ext cx="1874520" cy="438912"/>
          </a:xfrm>
          <a:prstGeom prst="rect">
            <a:avLst/>
          </a:prstGeom>
          <a:noFill/>
          <a:ln/>
        </p:spPr>
        <p:txBody>
          <a:bodyPr wrap="square" lIns="0" tIns="0" rIns="0" bIns="0" rtlCol="0" anchor="ctr"/>
          <a:lstStyle/>
          <a:p>
            <a:pPr indent="0" marL="0">
              <a:buNone/>
            </a:pPr>
            <a:r>
              <a:rPr lang="en-US" sz="1000" dirty="0">
                <a:solidFill>
                  <a:srgbClr val="44506B"/>
                </a:solidFill>
                <a:latin typeface="Calibri" pitchFamily="34" charset="0"/>
                <a:ea typeface="Calibri" pitchFamily="34" charset="-122"/>
                <a:cs typeface="Calibri" pitchFamily="34" charset="-120"/>
              </a:rPr>
              <a:t>CNN (YOLOv8-seg) — ~50× faster</a:t>
            </a:r>
            <a:endParaRPr lang="en-US" sz="1000" dirty="0"/>
          </a:p>
        </p:txBody>
      </p:sp>
      <p:sp>
        <p:nvSpPr>
          <p:cNvPr id="19" name="Shape 16"/>
          <p:cNvSpPr/>
          <p:nvPr/>
        </p:nvSpPr>
        <p:spPr>
          <a:xfrm>
            <a:off x="5952744" y="3182112"/>
            <a:ext cx="256032" cy="256032"/>
          </a:xfrm>
          <a:prstGeom prst="ellipse">
            <a:avLst/>
          </a:prstGeom>
          <a:solidFill>
            <a:srgbClr val="02C39A"/>
          </a:solidFill>
          <a:ln w="25400">
            <a:solidFill>
              <a:srgbClr val="FFFFFF"/>
            </a:solidFill>
            <a:prstDash val="solid"/>
          </a:ln>
        </p:spPr>
      </p:sp>
      <p:sp>
        <p:nvSpPr>
          <p:cNvPr id="20" name="Shape 17"/>
          <p:cNvSpPr/>
          <p:nvPr/>
        </p:nvSpPr>
        <p:spPr>
          <a:xfrm>
            <a:off x="5029200" y="1828800"/>
            <a:ext cx="2103120" cy="1143000"/>
          </a:xfrm>
          <a:prstGeom prst="roundRect">
            <a:avLst>
              <a:gd name="adj" fmla="val 8000"/>
            </a:avLst>
          </a:prstGeom>
          <a:solidFill>
            <a:srgbClr val="F2F5FB"/>
          </a:solidFill>
          <a:ln w="15875">
            <a:solidFill>
              <a:srgbClr val="02C39A"/>
            </a:solidFill>
            <a:prstDash val="solid"/>
          </a:ln>
        </p:spPr>
      </p:sp>
      <p:sp>
        <p:nvSpPr>
          <p:cNvPr id="21" name="Text 18"/>
          <p:cNvSpPr/>
          <p:nvPr/>
        </p:nvSpPr>
        <p:spPr>
          <a:xfrm>
            <a:off x="5166360" y="1920240"/>
            <a:ext cx="1828800" cy="274320"/>
          </a:xfrm>
          <a:prstGeom prst="rect">
            <a:avLst/>
          </a:prstGeom>
          <a:noFill/>
          <a:ln/>
        </p:spPr>
        <p:txBody>
          <a:bodyPr wrap="square" lIns="0" tIns="0" rIns="0" bIns="0"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Jun 2023</a:t>
            </a:r>
            <a:endParaRPr lang="en-US" sz="1050" dirty="0"/>
          </a:p>
        </p:txBody>
      </p:sp>
      <p:sp>
        <p:nvSpPr>
          <p:cNvPr id="22" name="Text 19"/>
          <p:cNvSpPr/>
          <p:nvPr/>
        </p:nvSpPr>
        <p:spPr>
          <a:xfrm>
            <a:off x="5166360" y="2176272"/>
            <a:ext cx="1828800" cy="347472"/>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MobileSAM</a:t>
            </a:r>
            <a:endParaRPr lang="en-US" sz="1600" dirty="0"/>
          </a:p>
        </p:txBody>
      </p:sp>
      <p:sp>
        <p:nvSpPr>
          <p:cNvPr id="23" name="Text 20"/>
          <p:cNvSpPr/>
          <p:nvPr/>
        </p:nvSpPr>
        <p:spPr>
          <a:xfrm>
            <a:off x="5166360" y="2505456"/>
            <a:ext cx="1874520" cy="438912"/>
          </a:xfrm>
          <a:prstGeom prst="rect">
            <a:avLst/>
          </a:prstGeom>
          <a:noFill/>
          <a:ln/>
        </p:spPr>
        <p:txBody>
          <a:bodyPr wrap="square" lIns="0" tIns="0" rIns="0" bIns="0" rtlCol="0" anchor="ctr"/>
          <a:lstStyle/>
          <a:p>
            <a:pPr indent="0" marL="0">
              <a:buNone/>
            </a:pPr>
            <a:r>
              <a:rPr lang="en-US" sz="1000" dirty="0">
                <a:solidFill>
                  <a:srgbClr val="44506B"/>
                </a:solidFill>
                <a:latin typeface="Calibri" pitchFamily="34" charset="0"/>
                <a:ea typeface="Calibri" pitchFamily="34" charset="-122"/>
                <a:cs typeface="Calibri" pitchFamily="34" charset="-120"/>
              </a:rPr>
              <a:t>distilled encoder — 60× smaller</a:t>
            </a:r>
            <a:endParaRPr lang="en-US" sz="1000" dirty="0"/>
          </a:p>
        </p:txBody>
      </p:sp>
      <p:sp>
        <p:nvSpPr>
          <p:cNvPr id="24" name="Shape 21"/>
          <p:cNvSpPr/>
          <p:nvPr/>
        </p:nvSpPr>
        <p:spPr>
          <a:xfrm>
            <a:off x="8490204" y="3182112"/>
            <a:ext cx="256032" cy="256032"/>
          </a:xfrm>
          <a:prstGeom prst="ellipse">
            <a:avLst/>
          </a:prstGeom>
          <a:solidFill>
            <a:srgbClr val="3E7CB1"/>
          </a:solidFill>
          <a:ln w="25400">
            <a:solidFill>
              <a:srgbClr val="FFFFFF"/>
            </a:solidFill>
            <a:prstDash val="solid"/>
          </a:ln>
        </p:spPr>
      </p:sp>
      <p:sp>
        <p:nvSpPr>
          <p:cNvPr id="25" name="Shape 22"/>
          <p:cNvSpPr/>
          <p:nvPr/>
        </p:nvSpPr>
        <p:spPr>
          <a:xfrm>
            <a:off x="7566660" y="3749040"/>
            <a:ext cx="2103120" cy="1143000"/>
          </a:xfrm>
          <a:prstGeom prst="roundRect">
            <a:avLst>
              <a:gd name="adj" fmla="val 8000"/>
            </a:avLst>
          </a:prstGeom>
          <a:solidFill>
            <a:srgbClr val="F2F5FB"/>
          </a:solidFill>
          <a:ln w="15875">
            <a:solidFill>
              <a:srgbClr val="3E7CB1"/>
            </a:solidFill>
            <a:prstDash val="solid"/>
          </a:ln>
        </p:spPr>
      </p:sp>
      <p:sp>
        <p:nvSpPr>
          <p:cNvPr id="26" name="Text 23"/>
          <p:cNvSpPr/>
          <p:nvPr/>
        </p:nvSpPr>
        <p:spPr>
          <a:xfrm>
            <a:off x="7703820" y="3840480"/>
            <a:ext cx="1828800" cy="274320"/>
          </a:xfrm>
          <a:prstGeom prst="rect">
            <a:avLst/>
          </a:prstGeom>
          <a:noFill/>
          <a:ln/>
        </p:spPr>
        <p:txBody>
          <a:bodyPr wrap="square" lIns="0" tIns="0" rIns="0" bIns="0" rtlCol="0" anchor="ctr"/>
          <a:lstStyle/>
          <a:p>
            <a:pPr indent="0" marL="0">
              <a:buNone/>
            </a:pPr>
            <a:r>
              <a:rPr lang="en-US" sz="1050" b="1" dirty="0">
                <a:solidFill>
                  <a:srgbClr val="3E7CB1"/>
                </a:solidFill>
                <a:latin typeface="Calibri" pitchFamily="34" charset="0"/>
                <a:ea typeface="Calibri" pitchFamily="34" charset="-122"/>
                <a:cs typeface="Calibri" pitchFamily="34" charset="-120"/>
              </a:rPr>
              <a:t>Jul 2024</a:t>
            </a:r>
            <a:endParaRPr lang="en-US" sz="1050" dirty="0"/>
          </a:p>
        </p:txBody>
      </p:sp>
      <p:sp>
        <p:nvSpPr>
          <p:cNvPr id="27" name="Text 24"/>
          <p:cNvSpPr/>
          <p:nvPr/>
        </p:nvSpPr>
        <p:spPr>
          <a:xfrm>
            <a:off x="7703820" y="4096512"/>
            <a:ext cx="1828800" cy="347472"/>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SAM 2</a:t>
            </a:r>
            <a:endParaRPr lang="en-US" sz="1600" dirty="0"/>
          </a:p>
        </p:txBody>
      </p:sp>
      <p:sp>
        <p:nvSpPr>
          <p:cNvPr id="28" name="Text 25"/>
          <p:cNvSpPr/>
          <p:nvPr/>
        </p:nvSpPr>
        <p:spPr>
          <a:xfrm>
            <a:off x="7703820" y="4425696"/>
            <a:ext cx="1874520" cy="438912"/>
          </a:xfrm>
          <a:prstGeom prst="rect">
            <a:avLst/>
          </a:prstGeom>
          <a:noFill/>
          <a:ln/>
        </p:spPr>
        <p:txBody>
          <a:bodyPr wrap="square" lIns="0" tIns="0" rIns="0" bIns="0" rtlCol="0" anchor="ctr"/>
          <a:lstStyle/>
          <a:p>
            <a:pPr indent="0" marL="0">
              <a:buNone/>
            </a:pPr>
            <a:r>
              <a:rPr lang="en-US" sz="1000" dirty="0">
                <a:solidFill>
                  <a:srgbClr val="44506B"/>
                </a:solidFill>
                <a:latin typeface="Calibri" pitchFamily="34" charset="0"/>
                <a:ea typeface="Calibri" pitchFamily="34" charset="-122"/>
                <a:cs typeface="Calibri" pitchFamily="34" charset="-120"/>
              </a:rPr>
              <a:t>video + streaming memory</a:t>
            </a:r>
            <a:endParaRPr lang="en-US" sz="1000" dirty="0"/>
          </a:p>
        </p:txBody>
      </p:sp>
      <p:sp>
        <p:nvSpPr>
          <p:cNvPr id="29" name="Shape 26"/>
          <p:cNvSpPr/>
          <p:nvPr/>
        </p:nvSpPr>
        <p:spPr>
          <a:xfrm>
            <a:off x="11027664" y="3182112"/>
            <a:ext cx="256032" cy="256032"/>
          </a:xfrm>
          <a:prstGeom prst="ellipse">
            <a:avLst/>
          </a:prstGeom>
          <a:solidFill>
            <a:srgbClr val="F96167"/>
          </a:solidFill>
          <a:ln w="25400">
            <a:solidFill>
              <a:srgbClr val="FFFFFF"/>
            </a:solidFill>
            <a:prstDash val="solid"/>
          </a:ln>
        </p:spPr>
      </p:sp>
      <p:sp>
        <p:nvSpPr>
          <p:cNvPr id="30" name="Shape 27"/>
          <p:cNvSpPr/>
          <p:nvPr/>
        </p:nvSpPr>
        <p:spPr>
          <a:xfrm>
            <a:off x="9628632" y="1828800"/>
            <a:ext cx="2103120" cy="1143000"/>
          </a:xfrm>
          <a:prstGeom prst="roundRect">
            <a:avLst>
              <a:gd name="adj" fmla="val 8000"/>
            </a:avLst>
          </a:prstGeom>
          <a:solidFill>
            <a:srgbClr val="F2F5FB"/>
          </a:solidFill>
          <a:ln w="15875">
            <a:solidFill>
              <a:srgbClr val="F96167"/>
            </a:solidFill>
            <a:prstDash val="solid"/>
          </a:ln>
        </p:spPr>
      </p:sp>
      <p:sp>
        <p:nvSpPr>
          <p:cNvPr id="31" name="Text 28"/>
          <p:cNvSpPr/>
          <p:nvPr/>
        </p:nvSpPr>
        <p:spPr>
          <a:xfrm>
            <a:off x="9765792" y="1920240"/>
            <a:ext cx="1828800" cy="274320"/>
          </a:xfrm>
          <a:prstGeom prst="rect">
            <a:avLst/>
          </a:prstGeom>
          <a:noFill/>
          <a:ln/>
        </p:spPr>
        <p:txBody>
          <a:bodyPr wrap="square" lIns="0" tIns="0" rIns="0" bIns="0" rtlCol="0" anchor="ctr"/>
          <a:lstStyle/>
          <a:p>
            <a:pPr indent="0" marL="0">
              <a:buNone/>
            </a:pPr>
            <a:r>
              <a:rPr lang="en-US" sz="1050" b="1" dirty="0">
                <a:solidFill>
                  <a:srgbClr val="F96167"/>
                </a:solidFill>
                <a:latin typeface="Calibri" pitchFamily="34" charset="0"/>
                <a:ea typeface="Calibri" pitchFamily="34" charset="-122"/>
                <a:cs typeface="Calibri" pitchFamily="34" charset="-120"/>
              </a:rPr>
              <a:t>Nov 2025</a:t>
            </a:r>
            <a:endParaRPr lang="en-US" sz="1050" dirty="0"/>
          </a:p>
        </p:txBody>
      </p:sp>
      <p:sp>
        <p:nvSpPr>
          <p:cNvPr id="32" name="Text 29"/>
          <p:cNvSpPr/>
          <p:nvPr/>
        </p:nvSpPr>
        <p:spPr>
          <a:xfrm>
            <a:off x="9765792" y="2176272"/>
            <a:ext cx="1828800" cy="347472"/>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SAM 3</a:t>
            </a:r>
            <a:endParaRPr lang="en-US" sz="1600" dirty="0"/>
          </a:p>
        </p:txBody>
      </p:sp>
      <p:sp>
        <p:nvSpPr>
          <p:cNvPr id="33" name="Text 30"/>
          <p:cNvSpPr/>
          <p:nvPr/>
        </p:nvSpPr>
        <p:spPr>
          <a:xfrm>
            <a:off x="9765792" y="2505456"/>
            <a:ext cx="1874520" cy="438912"/>
          </a:xfrm>
          <a:prstGeom prst="rect">
            <a:avLst/>
          </a:prstGeom>
          <a:noFill/>
          <a:ln/>
        </p:spPr>
        <p:txBody>
          <a:bodyPr wrap="square" lIns="0" tIns="0" rIns="0" bIns="0" rtlCol="0" anchor="ctr"/>
          <a:lstStyle/>
          <a:p>
            <a:pPr indent="0" marL="0">
              <a:buNone/>
            </a:pPr>
            <a:r>
              <a:rPr lang="en-US" sz="1000" dirty="0">
                <a:solidFill>
                  <a:srgbClr val="44506B"/>
                </a:solidFill>
                <a:latin typeface="Calibri" pitchFamily="34" charset="0"/>
                <a:ea typeface="Calibri" pitchFamily="34" charset="-122"/>
                <a:cs typeface="Calibri" pitchFamily="34" charset="-120"/>
              </a:rPr>
              <a:t>concepts: text &amp; exemplar prompts</a:t>
            </a:r>
            <a:endParaRPr lang="en-US" sz="1000" dirty="0"/>
          </a:p>
        </p:txBody>
      </p:sp>
      <p:sp>
        <p:nvSpPr>
          <p:cNvPr id="34" name="Text 31"/>
          <p:cNvSpPr/>
          <p:nvPr/>
        </p:nvSpPr>
        <p:spPr>
          <a:xfrm>
            <a:off x="502920" y="5349240"/>
            <a:ext cx="11155680" cy="731520"/>
          </a:xfrm>
          <a:prstGeom prst="rect">
            <a:avLst/>
          </a:prstGeom>
          <a:noFill/>
          <a:ln/>
        </p:spPr>
        <p:txBody>
          <a:bodyPr wrap="square" lIns="0" tIns="0" rIns="0" bIns="0" rtlCol="0" anchor="ctr"/>
          <a:lstStyle/>
          <a:p>
            <a:pPr algn="ctr" indent="0" marL="0">
              <a:buNone/>
            </a:pPr>
            <a:r>
              <a:rPr lang="en-US" sz="1400" dirty="0">
                <a:solidFill>
                  <a:srgbClr val="44506B"/>
                </a:solidFill>
                <a:latin typeface="Calibri" pitchFamily="34" charset="0"/>
                <a:ea typeface="Calibri" pitchFamily="34" charset="-122"/>
                <a:cs typeface="Calibri" pitchFamily="34" charset="-120"/>
              </a:rPr>
              <a:t>Two pressures drove the family: </a:t>
            </a:r>
            <a:pPr algn="ctr" indent="0" marL="0">
              <a:buNone/>
            </a:pPr>
            <a:r>
              <a:rPr lang="en-US" sz="1400" b="1" dirty="0">
                <a:solidFill>
                  <a:srgbClr val="1E2761"/>
                </a:solidFill>
                <a:latin typeface="Calibri" pitchFamily="34" charset="0"/>
                <a:ea typeface="Calibri" pitchFamily="34" charset="-122"/>
                <a:cs typeface="Calibri" pitchFamily="34" charset="-120"/>
              </a:rPr>
              <a:t>speed/size</a:t>
            </a:r>
            <a:pPr algn="ctr" indent="0" marL="0">
              <a:buNone/>
            </a:pPr>
            <a:r>
              <a:rPr lang="en-US" sz="1400" dirty="0">
                <a:solidFill>
                  <a:srgbClr val="44506B"/>
                </a:solidFill>
                <a:latin typeface="Calibri" pitchFamily="34" charset="0"/>
                <a:ea typeface="Calibri" pitchFamily="34" charset="-122"/>
                <a:cs typeface="Calibri" pitchFamily="34" charset="-120"/>
              </a:rPr>
              <a:t> (FastSAM, MobileSAM) and </a:t>
            </a:r>
            <a:pPr algn="ctr" indent="0" marL="0">
              <a:buNone/>
            </a:pPr>
            <a:r>
              <a:rPr lang="en-US" sz="1400" b="1" dirty="0">
                <a:solidFill>
                  <a:srgbClr val="1E2761"/>
                </a:solidFill>
                <a:latin typeface="Calibri" pitchFamily="34" charset="0"/>
                <a:ea typeface="Calibri" pitchFamily="34" charset="-122"/>
                <a:cs typeface="Calibri" pitchFamily="34" charset="-120"/>
              </a:rPr>
              <a:t>capability</a:t>
            </a:r>
            <a:pPr algn="ctr" indent="0" marL="0">
              <a:buNone/>
            </a:pPr>
            <a:r>
              <a:rPr lang="en-US" sz="1400" dirty="0">
                <a:solidFill>
                  <a:srgbClr val="44506B"/>
                </a:solidFill>
                <a:latin typeface="Calibri" pitchFamily="34" charset="0"/>
                <a:ea typeface="Calibri" pitchFamily="34" charset="-122"/>
                <a:cs typeface="Calibri" pitchFamily="34" charset="-120"/>
              </a:rPr>
              <a:t> (SAM 2 video, SAM 3 concepts).  SAM 3.1 (Mar 2026) added faster multi-object tracking.</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Making SAM Small &amp; Fast</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MobileSAM distills it — FastSAM rebuilds it</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sp>
        <p:nvSpPr>
          <p:cNvPr id="8" name="Text 5"/>
          <p:cNvSpPr/>
          <p:nvPr/>
        </p:nvSpPr>
        <p:spPr>
          <a:xfrm>
            <a:off x="502920" y="1554480"/>
            <a:ext cx="5486400" cy="365760"/>
          </a:xfrm>
          <a:prstGeom prst="rect">
            <a:avLst/>
          </a:prstGeom>
          <a:noFill/>
          <a:ln/>
        </p:spPr>
        <p:txBody>
          <a:bodyPr wrap="square" lIns="0" tIns="0" rIns="0" bIns="0" rtlCol="0" anchor="ctr"/>
          <a:lstStyle/>
          <a:p>
            <a:pPr indent="0" marL="0">
              <a:buNone/>
            </a:pPr>
            <a:r>
              <a:rPr lang="en-US" sz="1700" b="1" dirty="0">
                <a:solidFill>
                  <a:srgbClr val="02C39A"/>
                </a:solidFill>
                <a:latin typeface="Calibri" pitchFamily="34" charset="0"/>
                <a:ea typeface="Calibri" pitchFamily="34" charset="-122"/>
                <a:cs typeface="Calibri" pitchFamily="34" charset="-120"/>
              </a:rPr>
              <a:t>MobileSAM — distillation</a:t>
            </a:r>
            <a:endParaRPr lang="en-US" sz="1700" dirty="0"/>
          </a:p>
        </p:txBody>
      </p:sp>
      <p:pic>
        <p:nvPicPr>
          <p:cNvPr id="9" name="Image 0" descr="img/mobilesam.jpg">    </p:cNvPr>
          <p:cNvPicPr>
            <a:picLocks noChangeAspect="1"/>
          </p:cNvPicPr>
          <p:nvPr/>
        </p:nvPicPr>
        <p:blipFill>
          <a:blip r:embed="rId1"/>
          <a:stretch>
            <a:fillRect/>
          </a:stretch>
        </p:blipFill>
        <p:spPr>
          <a:xfrm>
            <a:off x="502920" y="2011680"/>
            <a:ext cx="5577840" cy="2020824"/>
          </a:xfrm>
          <a:prstGeom prst="rect">
            <a:avLst/>
          </a:prstGeom>
        </p:spPr>
      </p:pic>
      <p:sp>
        <p:nvSpPr>
          <p:cNvPr id="10" name="Text 6"/>
          <p:cNvSpPr/>
          <p:nvPr/>
        </p:nvSpPr>
        <p:spPr>
          <a:xfrm>
            <a:off x="502920" y="4069080"/>
            <a:ext cx="5577840" cy="256032"/>
          </a:xfrm>
          <a:prstGeom prst="rect">
            <a:avLst/>
          </a:prstGeom>
          <a:noFill/>
          <a:ln/>
        </p:spPr>
        <p:txBody>
          <a:bodyPr wrap="square" lIns="0" tIns="0" rIns="0" bIns="0" rtlCol="0" anchor="ctr"/>
          <a:lstStyle/>
          <a:p>
            <a:pPr indent="0" marL="0">
              <a:buNone/>
            </a:pPr>
            <a:r>
              <a:rPr lang="en-US" sz="950" i="1" dirty="0">
                <a:solidFill>
                  <a:srgbClr val="44506B"/>
                </a:solidFill>
                <a:latin typeface="Calibri" pitchFamily="34" charset="0"/>
                <a:ea typeface="Calibri" pitchFamily="34" charset="-122"/>
                <a:cs typeface="Calibri" pitchFamily="34" charset="-120"/>
              </a:rPr>
              <a:t>Source: github.com/ChaoningZhang/MobileSAM</a:t>
            </a:r>
            <a:endParaRPr lang="en-US" sz="950" dirty="0"/>
          </a:p>
        </p:txBody>
      </p:sp>
      <p:sp>
        <p:nvSpPr>
          <p:cNvPr id="11" name="Text 7"/>
          <p:cNvSpPr/>
          <p:nvPr/>
        </p:nvSpPr>
        <p:spPr>
          <a:xfrm>
            <a:off x="502920" y="4434840"/>
            <a:ext cx="5577840" cy="155448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ViT-H (632M) → TinyViT (5.78M) encoder, ~60× smaller</a:t>
            </a:r>
            <a:endParaRPr lang="en-US" sz="1250" dirty="0"/>
          </a:p>
          <a:p>
            <a:pPr marL="342900" indent="-3429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Student mimics teacher embeddings — decoder unchanged</a:t>
            </a:r>
            <a:endParaRPr lang="en-US" sz="1250" dirty="0"/>
          </a:p>
          <a:p>
            <a:pPr marL="342900" indent="-342900">
              <a:buSzPct val="100000"/>
              <a:buChar char="•"/>
            </a:pPr>
            <a:r>
              <a:rPr lang="en-US" sz="1250" dirty="0">
                <a:solidFill>
                  <a:srgbClr val="1B2340"/>
                </a:solidFill>
                <a:latin typeface="Calibri" pitchFamily="34" charset="0"/>
                <a:ea typeface="Calibri" pitchFamily="34" charset="-122"/>
                <a:cs typeface="Calibri" pitchFamily="34" charset="-120"/>
              </a:rPr>
              <a:t>Runs on mobile/edge; same point &amp; box prompting</a:t>
            </a:r>
            <a:endParaRPr lang="en-US" sz="1250" dirty="0"/>
          </a:p>
        </p:txBody>
      </p:sp>
      <p:sp>
        <p:nvSpPr>
          <p:cNvPr id="12" name="Text 8"/>
          <p:cNvSpPr/>
          <p:nvPr/>
        </p:nvSpPr>
        <p:spPr>
          <a:xfrm>
            <a:off x="6400800" y="1554480"/>
            <a:ext cx="5303520" cy="365760"/>
          </a:xfrm>
          <a:prstGeom prst="rect">
            <a:avLst/>
          </a:prstGeom>
          <a:noFill/>
          <a:ln/>
        </p:spPr>
        <p:txBody>
          <a:bodyPr wrap="square" lIns="0" tIns="0" rIns="0" bIns="0" rtlCol="0" anchor="ctr"/>
          <a:lstStyle/>
          <a:p>
            <a:pPr indent="0" marL="0">
              <a:buNone/>
            </a:pPr>
            <a:r>
              <a:rPr lang="en-US" sz="1700" b="1" dirty="0">
                <a:solidFill>
                  <a:srgbClr val="F2B33D"/>
                </a:solidFill>
                <a:latin typeface="Calibri" pitchFamily="34" charset="0"/>
                <a:ea typeface="Calibri" pitchFamily="34" charset="-122"/>
                <a:cs typeface="Calibri" pitchFamily="34" charset="-120"/>
              </a:rPr>
              <a:t>FastSAM — a CNN re-think</a:t>
            </a:r>
            <a:endParaRPr lang="en-US" sz="1700" dirty="0"/>
          </a:p>
        </p:txBody>
      </p:sp>
      <p:pic>
        <p:nvPicPr>
          <p:cNvPr id="13" name="Image 1" descr="img/fastsam.jpg">    </p:cNvPr>
          <p:cNvPicPr>
            <a:picLocks noChangeAspect="1"/>
          </p:cNvPicPr>
          <p:nvPr/>
        </p:nvPicPr>
        <p:blipFill>
          <a:blip r:embed="rId2"/>
          <a:stretch>
            <a:fillRect/>
          </a:stretch>
        </p:blipFill>
        <p:spPr>
          <a:xfrm>
            <a:off x="6400800" y="2011680"/>
            <a:ext cx="3566160" cy="2569464"/>
          </a:xfrm>
          <a:prstGeom prst="rect">
            <a:avLst/>
          </a:prstGeom>
        </p:spPr>
      </p:pic>
      <p:sp>
        <p:nvSpPr>
          <p:cNvPr id="14" name="Text 9"/>
          <p:cNvSpPr/>
          <p:nvPr/>
        </p:nvSpPr>
        <p:spPr>
          <a:xfrm>
            <a:off x="6400800" y="4617720"/>
            <a:ext cx="5303520" cy="256032"/>
          </a:xfrm>
          <a:prstGeom prst="rect">
            <a:avLst/>
          </a:prstGeom>
          <a:noFill/>
          <a:ln/>
        </p:spPr>
        <p:txBody>
          <a:bodyPr wrap="square" lIns="0" tIns="0" rIns="0" bIns="0" rtlCol="0" anchor="ctr"/>
          <a:lstStyle/>
          <a:p>
            <a:pPr indent="0" marL="0">
              <a:buNone/>
            </a:pPr>
            <a:r>
              <a:rPr lang="en-US" sz="950" i="1" dirty="0">
                <a:solidFill>
                  <a:srgbClr val="44506B"/>
                </a:solidFill>
                <a:latin typeface="Calibri" pitchFamily="34" charset="0"/>
                <a:ea typeface="Calibri" pitchFamily="34" charset="-122"/>
                <a:cs typeface="Calibri" pitchFamily="34" charset="-120"/>
              </a:rPr>
              <a:t>Source: github.com/CASIA-IVA-Lab/FastSAM</a:t>
            </a:r>
            <a:endParaRPr lang="en-US" sz="950" dirty="0"/>
          </a:p>
        </p:txBody>
      </p:sp>
      <p:sp>
        <p:nvSpPr>
          <p:cNvPr id="15" name="Text 10"/>
          <p:cNvSpPr/>
          <p:nvPr/>
        </p:nvSpPr>
        <p:spPr>
          <a:xfrm>
            <a:off x="6400800" y="4983480"/>
            <a:ext cx="5394960" cy="13716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YOLOv8-seg segments all objects in one CNN pass</a:t>
            </a:r>
            <a:endParaRPr lang="en-US" sz="1250" dirty="0"/>
          </a:p>
          <a:p>
            <a:pPr marL="342900" indent="-3429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Prompt (point/box/text) then selects the right mask</a:t>
            </a:r>
            <a:endParaRPr lang="en-US" sz="1250" dirty="0"/>
          </a:p>
          <a:p>
            <a:pPr marL="342900" indent="-342900">
              <a:buSzPct val="100000"/>
              <a:buChar char="•"/>
            </a:pPr>
            <a:r>
              <a:rPr lang="en-US" sz="1250" dirty="0">
                <a:solidFill>
                  <a:srgbClr val="1B2340"/>
                </a:solidFill>
                <a:latin typeface="Calibri" pitchFamily="34" charset="0"/>
                <a:ea typeface="Calibri" pitchFamily="34" charset="-122"/>
                <a:cs typeface="Calibri" pitchFamily="34" charset="-120"/>
              </a:rPr>
              <a:t>~50× faster than SAM; coarser mask edges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SAM 2 — Segmenting Moving Pictures</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Promptable segmentation + streaming memory (Jul 2024)</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pic>
        <p:nvPicPr>
          <p:cNvPr id="8" name="Image 0" descr="img/sam2_arch.png">    </p:cNvPr>
          <p:cNvPicPr>
            <a:picLocks noChangeAspect="1"/>
          </p:cNvPicPr>
          <p:nvPr/>
        </p:nvPicPr>
        <p:blipFill>
          <a:blip r:embed="rId1"/>
          <a:stretch>
            <a:fillRect/>
          </a:stretch>
        </p:blipFill>
        <p:spPr>
          <a:xfrm>
            <a:off x="521208" y="1691640"/>
            <a:ext cx="11155680" cy="2807208"/>
          </a:xfrm>
          <a:prstGeom prst="rect">
            <a:avLst/>
          </a:prstGeom>
        </p:spPr>
      </p:pic>
      <p:sp>
        <p:nvSpPr>
          <p:cNvPr id="9" name="Text 5"/>
          <p:cNvSpPr/>
          <p:nvPr/>
        </p:nvSpPr>
        <p:spPr>
          <a:xfrm>
            <a:off x="521208" y="4553712"/>
            <a:ext cx="11155680" cy="256032"/>
          </a:xfrm>
          <a:prstGeom prst="rect">
            <a:avLst/>
          </a:prstGeom>
          <a:noFill/>
          <a:ln/>
        </p:spPr>
        <p:txBody>
          <a:bodyPr wrap="square" lIns="0" tIns="0" rIns="0" bIns="0" rtlCol="0" anchor="ctr"/>
          <a:lstStyle/>
          <a:p>
            <a:pPr algn="ctr" indent="0" marL="0">
              <a:buNone/>
            </a:pPr>
            <a:r>
              <a:rPr lang="en-US" sz="1000" i="1" dirty="0">
                <a:solidFill>
                  <a:srgbClr val="44506B"/>
                </a:solidFill>
                <a:latin typeface="Calibri" pitchFamily="34" charset="0"/>
                <a:ea typeface="Calibri" pitchFamily="34" charset="-122"/>
                <a:cs typeface="Calibri" pitchFamily="34" charset="-120"/>
              </a:rPr>
              <a:t>Source: github.com/facebookresearch/sam2 — assets/model_diagram.png</a:t>
            </a:r>
            <a:endParaRPr lang="en-US" sz="1000" dirty="0"/>
          </a:p>
        </p:txBody>
      </p:sp>
      <p:sp>
        <p:nvSpPr>
          <p:cNvPr id="10" name="Shape 6"/>
          <p:cNvSpPr/>
          <p:nvPr/>
        </p:nvSpPr>
        <p:spPr>
          <a:xfrm>
            <a:off x="502920" y="4983480"/>
            <a:ext cx="3611880" cy="1325880"/>
          </a:xfrm>
          <a:prstGeom prst="roundRect">
            <a:avLst>
              <a:gd name="adj" fmla="val 6897"/>
            </a:avLst>
          </a:prstGeom>
          <a:solidFill>
            <a:srgbClr val="F2F5FB"/>
          </a:solidFill>
          <a:ln/>
        </p:spPr>
      </p:sp>
      <p:sp>
        <p:nvSpPr>
          <p:cNvPr id="11" name="Shape 7"/>
          <p:cNvSpPr/>
          <p:nvPr/>
        </p:nvSpPr>
        <p:spPr>
          <a:xfrm>
            <a:off x="758952" y="5193792"/>
            <a:ext cx="201168" cy="201168"/>
          </a:xfrm>
          <a:prstGeom prst="roundRect">
            <a:avLst>
              <a:gd name="adj" fmla="val 27273"/>
            </a:avLst>
          </a:prstGeom>
          <a:solidFill>
            <a:srgbClr val="02C39A"/>
          </a:solidFill>
          <a:ln/>
        </p:spPr>
      </p:sp>
      <p:sp>
        <p:nvSpPr>
          <p:cNvPr id="12" name="Text 8"/>
          <p:cNvSpPr/>
          <p:nvPr/>
        </p:nvSpPr>
        <p:spPr>
          <a:xfrm>
            <a:off x="1069848" y="5102352"/>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Memory bank</a:t>
            </a:r>
            <a:endParaRPr lang="en-US" sz="1350" dirty="0"/>
          </a:p>
        </p:txBody>
      </p:sp>
      <p:sp>
        <p:nvSpPr>
          <p:cNvPr id="13" name="Text 9"/>
          <p:cNvSpPr/>
          <p:nvPr/>
        </p:nvSpPr>
        <p:spPr>
          <a:xfrm>
            <a:off x="758952" y="5486400"/>
            <a:ext cx="3108960" cy="777240"/>
          </a:xfrm>
          <a:prstGeom prst="rect">
            <a:avLst/>
          </a:prstGeom>
          <a:noFill/>
          <a:ln/>
        </p:spPr>
        <p:txBody>
          <a:bodyPr wrap="square" lIns="0" tIns="0" rIns="0" bIns="0" rtlCol="0" anchor="ctr"/>
          <a:lstStyle/>
          <a:p>
            <a:pPr indent="0" marL="0">
              <a:buNone/>
            </a:pPr>
            <a:r>
              <a:rPr lang="en-US" sz="1100" dirty="0">
                <a:solidFill>
                  <a:srgbClr val="44506B"/>
                </a:solidFill>
                <a:latin typeface="Calibri" pitchFamily="34" charset="0"/>
                <a:ea typeface="Calibri" pitchFamily="34" charset="-122"/>
                <a:cs typeface="Calibri" pitchFamily="34" charset="-120"/>
              </a:rPr>
              <a:t>Past frames + prompted frames are stored and attended to — the object follows through the video.</a:t>
            </a:r>
            <a:endParaRPr lang="en-US" sz="1100" dirty="0"/>
          </a:p>
        </p:txBody>
      </p:sp>
      <p:sp>
        <p:nvSpPr>
          <p:cNvPr id="14" name="Shape 10"/>
          <p:cNvSpPr/>
          <p:nvPr/>
        </p:nvSpPr>
        <p:spPr>
          <a:xfrm>
            <a:off x="4389120" y="4983480"/>
            <a:ext cx="3611880" cy="1325880"/>
          </a:xfrm>
          <a:prstGeom prst="roundRect">
            <a:avLst>
              <a:gd name="adj" fmla="val 6897"/>
            </a:avLst>
          </a:prstGeom>
          <a:solidFill>
            <a:srgbClr val="F2F5FB"/>
          </a:solidFill>
          <a:ln/>
        </p:spPr>
      </p:sp>
      <p:sp>
        <p:nvSpPr>
          <p:cNvPr id="15" name="Shape 11"/>
          <p:cNvSpPr/>
          <p:nvPr/>
        </p:nvSpPr>
        <p:spPr>
          <a:xfrm>
            <a:off x="4645152" y="5193792"/>
            <a:ext cx="201168" cy="201168"/>
          </a:xfrm>
          <a:prstGeom prst="roundRect">
            <a:avLst>
              <a:gd name="adj" fmla="val 27273"/>
            </a:avLst>
          </a:prstGeom>
          <a:solidFill>
            <a:srgbClr val="3E7CB1"/>
          </a:solidFill>
          <a:ln/>
        </p:spPr>
      </p:sp>
      <p:sp>
        <p:nvSpPr>
          <p:cNvPr id="16" name="Text 12"/>
          <p:cNvSpPr/>
          <p:nvPr/>
        </p:nvSpPr>
        <p:spPr>
          <a:xfrm>
            <a:off x="4956048" y="5102352"/>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Prompt any frame</a:t>
            </a:r>
            <a:endParaRPr lang="en-US" sz="1350" dirty="0"/>
          </a:p>
        </p:txBody>
      </p:sp>
      <p:sp>
        <p:nvSpPr>
          <p:cNvPr id="17" name="Text 13"/>
          <p:cNvSpPr/>
          <p:nvPr/>
        </p:nvSpPr>
        <p:spPr>
          <a:xfrm>
            <a:off x="4645152" y="5486400"/>
            <a:ext cx="3108960" cy="777240"/>
          </a:xfrm>
          <a:prstGeom prst="rect">
            <a:avLst/>
          </a:prstGeom>
          <a:noFill/>
          <a:ln/>
        </p:spPr>
        <p:txBody>
          <a:bodyPr wrap="square" lIns="0" tIns="0" rIns="0" bIns="0" rtlCol="0" anchor="ctr"/>
          <a:lstStyle/>
          <a:p>
            <a:pPr indent="0" marL="0">
              <a:buNone/>
            </a:pPr>
            <a:r>
              <a:rPr lang="en-US" sz="1100" dirty="0">
                <a:solidFill>
                  <a:srgbClr val="44506B"/>
                </a:solidFill>
                <a:latin typeface="Calibri" pitchFamily="34" charset="0"/>
                <a:ea typeface="Calibri" pitchFamily="34" charset="-122"/>
                <a:cs typeface="Calibri" pitchFamily="34" charset="-120"/>
              </a:rPr>
              <a:t>Click on frame 1 or frame 100 — corrections propagate through the memory.</a:t>
            </a:r>
            <a:endParaRPr lang="en-US" sz="1100" dirty="0"/>
          </a:p>
        </p:txBody>
      </p:sp>
      <p:sp>
        <p:nvSpPr>
          <p:cNvPr id="18" name="Shape 14"/>
          <p:cNvSpPr/>
          <p:nvPr/>
        </p:nvSpPr>
        <p:spPr>
          <a:xfrm>
            <a:off x="8275320" y="4983480"/>
            <a:ext cx="3611880" cy="1325880"/>
          </a:xfrm>
          <a:prstGeom prst="roundRect">
            <a:avLst>
              <a:gd name="adj" fmla="val 6897"/>
            </a:avLst>
          </a:prstGeom>
          <a:solidFill>
            <a:srgbClr val="F2F5FB"/>
          </a:solidFill>
          <a:ln/>
        </p:spPr>
      </p:sp>
      <p:sp>
        <p:nvSpPr>
          <p:cNvPr id="19" name="Shape 15"/>
          <p:cNvSpPr/>
          <p:nvPr/>
        </p:nvSpPr>
        <p:spPr>
          <a:xfrm>
            <a:off x="8531352" y="5193792"/>
            <a:ext cx="201168" cy="201168"/>
          </a:xfrm>
          <a:prstGeom prst="roundRect">
            <a:avLst>
              <a:gd name="adj" fmla="val 27273"/>
            </a:avLst>
          </a:prstGeom>
          <a:solidFill>
            <a:srgbClr val="F96167"/>
          </a:solidFill>
          <a:ln/>
        </p:spPr>
      </p:sp>
      <p:sp>
        <p:nvSpPr>
          <p:cNvPr id="20" name="Text 16"/>
          <p:cNvSpPr/>
          <p:nvPr/>
        </p:nvSpPr>
        <p:spPr>
          <a:xfrm>
            <a:off x="8842248" y="5102352"/>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Faster everywhere</a:t>
            </a:r>
            <a:endParaRPr lang="en-US" sz="1350" dirty="0"/>
          </a:p>
        </p:txBody>
      </p:sp>
      <p:sp>
        <p:nvSpPr>
          <p:cNvPr id="21" name="Text 17"/>
          <p:cNvSpPr/>
          <p:nvPr/>
        </p:nvSpPr>
        <p:spPr>
          <a:xfrm>
            <a:off x="8531352" y="5486400"/>
            <a:ext cx="3108960" cy="777240"/>
          </a:xfrm>
          <a:prstGeom prst="rect">
            <a:avLst/>
          </a:prstGeom>
          <a:noFill/>
          <a:ln/>
        </p:spPr>
        <p:txBody>
          <a:bodyPr wrap="square" lIns="0" tIns="0" rIns="0" bIns="0" rtlCol="0" anchor="ctr"/>
          <a:lstStyle/>
          <a:p>
            <a:pPr indent="0" marL="0">
              <a:buNone/>
            </a:pPr>
            <a:r>
              <a:rPr lang="en-US" sz="1100" dirty="0">
                <a:solidFill>
                  <a:srgbClr val="44506B"/>
                </a:solidFill>
                <a:latin typeface="Calibri" pitchFamily="34" charset="0"/>
                <a:ea typeface="Calibri" pitchFamily="34" charset="-122"/>
                <a:cs typeface="Calibri" pitchFamily="34" charset="-120"/>
              </a:rPr>
              <a:t>New Hiera encoder: ~6× faster than SAM 1 on images, ~44 FPS on video.</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SAM 3 — Segment Anything with Concepts</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From “this thing” to “every such thing” (Nov 2025)</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pic>
        <p:nvPicPr>
          <p:cNvPr id="8" name="Image 0" descr="img/sam3_arch.png">    </p:cNvPr>
          <p:cNvPicPr>
            <a:picLocks noChangeAspect="1"/>
          </p:cNvPicPr>
          <p:nvPr/>
        </p:nvPicPr>
        <p:blipFill>
          <a:blip r:embed="rId1"/>
          <a:stretch>
            <a:fillRect/>
          </a:stretch>
        </p:blipFill>
        <p:spPr>
          <a:xfrm>
            <a:off x="521208" y="1645920"/>
            <a:ext cx="11155680" cy="3511296"/>
          </a:xfrm>
          <a:prstGeom prst="rect">
            <a:avLst/>
          </a:prstGeom>
        </p:spPr>
      </p:pic>
      <p:sp>
        <p:nvSpPr>
          <p:cNvPr id="9" name="Text 5"/>
          <p:cNvSpPr/>
          <p:nvPr/>
        </p:nvSpPr>
        <p:spPr>
          <a:xfrm>
            <a:off x="521208" y="5193792"/>
            <a:ext cx="11155680" cy="237744"/>
          </a:xfrm>
          <a:prstGeom prst="rect">
            <a:avLst/>
          </a:prstGeom>
          <a:noFill/>
          <a:ln/>
        </p:spPr>
        <p:txBody>
          <a:bodyPr wrap="square" lIns="0" tIns="0" rIns="0" bIns="0" rtlCol="0" anchor="ctr"/>
          <a:lstStyle/>
          <a:p>
            <a:pPr algn="ctr" indent="0" marL="0">
              <a:buNone/>
            </a:pPr>
            <a:r>
              <a:rPr lang="en-US" sz="1000" i="1" dirty="0">
                <a:solidFill>
                  <a:srgbClr val="44506B"/>
                </a:solidFill>
                <a:latin typeface="Calibri" pitchFamily="34" charset="0"/>
                <a:ea typeface="Calibri" pitchFamily="34" charset="-122"/>
                <a:cs typeface="Calibri" pitchFamily="34" charset="-120"/>
              </a:rPr>
              <a:t>Source: github.com/facebookresearch/sam3 — assets/model_diagram.png</a:t>
            </a:r>
            <a:endParaRPr lang="en-US" sz="1000" dirty="0"/>
          </a:p>
        </p:txBody>
      </p:sp>
      <p:sp>
        <p:nvSpPr>
          <p:cNvPr id="10" name="Text 6"/>
          <p:cNvSpPr/>
          <p:nvPr/>
        </p:nvSpPr>
        <p:spPr>
          <a:xfrm>
            <a:off x="502920" y="5532120"/>
            <a:ext cx="11155680" cy="86868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Detector (DETR-based, new) </a:t>
            </a:r>
            <a:pPr algn="ctr" indent="0" marL="0">
              <a:buNone/>
            </a:pPr>
            <a:r>
              <a:rPr lang="en-US" sz="1300" dirty="0">
                <a:solidFill>
                  <a:srgbClr val="44506B"/>
                </a:solidFill>
                <a:latin typeface="Calibri" pitchFamily="34" charset="0"/>
                <a:ea typeface="Calibri" pitchFamily="34" charset="-122"/>
                <a:cs typeface="Calibri" pitchFamily="34" charset="-120"/>
              </a:rPr>
              <a:t>finds all instances of the concept  ·  </a:t>
            </a:r>
            <a:pPr algn="ctr" indent="0" marL="0">
              <a:buNone/>
            </a:pPr>
            <a:r>
              <a:rPr lang="en-US" sz="1300" b="1" dirty="0">
                <a:solidFill>
                  <a:srgbClr val="1E2761"/>
                </a:solidFill>
                <a:latin typeface="Calibri" pitchFamily="34" charset="0"/>
                <a:ea typeface="Calibri" pitchFamily="34" charset="-122"/>
                <a:cs typeface="Calibri" pitchFamily="34" charset="-120"/>
              </a:rPr>
              <a:t>Tracker (from SAM 2) </a:t>
            </a:r>
            <a:pPr algn="ctr" indent="0" marL="0">
              <a:buNone/>
            </a:pPr>
            <a:r>
              <a:rPr lang="en-US" sz="1300" dirty="0">
                <a:solidFill>
                  <a:srgbClr val="44506B"/>
                </a:solidFill>
                <a:latin typeface="Calibri" pitchFamily="34" charset="0"/>
                <a:ea typeface="Calibri" pitchFamily="34" charset="-122"/>
                <a:cs typeface="Calibri" pitchFamily="34" charset="-120"/>
              </a:rPr>
              <a:t>follows them through video  ·  </a:t>
            </a:r>
            <a:pPr algn="ctr" indent="0" marL="0">
              <a:buNone/>
            </a:pPr>
            <a:r>
              <a:rPr lang="en-US" sz="1300" b="1" dirty="0">
                <a:solidFill>
                  <a:srgbClr val="1E2761"/>
                </a:solidFill>
                <a:latin typeface="Calibri" pitchFamily="34" charset="0"/>
                <a:ea typeface="Calibri" pitchFamily="34" charset="-122"/>
                <a:cs typeface="Calibri" pitchFamily="34" charset="-120"/>
              </a:rPr>
              <a:t>Presence token </a:t>
            </a:r>
            <a:pPr algn="ctr" indent="0" marL="0">
              <a:buNone/>
            </a:pPr>
            <a:r>
              <a:rPr lang="en-US" sz="1300" dirty="0">
                <a:solidFill>
                  <a:srgbClr val="44506B"/>
                </a:solidFill>
                <a:latin typeface="Calibri" pitchFamily="34" charset="0"/>
                <a:ea typeface="Calibri" pitchFamily="34" charset="-122"/>
                <a:cs typeface="Calibri" pitchFamily="34" charset="-120"/>
              </a:rPr>
              <a:t>decouples “is it there?” from “where?”  ·  848M params  ·  75–80% of human cgF1 on SA-Co</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Family at a Glance</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Choosing the right SAM for the job</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201400" cy="914400"/>
        </p:xfrm>
        <a:graphic>
          <a:graphicData uri="http://schemas.openxmlformats.org/drawingml/2006/table">
            <a:tbl>
              <a:tblPr/>
              <a:tblGrid>
                <a:gridCol w="1600200"/>
                <a:gridCol w="731520"/>
                <a:gridCol w="3383280"/>
                <a:gridCol w="2560320"/>
                <a:gridCol w="292608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Year</a:t>
                      </a:r>
                      <a:endParaRPr lang="en-US" sz="13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Core idea</a:t>
                      </a:r>
                      <a:endParaRPr lang="en-US" sz="13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Prompts</a:t>
                      </a:r>
                      <a:endParaRPr lang="en-US" sz="13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Reach for it when…</a:t>
                      </a:r>
                      <a:endParaRPr lang="en-US" sz="13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1E2761"/>
                    </a:solidFill>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SAM</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2F5FB"/>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2023</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2F5FB"/>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Promptable masks, ViT-H + light decoder</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2F5FB"/>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point · box · mask</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2F5FB"/>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Best-quality interactive masks, GPU available</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2F5FB"/>
                    </a:solidFill>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MobileSAM</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FFFFF"/>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2023</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FFFFF"/>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Distilled TinyViT encoder (60× smaller)</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FFFFF"/>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point · box · mask</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FFFFF"/>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Mobile &amp; edge deployment</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FastSAM</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2F5FB"/>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2023</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2F5FB"/>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YOLOv8-seg CNN, segment-everything-first</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2F5FB"/>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point · box · text*</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2F5FB"/>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Real-time speed over edge precision</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2F5FB"/>
                    </a:solidFill>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SAM 2</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FFFFF"/>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FFFFF"/>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Streaming memory for video, Hiera encoder</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FFFFF"/>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point · box · mask (any frame)</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FFFFF"/>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Video object segmentation &amp; tracking</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SAM 3</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2F5FB"/>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2F5FB"/>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Concept prompts; detector + tracker</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2F5FB"/>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 text phrase · exemplar</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2F5FB"/>
                    </a:solidFill>
                  </a:tcPr>
                </a:tc>
                <a:tc>
                  <a:txBody>
                    <a:bodyPr/>
                    <a:lstStyle/>
                    <a:p>
                      <a:pPr indent="0" marL="0">
                        <a:buNone/>
                      </a:pPr>
                      <a:r>
                        <a:rPr lang="en-US" sz="1200" dirty="0">
                          <a:solidFill>
                            <a:srgbClr val="1B2340"/>
                          </a:solidFill>
                          <a:latin typeface="Calibri" pitchFamily="34" charset="0"/>
                          <a:ea typeface="Calibri" pitchFamily="34" charset="-122"/>
                          <a:cs typeface="Calibri" pitchFamily="34" charset="-120"/>
                        </a:rPr>
                        <a:t>“Segment ALL the X”, open vocabulary</a:t>
                      </a:r>
                      <a:endParaRPr lang="en-US" sz="1200" dirty="0">
                        <a:latin typeface="Calibri" charset="0"/>
                        <a:ea typeface="Calibri" charset="0"/>
                        <a:cs typeface="Calibri" charset="0"/>
                      </a:endParaRPr>
                    </a:p>
                  </a:txBody>
                  <a:tcPr marL="73152" marR="73152" marT="73152" marB="73152" anchor="ctr">
                    <a:lnL w="9525" cap="flat" cmpd="sng" algn="ctr">
                      <a:solidFill>
                        <a:srgbClr val="D5DDEB"/>
                      </a:solidFill>
                      <a:prstDash val="solid"/>
                      <a:round/>
                      <a:headEnd type="none" w="med" len="med"/>
                      <a:tailEnd type="none" w="med" len="med"/>
                    </a:lnL>
                    <a:lnR w="9525" cap="flat" cmpd="sng" algn="ctr">
                      <a:solidFill>
                        <a:srgbClr val="D5DDEB"/>
                      </a:solidFill>
                      <a:prstDash val="solid"/>
                      <a:round/>
                      <a:headEnd type="none" w="med" len="med"/>
                      <a:tailEnd type="none" w="med" len="med"/>
                    </a:lnR>
                    <a:lnT w="9525" cap="flat" cmpd="sng" algn="ctr">
                      <a:solidFill>
                        <a:srgbClr val="D5DDEB"/>
                      </a:solidFill>
                      <a:prstDash val="solid"/>
                      <a:round/>
                      <a:headEnd type="none" w="med" len="med"/>
                      <a:tailEnd type="none" w="med" len="med"/>
                    </a:lnT>
                    <a:lnB w="9525" cap="flat" cmpd="sng" algn="ctr">
                      <a:solidFill>
                        <a:srgbClr val="D5DDEB"/>
                      </a:solidFill>
                      <a:prstDash val="solid"/>
                      <a:round/>
                      <a:headEnd type="none" w="med" len="med"/>
                      <a:tailEnd type="none" w="med" len="med"/>
                    </a:lnB>
                    <a:solidFill>
                      <a:srgbClr val="F2F5FB"/>
                    </a:solidFill>
                  </a:tcPr>
                </a:tc>
              </a:tr>
            </a:tbl>
          </a:graphicData>
        </a:graphic>
      </p:graphicFrame>
      <p:sp>
        <p:nvSpPr>
          <p:cNvPr id="9" name="Text 5"/>
          <p:cNvSpPr/>
          <p:nvPr/>
        </p:nvSpPr>
        <p:spPr>
          <a:xfrm>
            <a:off x="502920" y="5623560"/>
            <a:ext cx="11155680" cy="320040"/>
          </a:xfrm>
          <a:prstGeom prst="rect">
            <a:avLst/>
          </a:prstGeom>
          <a:noFill/>
          <a:ln/>
        </p:spPr>
        <p:txBody>
          <a:bodyPr wrap="square" lIns="0" tIns="0" rIns="0" bIns="0" rtlCol="0" anchor="ctr"/>
          <a:lstStyle/>
          <a:p>
            <a:pPr indent="0" marL="0">
              <a:buNone/>
            </a:pPr>
            <a:r>
              <a:rPr lang="en-US" sz="1100" i="1" dirty="0">
                <a:solidFill>
                  <a:srgbClr val="44506B"/>
                </a:solidFill>
                <a:latin typeface="Calibri" pitchFamily="34" charset="0"/>
                <a:ea typeface="Calibri" pitchFamily="34" charset="-122"/>
                <a:cs typeface="Calibri" pitchFamily="34" charset="-120"/>
              </a:rPr>
              <a:t>* FastSAM's text prompting matches masks against CLIP embeddings — slower and less reliable than its point/box modes.</a:t>
            </a:r>
            <a:endParaRPr lang="en-US" sz="1100" dirty="0"/>
          </a:p>
        </p:txBody>
      </p:sp>
      <p:sp>
        <p:nvSpPr>
          <p:cNvPr id="10" name="Text 6"/>
          <p:cNvSpPr/>
          <p:nvPr/>
        </p:nvSpPr>
        <p:spPr>
          <a:xfrm>
            <a:off x="502920" y="5989320"/>
            <a:ext cx="11155680" cy="365760"/>
          </a:xfrm>
          <a:prstGeom prst="rect">
            <a:avLst/>
          </a:prstGeom>
          <a:noFill/>
          <a:ln/>
        </p:spPr>
        <p:txBody>
          <a:bodyPr wrap="square" lIns="0" tIns="0" rIns="0" bIns="0" rtlCol="0" anchor="ctr"/>
          <a:lstStyle/>
          <a:p>
            <a:pPr algn="ctr" indent="0" marL="0">
              <a:buNone/>
            </a:pPr>
            <a:r>
              <a:rPr lang="en-US" sz="1350" b="1" dirty="0">
                <a:solidFill>
                  <a:srgbClr val="1E2761"/>
                </a:solidFill>
                <a:latin typeface="Calibri" pitchFamily="34" charset="0"/>
                <a:ea typeface="Calibri" pitchFamily="34" charset="-122"/>
                <a:cs typeface="Calibri" pitchFamily="34" charset="-120"/>
              </a:rPr>
              <a:t>SAM 3 also handles SAM 1/2-style visual prompts — one model, both questions.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Real-World Applications &amp; Limitations</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Where it shines, where it strains</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sp>
        <p:nvSpPr>
          <p:cNvPr id="8" name="Text 5"/>
          <p:cNvSpPr/>
          <p:nvPr/>
        </p:nvSpPr>
        <p:spPr>
          <a:xfrm>
            <a:off x="502920" y="1600200"/>
            <a:ext cx="5394960" cy="384048"/>
          </a:xfrm>
          <a:prstGeom prst="rect">
            <a:avLst/>
          </a:prstGeom>
          <a:noFill/>
          <a:ln/>
        </p:spPr>
        <p:txBody>
          <a:bodyPr wrap="square" lIns="0" tIns="0" rIns="0" bIns="0" rtlCol="0" anchor="ctr"/>
          <a:lstStyle/>
          <a:p>
            <a:pPr indent="0" marL="0">
              <a:buNone/>
            </a:pPr>
            <a:r>
              <a:rPr lang="en-US" sz="1800" b="1" dirty="0">
                <a:solidFill>
                  <a:srgbClr val="02C39A"/>
                </a:solidFill>
                <a:latin typeface="Calibri" pitchFamily="34" charset="0"/>
                <a:ea typeface="Calibri" pitchFamily="34" charset="-122"/>
                <a:cs typeface="Calibri" pitchFamily="34" charset="-120"/>
              </a:rPr>
              <a:t>Applications</a:t>
            </a:r>
            <a:endParaRPr lang="en-US" sz="1800" dirty="0"/>
          </a:p>
        </p:txBody>
      </p:sp>
      <p:sp>
        <p:nvSpPr>
          <p:cNvPr id="9" name="Shape 6"/>
          <p:cNvSpPr/>
          <p:nvPr/>
        </p:nvSpPr>
        <p:spPr>
          <a:xfrm>
            <a:off x="502920" y="2103120"/>
            <a:ext cx="5440680" cy="896112"/>
          </a:xfrm>
          <a:prstGeom prst="roundRect">
            <a:avLst>
              <a:gd name="adj" fmla="val 10204"/>
            </a:avLst>
          </a:prstGeom>
          <a:solidFill>
            <a:srgbClr val="F2F5FB"/>
          </a:solidFill>
          <a:ln/>
        </p:spPr>
      </p:sp>
      <p:sp>
        <p:nvSpPr>
          <p:cNvPr id="10" name="Text 7"/>
          <p:cNvSpPr/>
          <p:nvPr/>
        </p:nvSpPr>
        <p:spPr>
          <a:xfrm>
            <a:off x="777240" y="2176272"/>
            <a:ext cx="4937760" cy="3474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Annotation at scale</a:t>
            </a:r>
            <a:endParaRPr lang="en-US" sz="1350" dirty="0"/>
          </a:p>
        </p:txBody>
      </p:sp>
      <p:sp>
        <p:nvSpPr>
          <p:cNvPr id="11" name="Text 8"/>
          <p:cNvSpPr/>
          <p:nvPr/>
        </p:nvSpPr>
        <p:spPr>
          <a:xfrm>
            <a:off x="777240" y="2505456"/>
            <a:ext cx="5029200" cy="45720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Click-to-mask labeling in Roboflow, CVAT, Label Studio — 10× faster datasets</a:t>
            </a:r>
            <a:endParaRPr lang="en-US" sz="1150" dirty="0"/>
          </a:p>
        </p:txBody>
      </p:sp>
      <p:sp>
        <p:nvSpPr>
          <p:cNvPr id="12" name="Shape 9"/>
          <p:cNvSpPr/>
          <p:nvPr/>
        </p:nvSpPr>
        <p:spPr>
          <a:xfrm>
            <a:off x="502920" y="3127248"/>
            <a:ext cx="5440680" cy="896112"/>
          </a:xfrm>
          <a:prstGeom prst="roundRect">
            <a:avLst>
              <a:gd name="adj" fmla="val 10204"/>
            </a:avLst>
          </a:prstGeom>
          <a:solidFill>
            <a:srgbClr val="F2F5FB"/>
          </a:solidFill>
          <a:ln/>
        </p:spPr>
      </p:sp>
      <p:sp>
        <p:nvSpPr>
          <p:cNvPr id="13" name="Text 10"/>
          <p:cNvSpPr/>
          <p:nvPr/>
        </p:nvSpPr>
        <p:spPr>
          <a:xfrm>
            <a:off x="777240" y="3200400"/>
            <a:ext cx="4937760" cy="3474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Medical imaging</a:t>
            </a:r>
            <a:endParaRPr lang="en-US" sz="1350" dirty="0"/>
          </a:p>
        </p:txBody>
      </p:sp>
      <p:sp>
        <p:nvSpPr>
          <p:cNvPr id="14" name="Text 11"/>
          <p:cNvSpPr/>
          <p:nvPr/>
        </p:nvSpPr>
        <p:spPr>
          <a:xfrm>
            <a:off x="777240" y="3529584"/>
            <a:ext cx="5029200" cy="45720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MedSAM &amp; fine-tunes for organs, tumors, cells</a:t>
            </a:r>
            <a:endParaRPr lang="en-US" sz="1150" dirty="0"/>
          </a:p>
        </p:txBody>
      </p:sp>
      <p:sp>
        <p:nvSpPr>
          <p:cNvPr id="15" name="Shape 12"/>
          <p:cNvSpPr/>
          <p:nvPr/>
        </p:nvSpPr>
        <p:spPr>
          <a:xfrm>
            <a:off x="502920" y="4151376"/>
            <a:ext cx="5440680" cy="896112"/>
          </a:xfrm>
          <a:prstGeom prst="roundRect">
            <a:avLst>
              <a:gd name="adj" fmla="val 10204"/>
            </a:avLst>
          </a:prstGeom>
          <a:solidFill>
            <a:srgbClr val="F2F5FB"/>
          </a:solidFill>
          <a:ln/>
        </p:spPr>
      </p:sp>
      <p:sp>
        <p:nvSpPr>
          <p:cNvPr id="16" name="Text 13"/>
          <p:cNvSpPr/>
          <p:nvPr/>
        </p:nvSpPr>
        <p:spPr>
          <a:xfrm>
            <a:off x="777240" y="4224528"/>
            <a:ext cx="4937760" cy="3474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Video editing &amp; VFX</a:t>
            </a:r>
            <a:endParaRPr lang="en-US" sz="1350" dirty="0"/>
          </a:p>
        </p:txBody>
      </p:sp>
      <p:sp>
        <p:nvSpPr>
          <p:cNvPr id="17" name="Text 14"/>
          <p:cNvSpPr/>
          <p:nvPr/>
        </p:nvSpPr>
        <p:spPr>
          <a:xfrm>
            <a:off x="777240" y="4553712"/>
            <a:ext cx="5029200" cy="45720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SAM 2/3 tracking for rotoscoping and object effects</a:t>
            </a:r>
            <a:endParaRPr lang="en-US" sz="1150" dirty="0"/>
          </a:p>
        </p:txBody>
      </p:sp>
      <p:sp>
        <p:nvSpPr>
          <p:cNvPr id="18" name="Shape 15"/>
          <p:cNvSpPr/>
          <p:nvPr/>
        </p:nvSpPr>
        <p:spPr>
          <a:xfrm>
            <a:off x="502920" y="5175504"/>
            <a:ext cx="5440680" cy="896112"/>
          </a:xfrm>
          <a:prstGeom prst="roundRect">
            <a:avLst>
              <a:gd name="adj" fmla="val 10204"/>
            </a:avLst>
          </a:prstGeom>
          <a:solidFill>
            <a:srgbClr val="F2F5FB"/>
          </a:solidFill>
          <a:ln/>
        </p:spPr>
      </p:sp>
      <p:sp>
        <p:nvSpPr>
          <p:cNvPr id="19" name="Text 16"/>
          <p:cNvSpPr/>
          <p:nvPr/>
        </p:nvSpPr>
        <p:spPr>
          <a:xfrm>
            <a:off x="777240" y="5248656"/>
            <a:ext cx="4937760" cy="3474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Robotics · AR · Geospatial</a:t>
            </a:r>
            <a:endParaRPr lang="en-US" sz="1350" dirty="0"/>
          </a:p>
        </p:txBody>
      </p:sp>
      <p:sp>
        <p:nvSpPr>
          <p:cNvPr id="20" name="Text 17"/>
          <p:cNvSpPr/>
          <p:nvPr/>
        </p:nvSpPr>
        <p:spPr>
          <a:xfrm>
            <a:off x="777240" y="5577840"/>
            <a:ext cx="5029200" cy="45720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Grasping targets, scene understanding, building footprints from satellites</a:t>
            </a:r>
            <a:endParaRPr lang="en-US" sz="1150" dirty="0"/>
          </a:p>
        </p:txBody>
      </p:sp>
      <p:sp>
        <p:nvSpPr>
          <p:cNvPr id="21" name="Text 18"/>
          <p:cNvSpPr/>
          <p:nvPr/>
        </p:nvSpPr>
        <p:spPr>
          <a:xfrm>
            <a:off x="6309360" y="1600200"/>
            <a:ext cx="5394960" cy="384048"/>
          </a:xfrm>
          <a:prstGeom prst="rect">
            <a:avLst/>
          </a:prstGeom>
          <a:noFill/>
          <a:ln/>
        </p:spPr>
        <p:txBody>
          <a:bodyPr wrap="square" lIns="0" tIns="0" rIns="0" bIns="0" rtlCol="0" anchor="ctr"/>
          <a:lstStyle/>
          <a:p>
            <a:pPr indent="0" marL="0">
              <a:buNone/>
            </a:pPr>
            <a:r>
              <a:rPr lang="en-US" sz="1800" b="1" dirty="0">
                <a:solidFill>
                  <a:srgbClr val="F96167"/>
                </a:solidFill>
                <a:latin typeface="Calibri" pitchFamily="34" charset="0"/>
                <a:ea typeface="Calibri" pitchFamily="34" charset="-122"/>
                <a:cs typeface="Calibri" pitchFamily="34" charset="-120"/>
              </a:rPr>
              <a:t>Limitations</a:t>
            </a:r>
            <a:endParaRPr lang="en-US" sz="1800" dirty="0"/>
          </a:p>
        </p:txBody>
      </p:sp>
      <p:sp>
        <p:nvSpPr>
          <p:cNvPr id="22" name="Shape 19"/>
          <p:cNvSpPr/>
          <p:nvPr/>
        </p:nvSpPr>
        <p:spPr>
          <a:xfrm>
            <a:off x="6309360" y="2103120"/>
            <a:ext cx="5440680" cy="896112"/>
          </a:xfrm>
          <a:prstGeom prst="roundRect">
            <a:avLst>
              <a:gd name="adj" fmla="val 10204"/>
            </a:avLst>
          </a:prstGeom>
          <a:solidFill>
            <a:srgbClr val="FDF1F1"/>
          </a:solidFill>
          <a:ln/>
        </p:spPr>
      </p:sp>
      <p:sp>
        <p:nvSpPr>
          <p:cNvPr id="23" name="Text 20"/>
          <p:cNvSpPr/>
          <p:nvPr/>
        </p:nvSpPr>
        <p:spPr>
          <a:xfrm>
            <a:off x="6583680" y="2176272"/>
            <a:ext cx="4937760" cy="3474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Compute &amp; latency</a:t>
            </a:r>
            <a:endParaRPr lang="en-US" sz="1350" dirty="0"/>
          </a:p>
        </p:txBody>
      </p:sp>
      <p:sp>
        <p:nvSpPr>
          <p:cNvPr id="24" name="Text 21"/>
          <p:cNvSpPr/>
          <p:nvPr/>
        </p:nvSpPr>
        <p:spPr>
          <a:xfrm>
            <a:off x="6583680" y="2505456"/>
            <a:ext cx="5029200" cy="45720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Foundation-scale encoders still want a GPU; edge needs the distilled variants</a:t>
            </a:r>
            <a:endParaRPr lang="en-US" sz="1150" dirty="0"/>
          </a:p>
        </p:txBody>
      </p:sp>
      <p:sp>
        <p:nvSpPr>
          <p:cNvPr id="25" name="Shape 22"/>
          <p:cNvSpPr/>
          <p:nvPr/>
        </p:nvSpPr>
        <p:spPr>
          <a:xfrm>
            <a:off x="6309360" y="3127248"/>
            <a:ext cx="5440680" cy="896112"/>
          </a:xfrm>
          <a:prstGeom prst="roundRect">
            <a:avLst>
              <a:gd name="adj" fmla="val 10204"/>
            </a:avLst>
          </a:prstGeom>
          <a:solidFill>
            <a:srgbClr val="FDF1F1"/>
          </a:solidFill>
          <a:ln/>
        </p:spPr>
      </p:sp>
      <p:sp>
        <p:nvSpPr>
          <p:cNvPr id="26" name="Text 23"/>
          <p:cNvSpPr/>
          <p:nvPr/>
        </p:nvSpPr>
        <p:spPr>
          <a:xfrm>
            <a:off x="6583680" y="3200400"/>
            <a:ext cx="4937760" cy="3474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Fine structures</a:t>
            </a:r>
            <a:endParaRPr lang="en-US" sz="1350" dirty="0"/>
          </a:p>
        </p:txBody>
      </p:sp>
      <p:sp>
        <p:nvSpPr>
          <p:cNvPr id="27" name="Text 24"/>
          <p:cNvSpPr/>
          <p:nvPr/>
        </p:nvSpPr>
        <p:spPr>
          <a:xfrm>
            <a:off x="6583680" y="3529584"/>
            <a:ext cx="5029200" cy="45720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Hair, wires, thin fences remain hard for crisp masks</a:t>
            </a:r>
            <a:endParaRPr lang="en-US" sz="1150" dirty="0"/>
          </a:p>
        </p:txBody>
      </p:sp>
      <p:sp>
        <p:nvSpPr>
          <p:cNvPr id="28" name="Shape 25"/>
          <p:cNvSpPr/>
          <p:nvPr/>
        </p:nvSpPr>
        <p:spPr>
          <a:xfrm>
            <a:off x="6309360" y="4151376"/>
            <a:ext cx="5440680" cy="896112"/>
          </a:xfrm>
          <a:prstGeom prst="roundRect">
            <a:avLst>
              <a:gd name="adj" fmla="val 10204"/>
            </a:avLst>
          </a:prstGeom>
          <a:solidFill>
            <a:srgbClr val="FDF1F1"/>
          </a:solidFill>
          <a:ln/>
        </p:spPr>
      </p:sp>
      <p:sp>
        <p:nvSpPr>
          <p:cNvPr id="29" name="Text 26"/>
          <p:cNvSpPr/>
          <p:nvPr/>
        </p:nvSpPr>
        <p:spPr>
          <a:xfrm>
            <a:off x="6583680" y="4224528"/>
            <a:ext cx="4937760" cy="3474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Short phrases only</a:t>
            </a:r>
            <a:endParaRPr lang="en-US" sz="1350" dirty="0"/>
          </a:p>
        </p:txBody>
      </p:sp>
      <p:sp>
        <p:nvSpPr>
          <p:cNvPr id="30" name="Text 27"/>
          <p:cNvSpPr/>
          <p:nvPr/>
        </p:nvSpPr>
        <p:spPr>
          <a:xfrm>
            <a:off x="6583680" y="4553712"/>
            <a:ext cx="5029200" cy="45720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SAM 3 handles noun phrases, not reasoning — “the dog furthest left” needs an MLLM on top (SAM 3 Agent)</a:t>
            </a:r>
            <a:endParaRPr lang="en-US" sz="1150" dirty="0"/>
          </a:p>
        </p:txBody>
      </p:sp>
      <p:sp>
        <p:nvSpPr>
          <p:cNvPr id="31" name="Shape 28"/>
          <p:cNvSpPr/>
          <p:nvPr/>
        </p:nvSpPr>
        <p:spPr>
          <a:xfrm>
            <a:off x="6309360" y="5175504"/>
            <a:ext cx="5440680" cy="896112"/>
          </a:xfrm>
          <a:prstGeom prst="roundRect">
            <a:avLst>
              <a:gd name="adj" fmla="val 10204"/>
            </a:avLst>
          </a:prstGeom>
          <a:solidFill>
            <a:srgbClr val="FDF1F1"/>
          </a:solidFill>
          <a:ln/>
        </p:spPr>
      </p:sp>
      <p:sp>
        <p:nvSpPr>
          <p:cNvPr id="32" name="Text 29"/>
          <p:cNvSpPr/>
          <p:nvPr/>
        </p:nvSpPr>
        <p:spPr>
          <a:xfrm>
            <a:off x="6583680" y="5248656"/>
            <a:ext cx="4937760" cy="3474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Domain gaps</a:t>
            </a:r>
            <a:endParaRPr lang="en-US" sz="1350" dirty="0"/>
          </a:p>
        </p:txBody>
      </p:sp>
      <p:sp>
        <p:nvSpPr>
          <p:cNvPr id="33" name="Text 30"/>
          <p:cNvSpPr/>
          <p:nvPr/>
        </p:nvSpPr>
        <p:spPr>
          <a:xfrm>
            <a:off x="6583680" y="5577840"/>
            <a:ext cx="5029200" cy="45720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Exotic modalities (CT, sonar, thermal) still reward fine-tuning</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B3C"/>
        </a:solidFill>
      </p:bgPr>
    </p:bg>
    <p:spTree>
      <p:nvGrpSpPr>
        <p:cNvPr id="1" name=""/>
        <p:cNvGrpSpPr/>
        <p:nvPr/>
      </p:nvGrpSpPr>
      <p:grpSpPr>
        <a:xfrm>
          <a:off x="0" y="0"/>
          <a:ext cx="0" cy="0"/>
          <a:chOff x="0" y="0"/>
          <a:chExt cx="0" cy="0"/>
        </a:xfrm>
      </p:grpSpPr>
      <p:sp>
        <p:nvSpPr>
          <p:cNvPr id="2" name="Shape 0"/>
          <p:cNvSpPr/>
          <p:nvPr/>
        </p:nvSpPr>
        <p:spPr>
          <a:xfrm>
            <a:off x="10241280" y="822960"/>
            <a:ext cx="457200" cy="457200"/>
          </a:xfrm>
          <a:prstGeom prst="roundRect">
            <a:avLst>
              <a:gd name="adj" fmla="val 25000"/>
            </a:avLst>
          </a:prstGeom>
          <a:solidFill>
            <a:srgbClr val="02C39A">
              <a:alpha val="80000"/>
            </a:srgbClr>
          </a:solidFill>
          <a:ln/>
        </p:spPr>
      </p:sp>
      <p:sp>
        <p:nvSpPr>
          <p:cNvPr id="3" name="Shape 1"/>
          <p:cNvSpPr/>
          <p:nvPr/>
        </p:nvSpPr>
        <p:spPr>
          <a:xfrm>
            <a:off x="10927080" y="1371600"/>
            <a:ext cx="310896" cy="310896"/>
          </a:xfrm>
          <a:prstGeom prst="roundRect">
            <a:avLst>
              <a:gd name="adj" fmla="val 25000"/>
            </a:avLst>
          </a:prstGeom>
          <a:solidFill>
            <a:srgbClr val="F96167">
              <a:alpha val="80000"/>
            </a:srgbClr>
          </a:solidFill>
          <a:ln/>
        </p:spPr>
      </p:sp>
      <p:sp>
        <p:nvSpPr>
          <p:cNvPr id="4" name="Shape 2"/>
          <p:cNvSpPr/>
          <p:nvPr/>
        </p:nvSpPr>
        <p:spPr>
          <a:xfrm>
            <a:off x="10378440" y="1828800"/>
            <a:ext cx="237744" cy="237744"/>
          </a:xfrm>
          <a:prstGeom prst="roundRect">
            <a:avLst>
              <a:gd name="adj" fmla="val 25000"/>
            </a:avLst>
          </a:prstGeom>
          <a:solidFill>
            <a:srgbClr val="F2B33D">
              <a:alpha val="80000"/>
            </a:srgbClr>
          </a:solidFill>
          <a:ln/>
        </p:spPr>
      </p:sp>
      <p:sp>
        <p:nvSpPr>
          <p:cNvPr id="5" name="Text 3"/>
          <p:cNvSpPr/>
          <p:nvPr/>
        </p:nvSpPr>
        <p:spPr>
          <a:xfrm>
            <a:off x="822960" y="137160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Questions &amp; Discussion</a:t>
            </a:r>
            <a:endParaRPr lang="en-US" sz="4400" dirty="0"/>
          </a:p>
        </p:txBody>
      </p:sp>
      <p:sp>
        <p:nvSpPr>
          <p:cNvPr id="6" name="Text 4"/>
          <p:cNvSpPr/>
          <p:nvPr/>
        </p:nvSpPr>
        <p:spPr>
          <a:xfrm>
            <a:off x="868680" y="2651760"/>
            <a:ext cx="9875520" cy="2926080"/>
          </a:xfrm>
          <a:prstGeom prst="rect">
            <a:avLst/>
          </a:prstGeom>
          <a:noFill/>
          <a:ln/>
        </p:spPr>
        <p:txBody>
          <a:bodyPr wrap="square" lIns="0" tIns="0" rIns="0" bIns="0" rtlCol="0" anchor="ctr"/>
          <a:lstStyle/>
          <a:p>
            <a:pPr indent="0" marL="0">
              <a:spcAft>
                <a:spcPts val="1400"/>
              </a:spcAft>
              <a:buNone/>
            </a:pPr>
            <a:r>
              <a:rPr lang="en-US" sz="1700" b="1" dirty="0">
                <a:solidFill>
                  <a:srgbClr val="02C39A"/>
                </a:solidFill>
                <a:latin typeface="Calibri" pitchFamily="34" charset="0"/>
                <a:ea typeface="Calibri" pitchFamily="34" charset="-122"/>
                <a:cs typeface="Calibri" pitchFamily="34" charset="-120"/>
              </a:rPr>
              <a:t>Things worth debating:</a:t>
            </a:r>
            <a:endParaRPr lang="en-US" sz="1700" dirty="0"/>
          </a:p>
          <a:p>
            <a:pPr marL="342900" indent="-342900">
              <a:spcAft>
                <a:spcPts val="1000"/>
              </a:spcAft>
              <a:buSzPct val="100000"/>
              <a:buChar char="•"/>
            </a:pPr>
            <a:r>
              <a:rPr lang="en-US" sz="1700" dirty="0">
                <a:solidFill>
                  <a:srgbClr val="CADCFC"/>
                </a:solidFill>
                <a:latin typeface="Calibri" pitchFamily="34" charset="0"/>
                <a:ea typeface="Calibri" pitchFamily="34" charset="-122"/>
                <a:cs typeface="Calibri" pitchFamily="34" charset="-120"/>
              </a:rPr>
              <a:t>Why did “promptable” beat “end-to-end” for general segmentation?</a:t>
            </a:r>
            <a:endParaRPr lang="en-US" sz="1700" dirty="0"/>
          </a:p>
          <a:p>
            <a:pPr marL="342900" indent="-342900">
              <a:spcAft>
                <a:spcPts val="1000"/>
              </a:spcAft>
              <a:buSzPct val="100000"/>
              <a:buChar char="•"/>
            </a:pPr>
            <a:r>
              <a:rPr lang="en-US" sz="1700" dirty="0">
                <a:solidFill>
                  <a:srgbClr val="CADCFC"/>
                </a:solidFill>
                <a:latin typeface="Calibri" pitchFamily="34" charset="0"/>
                <a:ea typeface="Calibri" pitchFamily="34" charset="-122"/>
                <a:cs typeface="Calibri" pitchFamily="34" charset="-120"/>
              </a:rPr>
              <a:t>When would you still train a dedicated segmentation model instead of using SAM?</a:t>
            </a:r>
            <a:endParaRPr lang="en-US" sz="1700" dirty="0"/>
          </a:p>
          <a:p>
            <a:pPr marL="342900" indent="-342900">
              <a:spcAft>
                <a:spcPts val="1000"/>
              </a:spcAft>
              <a:buSzPct val="100000"/>
              <a:buChar char="•"/>
            </a:pPr>
            <a:r>
              <a:rPr lang="en-US" sz="1700" dirty="0">
                <a:solidFill>
                  <a:srgbClr val="CADCFC"/>
                </a:solidFill>
                <a:latin typeface="Calibri" pitchFamily="34" charset="0"/>
                <a:ea typeface="Calibri" pitchFamily="34" charset="-122"/>
                <a:cs typeface="Calibri" pitchFamily="34" charset="-120"/>
              </a:rPr>
              <a:t>SAM 3's presence token separates “what” from “where” — why does that help?</a:t>
            </a:r>
            <a:endParaRPr lang="en-US" sz="1700" dirty="0"/>
          </a:p>
          <a:p>
            <a:pPr marL="342900" indent="-342900">
              <a:buSzPct val="100000"/>
              <a:buChar char="•"/>
            </a:pPr>
            <a:r>
              <a:rPr lang="en-US" sz="1700" dirty="0">
                <a:solidFill>
                  <a:srgbClr val="CADCFC"/>
                </a:solidFill>
                <a:latin typeface="Calibri" pitchFamily="34" charset="0"/>
                <a:ea typeface="Calibri" pitchFamily="34" charset="-122"/>
                <a:cs typeface="Calibri" pitchFamily="34" charset="-120"/>
              </a:rPr>
              <a:t>How would you combine SAM 3 with an LLM to answer “segment the dog furthest from the camera”?</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104241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Live Demo — SAM 3 Inference</a:t>
            </a:r>
            <a:endParaRPr lang="en-US" sz="3200" dirty="0"/>
          </a:p>
        </p:txBody>
      </p:sp>
      <p:sp>
        <p:nvSpPr>
          <p:cNvPr id="4" name="Text 1"/>
          <p:cNvSpPr/>
          <p:nvPr/>
        </p:nvSpPr>
        <p:spPr>
          <a:xfrm>
            <a:off x="502920" y="914400"/>
            <a:ext cx="10424160" cy="365760"/>
          </a:xfrm>
          <a:prstGeom prst="rect">
            <a:avLst/>
          </a:prstGeom>
          <a:noFill/>
          <a:ln/>
        </p:spPr>
        <p:txBody>
          <a:bodyPr wrap="square" lIns="0" tIns="0" rIns="0" bIns="0" rtlCol="0" anchor="ctr"/>
          <a:lstStyle/>
          <a:p>
            <a:pPr indent="0" marL="0">
              <a:buNone/>
            </a:pPr>
            <a:r>
              <a:rPr lang="en-US" sz="1400" i="1" dirty="0">
                <a:solidFill>
                  <a:srgbClr val="44506B"/>
                </a:solidFill>
                <a:latin typeface="Calibri" pitchFamily="34" charset="0"/>
                <a:ea typeface="Calibri" pitchFamily="34" charset="-122"/>
                <a:cs typeface="Calibri" pitchFamily="34" charset="-120"/>
              </a:rPr>
              <a:t>Session_27_SAM3_Practical.ipynb</a:t>
            </a:r>
            <a:endParaRPr lang="en-US" sz="1400" dirty="0"/>
          </a:p>
        </p:txBody>
      </p:sp>
      <p:sp>
        <p:nvSpPr>
          <p:cNvPr id="5" name="Shape 2"/>
          <p:cNvSpPr/>
          <p:nvPr/>
        </p:nvSpPr>
        <p:spPr>
          <a:xfrm>
            <a:off x="11228832" y="384048"/>
            <a:ext cx="182880" cy="182880"/>
          </a:xfrm>
          <a:prstGeom prst="roundRect">
            <a:avLst>
              <a:gd name="adj" fmla="val 25000"/>
            </a:avLst>
          </a:prstGeom>
          <a:solidFill>
            <a:srgbClr val="02C39A"/>
          </a:solidFill>
          <a:ln/>
        </p:spPr>
      </p:sp>
      <p:sp>
        <p:nvSpPr>
          <p:cNvPr id="6" name="Shape 3"/>
          <p:cNvSpPr/>
          <p:nvPr/>
        </p:nvSpPr>
        <p:spPr>
          <a:xfrm>
            <a:off x="11503152" y="384048"/>
            <a:ext cx="182880" cy="182880"/>
          </a:xfrm>
          <a:prstGeom prst="roundRect">
            <a:avLst>
              <a:gd name="adj" fmla="val 25000"/>
            </a:avLst>
          </a:prstGeom>
          <a:solidFill>
            <a:srgbClr val="F96167"/>
          </a:solidFill>
          <a:ln/>
        </p:spPr>
      </p:sp>
      <p:sp>
        <p:nvSpPr>
          <p:cNvPr id="7" name="Shape 4"/>
          <p:cNvSpPr/>
          <p:nvPr/>
        </p:nvSpPr>
        <p:spPr>
          <a:xfrm>
            <a:off x="11777472" y="384048"/>
            <a:ext cx="182880" cy="182880"/>
          </a:xfrm>
          <a:prstGeom prst="roundRect">
            <a:avLst>
              <a:gd name="adj" fmla="val 25000"/>
            </a:avLst>
          </a:prstGeom>
          <a:solidFill>
            <a:srgbClr val="F2B33D"/>
          </a:solidFill>
          <a:ln/>
        </p:spPr>
      </p:sp>
      <p:sp>
        <p:nvSpPr>
          <p:cNvPr id="8" name="Shape 5"/>
          <p:cNvSpPr/>
          <p:nvPr/>
        </p:nvSpPr>
        <p:spPr>
          <a:xfrm>
            <a:off x="502920" y="1645920"/>
            <a:ext cx="6720840" cy="841248"/>
          </a:xfrm>
          <a:prstGeom prst="roundRect">
            <a:avLst>
              <a:gd name="adj" fmla="val 10870"/>
            </a:avLst>
          </a:prstGeom>
          <a:solidFill>
            <a:srgbClr val="F2F5FB"/>
          </a:solidFill>
          <a:ln/>
        </p:spPr>
      </p:sp>
      <p:sp>
        <p:nvSpPr>
          <p:cNvPr id="9" name="Shape 6"/>
          <p:cNvSpPr/>
          <p:nvPr/>
        </p:nvSpPr>
        <p:spPr>
          <a:xfrm>
            <a:off x="731520" y="1865376"/>
            <a:ext cx="402336" cy="402336"/>
          </a:xfrm>
          <a:prstGeom prst="ellipse">
            <a:avLst/>
          </a:prstGeom>
          <a:solidFill>
            <a:srgbClr val="02C39A"/>
          </a:solidFill>
          <a:ln/>
        </p:spPr>
      </p:sp>
      <p:sp>
        <p:nvSpPr>
          <p:cNvPr id="10" name="Text 7"/>
          <p:cNvSpPr/>
          <p:nvPr/>
        </p:nvSpPr>
        <p:spPr>
          <a:xfrm>
            <a:off x="731520" y="186537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8"/>
          <p:cNvSpPr/>
          <p:nvPr/>
        </p:nvSpPr>
        <p:spPr>
          <a:xfrm>
            <a:off x="1325880" y="1700784"/>
            <a:ext cx="5669280" cy="347472"/>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Get access</a:t>
            </a:r>
            <a:endParaRPr lang="en-US" sz="1450" dirty="0"/>
          </a:p>
        </p:txBody>
      </p:sp>
      <p:sp>
        <p:nvSpPr>
          <p:cNvPr id="12" name="Text 9"/>
          <p:cNvSpPr/>
          <p:nvPr/>
        </p:nvSpPr>
        <p:spPr>
          <a:xfrm>
            <a:off x="1325880" y="2048256"/>
            <a:ext cx="5760720" cy="402336"/>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Request access to facebook/sam3 on Hugging Face (it's gated) and create an access token</a:t>
            </a:r>
            <a:endParaRPr lang="en-US" sz="1150" dirty="0"/>
          </a:p>
        </p:txBody>
      </p:sp>
      <p:sp>
        <p:nvSpPr>
          <p:cNvPr id="13" name="Shape 10"/>
          <p:cNvSpPr/>
          <p:nvPr/>
        </p:nvSpPr>
        <p:spPr>
          <a:xfrm>
            <a:off x="502920" y="2615184"/>
            <a:ext cx="6720840" cy="841248"/>
          </a:xfrm>
          <a:prstGeom prst="roundRect">
            <a:avLst>
              <a:gd name="adj" fmla="val 10870"/>
            </a:avLst>
          </a:prstGeom>
          <a:solidFill>
            <a:srgbClr val="F2F5FB"/>
          </a:solidFill>
          <a:ln/>
        </p:spPr>
      </p:sp>
      <p:sp>
        <p:nvSpPr>
          <p:cNvPr id="14" name="Shape 11"/>
          <p:cNvSpPr/>
          <p:nvPr/>
        </p:nvSpPr>
        <p:spPr>
          <a:xfrm>
            <a:off x="731520" y="2834640"/>
            <a:ext cx="402336" cy="402336"/>
          </a:xfrm>
          <a:prstGeom prst="ellipse">
            <a:avLst/>
          </a:prstGeom>
          <a:solidFill>
            <a:srgbClr val="3E7CB1"/>
          </a:solidFill>
          <a:ln/>
        </p:spPr>
      </p:sp>
      <p:sp>
        <p:nvSpPr>
          <p:cNvPr id="15" name="Text 12"/>
          <p:cNvSpPr/>
          <p:nvPr/>
        </p:nvSpPr>
        <p:spPr>
          <a:xfrm>
            <a:off x="731520" y="283464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3"/>
          <p:cNvSpPr/>
          <p:nvPr/>
        </p:nvSpPr>
        <p:spPr>
          <a:xfrm>
            <a:off x="1325880" y="2670048"/>
            <a:ext cx="5669280" cy="347472"/>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Open in Colab</a:t>
            </a:r>
            <a:endParaRPr lang="en-US" sz="1450" dirty="0"/>
          </a:p>
        </p:txBody>
      </p:sp>
      <p:sp>
        <p:nvSpPr>
          <p:cNvPr id="17" name="Text 14"/>
          <p:cNvSpPr/>
          <p:nvPr/>
        </p:nvSpPr>
        <p:spPr>
          <a:xfrm>
            <a:off x="1325880" y="3017520"/>
            <a:ext cx="5760720" cy="402336"/>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GPU runtime (T4 is enough) · pip install transformers · log in with your token</a:t>
            </a:r>
            <a:endParaRPr lang="en-US" sz="1150" dirty="0"/>
          </a:p>
        </p:txBody>
      </p:sp>
      <p:sp>
        <p:nvSpPr>
          <p:cNvPr id="18" name="Shape 15"/>
          <p:cNvSpPr/>
          <p:nvPr/>
        </p:nvSpPr>
        <p:spPr>
          <a:xfrm>
            <a:off x="502920" y="3584448"/>
            <a:ext cx="6720840" cy="841248"/>
          </a:xfrm>
          <a:prstGeom prst="roundRect">
            <a:avLst>
              <a:gd name="adj" fmla="val 10870"/>
            </a:avLst>
          </a:prstGeom>
          <a:solidFill>
            <a:srgbClr val="F2F5FB"/>
          </a:solidFill>
          <a:ln/>
        </p:spPr>
      </p:sp>
      <p:sp>
        <p:nvSpPr>
          <p:cNvPr id="19" name="Shape 16"/>
          <p:cNvSpPr/>
          <p:nvPr/>
        </p:nvSpPr>
        <p:spPr>
          <a:xfrm>
            <a:off x="731520" y="3803904"/>
            <a:ext cx="402336" cy="402336"/>
          </a:xfrm>
          <a:prstGeom prst="ellipse">
            <a:avLst/>
          </a:prstGeom>
          <a:solidFill>
            <a:srgbClr val="F2B33D"/>
          </a:solidFill>
          <a:ln/>
        </p:spPr>
      </p:sp>
      <p:sp>
        <p:nvSpPr>
          <p:cNvPr id="20" name="Text 17"/>
          <p:cNvSpPr/>
          <p:nvPr/>
        </p:nvSpPr>
        <p:spPr>
          <a:xfrm>
            <a:off x="731520" y="380390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8"/>
          <p:cNvSpPr/>
          <p:nvPr/>
        </p:nvSpPr>
        <p:spPr>
          <a:xfrm>
            <a:off x="1325880" y="3639312"/>
            <a:ext cx="5669280" cy="347472"/>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Prompt with text</a:t>
            </a:r>
            <a:endParaRPr lang="en-US" sz="1450" dirty="0"/>
          </a:p>
        </p:txBody>
      </p:sp>
      <p:sp>
        <p:nvSpPr>
          <p:cNvPr id="22" name="Text 19"/>
          <p:cNvSpPr/>
          <p:nvPr/>
        </p:nvSpPr>
        <p:spPr>
          <a:xfrm>
            <a:off x="1325880" y="3986784"/>
            <a:ext cx="5760720" cy="402336"/>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“player in white” → masks + boxes + scores for every matching instance</a:t>
            </a:r>
            <a:endParaRPr lang="en-US" sz="1150" dirty="0"/>
          </a:p>
        </p:txBody>
      </p:sp>
      <p:sp>
        <p:nvSpPr>
          <p:cNvPr id="23" name="Shape 20"/>
          <p:cNvSpPr/>
          <p:nvPr/>
        </p:nvSpPr>
        <p:spPr>
          <a:xfrm>
            <a:off x="502920" y="4553712"/>
            <a:ext cx="6720840" cy="841248"/>
          </a:xfrm>
          <a:prstGeom prst="roundRect">
            <a:avLst>
              <a:gd name="adj" fmla="val 10870"/>
            </a:avLst>
          </a:prstGeom>
          <a:solidFill>
            <a:srgbClr val="F2F5FB"/>
          </a:solidFill>
          <a:ln/>
        </p:spPr>
      </p:sp>
      <p:sp>
        <p:nvSpPr>
          <p:cNvPr id="24" name="Shape 21"/>
          <p:cNvSpPr/>
          <p:nvPr/>
        </p:nvSpPr>
        <p:spPr>
          <a:xfrm>
            <a:off x="731520" y="4773168"/>
            <a:ext cx="402336" cy="402336"/>
          </a:xfrm>
          <a:prstGeom prst="ellipse">
            <a:avLst/>
          </a:prstGeom>
          <a:solidFill>
            <a:srgbClr val="F96167"/>
          </a:solidFill>
          <a:ln/>
        </p:spPr>
      </p:sp>
      <p:sp>
        <p:nvSpPr>
          <p:cNvPr id="25" name="Text 22"/>
          <p:cNvSpPr/>
          <p:nvPr/>
        </p:nvSpPr>
        <p:spPr>
          <a:xfrm>
            <a:off x="731520" y="477316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6" name="Text 23"/>
          <p:cNvSpPr/>
          <p:nvPr/>
        </p:nvSpPr>
        <p:spPr>
          <a:xfrm>
            <a:off x="1325880" y="4608576"/>
            <a:ext cx="5669280" cy="347472"/>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Prompt with exemplars</a:t>
            </a:r>
            <a:endParaRPr lang="en-US" sz="1450" dirty="0"/>
          </a:p>
        </p:txBody>
      </p:sp>
      <p:sp>
        <p:nvSpPr>
          <p:cNvPr id="27" name="Text 24"/>
          <p:cNvSpPr/>
          <p:nvPr/>
        </p:nvSpPr>
        <p:spPr>
          <a:xfrm>
            <a:off x="1325880" y="4956048"/>
            <a:ext cx="5760720" cy="402336"/>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Box one object → SAM 3 finds all the others · combine text with negative boxes</a:t>
            </a:r>
            <a:endParaRPr lang="en-US" sz="1150" dirty="0"/>
          </a:p>
        </p:txBody>
      </p:sp>
      <p:sp>
        <p:nvSpPr>
          <p:cNvPr id="28" name="Shape 25"/>
          <p:cNvSpPr/>
          <p:nvPr/>
        </p:nvSpPr>
        <p:spPr>
          <a:xfrm>
            <a:off x="7498080" y="1645920"/>
            <a:ext cx="4206240" cy="3931920"/>
          </a:xfrm>
          <a:prstGeom prst="roundRect">
            <a:avLst>
              <a:gd name="adj" fmla="val 2791"/>
            </a:avLst>
          </a:prstGeom>
          <a:solidFill>
            <a:srgbClr val="141B3C"/>
          </a:solidFill>
          <a:ln/>
        </p:spPr>
      </p:sp>
      <p:sp>
        <p:nvSpPr>
          <p:cNvPr id="29" name="Text 26"/>
          <p:cNvSpPr/>
          <p:nvPr/>
        </p:nvSpPr>
        <p:spPr>
          <a:xfrm>
            <a:off x="7772400" y="1828800"/>
            <a:ext cx="3657600" cy="320040"/>
          </a:xfrm>
          <a:prstGeom prst="rect">
            <a:avLst/>
          </a:prstGeom>
          <a:noFill/>
          <a:ln/>
        </p:spPr>
        <p:txBody>
          <a:bodyPr wrap="square" lIns="0" tIns="0" rIns="0" bIns="0" rtlCol="0" anchor="ctr"/>
          <a:lstStyle/>
          <a:p>
            <a:pPr indent="0" marL="0">
              <a:buNone/>
            </a:pPr>
            <a:r>
              <a:rPr lang="en-US" sz="1100" i="1" dirty="0">
                <a:solidFill>
                  <a:srgbClr val="02C39A"/>
                </a:solidFill>
                <a:latin typeface="Calibri" pitchFamily="34" charset="0"/>
                <a:ea typeface="Calibri" pitchFamily="34" charset="-122"/>
                <a:cs typeface="Calibri" pitchFamily="34" charset="-120"/>
              </a:rPr>
              <a:t>the whole API, in one breath</a:t>
            </a:r>
            <a:endParaRPr lang="en-US" sz="1100" dirty="0"/>
          </a:p>
        </p:txBody>
      </p:sp>
      <p:sp>
        <p:nvSpPr>
          <p:cNvPr id="30" name="Text 27"/>
          <p:cNvSpPr/>
          <p:nvPr/>
        </p:nvSpPr>
        <p:spPr>
          <a:xfrm>
            <a:off x="7772400" y="2194560"/>
            <a:ext cx="3749040" cy="3291840"/>
          </a:xfrm>
          <a:prstGeom prst="rect">
            <a:avLst/>
          </a:prstGeom>
          <a:noFill/>
          <a:ln/>
        </p:spPr>
        <p:txBody>
          <a:bodyPr wrap="square" lIns="0" tIns="0" rIns="0" bIns="0" rtlCol="0" anchor="ctr"/>
          <a:lstStyle/>
          <a:p>
            <a:pPr indent="0" marL="0">
              <a:buNone/>
            </a:pPr>
            <a:r>
              <a:rPr lang="en-US" sz="1050" dirty="0">
                <a:solidFill>
                  <a:srgbClr val="D9E4F5"/>
                </a:solidFill>
                <a:latin typeface="Courier New" pitchFamily="34" charset="0"/>
                <a:ea typeface="Courier New" pitchFamily="34" charset="-122"/>
                <a:cs typeface="Courier New" pitchFamily="34" charset="-120"/>
              </a:rPr>
              <a:t>from transformers import (</a:t>
            </a:r>
            <a:endParaRPr lang="en-US" sz="1050" dirty="0"/>
          </a:p>
          <a:p>
            <a:pPr indent="0" marL="0">
              <a:buNone/>
            </a:pPr>
            <a:r>
              <a:rPr lang="en-US" sz="1050" dirty="0">
                <a:solidFill>
                  <a:srgbClr val="D9E4F5"/>
                </a:solidFill>
                <a:latin typeface="Courier New" pitchFamily="34" charset="0"/>
                <a:ea typeface="Courier New" pitchFamily="34" charset="-122"/>
                <a:cs typeface="Courier New" pitchFamily="34" charset="-120"/>
              </a:rPr>
              <a:t>  Sam3Model, Sam3Processor)</a:t>
            </a:r>
            <a:endParaRPr lang="en-US" sz="1050" dirty="0"/>
          </a:p>
          <a:p>
            <a:pPr indent="0" marL="0">
              <a:buNone/>
            </a:pPr>
            <a:endParaRPr lang="en-US" sz="1050" dirty="0"/>
          </a:p>
          <a:p>
            <a:pPr indent="0" marL="0">
              <a:buNone/>
            </a:pPr>
            <a:r>
              <a:rPr lang="en-US" sz="1050" dirty="0">
                <a:solidFill>
                  <a:srgbClr val="D9E4F5"/>
                </a:solidFill>
                <a:latin typeface="Courier New" pitchFamily="34" charset="0"/>
                <a:ea typeface="Courier New" pitchFamily="34" charset="-122"/>
                <a:cs typeface="Courier New" pitchFamily="34" charset="-120"/>
              </a:rPr>
              <a:t>model = Sam3Model</a:t>
            </a:r>
            <a:endParaRPr lang="en-US" sz="1050" dirty="0"/>
          </a:p>
          <a:p>
            <a:pPr indent="0" marL="0">
              <a:buNone/>
            </a:pPr>
            <a:r>
              <a:rPr lang="en-US" sz="1050" dirty="0">
                <a:solidFill>
                  <a:srgbClr val="D9E4F5"/>
                </a:solidFill>
                <a:latin typeface="Courier New" pitchFamily="34" charset="0"/>
                <a:ea typeface="Courier New" pitchFamily="34" charset="-122"/>
                <a:cs typeface="Courier New" pitchFamily="34" charset="-120"/>
              </a:rPr>
              <a:t>  .from_pretrained("facebook/sam3")</a:t>
            </a:r>
            <a:endParaRPr lang="en-US" sz="1050" dirty="0"/>
          </a:p>
          <a:p>
            <a:pPr indent="0" marL="0">
              <a:buNone/>
            </a:pPr>
            <a:r>
              <a:rPr lang="en-US" sz="1050" dirty="0">
                <a:solidFill>
                  <a:srgbClr val="D9E4F5"/>
                </a:solidFill>
                <a:latin typeface="Courier New" pitchFamily="34" charset="0"/>
                <a:ea typeface="Courier New" pitchFamily="34" charset="-122"/>
                <a:cs typeface="Courier New" pitchFamily="34" charset="-120"/>
              </a:rPr>
              <a:t>proc = Sam3Processor</a:t>
            </a:r>
            <a:endParaRPr lang="en-US" sz="1050" dirty="0"/>
          </a:p>
          <a:p>
            <a:pPr indent="0" marL="0">
              <a:buNone/>
            </a:pPr>
            <a:r>
              <a:rPr lang="en-US" sz="1050" dirty="0">
                <a:solidFill>
                  <a:srgbClr val="D9E4F5"/>
                </a:solidFill>
                <a:latin typeface="Courier New" pitchFamily="34" charset="0"/>
                <a:ea typeface="Courier New" pitchFamily="34" charset="-122"/>
                <a:cs typeface="Courier New" pitchFamily="34" charset="-120"/>
              </a:rPr>
              <a:t>  .from_pretrained("facebook/sam3")</a:t>
            </a:r>
            <a:endParaRPr lang="en-US" sz="1050" dirty="0"/>
          </a:p>
          <a:p>
            <a:pPr indent="0" marL="0">
              <a:buNone/>
            </a:pPr>
            <a:endParaRPr lang="en-US" sz="1050" dirty="0"/>
          </a:p>
          <a:p>
            <a:pPr indent="0" marL="0">
              <a:buNone/>
            </a:pPr>
            <a:r>
              <a:rPr lang="en-US" sz="1050" dirty="0">
                <a:solidFill>
                  <a:srgbClr val="D9E4F5"/>
                </a:solidFill>
                <a:latin typeface="Courier New" pitchFamily="34" charset="0"/>
                <a:ea typeface="Courier New" pitchFamily="34" charset="-122"/>
                <a:cs typeface="Courier New" pitchFamily="34" charset="-120"/>
              </a:rPr>
              <a:t>inputs = proc(images=img,</a:t>
            </a:r>
            <a:endParaRPr lang="en-US" sz="1050" dirty="0"/>
          </a:p>
          <a:p>
            <a:pPr indent="0" marL="0">
              <a:buNone/>
            </a:pPr>
            <a:r>
              <a:rPr lang="en-US" sz="1050" dirty="0">
                <a:solidFill>
                  <a:srgbClr val="D9E4F5"/>
                </a:solidFill>
                <a:latin typeface="Courier New" pitchFamily="34" charset="0"/>
                <a:ea typeface="Courier New" pitchFamily="34" charset="-122"/>
                <a:cs typeface="Courier New" pitchFamily="34" charset="-120"/>
              </a:rPr>
              <a:t>  text="player in white")</a:t>
            </a:r>
            <a:endParaRPr lang="en-US" sz="1050" dirty="0"/>
          </a:p>
          <a:p>
            <a:pPr indent="0" marL="0">
              <a:buNone/>
            </a:pPr>
            <a:r>
              <a:rPr lang="en-US" sz="1050" dirty="0">
                <a:solidFill>
                  <a:srgbClr val="D9E4F5"/>
                </a:solidFill>
                <a:latin typeface="Courier New" pitchFamily="34" charset="0"/>
                <a:ea typeface="Courier New" pitchFamily="34" charset="-122"/>
                <a:cs typeface="Courier New" pitchFamily="34" charset="-120"/>
              </a:rPr>
              <a:t>outputs = model(**inputs)</a:t>
            </a:r>
            <a:endParaRPr lang="en-US" sz="1050" dirty="0"/>
          </a:p>
          <a:p>
            <a:pPr indent="0" marL="0">
              <a:buNone/>
            </a:pPr>
            <a:r>
              <a:rPr lang="en-US" sz="1050" dirty="0">
                <a:solidFill>
                  <a:srgbClr val="D9E4F5"/>
                </a:solidFill>
                <a:latin typeface="Courier New" pitchFamily="34" charset="0"/>
                <a:ea typeface="Courier New" pitchFamily="34" charset="-122"/>
                <a:cs typeface="Courier New" pitchFamily="34" charset="-120"/>
              </a:rPr>
              <a:t>res = proc.</a:t>
            </a:r>
            <a:endParaRPr lang="en-US" sz="1050" dirty="0"/>
          </a:p>
          <a:p>
            <a:pPr indent="0" marL="0">
              <a:buNone/>
            </a:pPr>
            <a:r>
              <a:rPr lang="en-US" sz="1050" dirty="0">
                <a:solidFill>
                  <a:srgbClr val="D9E4F5"/>
                </a:solidFill>
                <a:latin typeface="Courier New" pitchFamily="34" charset="0"/>
                <a:ea typeface="Courier New" pitchFamily="34" charset="-122"/>
                <a:cs typeface="Courier New" pitchFamily="34" charset="-120"/>
              </a:rPr>
              <a:t>  post_process_instance_segmentation(</a:t>
            </a:r>
            <a:endParaRPr lang="en-US" sz="1050" dirty="0"/>
          </a:p>
          <a:p>
            <a:pPr indent="0" marL="0">
              <a:buNone/>
            </a:pPr>
            <a:r>
              <a:rPr lang="en-US" sz="1050" dirty="0">
                <a:solidFill>
                  <a:srgbClr val="D9E4F5"/>
                </a:solidFill>
                <a:latin typeface="Courier New" pitchFamily="34" charset="0"/>
                <a:ea typeface="Courier New" pitchFamily="34" charset="-122"/>
                <a:cs typeface="Courier New" pitchFamily="34" charset="-120"/>
              </a:rPr>
              <a:t>    outputs, threshold=0.5)</a:t>
            </a:r>
            <a:endParaRPr lang="en-US" sz="1050" dirty="0"/>
          </a:p>
        </p:txBody>
      </p:sp>
      <p:sp>
        <p:nvSpPr>
          <p:cNvPr id="31" name="Text 28"/>
          <p:cNvSpPr/>
          <p:nvPr/>
        </p:nvSpPr>
        <p:spPr>
          <a:xfrm>
            <a:off x="502920" y="5806440"/>
            <a:ext cx="1115568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Fallback if no GPU / no HF access: play with the hosted demo at segment-anything.com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2026-07-20T17:42:16Z</dcterms:created>
  <dcterms:modified xsi:type="dcterms:W3CDTF">2026-07-20T17:42:16Z</dcterms:modified>
</cp:coreProperties>
</file>