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3152"/>
          </a:xfrm>
          <a:prstGeom prst="rect">
            <a:avLst/>
          </a:prstGeom>
          <a:solidFill>
            <a:srgbClr val="00B4D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48640"/>
            <a:ext cx="1463040" cy="4114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486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 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1887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Object Detection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YOLO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R-CNN Foundations to Real-Time YOLOv8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Core CV Tasks  |  Week 7</a:t>
            </a:r>
            <a:endParaRPr lang="en-US" sz="1200" dirty="0"/>
          </a:p>
        </p:txBody>
      </p:sp>
      <p:pic>
        <p:nvPicPr>
          <p:cNvPr id="9" name="Image 0" descr="/sessions/zen-admiring-noether/mnt/AI-CV-Lecture/Session 10/yolo-object-dete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365760"/>
            <a:ext cx="3840480" cy="28803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0" y="3246120"/>
            <a:ext cx="384048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5212080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21208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Sessions Combined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132320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1323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+ Hands-On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Today's 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11556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078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Object Detection?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45920" y="13167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vs detection vs segmentation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737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55648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17190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Detectors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645920" y="195681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R-CNN → Fast R-CNN → Faster R-CNN evolution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237744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548640" y="2377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395728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23591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645920" y="259689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boxes, IoU, NMS, and mAP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017520"/>
            <a:ext cx="411480" cy="41148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0" name="Text 15"/>
          <p:cNvSpPr/>
          <p:nvPr/>
        </p:nvSpPr>
        <p:spPr>
          <a:xfrm>
            <a:off x="548640" y="3017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303580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5920" y="29992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YOLO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645920" y="323697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One-stage detection philosophy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5" name="Text 19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75888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45920" y="36393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Architecture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1645920" y="387705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Backbone, neck, and head deep-dive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8640" y="4297680"/>
            <a:ext cx="411480" cy="41148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0" name="Text 23"/>
          <p:cNvSpPr/>
          <p:nvPr/>
        </p:nvSpPr>
        <p:spPr>
          <a:xfrm>
            <a:off x="548640" y="4297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6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4315968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645920" y="42793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Quickstart</a:t>
            </a:r>
            <a:endParaRPr lang="en-US" sz="1500" dirty="0"/>
          </a:p>
        </p:txBody>
      </p:sp>
      <p:sp>
        <p:nvSpPr>
          <p:cNvPr id="33" name="Text 25"/>
          <p:cNvSpPr/>
          <p:nvPr/>
        </p:nvSpPr>
        <p:spPr>
          <a:xfrm>
            <a:off x="1645920" y="45171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inference, training, and evaluation</a:t>
            </a:r>
            <a:endParaRPr lang="en-US" sz="1100" dirty="0"/>
          </a:p>
        </p:txBody>
      </p:sp>
      <p:pic>
        <p:nvPicPr>
          <p:cNvPr id="34" name="Image 6" descr="/sessions/zen-admiring-noether/mnt/AI-CV-Lecture/Session 10/dog_bike_ca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217920" y="1097280"/>
            <a:ext cx="2560320" cy="192024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6217920" y="3017520"/>
            <a:ext cx="2560320" cy="36576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6" name="Text 27"/>
          <p:cNvSpPr/>
          <p:nvPr/>
        </p:nvSpPr>
        <p:spPr>
          <a:xfrm>
            <a:off x="6217920" y="32004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machine detect every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in this image?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Object Detection?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26517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Classification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in the image?"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label for the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image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class + confidence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2286000" cy="3657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"dog" (97%)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105156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051560"/>
            <a:ext cx="26517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2044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&amp; where?"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2103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every object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bounding box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boxes + classes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20440" y="3474720"/>
            <a:ext cx="2286000" cy="3657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7" name="Text 15"/>
          <p:cNvSpPr/>
          <p:nvPr/>
        </p:nvSpPr>
        <p:spPr>
          <a:xfrm>
            <a:off x="352044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dog, bicycle, truck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105156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051560"/>
            <a:ext cx="2651760" cy="54864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Segmentation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0" y="1691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"Exact pixel boundaries"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103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each pixel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belonging to objects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pixel-level masks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3474720"/>
            <a:ext cx="2286000" cy="3657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474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precise outlines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= Classification + Localisation (for every object in the image)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Detection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400" dirty="0"/>
          </a:p>
        </p:txBody>
      </p:sp>
      <p:pic>
        <p:nvPicPr>
          <p:cNvPr id="5" name="Image 0" descr="/sessions/zen-admiring-noether/mnt/AI-CV-Lecture/Session 10/dog_bike_ca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3474720" cy="26060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377440"/>
            <a:ext cx="457200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069080" y="2286000"/>
            <a:ext cx="640080" cy="640080"/>
          </a:xfrm>
          <a:prstGeom prst="ellipse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8" name="Text 4"/>
          <p:cNvSpPr/>
          <p:nvPr/>
        </p:nvSpPr>
        <p:spPr>
          <a:xfrm>
            <a:off x="4937760" y="10058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400" dirty="0"/>
          </a:p>
        </p:txBody>
      </p:sp>
      <p:pic>
        <p:nvPicPr>
          <p:cNvPr id="9" name="Image 2" descr="/sessions/zen-admiring-noether/mnt/AI-CV-Lecture/Session 10/yolo-object-detection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937760" y="1371600"/>
            <a:ext cx="3474720" cy="26060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4206240"/>
            <a:ext cx="26517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4315968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1005840" y="45537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w, h)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337560" y="4206240"/>
            <a:ext cx="26517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4315968"/>
            <a:ext cx="320040" cy="32004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88620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Label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3886200" y="45537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dog, bicycle, truck</a:t>
            </a:r>
            <a:endParaRPr lang="en-US" sz="1100" dirty="0"/>
          </a:p>
        </p:txBody>
      </p:sp>
      <p:sp>
        <p:nvSpPr>
          <p:cNvPr id="18" name="Shape 11"/>
          <p:cNvSpPr/>
          <p:nvPr/>
        </p:nvSpPr>
        <p:spPr>
          <a:xfrm>
            <a:off x="6217920" y="4206240"/>
            <a:ext cx="26517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315968"/>
            <a:ext cx="320040" cy="32004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76656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6766560" y="45537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 → 1.0 score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Two-Stage Detectors: The R-CNN Family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2423160"/>
            <a:ext cx="76809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Shape 3"/>
          <p:cNvSpPr/>
          <p:nvPr/>
        </p:nvSpPr>
        <p:spPr>
          <a:xfrm>
            <a:off x="1417320" y="219456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41732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517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R-CNN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28800" y="11430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~50s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1463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Search → 2000 regions → CNN each → SVM classify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71800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22960" y="29443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deep-learning detector</a:t>
            </a:r>
            <a:endParaRPr lang="en-US" sz="11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20440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22960" y="349300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slow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297680" y="2194560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8" name="Text 14"/>
          <p:cNvSpPr/>
          <p:nvPr/>
        </p:nvSpPr>
        <p:spPr>
          <a:xfrm>
            <a:off x="429768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3337560" y="1005840"/>
            <a:ext cx="26517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337560" y="1005840"/>
            <a:ext cx="265176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7"/>
          <p:cNvSpPr/>
          <p:nvPr/>
        </p:nvSpPr>
        <p:spPr>
          <a:xfrm>
            <a:off x="347472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 R-CNN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709160" y="11430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~2s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3474720" y="1463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on full image once → RoI pooling → classify + regress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337560" y="288036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971800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3703320" y="29443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CNN computation</a:t>
            </a:r>
            <a:endParaRPr lang="en-US" sz="11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520440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3703320" y="349300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uses Selective Search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7178040" y="2194560"/>
            <a:ext cx="548640" cy="5486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0" name="Text 24"/>
          <p:cNvSpPr/>
          <p:nvPr/>
        </p:nvSpPr>
        <p:spPr>
          <a:xfrm>
            <a:off x="71780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6217920" y="1005840"/>
            <a:ext cx="26517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217920" y="1005840"/>
            <a:ext cx="2651760" cy="54864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3" name="Text 27"/>
          <p:cNvSpPr/>
          <p:nvPr/>
        </p:nvSpPr>
        <p:spPr>
          <a:xfrm>
            <a:off x="6355080" y="1097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Faster R-CNN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7589520" y="11430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~0.2s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6355080" y="1463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Proposal Network (RPN) replaces Selective Search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6217920" y="288036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971800"/>
            <a:ext cx="201168" cy="201168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6583680" y="29443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DC6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trainable, much faster</a:t>
            </a:r>
            <a:endParaRPr lang="en-US" sz="11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520440"/>
            <a:ext cx="201168" cy="20116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6583680" y="349300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two stages</a:t>
            </a:r>
            <a:endParaRPr lang="en-US" sz="1100" dirty="0"/>
          </a:p>
        </p:txBody>
      </p:sp>
      <p:sp>
        <p:nvSpPr>
          <p:cNvPr id="41" name="Shape 3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2" name="Text 3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Two-stage = (1) propose regions  →  (2) classify each region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 Boxes &amp; IoU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54864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344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 Boxes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94360" y="1737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Pre-defined boxes of various shapes and sizes placed at every position in the feature map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005840" y="2560320"/>
            <a:ext cx="457200" cy="914400"/>
          </a:xfrm>
          <a:prstGeom prst="rect">
            <a:avLst/>
          </a:prstGeom>
          <a:solidFill>
            <a:srgbClr val="00B4D8">
              <a:alpha val="30000"/>
            </a:srgbClr>
          </a:solidFill>
          <a:ln w="25400">
            <a:solidFill>
              <a:srgbClr val="00B4D8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40080" y="3566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&amp; Narrow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40080" y="37764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poles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148840" y="2697480"/>
            <a:ext cx="640080" cy="640080"/>
          </a:xfrm>
          <a:prstGeom prst="rect">
            <a:avLst/>
          </a:prstGeom>
          <a:solidFill>
            <a:srgbClr val="00B4D8">
              <a:alpha val="30000"/>
            </a:srgbClr>
          </a:solidFill>
          <a:ln w="25400">
            <a:solidFill>
              <a:srgbClr val="00B4D8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1874520" y="3566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874520" y="37764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Faces, signs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246120" y="2788920"/>
            <a:ext cx="914400" cy="457200"/>
          </a:xfrm>
          <a:prstGeom prst="rect">
            <a:avLst/>
          </a:prstGeom>
          <a:solidFill>
            <a:srgbClr val="00B4D8">
              <a:alpha val="30000"/>
            </a:srgbClr>
          </a:solidFill>
          <a:ln w="25400">
            <a:solidFill>
              <a:srgbClr val="00B4D8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3108960" y="356616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&amp; Short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08960" y="37764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Cars, buses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594360" y="4069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predicts offsets to refine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anchors into tight bounding boxes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05840"/>
            <a:ext cx="4023360" cy="54864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3444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394960" y="1234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IoU — Intersection over Union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120640" y="1783080"/>
            <a:ext cx="3291840" cy="50292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4" name="Text 20"/>
          <p:cNvSpPr/>
          <p:nvPr/>
        </p:nvSpPr>
        <p:spPr>
          <a:xfrm>
            <a:off x="5120640" y="17830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 =  Area of Overlap  /  Area of Union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486400" y="2560320"/>
            <a:ext cx="1463040" cy="1097280"/>
          </a:xfrm>
          <a:prstGeom prst="rect">
            <a:avLst/>
          </a:prstGeom>
          <a:solidFill>
            <a:srgbClr val="00B4D8">
              <a:alpha val="4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035040" y="2834640"/>
            <a:ext cx="1463040" cy="1097280"/>
          </a:xfrm>
          <a:prstGeom prst="rect">
            <a:avLst/>
          </a:prstGeom>
          <a:solidFill>
            <a:srgbClr val="E63946">
              <a:alpha val="40000"/>
            </a:srgbClr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94960" y="233172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589520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120640" y="39776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&lt; 0.5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6400800" y="3977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match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5120640" y="42519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7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≥ 0.5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400800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(standard threshold)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120640" y="4526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≥ 0.75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6400800" y="4526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match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Non-Maximum Suppression (NMS)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78992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00584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Detectors produce many overlapping boxes for the same object. NMS keeps only the best one.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004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6868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Sort by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Confidence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1148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all boxes by their confidence scores (highest first)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05740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0604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4" name="Text 11"/>
          <p:cNvSpPr/>
          <p:nvPr/>
        </p:nvSpPr>
        <p:spPr>
          <a:xfrm>
            <a:off x="260604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14884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Pick Top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Box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14884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box with the highest confidence as a detection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79476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4340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9" name="Text 16"/>
          <p:cNvSpPr/>
          <p:nvPr/>
        </p:nvSpPr>
        <p:spPr>
          <a:xfrm>
            <a:off x="434340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88620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Compute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IoU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88620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IoU of remaining boxes with the selected box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53212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08076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4" name="Text 21"/>
          <p:cNvSpPr/>
          <p:nvPr/>
        </p:nvSpPr>
        <p:spPr>
          <a:xfrm>
            <a:off x="608076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62356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Suppress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Overlap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2356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boxes with IoU &gt; threshold (e.g., 0.5) — they detect the same object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269480" y="1828800"/>
            <a:ext cx="155448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818120" y="19659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9" name="Text 26"/>
          <p:cNvSpPr/>
          <p:nvPr/>
        </p:nvSpPr>
        <p:spPr>
          <a:xfrm>
            <a:off x="781812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360920" y="25603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Repeat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7360920" y="3246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step 2 with remaining boxes until none are left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Evaluation: mAP (mean Average Precision)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40233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Building Blocks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" y="1691640"/>
            <a:ext cx="3566160" cy="4572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Precision = TP / (TP + FP)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9476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 all detections, how many are correct?"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3566160" cy="45720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3317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= TP / (TP + FN)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25877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 all real objects, how many did we find?"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 (Average Precision)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under the Precision-Recall curve for a single class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 (mean AP)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3977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AP across all classes — the standard detection metric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343400"/>
            <a:ext cx="3566160" cy="3200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343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= (1/N) × Σ AP_i  for all N classes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02336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005840"/>
            <a:ext cx="4023360" cy="54864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Common Variants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983480" y="1737360"/>
            <a:ext cx="356616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983480" y="1737360"/>
            <a:ext cx="54864" cy="82296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24" name="Text 22"/>
          <p:cNvSpPr/>
          <p:nvPr/>
        </p:nvSpPr>
        <p:spPr>
          <a:xfrm>
            <a:off x="5212080" y="17830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7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mAP@0.5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20848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threshold = 0.5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(PASCAL VOC standard)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2743200"/>
            <a:ext cx="356616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27" name="Shape 25"/>
          <p:cNvSpPr/>
          <p:nvPr/>
        </p:nvSpPr>
        <p:spPr>
          <a:xfrm>
            <a:off x="4983480" y="2743200"/>
            <a:ext cx="54864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mAP@0.75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212080" y="30906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threshold = 0.75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(stricter matching)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83480" y="3749040"/>
            <a:ext cx="3566160" cy="822960"/>
          </a:xfrm>
          <a:prstGeom prst="rect">
            <a:avLst/>
          </a:prstGeom>
          <a:solidFill>
            <a:srgbClr val="F0F4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983480" y="3749040"/>
            <a:ext cx="54864" cy="8229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2" name="Text 30"/>
          <p:cNvSpPr/>
          <p:nvPr/>
        </p:nvSpPr>
        <p:spPr>
          <a:xfrm>
            <a:off x="5212080" y="3794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mAP@[.5:.95]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212080" y="409651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over IoU from 0.5 to 0.95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steps of 0.05 (COCO standard)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Only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Once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One-Stage Detection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4572000" cy="73152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657600"/>
            <a:ext cx="54864" cy="731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6576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proposing regions then classifying,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frames detection as a single regression problem.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91440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0" y="960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Speed Comparison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6072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R-CNN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223760" y="1783080"/>
            <a:ext cx="137160" cy="182880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745236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 FPS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6072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R-CNN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2331720"/>
            <a:ext cx="274320" cy="182880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 FPS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760720" y="2834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R-CNN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23760" y="2880360"/>
            <a:ext cx="548640" cy="182880"/>
          </a:xfrm>
          <a:prstGeom prst="rect">
            <a:avLst/>
          </a:prstGeom>
          <a:solidFill>
            <a:srgbClr val="00B4D8">
              <a:alpha val="70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FPS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760720" y="3383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23760" y="3429000"/>
            <a:ext cx="1280160" cy="1828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2" name="Text 19"/>
          <p:cNvSpPr/>
          <p:nvPr/>
        </p:nvSpPr>
        <p:spPr>
          <a:xfrm>
            <a:off x="859536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FPS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760720" y="3931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223760" y="3977640"/>
            <a:ext cx="1188720" cy="1828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394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600+ FPS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 Evolution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8288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2468880"/>
            <a:ext cx="7680960" cy="457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3"/>
          <p:cNvSpPr/>
          <p:nvPr/>
        </p:nvSpPr>
        <p:spPr>
          <a:xfrm>
            <a:off x="960120" y="2240280"/>
            <a:ext cx="548640" cy="548640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00584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1005840"/>
            <a:ext cx="1417320" cy="457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0972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13898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detection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FPS on GPU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651760" y="2240280"/>
            <a:ext cx="548640" cy="548640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3" name="Text 10"/>
          <p:cNvSpPr/>
          <p:nvPr/>
        </p:nvSpPr>
        <p:spPr>
          <a:xfrm>
            <a:off x="265176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240280" y="288036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240280" y="3931920"/>
            <a:ext cx="1417320" cy="4572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6" name="Text 13"/>
          <p:cNvSpPr/>
          <p:nvPr/>
        </p:nvSpPr>
        <p:spPr>
          <a:xfrm>
            <a:off x="2286000" y="2926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2286000" y="32186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norm, anchor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boxes, multi-scale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43400" y="22402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9" name="Text 16"/>
          <p:cNvSpPr/>
          <p:nvPr/>
        </p:nvSpPr>
        <p:spPr>
          <a:xfrm>
            <a:off x="434340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931920" y="100584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931920" y="1005840"/>
            <a:ext cx="141732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Text 19"/>
          <p:cNvSpPr/>
          <p:nvPr/>
        </p:nvSpPr>
        <p:spPr>
          <a:xfrm>
            <a:off x="3977640" y="10972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YOLOv3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977640" y="13898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Darknet-53 backbone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 neck, 3 scales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035040" y="2240280"/>
            <a:ext cx="548640" cy="54864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5" name="Text 22"/>
          <p:cNvSpPr/>
          <p:nvPr/>
        </p:nvSpPr>
        <p:spPr>
          <a:xfrm>
            <a:off x="603504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623560" y="288036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623560" y="3931920"/>
            <a:ext cx="141732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8" name="Text 25"/>
          <p:cNvSpPr/>
          <p:nvPr/>
        </p:nvSpPr>
        <p:spPr>
          <a:xfrm>
            <a:off x="5669280" y="29260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669280" y="32186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PyTorch-native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ecosystem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726680" y="2240280"/>
            <a:ext cx="548640" cy="5486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31" name="Text 28"/>
          <p:cNvSpPr/>
          <p:nvPr/>
        </p:nvSpPr>
        <p:spPr>
          <a:xfrm>
            <a:off x="7726680" y="2240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315200" y="1005840"/>
            <a:ext cx="1417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7315200" y="1005840"/>
            <a:ext cx="1417320" cy="457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4" name="Text 31"/>
          <p:cNvSpPr/>
          <p:nvPr/>
        </p:nvSpPr>
        <p:spPr>
          <a:xfrm>
            <a:off x="7360920" y="10972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639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60920" y="1389888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Anchor-free, C2f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unified CLI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focus on YOLOv8 — the current standard with the best speed-accuracy trade-off and the Ultralytics ecosystem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269748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188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Backbone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1463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1965960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1920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CSPDarknet architecture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350008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C2f modules (Cross Stage Partial)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734056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68833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multi-scale features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3118104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0723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Progressively reduces spatial size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502152"/>
            <a:ext cx="109728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345643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channel depth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063240" y="2651760"/>
            <a:ext cx="13716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0" name="Shape 17"/>
          <p:cNvSpPr/>
          <p:nvPr/>
        </p:nvSpPr>
        <p:spPr>
          <a:xfrm>
            <a:off x="3246120" y="100584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246120" y="1005840"/>
            <a:ext cx="2697480" cy="54864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88720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840480" y="1188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Neck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3840480" y="1463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Fusion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383280" y="1965960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920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FPN (Feature Pyramid Network)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3383280" y="2350008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(Path Aggregation Network)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383280" y="2734056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8833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low-level + high-level features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3383280" y="3118104"/>
            <a:ext cx="109728" cy="1097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0723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detection at 3 scales: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3611880" y="345643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small, medium, and large objects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989320" y="2651760"/>
            <a:ext cx="137160" cy="54864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5" name="Shape 31"/>
          <p:cNvSpPr/>
          <p:nvPr/>
        </p:nvSpPr>
        <p:spPr>
          <a:xfrm>
            <a:off x="6172200" y="1005840"/>
            <a:ext cx="269748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6172200" y="1005840"/>
            <a:ext cx="2697480" cy="54864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88720"/>
            <a:ext cx="365760" cy="36576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766560" y="11887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Head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6766560" y="14630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6309360" y="1965960"/>
            <a:ext cx="109728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1" name="Text 36"/>
          <p:cNvSpPr/>
          <p:nvPr/>
        </p:nvSpPr>
        <p:spPr>
          <a:xfrm>
            <a:off x="6537960" y="1920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head design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6309360" y="2350008"/>
            <a:ext cx="109728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3" name="Text 38"/>
          <p:cNvSpPr/>
          <p:nvPr/>
        </p:nvSpPr>
        <p:spPr>
          <a:xfrm>
            <a:off x="6537960" y="230428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branches for: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537960" y="268833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Classification (what?)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6537960" y="307238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Bounding box regression (where?)</a:t>
            </a:r>
            <a:endParaRPr lang="en-US" sz="1100" dirty="0"/>
          </a:p>
        </p:txBody>
      </p:sp>
      <p:sp>
        <p:nvSpPr>
          <p:cNvPr id="46" name="Shape 41"/>
          <p:cNvSpPr/>
          <p:nvPr/>
        </p:nvSpPr>
        <p:spPr>
          <a:xfrm>
            <a:off x="6309360" y="3502152"/>
            <a:ext cx="109728" cy="109728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47" name="Text 42"/>
          <p:cNvSpPr/>
          <p:nvPr/>
        </p:nvSpPr>
        <p:spPr>
          <a:xfrm>
            <a:off x="6537960" y="345643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Anchor-free predictions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Key Innovations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54864" cy="16916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1234440"/>
            <a:ext cx="502920" cy="502920"/>
          </a:xfrm>
          <a:prstGeom prst="ellipse">
            <a:avLst/>
          </a:prstGeom>
          <a:solidFill>
            <a:srgbClr val="E63946">
              <a:alpha val="15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307592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188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Anchor-Free Detection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554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predefined anchor boxes — the model directly predicts the center and size of objects. Reduces hyperparameters and speeds up post-processing.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051560"/>
            <a:ext cx="54864" cy="16916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2" name="Shape 9"/>
          <p:cNvSpPr/>
          <p:nvPr/>
        </p:nvSpPr>
        <p:spPr>
          <a:xfrm>
            <a:off x="4892040" y="1234440"/>
            <a:ext cx="502920" cy="50292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30759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188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C2f Module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577840" y="1554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Stage Partial with flow — splits features, processes through bottleneck blocks, then concatenates. Better gradient flow than CSP.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65760" y="30175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5760" y="3017520"/>
            <a:ext cx="54864" cy="16916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3200400"/>
            <a:ext cx="502920" cy="5029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7355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Decoupled Head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280160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branches for classification and regression. Each task gets its own convolutional layers — improves both accuracy and convergence.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663440" y="3017520"/>
            <a:ext cx="40233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663440" y="3017520"/>
            <a:ext cx="54864" cy="169164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24" name="Shape 19"/>
          <p:cNvSpPr/>
          <p:nvPr/>
        </p:nvSpPr>
        <p:spPr>
          <a:xfrm>
            <a:off x="4892040" y="3200400"/>
            <a:ext cx="502920" cy="502920"/>
          </a:xfrm>
          <a:prstGeom prst="ellipse">
            <a:avLst/>
          </a:prstGeom>
          <a:solidFill>
            <a:srgbClr val="F77F00">
              <a:alpha val="15000"/>
            </a:srgbClr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3273552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Task-Agnostic Design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577840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supports detection, segmentation, classification, pose estimation, and OBB — just swap the head module.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YOLOv8 Model Variants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7432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371600"/>
                <a:gridCol w="1280160"/>
                <a:gridCol w="32004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Model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Params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mAP@50-95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Speed (ms)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Best For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94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/ mobile / real-time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1.40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speed &amp;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B4D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25.9M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43.7M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52.9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accuracy needs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YOLOv8x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68.2M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53.9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6.16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77724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Convention:  n = nano,  s = small,  m = medium,  l = large,  x = extra-large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suffixes:  -seg (segmentation),  -pose (keypoints),  -cls (classification),  -obb (oriented bbox)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Ultralytics Quickstart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960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Installation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3931920" cy="4114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325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ultralytics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Run Inference (Python)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3931920" cy="18288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23774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ultralytics import YOLO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a pretrained model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YOLO('yolov8n.pt')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inference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model('image.jpg')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Show results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results[0].show()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54880" y="960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 Commands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325880"/>
            <a:ext cx="3931920" cy="10058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3" name="Text 10"/>
          <p:cNvSpPr/>
          <p:nvPr/>
        </p:nvSpPr>
        <p:spPr>
          <a:xfrm>
            <a:off x="4937760" y="13716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Predict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 predict model=yolov8n.pt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source='image.jpg'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754880" y="2514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Train on Custom Data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754880" y="2880360"/>
            <a:ext cx="3931920" cy="12344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6" name="Text 13"/>
          <p:cNvSpPr/>
          <p:nvPr/>
        </p:nvSpPr>
        <p:spPr>
          <a:xfrm>
            <a:off x="4937760" y="292608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YOLO('yolov8n.pt')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model.train(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data='dataset.yaml',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epochs=100, imgsz=640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4434840"/>
            <a:ext cx="54864" cy="502920"/>
          </a:xfrm>
          <a:prstGeom prst="rect">
            <a:avLst/>
          </a:prstGeom>
          <a:solidFill>
            <a:srgbClr val="2DC653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4348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provides a unified Python API and CLI for train, val, predict, and export across all YOLO tasks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YOLO in Action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82880"/>
            <a:ext cx="457200" cy="457200"/>
          </a:xfrm>
          <a:prstGeom prst="rect">
            <a:avLst/>
          </a:prstGeom>
        </p:spPr>
      </p:pic>
      <p:pic>
        <p:nvPicPr>
          <p:cNvPr id="5" name="Image 1" descr="/sessions/zen-admiring-noether/mnt/AI-CV-Lecture/Session 10/yolo-object-detection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005840"/>
            <a:ext cx="5029200" cy="37490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31520" y="4754880"/>
            <a:ext cx="50292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3"/>
          <p:cNvSpPr/>
          <p:nvPr/>
        </p:nvSpPr>
        <p:spPr>
          <a:xfrm>
            <a:off x="603504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RESULTS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035040" y="1508760"/>
            <a:ext cx="2743200" cy="6858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9" name="Shape 5"/>
          <p:cNvSpPr/>
          <p:nvPr/>
        </p:nvSpPr>
        <p:spPr>
          <a:xfrm>
            <a:off x="6035040" y="1508760"/>
            <a:ext cx="54864" cy="685800"/>
          </a:xfrm>
          <a:prstGeom prst="rect">
            <a:avLst/>
          </a:prstGeom>
          <a:solidFill>
            <a:srgbClr val="2DC653"/>
          </a:solidFill>
          <a:ln/>
        </p:spPr>
      </p:sp>
      <p:sp>
        <p:nvSpPr>
          <p:cNvPr id="10" name="Text 6"/>
          <p:cNvSpPr/>
          <p:nvPr/>
        </p:nvSpPr>
        <p:spPr>
          <a:xfrm>
            <a:off x="626364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dog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046720" y="1554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C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98%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263640" y="18745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[102, 208, 325, 542]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0" y="2377440"/>
            <a:ext cx="2743200" cy="6858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14" name="Shape 10"/>
          <p:cNvSpPr/>
          <p:nvPr/>
        </p:nvSpPr>
        <p:spPr>
          <a:xfrm>
            <a:off x="6035040" y="2377440"/>
            <a:ext cx="54864" cy="6858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62636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bicycle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046720" y="2423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[82, 98, 580, 440]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35040" y="3246120"/>
            <a:ext cx="2743200" cy="68580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19" name="Shape 15"/>
          <p:cNvSpPr/>
          <p:nvPr/>
        </p:nvSpPr>
        <p:spPr>
          <a:xfrm>
            <a:off x="6035040" y="3246120"/>
            <a:ext cx="54864" cy="68580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20" name="Text 16"/>
          <p:cNvSpPr/>
          <p:nvPr/>
        </p:nvSpPr>
        <p:spPr>
          <a:xfrm>
            <a:off x="626364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truck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8046720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77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91%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263640" y="3611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[468, 72, 680, 170]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035040" y="4160520"/>
            <a:ext cx="2743200" cy="64008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4" name="Text 20"/>
          <p:cNvSpPr/>
          <p:nvPr/>
        </p:nvSpPr>
        <p:spPr>
          <a:xfrm>
            <a:off x="6217920" y="4206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objects detected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217920" y="4480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Inference: ~5ms on GPU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2286000" cy="457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COVERED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5727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 vs classification vs segmentation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19842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R-CNN → Fast R-CNN → Faster R-CNN evolution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23160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23957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 boxes, IoU, NMS, and mAP metrics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834640"/>
            <a:ext cx="228600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28072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philosophy: one-stage detection</a:t>
            </a:r>
            <a:endParaRPr lang="en-US" sz="12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46120"/>
            <a:ext cx="228600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32186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architecture (backbone, neck, head)</a:t>
            </a:r>
            <a:endParaRPr lang="en-US" sz="12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657600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05840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Python API and CLI quickstart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5029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COMING UP NEXT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5029200" y="1600200"/>
            <a:ext cx="3657600" cy="5943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0" name="Shape 12"/>
          <p:cNvSpPr/>
          <p:nvPr/>
        </p:nvSpPr>
        <p:spPr>
          <a:xfrm>
            <a:off x="5029200" y="1600200"/>
            <a:ext cx="54864" cy="5943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1" name="Text 13"/>
          <p:cNvSpPr/>
          <p:nvPr/>
        </p:nvSpPr>
        <p:spPr>
          <a:xfrm>
            <a:off x="5303520" y="1645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Training Lab</a:t>
            </a:r>
            <a:endParaRPr lang="en-US" sz="1300" dirty="0"/>
          </a:p>
        </p:txBody>
      </p:sp>
      <p:sp>
        <p:nvSpPr>
          <p:cNvPr id="22" name="Text 14"/>
          <p:cNvSpPr/>
          <p:nvPr/>
        </p:nvSpPr>
        <p:spPr>
          <a:xfrm>
            <a:off x="5303520" y="19019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dataset with Roboflow, train &amp; evaluate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029200" y="2377440"/>
            <a:ext cx="3657600" cy="5943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4" name="Shape 16"/>
          <p:cNvSpPr/>
          <p:nvPr/>
        </p:nvSpPr>
        <p:spPr>
          <a:xfrm>
            <a:off x="5029200" y="2377440"/>
            <a:ext cx="54864" cy="5943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Text 17"/>
          <p:cNvSpPr/>
          <p:nvPr/>
        </p:nvSpPr>
        <p:spPr>
          <a:xfrm>
            <a:off x="5303520" y="24231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Segmentation</a:t>
            </a:r>
            <a:endParaRPr lang="en-US" sz="1300" dirty="0"/>
          </a:p>
        </p:txBody>
      </p:sp>
      <p:sp>
        <p:nvSpPr>
          <p:cNvPr id="26" name="Text 18"/>
          <p:cNvSpPr/>
          <p:nvPr/>
        </p:nvSpPr>
        <p:spPr>
          <a:xfrm>
            <a:off x="5303520" y="26791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FCN, U-Net architecture &amp; use-cases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5029200" y="3154680"/>
            <a:ext cx="3657600" cy="59436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28" name="Shape 20"/>
          <p:cNvSpPr/>
          <p:nvPr/>
        </p:nvSpPr>
        <p:spPr>
          <a:xfrm>
            <a:off x="5029200" y="3154680"/>
            <a:ext cx="54864" cy="5943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9" name="Text 21"/>
          <p:cNvSpPr/>
          <p:nvPr/>
        </p:nvSpPr>
        <p:spPr>
          <a:xfrm>
            <a:off x="5303520" y="3200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Segmentation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5303520" y="34564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/ YOLOv8-seg hands-on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B2838"/>
          </a:solidFill>
          <a:ln/>
        </p:spPr>
      </p:sp>
      <p:sp>
        <p:nvSpPr>
          <p:cNvPr id="32" name="Text 24"/>
          <p:cNvSpPr/>
          <p:nvPr/>
        </p:nvSpPr>
        <p:spPr>
          <a:xfrm>
            <a:off x="640080" y="4480560"/>
            <a:ext cx="786384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10  |  Object Detection &amp; YOLO  |  Phase 3 — Core CV Tasks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 — Object Detection &amp; YOLO</dc:title>
  <dc:subject>PptxGenJS Presentation</dc:subject>
  <dc:creator>Shah</dc:creator>
  <cp:lastModifiedBy>Shah</cp:lastModifiedBy>
  <cp:revision>1</cp:revision>
  <dcterms:created xsi:type="dcterms:W3CDTF">2026-05-08T15:16:15Z</dcterms:created>
  <dcterms:modified xsi:type="dcterms:W3CDTF">2026-05-08T15:16:15Z</dcterms:modified>
</cp:coreProperties>
</file>