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95657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jp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1.jp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73152"/>
          </a:xfrm>
          <a:prstGeom prst="rect">
            <a:avLst/>
          </a:prstGeom>
          <a:solidFill>
            <a:srgbClr val="00B4D8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548640"/>
            <a:ext cx="1463040" cy="4114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54864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SESSION 10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Object Detection</a:t>
            </a:r>
            <a:endParaRPr lang="en-US" sz="4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&amp; YOLO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R-CNN Foundations to Real-Time YOLOv8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840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Core CV Tasks  |  Week 7</a:t>
            </a:r>
            <a:endParaRPr lang="en-US" sz="1200" dirty="0"/>
          </a:p>
        </p:txBody>
      </p:sp>
      <p:pic>
        <p:nvPicPr>
          <p:cNvPr id="9" name="Image 0" descr="/sessions/zen-admiring-noether/mnt/AI-CV-Lecture/Session 10/yolo-object-detection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638800" y="722376"/>
            <a:ext cx="3230880" cy="242316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38798" y="3145536"/>
            <a:ext cx="3230881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r>
              <a:rPr lang="en-US" dirty="0"/>
              <a:t> </a:t>
            </a:r>
            <a:endParaRPr lang="en-PK" dirty="0"/>
          </a:p>
        </p:txBody>
      </p:sp>
      <p:sp>
        <p:nvSpPr>
          <p:cNvPr id="13" name="Text 10"/>
          <p:cNvSpPr/>
          <p:nvPr/>
        </p:nvSpPr>
        <p:spPr>
          <a:xfrm>
            <a:off x="7132320" y="35661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713232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 + Hands-On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Today's Agenda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411480" cy="41148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97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115568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0789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Object Detection?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645920" y="131673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vs detection vs segmentation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1737360"/>
            <a:ext cx="411480" cy="41148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7373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1755648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45920" y="171907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Two-Stage Detectors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645920" y="195681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R-CNN → Fast R-CNN → Faster R-CNN evolution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2377440"/>
            <a:ext cx="411480" cy="41148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5" name="Text 11"/>
          <p:cNvSpPr/>
          <p:nvPr/>
        </p:nvSpPr>
        <p:spPr>
          <a:xfrm>
            <a:off x="548640" y="23774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2395728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45920" y="23591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Concepts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645920" y="259689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 boxes, IoU, NMS, and mAP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48640" y="3017520"/>
            <a:ext cx="411480" cy="41148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20" name="Text 15"/>
          <p:cNvSpPr/>
          <p:nvPr/>
        </p:nvSpPr>
        <p:spPr>
          <a:xfrm>
            <a:off x="548640" y="30175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3035808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45920" y="29992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YOLO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1645920" y="323697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One-stage detection philosophy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548640" y="3657600"/>
            <a:ext cx="411480" cy="41148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25" name="Text 19"/>
          <p:cNvSpPr/>
          <p:nvPr/>
        </p:nvSpPr>
        <p:spPr>
          <a:xfrm>
            <a:off x="548640" y="36576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60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3675888"/>
            <a:ext cx="347472" cy="34747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645920" y="36393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Architecture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1645920" y="387705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Backbone, neck, and head deep-dive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548640" y="4297680"/>
            <a:ext cx="411480" cy="41148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30" name="Text 23"/>
          <p:cNvSpPr/>
          <p:nvPr/>
        </p:nvSpPr>
        <p:spPr>
          <a:xfrm>
            <a:off x="548640" y="42976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1600" dirty="0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3000" y="4315968"/>
            <a:ext cx="347472" cy="34747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1645920" y="42793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Ultralytics Quickstart</a:t>
            </a:r>
            <a:endParaRPr lang="en-US" sz="1500" dirty="0"/>
          </a:p>
        </p:txBody>
      </p:sp>
      <p:sp>
        <p:nvSpPr>
          <p:cNvPr id="33" name="Text 25"/>
          <p:cNvSpPr/>
          <p:nvPr/>
        </p:nvSpPr>
        <p:spPr>
          <a:xfrm>
            <a:off x="1645920" y="451713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Hands-on: inference, training, and evaluation</a:t>
            </a:r>
            <a:endParaRPr lang="en-US" sz="1100" dirty="0"/>
          </a:p>
        </p:txBody>
      </p:sp>
      <p:pic>
        <p:nvPicPr>
          <p:cNvPr id="34" name="Image 6" descr="/sessions/zen-admiring-noether/mnt/AI-CV-Lecture/Session 10/dog_bike_car.jp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217920" y="1097280"/>
            <a:ext cx="2560320" cy="1920240"/>
          </a:xfrm>
          <a:prstGeom prst="rect">
            <a:avLst/>
          </a:prstGeom>
        </p:spPr>
      </p:pic>
      <p:sp>
        <p:nvSpPr>
          <p:cNvPr id="35" name="Shape 26"/>
          <p:cNvSpPr/>
          <p:nvPr/>
        </p:nvSpPr>
        <p:spPr>
          <a:xfrm>
            <a:off x="6217920" y="3017520"/>
            <a:ext cx="2560320" cy="36576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6" name="Text 27"/>
          <p:cNvSpPr/>
          <p:nvPr/>
        </p:nvSpPr>
        <p:spPr>
          <a:xfrm>
            <a:off x="6217920" y="32004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 machine detect every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in this image?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Object Detection?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265176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265176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80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Classification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1691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is in the image?"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10312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label for the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 image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class + confidence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474720"/>
            <a:ext cx="2286000" cy="36576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474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"dog" (97%)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37560" y="1051560"/>
            <a:ext cx="265176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37560" y="1051560"/>
            <a:ext cx="265176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3" name="Text 11"/>
          <p:cNvSpPr/>
          <p:nvPr/>
        </p:nvSpPr>
        <p:spPr>
          <a:xfrm>
            <a:off x="3520440" y="1280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Detection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520440" y="1691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&amp; where?"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520440" y="210312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every object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bounding box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boxes + classes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20440" y="3474720"/>
            <a:ext cx="2286000" cy="36576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17" name="Text 15"/>
          <p:cNvSpPr/>
          <p:nvPr/>
        </p:nvSpPr>
        <p:spPr>
          <a:xfrm>
            <a:off x="3520440" y="3474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dog, bicycle, truck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17920" y="1051560"/>
            <a:ext cx="265176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17920" y="1051560"/>
            <a:ext cx="2651760" cy="54864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0" y="1280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Segmentation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400800" y="1691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"Exact pixel boundaries"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210312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each pixel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belonging to objects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pixel-level masks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0" y="3474720"/>
            <a:ext cx="2286000" cy="36576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0" y="3474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6394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precise outlines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Detection = Classification + Localisation (for every object in the image)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Detection Problem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1400" dirty="0"/>
          </a:p>
        </p:txBody>
      </p:sp>
      <p:pic>
        <p:nvPicPr>
          <p:cNvPr id="5" name="Image 0" descr="/sessions/zen-admiring-noether/mnt/AI-CV-Lecture/Session 10/dog_bike_car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371600"/>
            <a:ext cx="3474720" cy="260604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2377440"/>
            <a:ext cx="457200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069080" y="2286000"/>
            <a:ext cx="640080" cy="640080"/>
          </a:xfrm>
          <a:prstGeom prst="ellipse">
            <a:avLst/>
          </a:prstGeom>
          <a:solidFill>
            <a:srgbClr val="00B4D8">
              <a:alpha val="70000"/>
            </a:srgbClr>
          </a:solidFill>
          <a:ln/>
        </p:spPr>
      </p:sp>
      <p:sp>
        <p:nvSpPr>
          <p:cNvPr id="8" name="Text 4"/>
          <p:cNvSpPr/>
          <p:nvPr/>
        </p:nvSpPr>
        <p:spPr>
          <a:xfrm>
            <a:off x="4937760" y="10058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400" dirty="0"/>
          </a:p>
        </p:txBody>
      </p:sp>
      <p:pic>
        <p:nvPicPr>
          <p:cNvPr id="9" name="Image 2" descr="/sessions/zen-admiring-noether/mnt/AI-CV-Lecture/Session 10/yolo-object-detection.jp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937760" y="1371600"/>
            <a:ext cx="3474720" cy="260604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57200" y="4206240"/>
            <a:ext cx="265176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4315968"/>
            <a:ext cx="320040" cy="32004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005840" y="42519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Box</a:t>
            </a:r>
            <a:endParaRPr lang="en-US" sz="1300" dirty="0"/>
          </a:p>
        </p:txBody>
      </p:sp>
      <p:sp>
        <p:nvSpPr>
          <p:cNvPr id="13" name="Text 7"/>
          <p:cNvSpPr/>
          <p:nvPr/>
        </p:nvSpPr>
        <p:spPr>
          <a:xfrm>
            <a:off x="1005840" y="455371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(x, y, w, h)</a:t>
            </a:r>
            <a:endParaRPr lang="en-US" sz="1100" dirty="0"/>
          </a:p>
        </p:txBody>
      </p:sp>
      <p:sp>
        <p:nvSpPr>
          <p:cNvPr id="14" name="Shape 8"/>
          <p:cNvSpPr/>
          <p:nvPr/>
        </p:nvSpPr>
        <p:spPr>
          <a:xfrm>
            <a:off x="3337560" y="4206240"/>
            <a:ext cx="265176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4720" y="4315968"/>
            <a:ext cx="320040" cy="32004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3886200" y="42519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Label</a:t>
            </a:r>
            <a:endParaRPr lang="en-US" sz="1300" dirty="0"/>
          </a:p>
        </p:txBody>
      </p:sp>
      <p:sp>
        <p:nvSpPr>
          <p:cNvPr id="17" name="Text 10"/>
          <p:cNvSpPr/>
          <p:nvPr/>
        </p:nvSpPr>
        <p:spPr>
          <a:xfrm>
            <a:off x="3886200" y="455371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dog, bicycle, truck</a:t>
            </a:r>
            <a:endParaRPr lang="en-US" sz="1100" dirty="0"/>
          </a:p>
        </p:txBody>
      </p:sp>
      <p:sp>
        <p:nvSpPr>
          <p:cNvPr id="18" name="Shape 11"/>
          <p:cNvSpPr/>
          <p:nvPr/>
        </p:nvSpPr>
        <p:spPr>
          <a:xfrm>
            <a:off x="6217920" y="4206240"/>
            <a:ext cx="265176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55080" y="4315968"/>
            <a:ext cx="320040" cy="32004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6766560" y="42519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300" dirty="0"/>
          </a:p>
        </p:txBody>
      </p:sp>
      <p:sp>
        <p:nvSpPr>
          <p:cNvPr id="21" name="Text 13"/>
          <p:cNvSpPr/>
          <p:nvPr/>
        </p:nvSpPr>
        <p:spPr>
          <a:xfrm>
            <a:off x="6766560" y="455371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 → 1.0 score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Two-Stage Detectors: The R-CNN Family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2423160"/>
            <a:ext cx="7680960" cy="5486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Shape 3"/>
          <p:cNvSpPr/>
          <p:nvPr/>
        </p:nvSpPr>
        <p:spPr>
          <a:xfrm>
            <a:off x="1417320" y="2194560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1417320" y="2194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65176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005840"/>
            <a:ext cx="265176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0972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R-CNN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828800" y="114300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~50s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94360" y="1463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Search → 2000 regions → CNN each → SVM classify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265176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095244"/>
            <a:ext cx="201168" cy="20116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822960" y="294436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C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deep-learning detector</a:t>
            </a:r>
            <a:endParaRPr lang="en-US" sz="110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643884"/>
            <a:ext cx="201168" cy="20116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22960" y="349300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slow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297680" y="2194560"/>
            <a:ext cx="548640" cy="54864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8" name="Text 14"/>
          <p:cNvSpPr/>
          <p:nvPr/>
        </p:nvSpPr>
        <p:spPr>
          <a:xfrm>
            <a:off x="4297680" y="2194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3337560" y="1005840"/>
            <a:ext cx="265176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3337560" y="1005840"/>
            <a:ext cx="265176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1" name="Text 17"/>
          <p:cNvSpPr/>
          <p:nvPr/>
        </p:nvSpPr>
        <p:spPr>
          <a:xfrm>
            <a:off x="3474720" y="10972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Fast R-CNN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4709160" y="114300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~2s</a:t>
            </a:r>
            <a:endParaRPr lang="en-US" sz="800" dirty="0"/>
          </a:p>
        </p:txBody>
      </p:sp>
      <p:sp>
        <p:nvSpPr>
          <p:cNvPr id="23" name="Text 19"/>
          <p:cNvSpPr/>
          <p:nvPr/>
        </p:nvSpPr>
        <p:spPr>
          <a:xfrm>
            <a:off x="3474720" y="1463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on full image once → RoI pooling → classify + regress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3337560" y="2880360"/>
            <a:ext cx="265176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3095244"/>
            <a:ext cx="201168" cy="201168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3703320" y="294436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C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CNN computation</a:t>
            </a:r>
            <a:endParaRPr lang="en-US" sz="1100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3643884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3703320" y="349300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uses Selective Search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7178040" y="2194560"/>
            <a:ext cx="548640" cy="5486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30" name="Text 24"/>
          <p:cNvSpPr/>
          <p:nvPr/>
        </p:nvSpPr>
        <p:spPr>
          <a:xfrm>
            <a:off x="7178040" y="2194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6217920" y="1005840"/>
            <a:ext cx="265176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6217920" y="1005840"/>
            <a:ext cx="2651760" cy="54864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33" name="Text 27"/>
          <p:cNvSpPr/>
          <p:nvPr/>
        </p:nvSpPr>
        <p:spPr>
          <a:xfrm>
            <a:off x="6355080" y="10972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Faster R-CNN</a:t>
            </a:r>
            <a:endParaRPr lang="en-US" sz="1600" dirty="0"/>
          </a:p>
        </p:txBody>
      </p:sp>
      <p:sp>
        <p:nvSpPr>
          <p:cNvPr id="34" name="Text 28"/>
          <p:cNvSpPr/>
          <p:nvPr/>
        </p:nvSpPr>
        <p:spPr>
          <a:xfrm>
            <a:off x="7589520" y="114300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E6394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~0.2s</a:t>
            </a:r>
            <a:endParaRPr lang="en-US" sz="800" dirty="0"/>
          </a:p>
        </p:txBody>
      </p:sp>
      <p:sp>
        <p:nvSpPr>
          <p:cNvPr id="35" name="Text 29"/>
          <p:cNvSpPr/>
          <p:nvPr/>
        </p:nvSpPr>
        <p:spPr>
          <a:xfrm>
            <a:off x="6355080" y="1463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Proposal Network (RPN) replaces Selective Search</a:t>
            </a:r>
            <a:endParaRPr lang="en-US" sz="1000" dirty="0"/>
          </a:p>
        </p:txBody>
      </p:sp>
      <p:sp>
        <p:nvSpPr>
          <p:cNvPr id="36" name="Shape 30"/>
          <p:cNvSpPr/>
          <p:nvPr/>
        </p:nvSpPr>
        <p:spPr>
          <a:xfrm>
            <a:off x="6217920" y="2880360"/>
            <a:ext cx="265176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095244"/>
            <a:ext cx="201168" cy="201168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6583680" y="294436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C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trainable, much faster</a:t>
            </a:r>
            <a:endParaRPr lang="en-US" sz="1100" dirty="0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3643884"/>
            <a:ext cx="201168" cy="201168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6583680" y="349300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two stages</a:t>
            </a:r>
            <a:endParaRPr lang="en-US" sz="1100" dirty="0"/>
          </a:p>
        </p:txBody>
      </p:sp>
      <p:sp>
        <p:nvSpPr>
          <p:cNvPr id="41" name="Shape 33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42" name="Text 34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Two-stage = (1) propose regions  →  (2) classify each region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Anchor Boxes &amp; IoU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02336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05840"/>
            <a:ext cx="4023360" cy="54864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23444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1234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Anchor Boxes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94360" y="1737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Pre-defined boxes of various shapes and sizes placed at every position in the feature map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1005840" y="2560320"/>
            <a:ext cx="457200" cy="914400"/>
          </a:xfrm>
          <a:prstGeom prst="rect">
            <a:avLst/>
          </a:prstGeom>
          <a:solidFill>
            <a:srgbClr val="00B4D8">
              <a:alpha val="30000"/>
            </a:srgbClr>
          </a:solidFill>
          <a:ln w="25400">
            <a:solidFill>
              <a:srgbClr val="00B4D8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640080" y="356616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 &amp; Narrow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40080" y="377647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poles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2148840" y="2697480"/>
            <a:ext cx="640080" cy="640080"/>
          </a:xfrm>
          <a:prstGeom prst="rect">
            <a:avLst/>
          </a:prstGeom>
          <a:solidFill>
            <a:srgbClr val="00B4D8">
              <a:alpha val="30000"/>
            </a:srgbClr>
          </a:solidFill>
          <a:ln w="25400">
            <a:solidFill>
              <a:srgbClr val="00B4D8"/>
            </a:solidFill>
            <a:prstDash val="dash"/>
          </a:ln>
        </p:spPr>
      </p:sp>
      <p:sp>
        <p:nvSpPr>
          <p:cNvPr id="13" name="Text 10"/>
          <p:cNvSpPr/>
          <p:nvPr/>
        </p:nvSpPr>
        <p:spPr>
          <a:xfrm>
            <a:off x="1874520" y="356616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874520" y="377647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Faces, signs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246120" y="2788920"/>
            <a:ext cx="914400" cy="457200"/>
          </a:xfrm>
          <a:prstGeom prst="rect">
            <a:avLst/>
          </a:prstGeom>
          <a:solidFill>
            <a:srgbClr val="00B4D8">
              <a:alpha val="30000"/>
            </a:srgbClr>
          </a:solidFill>
          <a:ln w="25400">
            <a:solidFill>
              <a:srgbClr val="00B4D8"/>
            </a:solidFill>
            <a:prstDash val="dash"/>
          </a:ln>
        </p:spPr>
      </p:sp>
      <p:sp>
        <p:nvSpPr>
          <p:cNvPr id="16" name="Text 13"/>
          <p:cNvSpPr/>
          <p:nvPr/>
        </p:nvSpPr>
        <p:spPr>
          <a:xfrm>
            <a:off x="3108960" y="356616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&amp; Short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3108960" y="377647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Cars, buses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594360" y="40690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network predicts offsets to refine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anchors into tight bounding boxes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754880" y="1005840"/>
            <a:ext cx="402336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754880" y="1005840"/>
            <a:ext cx="4023360" cy="54864"/>
          </a:xfrm>
          <a:prstGeom prst="rect">
            <a:avLst/>
          </a:prstGeom>
          <a:solidFill>
            <a:srgbClr val="E63946"/>
          </a:solidFill>
          <a:ln/>
        </p:spPr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1234440"/>
            <a:ext cx="320040" cy="32004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5394960" y="1234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IoU — Intersection over Union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120640" y="1783080"/>
            <a:ext cx="3291840" cy="50292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24" name="Text 20"/>
          <p:cNvSpPr/>
          <p:nvPr/>
        </p:nvSpPr>
        <p:spPr>
          <a:xfrm>
            <a:off x="5120640" y="178308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IoU  =  Area of Overlap  /  Area of Union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5486400" y="2560320"/>
            <a:ext cx="1463040" cy="1097280"/>
          </a:xfrm>
          <a:prstGeom prst="rect">
            <a:avLst/>
          </a:prstGeom>
          <a:solidFill>
            <a:srgbClr val="00B4D8">
              <a:alpha val="4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035040" y="2834640"/>
            <a:ext cx="1463040" cy="1097280"/>
          </a:xfrm>
          <a:prstGeom prst="rect">
            <a:avLst/>
          </a:prstGeom>
          <a:solidFill>
            <a:srgbClr val="E63946">
              <a:alpha val="40000"/>
            </a:srgbClr>
          </a:solidFill>
          <a:ln w="25400">
            <a:solidFill>
              <a:srgbClr val="E6394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5394960" y="23317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589520" y="2834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5120640" y="39776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6394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IoU &lt; 0.5</a:t>
            </a:r>
            <a:endParaRPr lang="en-US" sz="1100" dirty="0"/>
          </a:p>
        </p:txBody>
      </p:sp>
      <p:sp>
        <p:nvSpPr>
          <p:cNvPr id="30" name="Text 26"/>
          <p:cNvSpPr/>
          <p:nvPr/>
        </p:nvSpPr>
        <p:spPr>
          <a:xfrm>
            <a:off x="6400800" y="39776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match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5120640" y="42519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77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IoU ≥ 0.5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6400800" y="42519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 (standard threshold)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120640" y="452628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C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IoU ≥ 0.75</a:t>
            </a:r>
            <a:endParaRPr lang="en-US" sz="1100" dirty="0"/>
          </a:p>
        </p:txBody>
      </p:sp>
      <p:sp>
        <p:nvSpPr>
          <p:cNvPr id="34" name="Text 30"/>
          <p:cNvSpPr/>
          <p:nvPr/>
        </p:nvSpPr>
        <p:spPr>
          <a:xfrm>
            <a:off x="6400800" y="45262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match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Non-Maximum Suppression (NMS)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78992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00584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Detectors produce many overlapping boxes for the same object. NMS keeps only the best one.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20040" y="1828800"/>
            <a:ext cx="1554480" cy="2834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68680" y="1965960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9" name="Text 6"/>
          <p:cNvSpPr/>
          <p:nvPr/>
        </p:nvSpPr>
        <p:spPr>
          <a:xfrm>
            <a:off x="868680" y="1965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411480" y="256032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Sort by</a:t>
            </a:r>
            <a:endParaRPr lang="en-US" sz="13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Confidence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11480" y="324612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all boxes by their confidence scores (highest first)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057400" y="1828800"/>
            <a:ext cx="1554480" cy="2834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606040" y="1965960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4" name="Text 11"/>
          <p:cNvSpPr/>
          <p:nvPr/>
        </p:nvSpPr>
        <p:spPr>
          <a:xfrm>
            <a:off x="2606040" y="1965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2148840" y="256032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Pick Top</a:t>
            </a:r>
            <a:endParaRPr lang="en-US" sz="13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Box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2148840" y="324612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the box with the highest confidence as a detection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794760" y="1828800"/>
            <a:ext cx="1554480" cy="2834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343400" y="1965960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9" name="Text 16"/>
          <p:cNvSpPr/>
          <p:nvPr/>
        </p:nvSpPr>
        <p:spPr>
          <a:xfrm>
            <a:off x="4343400" y="1965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3886200" y="256032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Compute</a:t>
            </a:r>
            <a:endParaRPr lang="en-US" sz="13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IoU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886200" y="324612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IoU of remaining boxes with the selected box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532120" y="1828800"/>
            <a:ext cx="1554480" cy="2834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080760" y="1965960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4" name="Text 21"/>
          <p:cNvSpPr/>
          <p:nvPr/>
        </p:nvSpPr>
        <p:spPr>
          <a:xfrm>
            <a:off x="6080760" y="1965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5623560" y="256032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Suppress</a:t>
            </a:r>
            <a:endParaRPr lang="en-US" sz="13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Overlap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5623560" y="324612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boxes with IoU &gt; threshold (e.g., 0.5) — they detect the same object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269480" y="1828800"/>
            <a:ext cx="1554480" cy="2834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818120" y="1965960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9" name="Text 26"/>
          <p:cNvSpPr/>
          <p:nvPr/>
        </p:nvSpPr>
        <p:spPr>
          <a:xfrm>
            <a:off x="7818120" y="1965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7360920" y="256032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Repeat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7360920" y="324612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step 2 with remaining boxes until none are left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Evaluation: mAP (mean Average Precision)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02336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05840"/>
            <a:ext cx="402336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1887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Building Blocks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94360" y="1691640"/>
            <a:ext cx="3566160" cy="45720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691640"/>
            <a:ext cx="356616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Precision = TP / (TP + FP)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1947672"/>
            <a:ext cx="3566160" cy="201168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"Of all detections, how many are correct?"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4360" y="2331720"/>
            <a:ext cx="3566160" cy="45720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23317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Recall = TP / (TP + FN)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94360" y="2587752"/>
            <a:ext cx="3566160" cy="201168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"Of all real objects, how many did we find?"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30175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 (Average Precision)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94360" y="3291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under the Precision-Recall curve for a single class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3703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mAP (mean AP)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94360" y="3977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of AP across all classes — the standard detection metric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4360" y="4343400"/>
            <a:ext cx="3566160" cy="3200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43434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 = (1/N) × Σ AP_i  for all N classes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54880" y="1005840"/>
            <a:ext cx="402336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1005840"/>
            <a:ext cx="4023360" cy="54864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21" name="Text 19"/>
          <p:cNvSpPr/>
          <p:nvPr/>
        </p:nvSpPr>
        <p:spPr>
          <a:xfrm>
            <a:off x="4983480" y="11887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Common Variants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4983480" y="1737360"/>
            <a:ext cx="3566160" cy="82296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23" name="Shape 21"/>
          <p:cNvSpPr/>
          <p:nvPr/>
        </p:nvSpPr>
        <p:spPr>
          <a:xfrm>
            <a:off x="4983480" y="1737360"/>
            <a:ext cx="54864" cy="822960"/>
          </a:xfrm>
          <a:prstGeom prst="rect">
            <a:avLst/>
          </a:prstGeom>
          <a:solidFill>
            <a:srgbClr val="F77F00"/>
          </a:solidFill>
          <a:ln/>
        </p:spPr>
      </p:sp>
      <p:sp>
        <p:nvSpPr>
          <p:cNvPr id="24" name="Text 22"/>
          <p:cNvSpPr/>
          <p:nvPr/>
        </p:nvSpPr>
        <p:spPr>
          <a:xfrm>
            <a:off x="5212080" y="17830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7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mAP@0.5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212080" y="208483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IoU threshold = 0.5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(PASCAL VOC standard)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2743200"/>
            <a:ext cx="3566160" cy="82296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27" name="Shape 25"/>
          <p:cNvSpPr/>
          <p:nvPr/>
        </p:nvSpPr>
        <p:spPr>
          <a:xfrm>
            <a:off x="4983480" y="2743200"/>
            <a:ext cx="54864" cy="8229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8" name="Text 26"/>
          <p:cNvSpPr/>
          <p:nvPr/>
        </p:nvSpPr>
        <p:spPr>
          <a:xfrm>
            <a:off x="5212080" y="2788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mAP@0.75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212080" y="309067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IoU threshold = 0.75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(stricter matching)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83480" y="3749040"/>
            <a:ext cx="3566160" cy="82296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31" name="Shape 29"/>
          <p:cNvSpPr/>
          <p:nvPr/>
        </p:nvSpPr>
        <p:spPr>
          <a:xfrm>
            <a:off x="4983480" y="3749040"/>
            <a:ext cx="54864" cy="82296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32" name="Text 30"/>
          <p:cNvSpPr/>
          <p:nvPr/>
        </p:nvSpPr>
        <p:spPr>
          <a:xfrm>
            <a:off x="5212080" y="3794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394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mAP@[.5:.95]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212080" y="409651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over IoU from 0.5 to 0.95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steps of 0.05 (COCO standard)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 Only</a:t>
            </a:r>
            <a:endParaRPr lang="en-US" sz="4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Look Once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2926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One-Stage Detection Revolution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3657600"/>
            <a:ext cx="4572000" cy="731520"/>
          </a:xfrm>
          <a:prstGeom prst="rect">
            <a:avLst/>
          </a:prstGeom>
          <a:solidFill>
            <a:srgbClr val="1B2838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3657600"/>
            <a:ext cx="54864" cy="73152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65760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proposing regions then classifying,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 frames detection as a single regression problem.</a:t>
            </a:r>
            <a:endParaRPr lang="en-US" sz="12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914400"/>
            <a:ext cx="548640" cy="5486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0" y="9601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Speed Comparison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760720" y="17373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R-CNN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223760" y="1783080"/>
            <a:ext cx="137160" cy="182880"/>
          </a:xfrm>
          <a:prstGeom prst="rect">
            <a:avLst/>
          </a:prstGeom>
          <a:solidFill>
            <a:srgbClr val="00B4D8">
              <a:alpha val="70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7452360" y="1737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0.02 FPS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760720" y="2286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R-CNN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223760" y="2331720"/>
            <a:ext cx="274320" cy="182880"/>
          </a:xfrm>
          <a:prstGeom prst="rect">
            <a:avLst/>
          </a:prstGeom>
          <a:solidFill>
            <a:srgbClr val="00B4D8">
              <a:alpha val="70000"/>
            </a:srgbClr>
          </a:solidFill>
          <a:ln/>
        </p:spPr>
      </p:sp>
      <p:sp>
        <p:nvSpPr>
          <p:cNvPr id="16" name="Text 13"/>
          <p:cNvSpPr/>
          <p:nvPr/>
        </p:nvSpPr>
        <p:spPr>
          <a:xfrm>
            <a:off x="7589520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 FPS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760720" y="28346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R-CNN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223760" y="2880360"/>
            <a:ext cx="548640" cy="182880"/>
          </a:xfrm>
          <a:prstGeom prst="rect">
            <a:avLst/>
          </a:prstGeom>
          <a:solidFill>
            <a:srgbClr val="00B4D8">
              <a:alpha val="70000"/>
            </a:srgbClr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FPS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760720" y="33832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YOLOv1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223760" y="3429000"/>
            <a:ext cx="1280160" cy="1828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22" name="Text 19"/>
          <p:cNvSpPr/>
          <p:nvPr/>
        </p:nvSpPr>
        <p:spPr>
          <a:xfrm>
            <a:off x="8595360" y="3383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6394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 FPS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760720" y="3931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YOLOv8n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7223760" y="3977640"/>
            <a:ext cx="1188720" cy="1828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25" name="Text 22"/>
          <p:cNvSpPr/>
          <p:nvPr/>
        </p:nvSpPr>
        <p:spPr>
          <a:xfrm>
            <a:off x="8503920" y="39319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6394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600+ FPS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YOLO Evolution</a:t>
            </a:r>
            <a:endParaRPr lang="en-US" sz="2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82880"/>
            <a:ext cx="457200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1520" y="2468880"/>
            <a:ext cx="7680960" cy="4572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3"/>
          <p:cNvSpPr/>
          <p:nvPr/>
        </p:nvSpPr>
        <p:spPr>
          <a:xfrm>
            <a:off x="960120" y="2240280"/>
            <a:ext cx="548640" cy="548640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2240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48640" y="1005840"/>
            <a:ext cx="141732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1005840"/>
            <a:ext cx="1417320" cy="4572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10" name="Text 7"/>
          <p:cNvSpPr/>
          <p:nvPr/>
        </p:nvSpPr>
        <p:spPr>
          <a:xfrm>
            <a:off x="594360" y="109728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YOLOv1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94360" y="1389888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Single-pass detection</a:t>
            </a:r>
            <a:endParaRPr lang="en-US" sz="9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FPS on GPU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651760" y="2240280"/>
            <a:ext cx="548640" cy="548640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13" name="Text 10"/>
          <p:cNvSpPr/>
          <p:nvPr/>
        </p:nvSpPr>
        <p:spPr>
          <a:xfrm>
            <a:off x="2651760" y="2240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2017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2240280" y="2880360"/>
            <a:ext cx="141732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2240280" y="3931920"/>
            <a:ext cx="1417320" cy="4572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16" name="Text 13"/>
          <p:cNvSpPr/>
          <p:nvPr/>
        </p:nvSpPr>
        <p:spPr>
          <a:xfrm>
            <a:off x="2286000" y="292608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YOLOv2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2286000" y="3218688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norm, anchor</a:t>
            </a:r>
            <a:endParaRPr lang="en-US" sz="9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boxes, multi-scale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343400" y="2240280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9" name="Text 16"/>
          <p:cNvSpPr/>
          <p:nvPr/>
        </p:nvSpPr>
        <p:spPr>
          <a:xfrm>
            <a:off x="4343400" y="2240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2018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3931920" y="1005840"/>
            <a:ext cx="141732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931920" y="1005840"/>
            <a:ext cx="1417320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2" name="Text 19"/>
          <p:cNvSpPr/>
          <p:nvPr/>
        </p:nvSpPr>
        <p:spPr>
          <a:xfrm>
            <a:off x="3977640" y="109728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YOLOv3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3977640" y="1389888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Darknet-53 backbone</a:t>
            </a:r>
            <a:endParaRPr lang="en-US" sz="9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FPN neck, 3 scales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6035040" y="2240280"/>
            <a:ext cx="548640" cy="54864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5" name="Text 22"/>
          <p:cNvSpPr/>
          <p:nvPr/>
        </p:nvSpPr>
        <p:spPr>
          <a:xfrm>
            <a:off x="6035040" y="2240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623560" y="2880360"/>
            <a:ext cx="141732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5623560" y="3931920"/>
            <a:ext cx="1417320" cy="457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8" name="Text 25"/>
          <p:cNvSpPr/>
          <p:nvPr/>
        </p:nvSpPr>
        <p:spPr>
          <a:xfrm>
            <a:off x="5669280" y="292608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YOLOv5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5669280" y="3218688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PyTorch-native</a:t>
            </a:r>
            <a:endParaRPr lang="en-US" sz="9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Ultralytics ecosystem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7726680" y="2240280"/>
            <a:ext cx="548640" cy="5486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31" name="Text 28"/>
          <p:cNvSpPr/>
          <p:nvPr/>
        </p:nvSpPr>
        <p:spPr>
          <a:xfrm>
            <a:off x="7726680" y="2240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315200" y="1005840"/>
            <a:ext cx="141732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7315200" y="1005840"/>
            <a:ext cx="1417320" cy="4572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34" name="Text 31"/>
          <p:cNvSpPr/>
          <p:nvPr/>
        </p:nvSpPr>
        <p:spPr>
          <a:xfrm>
            <a:off x="7360920" y="109728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6394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YOLOv8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7360920" y="1389888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Anchor-free, C2f</a:t>
            </a:r>
            <a:endParaRPr lang="en-US" sz="9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Ultralytics unified CLI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457200" y="4389120"/>
            <a:ext cx="8229600" cy="5486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4389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focus on YOLOv8 — the current standard with the best speed-accuracy trade-off and the Ultralytics ecosystem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YOLOv8 Architecture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269748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005840"/>
            <a:ext cx="2697480" cy="54864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11887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Backbone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14400" y="14630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Extraction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109728" cy="10972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0" name="Text 7"/>
          <p:cNvSpPr/>
          <p:nvPr/>
        </p:nvSpPr>
        <p:spPr>
          <a:xfrm>
            <a:off x="685800" y="192024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CSPDarknet architecture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2350008"/>
            <a:ext cx="109728" cy="10972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2" name="Text 9"/>
          <p:cNvSpPr/>
          <p:nvPr/>
        </p:nvSpPr>
        <p:spPr>
          <a:xfrm>
            <a:off x="685800" y="230428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C2f modules (Cross Stage Partial)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734056"/>
            <a:ext cx="109728" cy="10972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4" name="Text 11"/>
          <p:cNvSpPr/>
          <p:nvPr/>
        </p:nvSpPr>
        <p:spPr>
          <a:xfrm>
            <a:off x="685800" y="2688336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multi-scale features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3118104"/>
            <a:ext cx="109728" cy="10972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6" name="Text 13"/>
          <p:cNvSpPr/>
          <p:nvPr/>
        </p:nvSpPr>
        <p:spPr>
          <a:xfrm>
            <a:off x="685800" y="3072384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Progressively reduces spatial size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3502152"/>
            <a:ext cx="109728" cy="10972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8" name="Text 15"/>
          <p:cNvSpPr/>
          <p:nvPr/>
        </p:nvSpPr>
        <p:spPr>
          <a:xfrm>
            <a:off x="685800" y="3456432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Increases channel depth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063240" y="2651760"/>
            <a:ext cx="137160" cy="54864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0" name="Shape 17"/>
          <p:cNvSpPr/>
          <p:nvPr/>
        </p:nvSpPr>
        <p:spPr>
          <a:xfrm>
            <a:off x="3246120" y="1005840"/>
            <a:ext cx="269748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246120" y="1005840"/>
            <a:ext cx="2697480" cy="54864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1188720"/>
            <a:ext cx="365760" cy="36576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3840480" y="11887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Neck</a:t>
            </a:r>
            <a:endParaRPr lang="en-US" sz="1800" dirty="0"/>
          </a:p>
        </p:txBody>
      </p:sp>
      <p:sp>
        <p:nvSpPr>
          <p:cNvPr id="24" name="Text 20"/>
          <p:cNvSpPr/>
          <p:nvPr/>
        </p:nvSpPr>
        <p:spPr>
          <a:xfrm>
            <a:off x="3840480" y="14630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Fusion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3383280" y="1965960"/>
            <a:ext cx="109728" cy="10972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6" name="Text 22"/>
          <p:cNvSpPr/>
          <p:nvPr/>
        </p:nvSpPr>
        <p:spPr>
          <a:xfrm>
            <a:off x="3611880" y="192024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FPN (Feature Pyramid Network)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3383280" y="2350008"/>
            <a:ext cx="109728" cy="10972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8" name="Text 24"/>
          <p:cNvSpPr/>
          <p:nvPr/>
        </p:nvSpPr>
        <p:spPr>
          <a:xfrm>
            <a:off x="3611880" y="230428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(Path Aggregation Network)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3383280" y="2734056"/>
            <a:ext cx="109728" cy="10972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0" name="Text 26"/>
          <p:cNvSpPr/>
          <p:nvPr/>
        </p:nvSpPr>
        <p:spPr>
          <a:xfrm>
            <a:off x="3611880" y="2688336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low-level + high-level features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3383280" y="3118104"/>
            <a:ext cx="109728" cy="10972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2" name="Text 28"/>
          <p:cNvSpPr/>
          <p:nvPr/>
        </p:nvSpPr>
        <p:spPr>
          <a:xfrm>
            <a:off x="3611880" y="3072384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detection at 3 scales: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3611880" y="3456432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small, medium, and large objects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5989320" y="2651760"/>
            <a:ext cx="137160" cy="54864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35" name="Shape 31"/>
          <p:cNvSpPr/>
          <p:nvPr/>
        </p:nvSpPr>
        <p:spPr>
          <a:xfrm>
            <a:off x="6172200" y="1005840"/>
            <a:ext cx="269748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6" name="Shape 32"/>
          <p:cNvSpPr/>
          <p:nvPr/>
        </p:nvSpPr>
        <p:spPr>
          <a:xfrm>
            <a:off x="6172200" y="1005840"/>
            <a:ext cx="2697480" cy="54864"/>
          </a:xfrm>
          <a:prstGeom prst="rect">
            <a:avLst/>
          </a:prstGeom>
          <a:solidFill>
            <a:srgbClr val="E63946"/>
          </a:solidFill>
          <a:ln/>
        </p:spPr>
      </p:sp>
      <p:pic>
        <p:nvPicPr>
          <p:cNvPr id="3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1188720"/>
            <a:ext cx="365760" cy="365760"/>
          </a:xfrm>
          <a:prstGeom prst="rect">
            <a:avLst/>
          </a:prstGeom>
        </p:spPr>
      </p:pic>
      <p:sp>
        <p:nvSpPr>
          <p:cNvPr id="38" name="Text 33"/>
          <p:cNvSpPr/>
          <p:nvPr/>
        </p:nvSpPr>
        <p:spPr>
          <a:xfrm>
            <a:off x="6766560" y="11887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Head</a:t>
            </a:r>
            <a:endParaRPr lang="en-US" sz="1800" dirty="0"/>
          </a:p>
        </p:txBody>
      </p:sp>
      <p:sp>
        <p:nvSpPr>
          <p:cNvPr id="39" name="Text 34"/>
          <p:cNvSpPr/>
          <p:nvPr/>
        </p:nvSpPr>
        <p:spPr>
          <a:xfrm>
            <a:off x="6766560" y="14630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1100" dirty="0"/>
          </a:p>
        </p:txBody>
      </p:sp>
      <p:sp>
        <p:nvSpPr>
          <p:cNvPr id="40" name="Shape 35"/>
          <p:cNvSpPr/>
          <p:nvPr/>
        </p:nvSpPr>
        <p:spPr>
          <a:xfrm>
            <a:off x="6309360" y="1965960"/>
            <a:ext cx="109728" cy="109728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41" name="Text 36"/>
          <p:cNvSpPr/>
          <p:nvPr/>
        </p:nvSpPr>
        <p:spPr>
          <a:xfrm>
            <a:off x="6537960" y="192024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Decoupled head design</a:t>
            </a:r>
            <a:endParaRPr lang="en-US" sz="1100" dirty="0"/>
          </a:p>
        </p:txBody>
      </p:sp>
      <p:sp>
        <p:nvSpPr>
          <p:cNvPr id="42" name="Shape 37"/>
          <p:cNvSpPr/>
          <p:nvPr/>
        </p:nvSpPr>
        <p:spPr>
          <a:xfrm>
            <a:off x="6309360" y="2350008"/>
            <a:ext cx="109728" cy="109728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43" name="Text 38"/>
          <p:cNvSpPr/>
          <p:nvPr/>
        </p:nvSpPr>
        <p:spPr>
          <a:xfrm>
            <a:off x="6537960" y="230428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branches for:</a:t>
            </a:r>
            <a:endParaRPr lang="en-US" sz="1100" dirty="0"/>
          </a:p>
        </p:txBody>
      </p:sp>
      <p:sp>
        <p:nvSpPr>
          <p:cNvPr id="44" name="Text 39"/>
          <p:cNvSpPr/>
          <p:nvPr/>
        </p:nvSpPr>
        <p:spPr>
          <a:xfrm>
            <a:off x="6537960" y="2688336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Classification (what?)</a:t>
            </a:r>
            <a:endParaRPr lang="en-US" sz="1100" dirty="0"/>
          </a:p>
        </p:txBody>
      </p:sp>
      <p:sp>
        <p:nvSpPr>
          <p:cNvPr id="45" name="Text 40"/>
          <p:cNvSpPr/>
          <p:nvPr/>
        </p:nvSpPr>
        <p:spPr>
          <a:xfrm>
            <a:off x="6537960" y="3072384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Bounding box regression (where?)</a:t>
            </a:r>
            <a:endParaRPr lang="en-US" sz="1100" dirty="0"/>
          </a:p>
        </p:txBody>
      </p:sp>
      <p:sp>
        <p:nvSpPr>
          <p:cNvPr id="46" name="Shape 41"/>
          <p:cNvSpPr/>
          <p:nvPr/>
        </p:nvSpPr>
        <p:spPr>
          <a:xfrm>
            <a:off x="6309360" y="3502152"/>
            <a:ext cx="109728" cy="109728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47" name="Text 42"/>
          <p:cNvSpPr/>
          <p:nvPr/>
        </p:nvSpPr>
        <p:spPr>
          <a:xfrm>
            <a:off x="6537960" y="3456432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Anchor-free predictions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YOLOv8 Key Innovations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40233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51560"/>
            <a:ext cx="54864" cy="169164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6" name="Shape 4"/>
          <p:cNvSpPr/>
          <p:nvPr/>
        </p:nvSpPr>
        <p:spPr>
          <a:xfrm>
            <a:off x="594360" y="1234440"/>
            <a:ext cx="502920" cy="502920"/>
          </a:xfrm>
          <a:prstGeom prst="ellipse">
            <a:avLst/>
          </a:prstGeom>
          <a:solidFill>
            <a:srgbClr val="E63946">
              <a:alpha val="15000"/>
            </a:srgbClr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1307592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11887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Anchor-Free Detection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80160" y="155448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predefined anchor boxes — the model directly predicts the center and size of objects. Reduces hyperparameters and speeds up post-processing.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663440" y="1051560"/>
            <a:ext cx="40233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051560"/>
            <a:ext cx="54864" cy="169164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2" name="Shape 9"/>
          <p:cNvSpPr/>
          <p:nvPr/>
        </p:nvSpPr>
        <p:spPr>
          <a:xfrm>
            <a:off x="4892040" y="1234440"/>
            <a:ext cx="502920" cy="502920"/>
          </a:xfrm>
          <a:prstGeom prst="ellipse">
            <a:avLst/>
          </a:prstGeom>
          <a:solidFill>
            <a:srgbClr val="00B4D8">
              <a:alpha val="15000"/>
            </a:srgbClr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5192" y="1307592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77840" y="11887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C2f Module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5577840" y="155448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 Stage Partial with flow — splits features, processes through bottleneck blocks, then concatenates. Better gradient flow than CSP.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65760" y="3017520"/>
            <a:ext cx="40233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65760" y="3017520"/>
            <a:ext cx="54864" cy="16916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8" name="Shape 14"/>
          <p:cNvSpPr/>
          <p:nvPr/>
        </p:nvSpPr>
        <p:spPr>
          <a:xfrm>
            <a:off x="594360" y="3200400"/>
            <a:ext cx="502920" cy="502920"/>
          </a:xfrm>
          <a:prstGeom prst="ellipse">
            <a:avLst/>
          </a:prstGeom>
          <a:solidFill>
            <a:srgbClr val="0891B2">
              <a:alpha val="15000"/>
            </a:srgbClr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" y="3273552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280160" y="3154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Decoupled Head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1280160" y="35204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branches for classification and regression. Each task gets its own convolutional layers — improves both accuracy and convergence.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663440" y="3017520"/>
            <a:ext cx="40233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663440" y="3017520"/>
            <a:ext cx="54864" cy="1691640"/>
          </a:xfrm>
          <a:prstGeom prst="rect">
            <a:avLst/>
          </a:prstGeom>
          <a:solidFill>
            <a:srgbClr val="F77F00"/>
          </a:solidFill>
          <a:ln/>
        </p:spPr>
      </p:sp>
      <p:sp>
        <p:nvSpPr>
          <p:cNvPr id="24" name="Shape 19"/>
          <p:cNvSpPr/>
          <p:nvPr/>
        </p:nvSpPr>
        <p:spPr>
          <a:xfrm>
            <a:off x="4892040" y="3200400"/>
            <a:ext cx="502920" cy="502920"/>
          </a:xfrm>
          <a:prstGeom prst="ellipse">
            <a:avLst/>
          </a:prstGeom>
          <a:solidFill>
            <a:srgbClr val="F77F00">
              <a:alpha val="15000"/>
            </a:srgbClr>
          </a:solidFill>
          <a:ln/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65192" y="3273552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577840" y="3154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Task-Agnostic Design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5577840" y="35204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architecture supports detection, segmentation, classification, pose estimation, and OBB — just swap the head module.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YOLOv8 Model Variants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246888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Model</a:t>
                      </a:r>
                      <a:endParaRPr lang="en-US" sz="12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Params</a:t>
                      </a:r>
                      <a:endParaRPr lang="en-US" sz="12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mAP@50-95</a:t>
                      </a:r>
                      <a:endParaRPr lang="en-US" sz="12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Speed (ms)</a:t>
                      </a:r>
                      <a:endParaRPr lang="en-US" sz="12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Best For</a:t>
                      </a:r>
                      <a:endParaRPr lang="en-US" sz="12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6394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YOLOv8n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3.2M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37.3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1.21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/ mobile / real-time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YOLOv8s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11.2M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44.9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1.40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Balanced speed &amp; accuracy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B4D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YOLOv8m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25.9M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50.2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2.65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purpose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YOLOv8l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43.7M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52.9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4.02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accuracy needs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YOLOv8x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68.2M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53.9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6.16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Maximum accuracy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11480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57200" y="4114800"/>
            <a:ext cx="54864" cy="777240"/>
          </a:xfrm>
          <a:prstGeom prst="rect">
            <a:avLst/>
          </a:prstGeom>
          <a:solidFill>
            <a:srgbClr val="F77F00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411480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Convention:  n = nano,  s = small,  m = medium,  l = large,  x = extra-large</a:t>
            </a:r>
            <a:endParaRPr lang="en-US" sz="11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suffixes:  -seg (segmentation),  -pose (keypoints),  -cls (classification),  -obb (oriented bbox)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Ultralytics Quickstart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960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Installation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325880"/>
            <a:ext cx="3931920" cy="41148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3258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C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ultralytics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1920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Run Inference (Python)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2286000"/>
            <a:ext cx="3931920" cy="18288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237744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0E0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ultralytics import YOLO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Load a pretrained model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DC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YOLO('yolov8n.pt')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 inference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DC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model('image.jpg')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Show results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DC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results[0].show()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754880" y="960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CLI Commands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754880" y="1325880"/>
            <a:ext cx="3931920" cy="10058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13" name="Text 10"/>
          <p:cNvSpPr/>
          <p:nvPr/>
        </p:nvSpPr>
        <p:spPr>
          <a:xfrm>
            <a:off x="4937760" y="13716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Predict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DC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yolo predict model=yolov8n.pt \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DC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source='image.jpg'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754880" y="2514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Train on Custom Data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754880" y="2880360"/>
            <a:ext cx="3931920" cy="12344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16" name="Text 13"/>
          <p:cNvSpPr/>
          <p:nvPr/>
        </p:nvSpPr>
        <p:spPr>
          <a:xfrm>
            <a:off x="4937760" y="292608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Train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DC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YOLO('yolov8n.pt')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DC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model.train(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0E0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data='dataset.yaml',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0E0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epochs=100, imgsz=640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DC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57200" y="4434840"/>
            <a:ext cx="822960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57200" y="4434840"/>
            <a:ext cx="54864" cy="502920"/>
          </a:xfrm>
          <a:prstGeom prst="rect">
            <a:avLst/>
          </a:prstGeom>
          <a:solidFill>
            <a:srgbClr val="2DC653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4348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Ultralytics provides a unified Python API and CLI for train, val, predict, and export across all YOLO tasks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83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YOLO in Action</a:t>
            </a:r>
            <a:endParaRPr lang="en-US" sz="2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82880"/>
            <a:ext cx="457200" cy="457200"/>
          </a:xfrm>
          <a:prstGeom prst="rect">
            <a:avLst/>
          </a:prstGeom>
        </p:spPr>
      </p:pic>
      <p:pic>
        <p:nvPicPr>
          <p:cNvPr id="5" name="Image 1" descr="/sessions/zen-admiring-noether/mnt/AI-CV-Lecture/Session 10/yolo-object-detection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31520" y="1005840"/>
            <a:ext cx="5029200" cy="37490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31520" y="4754880"/>
            <a:ext cx="5029200" cy="457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Text 3"/>
          <p:cNvSpPr/>
          <p:nvPr/>
        </p:nvSpPr>
        <p:spPr>
          <a:xfrm>
            <a:off x="603504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RESULTS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6035040" y="1508760"/>
            <a:ext cx="2743200" cy="685800"/>
          </a:xfrm>
          <a:prstGeom prst="rect">
            <a:avLst/>
          </a:prstGeom>
          <a:solidFill>
            <a:srgbClr val="1B2838"/>
          </a:solidFill>
          <a:ln/>
        </p:spPr>
      </p:sp>
      <p:sp>
        <p:nvSpPr>
          <p:cNvPr id="9" name="Shape 5"/>
          <p:cNvSpPr/>
          <p:nvPr/>
        </p:nvSpPr>
        <p:spPr>
          <a:xfrm>
            <a:off x="6035040" y="1508760"/>
            <a:ext cx="54864" cy="685800"/>
          </a:xfrm>
          <a:prstGeom prst="rect">
            <a:avLst/>
          </a:prstGeom>
          <a:solidFill>
            <a:srgbClr val="2DC653"/>
          </a:solidFill>
          <a:ln/>
        </p:spPr>
      </p:sp>
      <p:sp>
        <p:nvSpPr>
          <p:cNvPr id="10" name="Text 6"/>
          <p:cNvSpPr/>
          <p:nvPr/>
        </p:nvSpPr>
        <p:spPr>
          <a:xfrm>
            <a:off x="6263640" y="1554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dog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8046720" y="15544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2DC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98%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6263640" y="18745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[102, 208, 325, 542]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035040" y="2377440"/>
            <a:ext cx="2743200" cy="685800"/>
          </a:xfrm>
          <a:prstGeom prst="rect">
            <a:avLst/>
          </a:prstGeom>
          <a:solidFill>
            <a:srgbClr val="1B2838"/>
          </a:solidFill>
          <a:ln/>
        </p:spPr>
      </p:sp>
      <p:sp>
        <p:nvSpPr>
          <p:cNvPr id="14" name="Shape 10"/>
          <p:cNvSpPr/>
          <p:nvPr/>
        </p:nvSpPr>
        <p:spPr>
          <a:xfrm>
            <a:off x="6035040" y="2377440"/>
            <a:ext cx="54864" cy="6858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5" name="Text 11"/>
          <p:cNvSpPr/>
          <p:nvPr/>
        </p:nvSpPr>
        <p:spPr>
          <a:xfrm>
            <a:off x="6263640" y="2423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bicycle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8046720" y="24231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95%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263640" y="2743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[82, 98, 580, 440]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035040" y="3246120"/>
            <a:ext cx="2743200" cy="685800"/>
          </a:xfrm>
          <a:prstGeom prst="rect">
            <a:avLst/>
          </a:prstGeom>
          <a:solidFill>
            <a:srgbClr val="1B2838"/>
          </a:solidFill>
          <a:ln/>
        </p:spPr>
      </p:sp>
      <p:sp>
        <p:nvSpPr>
          <p:cNvPr id="19" name="Shape 15"/>
          <p:cNvSpPr/>
          <p:nvPr/>
        </p:nvSpPr>
        <p:spPr>
          <a:xfrm>
            <a:off x="6035040" y="3246120"/>
            <a:ext cx="54864" cy="685800"/>
          </a:xfrm>
          <a:prstGeom prst="rect">
            <a:avLst/>
          </a:prstGeom>
          <a:solidFill>
            <a:srgbClr val="F77F00"/>
          </a:solidFill>
          <a:ln/>
        </p:spPr>
      </p:sp>
      <p:sp>
        <p:nvSpPr>
          <p:cNvPr id="20" name="Text 16"/>
          <p:cNvSpPr/>
          <p:nvPr/>
        </p:nvSpPr>
        <p:spPr>
          <a:xfrm>
            <a:off x="6263640" y="3291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truck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8046720" y="32918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F77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91%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6263640" y="36118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[468, 72, 680, 170]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6035040" y="4160520"/>
            <a:ext cx="2743200" cy="640080"/>
          </a:xfrm>
          <a:prstGeom prst="rect">
            <a:avLst/>
          </a:prstGeom>
          <a:solidFill>
            <a:srgbClr val="1B2838"/>
          </a:solidFill>
          <a:ln/>
        </p:spPr>
      </p:sp>
      <p:sp>
        <p:nvSpPr>
          <p:cNvPr id="24" name="Text 20"/>
          <p:cNvSpPr/>
          <p:nvPr/>
        </p:nvSpPr>
        <p:spPr>
          <a:xfrm>
            <a:off x="6217920" y="4206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objects detected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6217920" y="44805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Inference: ~5ms on GPU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Summary &amp; Next Steps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2286000" cy="457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COVERED</a:t>
            </a:r>
            <a:endParaRPr lang="en-US" sz="12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00200"/>
            <a:ext cx="228600" cy="228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15727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detection vs classification vs segmentation</a:t>
            </a:r>
            <a:endParaRPr lang="en-US" sz="12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11680"/>
            <a:ext cx="228600" cy="228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198424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R-CNN → Fast R-CNN → Faster R-CNN evolution</a:t>
            </a:r>
            <a:endParaRPr lang="en-US" sz="12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23160"/>
            <a:ext cx="228600" cy="2286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05840" y="239572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 boxes, IoU, NMS, and mAP metrics</a:t>
            </a:r>
            <a:endParaRPr lang="en-US" sz="12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834640"/>
            <a:ext cx="228600" cy="22860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05840" y="280720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 philosophy: one-stage detection</a:t>
            </a:r>
            <a:endParaRPr lang="en-US" sz="120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46120"/>
            <a:ext cx="228600" cy="22860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005840" y="321868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architecture (backbone, neck, head)</a:t>
            </a:r>
            <a:endParaRPr lang="en-US" sz="1200" dirty="0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57600"/>
            <a:ext cx="228600" cy="228600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005840" y="36301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Ultralytics Python API and CLI quickstart</a:t>
            </a:r>
            <a:endParaRPr lang="en-US" sz="1200" dirty="0"/>
          </a:p>
        </p:txBody>
      </p:sp>
      <p:sp>
        <p:nvSpPr>
          <p:cNvPr id="18" name="Text 10"/>
          <p:cNvSpPr/>
          <p:nvPr/>
        </p:nvSpPr>
        <p:spPr>
          <a:xfrm>
            <a:off x="5029200" y="1188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639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COMING UP NEXT</a:t>
            </a:r>
            <a:endParaRPr lang="en-US" sz="1200" dirty="0"/>
          </a:p>
        </p:txBody>
      </p:sp>
      <p:sp>
        <p:nvSpPr>
          <p:cNvPr id="19" name="Shape 11"/>
          <p:cNvSpPr/>
          <p:nvPr/>
        </p:nvSpPr>
        <p:spPr>
          <a:xfrm>
            <a:off x="5029200" y="1600200"/>
            <a:ext cx="3657600" cy="594360"/>
          </a:xfrm>
          <a:prstGeom prst="rect">
            <a:avLst/>
          </a:prstGeom>
          <a:solidFill>
            <a:srgbClr val="1B2838"/>
          </a:solidFill>
          <a:ln/>
        </p:spPr>
      </p:sp>
      <p:sp>
        <p:nvSpPr>
          <p:cNvPr id="20" name="Shape 12"/>
          <p:cNvSpPr/>
          <p:nvPr/>
        </p:nvSpPr>
        <p:spPr>
          <a:xfrm>
            <a:off x="5029200" y="1600200"/>
            <a:ext cx="54864" cy="59436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21" name="Text 13"/>
          <p:cNvSpPr/>
          <p:nvPr/>
        </p:nvSpPr>
        <p:spPr>
          <a:xfrm>
            <a:off x="5303520" y="16459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 Training Lab</a:t>
            </a:r>
            <a:endParaRPr lang="en-US" sz="1300" dirty="0"/>
          </a:p>
        </p:txBody>
      </p:sp>
      <p:sp>
        <p:nvSpPr>
          <p:cNvPr id="22" name="Text 14"/>
          <p:cNvSpPr/>
          <p:nvPr/>
        </p:nvSpPr>
        <p:spPr>
          <a:xfrm>
            <a:off x="5303520" y="190195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dataset with Roboflow, train &amp; evaluate</a:t>
            </a:r>
            <a:endParaRPr lang="en-US" sz="1000" dirty="0"/>
          </a:p>
        </p:txBody>
      </p:sp>
      <p:sp>
        <p:nvSpPr>
          <p:cNvPr id="23" name="Shape 15"/>
          <p:cNvSpPr/>
          <p:nvPr/>
        </p:nvSpPr>
        <p:spPr>
          <a:xfrm>
            <a:off x="5029200" y="2377440"/>
            <a:ext cx="3657600" cy="594360"/>
          </a:xfrm>
          <a:prstGeom prst="rect">
            <a:avLst/>
          </a:prstGeom>
          <a:solidFill>
            <a:srgbClr val="1B2838"/>
          </a:solidFill>
          <a:ln/>
        </p:spPr>
      </p:sp>
      <p:sp>
        <p:nvSpPr>
          <p:cNvPr id="24" name="Shape 16"/>
          <p:cNvSpPr/>
          <p:nvPr/>
        </p:nvSpPr>
        <p:spPr>
          <a:xfrm>
            <a:off x="5029200" y="2377440"/>
            <a:ext cx="54864" cy="59436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25" name="Text 17"/>
          <p:cNvSpPr/>
          <p:nvPr/>
        </p:nvSpPr>
        <p:spPr>
          <a:xfrm>
            <a:off x="5303520" y="24231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Segmentation</a:t>
            </a:r>
            <a:endParaRPr lang="en-US" sz="1300" dirty="0"/>
          </a:p>
        </p:txBody>
      </p:sp>
      <p:sp>
        <p:nvSpPr>
          <p:cNvPr id="26" name="Text 18"/>
          <p:cNvSpPr/>
          <p:nvPr/>
        </p:nvSpPr>
        <p:spPr>
          <a:xfrm>
            <a:off x="5303520" y="267919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FCN, U-Net architecture &amp; use-cases</a:t>
            </a:r>
            <a:endParaRPr lang="en-US" sz="1000" dirty="0"/>
          </a:p>
        </p:txBody>
      </p:sp>
      <p:sp>
        <p:nvSpPr>
          <p:cNvPr id="27" name="Shape 19"/>
          <p:cNvSpPr/>
          <p:nvPr/>
        </p:nvSpPr>
        <p:spPr>
          <a:xfrm>
            <a:off x="5029200" y="3154680"/>
            <a:ext cx="3657600" cy="594360"/>
          </a:xfrm>
          <a:prstGeom prst="rect">
            <a:avLst/>
          </a:prstGeom>
          <a:solidFill>
            <a:srgbClr val="1B2838"/>
          </a:solidFill>
          <a:ln/>
        </p:spPr>
      </p:sp>
      <p:sp>
        <p:nvSpPr>
          <p:cNvPr id="28" name="Shape 20"/>
          <p:cNvSpPr/>
          <p:nvPr/>
        </p:nvSpPr>
        <p:spPr>
          <a:xfrm>
            <a:off x="5029200" y="3154680"/>
            <a:ext cx="54864" cy="59436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29" name="Text 21"/>
          <p:cNvSpPr/>
          <p:nvPr/>
        </p:nvSpPr>
        <p:spPr>
          <a:xfrm>
            <a:off x="5303520" y="32004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 Segmentation</a:t>
            </a:r>
            <a:endParaRPr lang="en-US" sz="1300" dirty="0"/>
          </a:p>
        </p:txBody>
      </p:sp>
      <p:sp>
        <p:nvSpPr>
          <p:cNvPr id="30" name="Text 22"/>
          <p:cNvSpPr/>
          <p:nvPr/>
        </p:nvSpPr>
        <p:spPr>
          <a:xfrm>
            <a:off x="5303520" y="345643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 R-CNN / YOLOv8-seg hands-on</a:t>
            </a:r>
            <a:endParaRPr lang="en-US" sz="1000" dirty="0"/>
          </a:p>
        </p:txBody>
      </p:sp>
      <p:sp>
        <p:nvSpPr>
          <p:cNvPr id="31" name="Shape 23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1B2838"/>
          </a:solidFill>
          <a:ln/>
        </p:spPr>
      </p:sp>
      <p:sp>
        <p:nvSpPr>
          <p:cNvPr id="32" name="Text 24"/>
          <p:cNvSpPr/>
          <p:nvPr/>
        </p:nvSpPr>
        <p:spPr>
          <a:xfrm>
            <a:off x="640080" y="4480560"/>
            <a:ext cx="7863840" cy="6629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10  |  Object Detection &amp; YOLO  |  Phase 3 — Core CV Tasks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247</TotalTime>
  <Words>1294</Words>
  <Application>Microsoft Office PowerPoint</Application>
  <PresentationFormat>On-screen Show (16:9)</PresentationFormat>
  <Paragraphs>319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Arial Black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 — Object Detection &amp; YOLO</dc:title>
  <dc:subject>PptxGenJS Presentation</dc:subject>
  <dc:creator>Shah</dc:creator>
  <cp:lastModifiedBy>Shah Zeb</cp:lastModifiedBy>
  <cp:revision>3</cp:revision>
  <dcterms:created xsi:type="dcterms:W3CDTF">2026-05-08T15:16:15Z</dcterms:created>
  <dcterms:modified xsi:type="dcterms:W3CDTF">2026-05-15T04:21:01Z</dcterms:modified>
</cp:coreProperties>
</file>