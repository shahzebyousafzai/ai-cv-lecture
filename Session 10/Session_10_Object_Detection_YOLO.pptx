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56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146304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 Detection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YOLO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R-CNN Foundations to Real-Time YOLOv8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Core CV Tasks  |  Week 7</a:t>
            </a:r>
            <a:endParaRPr lang="en-US" sz="1200" dirty="0"/>
          </a:p>
        </p:txBody>
      </p:sp>
      <p:pic>
        <p:nvPicPr>
          <p:cNvPr id="9" name="Image 0" descr="/sessions/zen-admiring-noether/mnt/AI-CV-Lecture/Session 10/yolo-object-detect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365760"/>
            <a:ext cx="3840480" cy="2880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0" y="3246120"/>
            <a:ext cx="38404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120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Sessions Combined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323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155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 Detection?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3167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detection vs segmentation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556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1719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Detectors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45920" y="19568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→ Fast R-CNN → Faster R-CNN evolution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957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2359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2596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boxes, IoU, NMS, and mAP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03580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YOLO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45920" y="3236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detection philosophy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67588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Architecture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3877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Backbone, neck, and head deep-dive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0" name="Text 23"/>
          <p:cNvSpPr/>
          <p:nvPr/>
        </p:nvSpPr>
        <p:spPr>
          <a:xfrm>
            <a:off x="5486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431596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45920" y="4279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Quickstart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645920" y="4517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inference, training, and evaluation</a:t>
            </a:r>
            <a:endParaRPr lang="en-US" sz="1100" dirty="0"/>
          </a:p>
        </p:txBody>
      </p:sp>
      <p:pic>
        <p:nvPicPr>
          <p:cNvPr id="34" name="Image 6" descr="/sessions/zen-admiring-noether/mnt/AI-CV-Lecture/Session 10/dog_bike_car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17920" y="1097280"/>
            <a:ext cx="2560320" cy="192024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217920" y="301752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27"/>
          <p:cNvSpPr/>
          <p:nvPr/>
        </p:nvSpPr>
        <p:spPr>
          <a:xfrm>
            <a:off x="62179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machine detect every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 this image?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Object Detection?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in the image?"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label for the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image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class + confidence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"dog" (97%)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&amp; where?"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every object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bounding box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boxes +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dog, bicycle, truck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"Exact pixel boundaries"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pixel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to objects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pixel-level masks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precise outlines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= Classification + Localisation (for every object in the image)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Detection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pic>
        <p:nvPicPr>
          <p:cNvPr id="5" name="Image 0" descr="/sessions/zen-admiring-noether/mnt/AI-CV-Lecture/Session 10/dog_bike_ca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3474720" cy="2606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377440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069080" y="2286000"/>
            <a:ext cx="640080" cy="64008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493776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pic>
        <p:nvPicPr>
          <p:cNvPr id="9" name="Image 2" descr="/sessions/zen-admiring-noether/mnt/AI-CV-Lecture/Session 10/yolo-object-detection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37760" y="1371600"/>
            <a:ext cx="3474720" cy="26060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420624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15968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00584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y, w, h)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37560" y="420624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4315968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8620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388620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dog, bicycle, truck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217920" y="4206240"/>
            <a:ext cx="26517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315968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6656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76656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→ 1.0 score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Two-Stage Detectors: The R-CNN Family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768096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945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R-CNN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Search → 2000 regions → CNN each → SVM classify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95244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944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deep-learning detector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4388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3493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slow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4"/>
          <p:cNvSpPr/>
          <p:nvPr/>
        </p:nvSpPr>
        <p:spPr>
          <a:xfrm>
            <a:off x="4297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37560" y="10058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7"/>
          <p:cNvSpPr/>
          <p:nvPr/>
        </p:nvSpPr>
        <p:spPr>
          <a:xfrm>
            <a:off x="347472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 R-CNN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70916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47472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on full image once → RoI pooling → classify + regress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28803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095244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03320" y="2944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CNN computation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643884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703320" y="3493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uses Selective Search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178040" y="219456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0" name="Text 24"/>
          <p:cNvSpPr/>
          <p:nvPr/>
        </p:nvSpPr>
        <p:spPr>
          <a:xfrm>
            <a:off x="71780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217920" y="10058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3" name="Text 27"/>
          <p:cNvSpPr/>
          <p:nvPr/>
        </p:nvSpPr>
        <p:spPr>
          <a:xfrm>
            <a:off x="635508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 R-CNN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589520" y="1143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~0.2s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35508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 Network (RPN) replaces Selective Search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217920" y="28803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95244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583680" y="2944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trainable, much faster</a:t>
            </a:r>
            <a:endParaRPr lang="en-US" sz="11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43884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583680" y="3493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two stages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3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Two-stage = (1) propose regions  →  (2) classify each region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Anchor Boxes &amp; IoU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Anchor Boxes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boxes of various shapes and sizes placed at every position in the feature 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2560320"/>
            <a:ext cx="457200" cy="914400"/>
          </a:xfrm>
          <a:prstGeom prst="rect">
            <a:avLst/>
          </a:prstGeom>
          <a:solidFill>
            <a:srgbClr val="00B4D8">
              <a:alpha val="30000"/>
            </a:srgbClr>
          </a:solidFill>
          <a:ln w="25400">
            <a:solidFill>
              <a:srgbClr val="00B4D8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4008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&amp; Narrow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3776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poles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48840" y="2697480"/>
            <a:ext cx="640080" cy="640080"/>
          </a:xfrm>
          <a:prstGeom prst="rect">
            <a:avLst/>
          </a:prstGeom>
          <a:solidFill>
            <a:srgbClr val="00B4D8">
              <a:alpha val="30000"/>
            </a:srgbClr>
          </a:solidFill>
          <a:ln w="25400">
            <a:solidFill>
              <a:srgbClr val="00B4D8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87452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74520" y="3776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Faces, signs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46120" y="2788920"/>
            <a:ext cx="914400" cy="457200"/>
          </a:xfrm>
          <a:prstGeom prst="rect">
            <a:avLst/>
          </a:prstGeom>
          <a:solidFill>
            <a:srgbClr val="00B4D8">
              <a:alpha val="30000"/>
            </a:srgbClr>
          </a:solidFill>
          <a:ln w="25400">
            <a:solidFill>
              <a:srgbClr val="00B4D8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310896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&amp; Short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108960" y="3776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buses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43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predicts offsets to refine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anchors into tight bounding boxes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IoU — Intersection over Union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120640" y="178308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0"/>
          <p:cNvSpPr/>
          <p:nvPr/>
        </p:nvSpPr>
        <p:spPr>
          <a:xfrm>
            <a:off x="512064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 =  Area of Overlap  /  Area of Union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0" y="2560320"/>
            <a:ext cx="1463040" cy="1097280"/>
          </a:xfrm>
          <a:prstGeom prst="rect">
            <a:avLst/>
          </a:prstGeom>
          <a:solidFill>
            <a:srgbClr val="00B4D8">
              <a:alpha val="4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35040" y="2834640"/>
            <a:ext cx="1463040" cy="1097280"/>
          </a:xfrm>
          <a:prstGeom prst="rect">
            <a:avLst/>
          </a:prstGeom>
          <a:solidFill>
            <a:srgbClr val="E63946">
              <a:alpha val="40000"/>
            </a:srgbClr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9496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58952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120640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&lt; 0.5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400800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12064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≥ 0.5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400800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(standard threshold)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12064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≥ 0.75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00800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match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Non-Maximum Suppression (NMS)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7899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058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Detectors produce many overlapping boxes for the same object. NMS keeps only the best 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828800"/>
            <a:ext cx="1554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 by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boxes by their confidence scores (highest first)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57400" y="1828800"/>
            <a:ext cx="1554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965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26060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14884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Top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48840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box with the highest confidence as a detection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94760" y="1828800"/>
            <a:ext cx="1554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1965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88620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IoU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86200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IoU of remaining boxes with the selected box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1828800"/>
            <a:ext cx="1554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80760" y="1965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1"/>
          <p:cNvSpPr/>
          <p:nvPr/>
        </p:nvSpPr>
        <p:spPr>
          <a:xfrm>
            <a:off x="6080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62356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Suppress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Overlap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23560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boxes with IoU &gt; threshold (e.g., 0.5) — they detect the same object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269480" y="1828800"/>
            <a:ext cx="15544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818120" y="1965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6"/>
          <p:cNvSpPr/>
          <p:nvPr/>
        </p:nvSpPr>
        <p:spPr>
          <a:xfrm>
            <a:off x="78181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6092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60920" y="3246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step 2 with remaining boxes until none are left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Evaluation: mAP (mean Average Precision)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Blocks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356616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 + FP)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all detections, how many are correct?"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356616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TP / (TP + FN)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877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all real objects, how many did we find?"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 (Average Precision)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Precision-Recall curve for a single 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 (mean AP)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AP across all classes — the standard detection metric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43400"/>
            <a:ext cx="356616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= (1/N) × Σ AP_i  for all N classes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Variants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83480" y="1737360"/>
            <a:ext cx="356616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1737360"/>
            <a:ext cx="54864" cy="82296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mAP@0.5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2084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threshold = 0.5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(PASCAL VOC standard)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743200"/>
            <a:ext cx="356616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274320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mAP@0.75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threshold = 0.75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(stricter matching)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749040"/>
            <a:ext cx="356616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3480" y="3749040"/>
            <a:ext cx="54864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mAP@[.5:.95]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4096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 IoU from 0.5 to 0.95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steps of 0.05 (COCO standard)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Only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Once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One-Stage Detection Revolution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4572000" cy="7315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657600"/>
            <a:ext cx="5486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57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proposing regions then classifying,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frames detection as a single regression problem.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 Comparison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607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23760" y="1783080"/>
            <a:ext cx="137160" cy="18288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 FPS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23760" y="2331720"/>
            <a:ext cx="274320" cy="18288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FPS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23760" y="2880360"/>
            <a:ext cx="548640" cy="18288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FPS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6072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23760" y="3429000"/>
            <a:ext cx="1280160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19"/>
          <p:cNvSpPr/>
          <p:nvPr/>
        </p:nvSpPr>
        <p:spPr>
          <a:xfrm>
            <a:off x="859536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FPS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23760" y="3977640"/>
            <a:ext cx="1188720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600+ FPS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Evolution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468880"/>
            <a:ext cx="768096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005840"/>
            <a:ext cx="1417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005840"/>
            <a:ext cx="14173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1389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detection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 on GPU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51760" y="224028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40280" y="2880360"/>
            <a:ext cx="1417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40280" y="3931920"/>
            <a:ext cx="141732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286000" y="32186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norm, anchor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boxes, multi-scale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43400" y="22402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31920" y="1005840"/>
            <a:ext cx="1417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931920" y="1005840"/>
            <a:ext cx="14173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397764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977640" y="1389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Darknet-53 backbone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neck, 3 scales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35040" y="22402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23560" y="2880360"/>
            <a:ext cx="1417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23560" y="3931920"/>
            <a:ext cx="14173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5"/>
          <p:cNvSpPr/>
          <p:nvPr/>
        </p:nvSpPr>
        <p:spPr>
          <a:xfrm>
            <a:off x="566928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669280" y="32186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PyTorch-native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ecosystem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726680" y="22402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8"/>
          <p:cNvSpPr/>
          <p:nvPr/>
        </p:nvSpPr>
        <p:spPr>
          <a:xfrm>
            <a:off x="7726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315200" y="1005840"/>
            <a:ext cx="1417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315200" y="1005840"/>
            <a:ext cx="141732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1"/>
          <p:cNvSpPr/>
          <p:nvPr/>
        </p:nvSpPr>
        <p:spPr>
          <a:xfrm>
            <a:off x="736092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360920" y="138988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Anchor-free, C2f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unified CLI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on YOLOv8 — the current standard with the best speed-accuracy trade-off and the Ultralytics ecosystem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Backbone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CSPDarknet architecture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35000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C2f modules (Cross Stage Partial)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7340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68833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multi-scale features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11810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0723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Progressively reduces spatial size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0215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456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channel depth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63240" y="2651760"/>
            <a:ext cx="1371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7"/>
          <p:cNvSpPr/>
          <p:nvPr/>
        </p:nvSpPr>
        <p:spPr>
          <a:xfrm>
            <a:off x="3246120" y="100584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8872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Neck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84048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383280" y="1965960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2"/>
          <p:cNvSpPr/>
          <p:nvPr/>
        </p:nvSpPr>
        <p:spPr>
          <a:xfrm>
            <a:off x="3611880" y="1920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(Feature Pyramid Network)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83280" y="2350008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4"/>
          <p:cNvSpPr/>
          <p:nvPr/>
        </p:nvSpPr>
        <p:spPr>
          <a:xfrm>
            <a:off x="361188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(Path Aggregation Network)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383280" y="2734056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6"/>
          <p:cNvSpPr/>
          <p:nvPr/>
        </p:nvSpPr>
        <p:spPr>
          <a:xfrm>
            <a:off x="3611880" y="268833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low-level + high-level features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383280" y="3118104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8"/>
          <p:cNvSpPr/>
          <p:nvPr/>
        </p:nvSpPr>
        <p:spPr>
          <a:xfrm>
            <a:off x="3611880" y="30723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detection at 3 scales: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611880" y="3456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small, medium, and large objects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989320" y="2651760"/>
            <a:ext cx="1371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Shape 31"/>
          <p:cNvSpPr/>
          <p:nvPr/>
        </p:nvSpPr>
        <p:spPr>
          <a:xfrm>
            <a:off x="6172200" y="100584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172200" y="1005840"/>
            <a:ext cx="269748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88720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665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676656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309360" y="1965960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1" name="Text 36"/>
          <p:cNvSpPr/>
          <p:nvPr/>
        </p:nvSpPr>
        <p:spPr>
          <a:xfrm>
            <a:off x="6537960" y="1920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head design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309360" y="2350008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38"/>
          <p:cNvSpPr/>
          <p:nvPr/>
        </p:nvSpPr>
        <p:spPr>
          <a:xfrm>
            <a:off x="653796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branches for: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6537960" y="268833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Classification (what?)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537960" y="307238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Bounding box regression (where?)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309360" y="3502152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7" name="Text 42"/>
          <p:cNvSpPr/>
          <p:nvPr/>
        </p:nvSpPr>
        <p:spPr>
          <a:xfrm>
            <a:off x="6537960" y="3456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 Key Innovations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691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34440"/>
            <a:ext cx="502920" cy="502920"/>
          </a:xfrm>
          <a:prstGeom prst="ellipse">
            <a:avLst/>
          </a:prstGeom>
          <a:solidFill>
            <a:srgbClr val="E63946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075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Anchor-Free Detection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anchor boxes — the model directly predicts the center and size of objects. Reduces hyperparameters and speeds up post-processing.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51560"/>
            <a:ext cx="54864" cy="1691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30759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C2f Module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7784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Stage Partial with flow — splits features, processes through bottleneck blocks, then concatenates. Better gradient flow than CSP.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017520"/>
            <a:ext cx="54864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4"/>
          <p:cNvSpPr/>
          <p:nvPr/>
        </p:nvSpPr>
        <p:spPr>
          <a:xfrm>
            <a:off x="594360" y="3200400"/>
            <a:ext cx="502920" cy="5029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273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Decoupled Head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8016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branches for classification and regression. Each task gets its own convolutional layers — improves both accuracy and convergence.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3017520"/>
            <a:ext cx="54864" cy="169164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4" name="Shape 19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F77F00">
              <a:alpha val="15000"/>
            </a:srgbClr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27355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Task-Agnostic Design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7784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supports detection, segmentation, classification, pose estimation, and OBB — just swap the head module.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 Model Variants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Model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Params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mAP@50-95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Speed (ms)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Best For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YOLOv8n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mobile / 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YOLOv8s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11.2M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speed &amp;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YOLOv8m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25.9M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YOLOv8l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43.7M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needs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YOLOv8x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68.2M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 n = nano,  s = small,  m = medium,  l = large,  x = extra-large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suffixes:  -seg (segmentation),  -pose (keypoints),  -cls (classification),  -obb (oriented bbox)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Ultralytics Quickstart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Inference (Python)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931920" cy="1828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3774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 pretrained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YOLO('yolov8n.pt')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model('image.jpg')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results[0].show()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Commands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371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predict model=yolov8n.pt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source='image.jpg'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 on Custom Data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2880360"/>
            <a:ext cx="393192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926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YOLO('yolov8n.pt')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data='dataset.yaml',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epochs=100, imgsz=640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provides a unified Python API and CLI for train, val, predict, and export across all YOLO tasks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 in Action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pic>
        <p:nvPicPr>
          <p:cNvPr id="5" name="Image 1" descr="/sessions/zen-admiring-noether/mnt/AI-CV-Lecture/Session 10/yolo-object-detectio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05840"/>
            <a:ext cx="5029200" cy="3749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4754880"/>
            <a:ext cx="5029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3"/>
          <p:cNvSpPr/>
          <p:nvPr/>
        </p:nvSpPr>
        <p:spPr>
          <a:xfrm>
            <a:off x="60350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RESULTS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035040" y="1508760"/>
            <a:ext cx="27432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9" name="Shape 5"/>
          <p:cNvSpPr/>
          <p:nvPr/>
        </p:nvSpPr>
        <p:spPr>
          <a:xfrm>
            <a:off x="6035040" y="1508760"/>
            <a:ext cx="54864" cy="6858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0" name="Text 6"/>
          <p:cNvSpPr/>
          <p:nvPr/>
        </p:nvSpPr>
        <p:spPr>
          <a:xfrm>
            <a:off x="626364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4672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98%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6364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[102, 208, 325, 542]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2377440"/>
            <a:ext cx="27432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4" name="Shape 10"/>
          <p:cNvSpPr/>
          <p:nvPr/>
        </p:nvSpPr>
        <p:spPr>
          <a:xfrm>
            <a:off x="6035040" y="2377440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62636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bicycle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04672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[82, 98, 580, 440]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3246120"/>
            <a:ext cx="27432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Shape 15"/>
          <p:cNvSpPr/>
          <p:nvPr/>
        </p:nvSpPr>
        <p:spPr>
          <a:xfrm>
            <a:off x="6035040" y="3246120"/>
            <a:ext cx="54864" cy="68580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truck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04672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26364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[468, 72, 680, 170]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035040" y="4160520"/>
            <a:ext cx="27432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objects detected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1792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~5ms on GPU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286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vs classification vs segmentation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84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→ Fast R-CNN → Faster R-CNN evolution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boxes, IoU, NMS, and mAP metrics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philosophy: one-stage detection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architecture (backbone, neck, head)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05840" y="3630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Python API and CLI quickstart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5029200" y="1600200"/>
            <a:ext cx="36576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0" name="Shape 12"/>
          <p:cNvSpPr/>
          <p:nvPr/>
        </p:nvSpPr>
        <p:spPr>
          <a:xfrm>
            <a:off x="5029200" y="1600200"/>
            <a:ext cx="54864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3"/>
          <p:cNvSpPr/>
          <p:nvPr/>
        </p:nvSpPr>
        <p:spPr>
          <a:xfrm>
            <a:off x="530352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Training Lab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303520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dataset with Roboflow, train &amp; evaluate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029200" y="2377440"/>
            <a:ext cx="36576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4" name="Shape 16"/>
          <p:cNvSpPr/>
          <p:nvPr/>
        </p:nvSpPr>
        <p:spPr>
          <a:xfrm>
            <a:off x="5029200" y="2377440"/>
            <a:ext cx="54864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17"/>
          <p:cNvSpPr/>
          <p:nvPr/>
        </p:nvSpPr>
        <p:spPr>
          <a:xfrm>
            <a:off x="530352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303520" y="2679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FCN, U-Net architecture &amp; use-cases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029200" y="3154680"/>
            <a:ext cx="36576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8" name="Shape 20"/>
          <p:cNvSpPr/>
          <p:nvPr/>
        </p:nvSpPr>
        <p:spPr>
          <a:xfrm>
            <a:off x="5029200" y="3154680"/>
            <a:ext cx="54864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1"/>
          <p:cNvSpPr/>
          <p:nvPr/>
        </p:nvSpPr>
        <p:spPr>
          <a:xfrm>
            <a:off x="530352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303520" y="3456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/ YOLOv8-seg hands-on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2" name="Text 24"/>
          <p:cNvSpPr/>
          <p:nvPr/>
        </p:nvSpPr>
        <p:spPr>
          <a:xfrm>
            <a:off x="640080" y="4480560"/>
            <a:ext cx="786384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  |  Object Detection &amp; YOLO  |  Phase 3 — Core CV Tasks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1297</Words>
  <Application>Microsoft Office PowerPoint</Application>
  <PresentationFormat>On-screen Show (16:9)</PresentationFormat>
  <Paragraphs>320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 — Object Detection &amp; YOLO</dc:title>
  <dc:subject>PptxGenJS Presentation</dc:subject>
  <dc:creator>Shah</dc:creator>
  <cp:lastModifiedBy>Shah Zeb</cp:lastModifiedBy>
  <cp:revision>2</cp:revision>
  <dcterms:created xsi:type="dcterms:W3CDTF">2026-05-08T15:16:15Z</dcterms:created>
  <dcterms:modified xsi:type="dcterms:W3CDTF">2026-05-12T00:23:40Z</dcterms:modified>
</cp:coreProperties>
</file>