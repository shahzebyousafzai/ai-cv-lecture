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91440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1417320"/>
            <a:ext cx="347472" cy="34747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12680" y="19202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0" y="77724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5880" y="562356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594360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400">
                <a:solidFill>
                  <a:srgbClr val="02C39A"/>
                </a:solidFill>
                <a:latin typeface="Calibri"/>
              </a:rPr>
              <a:t>Session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Pre-training &amp;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How a raw next-token predictor becomes a helpful assistant — and how to adapt one on a single 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1463040" cy="320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FA3C8"/>
                </a:solidFill>
                <a:latin typeface="Calibri"/>
              </a:rPr>
              <a:t>Causal LM  ·  Masked LM  ·  Instruction Tuning  ·  RLHF  ·  LoRA  ·  QLoRA  ·  PEFT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FA3C8"/>
                </a:solidFill>
                <a:latin typeface="Calibri"/>
              </a:rPr>
              <a:t>Computer Vision &amp; AI · One-on-One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Today's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≈ 1.5 hours · theory first, then a full QLoRA fine-tune on a free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67512" y="1741932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600200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The three lives of an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600200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86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67512" y="2528315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386584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Pre-training — Causal 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386584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10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7296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67512" y="3314699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172968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Pre-training — Masked 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3172968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8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593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67512" y="4101084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959352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Instruction Tuning (SFT)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959352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10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4573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67512" y="4887468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745736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RLHF &amp; DPO —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4745736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10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60020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19672" y="1741932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1600200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Why full fine-tuning breaks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1600200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5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386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519672" y="2528315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2386584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LoRA — low-rank adaptation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2386584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10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17296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519672" y="3314699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3172968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QLoRA &amp; the PEFT family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3172968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10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9593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519672" y="4101084"/>
            <a:ext cx="283464" cy="283464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3959352"/>
            <a:ext cx="4069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Hands-on Lab — QLoRA fine-tune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959352"/>
            <a:ext cx="777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25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The Three Lives of an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Every model you use — GPT, Claude, LLaMA — went through these stages in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3611880" cy="4069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611880" cy="502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PRE-TRAINING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Calibri"/>
              </a:rPr>
              <a:t>Learn language itself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79"/>
            <a:ext cx="68580" cy="685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0906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Trillions of tokens of raw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79"/>
            <a:ext cx="68580" cy="685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5478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No human labels at 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0050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Objective: predict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262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4622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Weeks to months · $10M+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834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9194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Output: a base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572768"/>
            <a:ext cx="3611880" cy="4069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43400" y="1572768"/>
            <a:ext cx="3611880" cy="5029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3591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INSTRUCTION 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6700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B33D"/>
                </a:solidFill>
                <a:latin typeface="Calibri"/>
              </a:rPr>
              <a:t>Learn to be useful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3154679"/>
            <a:ext cx="68580" cy="685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30906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10K–1M instruction/response pairs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611879"/>
            <a:ext cx="68580" cy="685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35478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Human-written demonstrations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40690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40050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Objective: supervised next-token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5262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44622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Hours to days · cheap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49834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18888" y="49194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Output: an instruct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1572768"/>
            <a:ext cx="3611880" cy="406908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183880" y="1572768"/>
            <a:ext cx="3611880" cy="502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5820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3591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6700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6167"/>
                </a:solidFill>
                <a:latin typeface="Calibri"/>
              </a:rPr>
              <a:t>Learn to be preferred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58200" y="3154679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9368" y="30906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Human preference comparisons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3611879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9368" y="35478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Which of these two is better?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40690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8" y="40050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Objective: reward / preference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58200" y="45262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9368" y="44622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Days · moderate cost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58200" y="498348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9368" y="491947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Output: a chat model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Today we cover all three — plus the trick that lets you do stages 2 and 3 yourself on one consumer GPU.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What Pre-training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Self-supervised learning: the data labels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532120" cy="2103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The core trick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2340"/>
                </a:solidFill>
                <a:latin typeface="Calibri"/>
              </a:rPr>
              <a:t>You never need a human to label anything.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4506B"/>
                </a:solidFill>
                <a:latin typeface="Calibri"/>
              </a:rPr>
              <a:t>The text itself is both the input and the answer — hide part of it, ask the model to reconstruct it, compare against what was really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821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That single idea is what let us scale to the entire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The scale involved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12848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506B"/>
                </a:solidFill>
                <a:latin typeface="Calibri"/>
              </a:rPr>
              <a:t>Training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128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~1–15 trillion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6032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506B"/>
                </a:solidFill>
                <a:latin typeface="Calibri"/>
              </a:rPr>
              <a:t>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1B – 500B+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07791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506B"/>
                </a:solidFill>
                <a:latin typeface="Calibri"/>
              </a:rPr>
              <a:t>GPU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07791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10⁴ – 10⁶ GPU-hours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5526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4506B"/>
                </a:solidFill>
                <a:latin typeface="Calibri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5526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$1M – $100M+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11155680" cy="1783080"/>
          </a:xfrm>
          <a:prstGeom prst="roundRect">
            <a:avLst>
              <a:gd name="adj" fmla="val 6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Two ways to hide text — and they produce very different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480560"/>
            <a:ext cx="45720" cy="960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00">
                <a:solidFill>
                  <a:srgbClr val="02C39A"/>
                </a:solidFill>
                <a:latin typeface="Calibri"/>
              </a:rPr>
              <a:t>CAUSAL 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736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340"/>
                </a:solidFill>
                <a:latin typeface="Calibri"/>
              </a:rPr>
              <a:t>Hide the future.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9926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alibri"/>
              </a:rPr>
              <a:t>Predict the next token from the left context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21208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GPT · LLaMA · Mistral · Claude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480560"/>
            <a:ext cx="45720" cy="96012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00">
                <a:solidFill>
                  <a:srgbClr val="3E7CB1"/>
                </a:solidFill>
                <a:latin typeface="Calibri"/>
              </a:rPr>
              <a:t>MASKED 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4736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340"/>
                </a:solidFill>
                <a:latin typeface="Calibri"/>
              </a:rPr>
              <a:t>Hide the middle.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9926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alibri"/>
              </a:rPr>
              <a:t>Predict blanked-out tokens using both sides.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521208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BERT · RoBERTa · DeBERTa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Both are pre-training. The choice of what you hide decides what the model is good at for the rest of its life.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Causal Language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Predict the next token — the objective behind every model that generates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11155680" cy="15087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8FA3C8"/>
                </a:solidFill>
                <a:latin typeface="Calibri"/>
              </a:rPr>
              <a:t>ONE TRAINING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1051560" cy="475488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51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The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103120"/>
            <a:ext cx="1051560" cy="475488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2103120"/>
            <a:ext cx="1051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cat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103120"/>
            <a:ext cx="1051560" cy="475488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54680" y="2103120"/>
            <a:ext cx="1051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sat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103120"/>
            <a:ext cx="1051560" cy="475488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43400" y="2103120"/>
            <a:ext cx="1051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2103120"/>
            <a:ext cx="10515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32120" y="2103120"/>
            <a:ext cx="1051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96167"/>
                </a:solidFill>
                <a:latin typeface="Calibri"/>
              </a:rPr>
              <a:t>the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103120"/>
            <a:ext cx="10515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20840" y="2103120"/>
            <a:ext cx="1051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96167"/>
                </a:solidFill>
                <a:latin typeface="Calibri"/>
              </a:rPr>
              <a:t>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7004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◄──────  context (visible)  ──────►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670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96167"/>
                </a:solidFill>
                <a:latin typeface="Calibri"/>
              </a:rPr>
              <a:t>◄── must predict ──►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Loss on every position.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 6-token sentence gives 6 training signals, not 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73552"/>
            <a:ext cx="667512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13232" y="3493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335584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Only sees the 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60273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A causal mask blocks attention to future tokens, so position i can never peek at i+1. This is what makes generation possible.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096512"/>
            <a:ext cx="667512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13232" y="431596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417880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Trains and generates the same 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442569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Because the objective is 'continue the text', the trained model can be run autoregressively — feed its own output back 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19472"/>
            <a:ext cx="6675120" cy="7315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13232" y="5138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500176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Learns far more than grammar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248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To predict the next token well over trillions of tokens, the model is forced to absorb facts, reasoning patterns, style and code.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3273552"/>
            <a:ext cx="4251960" cy="219456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62672" y="34564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02C39A"/>
                </a:solidFill>
                <a:latin typeface="Calibri"/>
              </a:rPr>
              <a:t>THE OBJECTIVE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376732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maximise  Σ  log P(xᵢ | x₁ … xᵢ₋₁)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4370832"/>
            <a:ext cx="37490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In plain words: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"Given everything so far, make the token that actually came next as likely as possible."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5138928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GPT · LLaMA · Mistral · Gemma · Qwen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Every model in the lab today is a causal LM. Instruction tuning and RLHF do not change this objective — they only change the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Masked Language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Predict the blanks — the objective behind encoders like BERT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17904"/>
            <a:ext cx="5806440" cy="129844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8FA3C8"/>
                </a:solidFill>
                <a:latin typeface="Calibri"/>
              </a:rPr>
              <a:t>MASK ~15% OF TOKENS AT RANDOM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75104"/>
            <a:ext cx="804672" cy="420624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975104"/>
            <a:ext cx="8046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The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3352" y="1975104"/>
            <a:ext cx="804672" cy="420624"/>
          </a:xfrm>
          <a:prstGeom prst="roundRect">
            <a:avLst>
              <a:gd name="adj" fmla="val 6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73352" y="1975104"/>
            <a:ext cx="8046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[MASK]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4" y="1975104"/>
            <a:ext cx="804672" cy="420624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69464" y="1975104"/>
            <a:ext cx="8046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sat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975104"/>
            <a:ext cx="804672" cy="420624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65576" y="1975104"/>
            <a:ext cx="8046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975104"/>
            <a:ext cx="804672" cy="420624"/>
          </a:xfrm>
          <a:prstGeom prst="roundRect">
            <a:avLst>
              <a:gd name="adj" fmla="val 6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61688" y="1975104"/>
            <a:ext cx="8046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[MASK]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1975104"/>
            <a:ext cx="804672" cy="420624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57800" y="1975104"/>
            <a:ext cx="8046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4871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The model sees the whole sentence — left AND right — when filling each blank.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517904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12280" y="16642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F2B33D"/>
                </a:solidFill>
                <a:latin typeface="Calibri"/>
              </a:rPr>
              <a:t>THE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93852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maximise  Σ  log P(xᵢ | x∖masked)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591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Loss only on the masked positions — roughly 15% of tokens, so it is less sample-efficient per pass.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4436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original figure from the BERT paper — one pre-trained model, then fine-tuned per task</a:t>
            </a:r>
          </a:p>
        </p:txBody>
      </p:sp>
      <p:pic>
        <p:nvPicPr>
          <p:cNvPr id="27" name="Picture 26" descr="f_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098" y="3291840"/>
            <a:ext cx="5631323" cy="23317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574243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FA3C8"/>
                </a:solidFill>
                <a:latin typeface="Calibri"/>
              </a:rPr>
              <a:t>Devlin et al., 2019 — BERT, Figure 1 (arXiv:1810.04805). Left: pre-training with Masked LM + Next Sentence Prediction. Right: the same weights fine-tuned for MNLI, NER and SQuAD.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Causal vs Masked — Choosing the Right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They are not competing versions of the same thing; they solve different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1155680" cy="42062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72768"/>
            <a:ext cx="2606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1572768"/>
            <a:ext cx="3886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CAUSAL LM  (decoder)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1572768"/>
            <a:ext cx="3886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MASKED LM  (encoder)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11155680" cy="457200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088" y="19933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933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Left context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9933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Both directions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4505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Trained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4505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Continue the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4505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Fill in the blanks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07792"/>
            <a:ext cx="11155680" cy="457200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4088" y="29077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Loss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9077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Every token (100%)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29077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Masked tokens (~15%)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36499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Natural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33649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Free-form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33649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 rich representation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22191"/>
            <a:ext cx="11155680" cy="621792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4088" y="3822191"/>
            <a:ext cx="26517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Good 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3822191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Chat, code, summarisation,  reasoning, anything generative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822191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Classification, NER, retrieval,  sentence embeddings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43983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Cannot easily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443983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Be a strong bidirectional encoder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4443983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Generate fluent long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01183"/>
            <a:ext cx="11155680" cy="457200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04088" y="4901183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Examples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4901183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GPT · LLaMA · Mistral · Gemma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8" y="4901183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BERT · RoBERTa · DeBERTa · E5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Everything else today — instruction tuning, RLHF, LoRA, QLoRA — is applied to causal models, because that is what we want to talk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A Base Model Is Not an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Pre-training gives you knowledge. It does not give you obedience.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96167"/>
                </a:solidFill>
                <a:latin typeface="Calibri"/>
              </a:rPr>
              <a:t>BASE MODEL  ·  after pre-training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3230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"List three uses of solar power."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Likely continuation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CADCFC"/>
                </a:solidFill>
                <a:latin typeface="Courier New"/>
              </a:rPr>
              <a:t>"List three uses of wind power.
List three uses of geothermal power.
List three disadvantages of…"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6167"/>
                </a:solidFill>
                <a:latin typeface="Calibri"/>
              </a:rPr>
              <a:t>It continued the pattern. It never answered.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60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02C39A"/>
                </a:solidFill>
                <a:latin typeface="Calibri"/>
              </a:rPr>
              <a:t>INSTRUCT MODEL  ·  after SFT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76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Same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3230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ourier New"/>
              </a:rPr>
              <a:t>"List three uses of solar power."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529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4506B"/>
                </a:solidFill>
                <a:latin typeface="Courier New"/>
              </a:rPr>
              <a:t>"1. Generating electricity via PV panels
2. Heating water for domestic use
3. Powering off-grid equipment"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23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Calibri"/>
              </a:rPr>
              <a:t>Same knowledge — now in the right shape.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Why this happens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10912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5010912"/>
            <a:ext cx="45720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0235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The training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58384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The internet is full of documents that list, continue and repeat. It is not full of polite, complete answers to direct commands.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010912"/>
            <a:ext cx="5532120" cy="8229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5010912"/>
            <a:ext cx="45720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0235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The 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58384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'Predict the next token' rewards plausibility, not helpfulness. Nothing in pre-training ever told the model that answering is preferred.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Instruction Tuning (SFT)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Supervised fine-tuning on demonstrations of the behaviour you want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760720" cy="274320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02C39A"/>
                </a:solidFill>
                <a:latin typeface="Calibri"/>
              </a:rPr>
              <a:t>ONE TRAINING RECORD  ·  databricks-dolly-15k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B33D"/>
                </a:solidFill>
                <a:latin typeface="Courier New"/>
              </a:rPr>
              <a:t>instruction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ADCFC"/>
                </a:solidFill>
                <a:latin typeface="Courier New"/>
              </a:rPr>
              <a:t>"When did Virgin Australia start operating?"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7CB1"/>
                </a:solidFill>
                <a:latin typeface="Courier New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ADCFC"/>
                </a:solidFill>
                <a:latin typeface="Courier New"/>
              </a:rPr>
              <a:t>"Virgin Australia … commenced services on 31 August 2000 …"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ourier New"/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826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ADCFC"/>
                </a:solidFill>
                <a:latin typeface="Courier New"/>
              </a:rPr>
              <a:t>"Virgin Australia commenced services on 31 August 2000"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FA3C8"/>
                </a:solidFill>
                <a:latin typeface="Courier New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ADCFC"/>
                </a:solidFill>
                <a:latin typeface="Courier New"/>
              </a:rPr>
              <a:t>"closed_qa"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15,011 records, hand-written by Databricks employees.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572768"/>
            <a:ext cx="5212080" cy="27432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0840" y="175564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8FA3C8"/>
                </a:solidFill>
                <a:latin typeface="Calibri"/>
              </a:rPr>
              <a:t>WHAT THE MODEL ACTUALLY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1031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urier New"/>
              </a:rPr>
              <a:t>&lt;|user|&gt;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4048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ourier New"/>
              </a:rPr>
              <a:t>When did Virgin Australia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70662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ourier New"/>
              </a:rPr>
              <a:t>operating?&lt;/s&gt;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083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ourier New"/>
              </a:rPr>
              <a:t>&lt;|assistant|&gt;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3101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  <a:latin typeface="Courier New"/>
              </a:rPr>
              <a:t>Virgin Australia commenced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118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  <a:latin typeface="Courier New"/>
              </a:rPr>
              <a:t>services on 31 August 2000&lt;/s&gt;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950208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E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20840" y="395020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18F72"/>
                </a:solidFill>
                <a:latin typeface="Calibri"/>
              </a:rPr>
              <a:t>loss is computed on the green tokens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26280"/>
            <a:ext cx="5532120" cy="80467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2920" y="4526280"/>
            <a:ext cx="45720" cy="80467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Same objective, new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7375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Still next-token prediction. Nothing about the maths changed — only what we feed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526280"/>
            <a:ext cx="5532120" cy="80467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63640" y="4526280"/>
            <a:ext cx="45720" cy="80467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617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Masking the prompt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7375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We zero the loss on the instruction so the model learns to answer, not to reproduce questions.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0680"/>
            <a:ext cx="5532120" cy="80467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02920" y="5440680"/>
            <a:ext cx="45720" cy="80467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32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Quality ≫ quantity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8815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QLoRA's authors found a curated 9K-sample set beat a 450K-sample one. Curate, don't scrape.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440680"/>
            <a:ext cx="5532120" cy="80467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63640" y="5440680"/>
            <a:ext cx="45720" cy="804672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532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This is what you'll run today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78815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The lab is exactly this — Dolly-15k, chat template, prompt masked, on TinyLlama.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Why Go Beyond SFT?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Some things are easy to judge and very hard to demonstrate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5760720" cy="89611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45720" cy="89611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SFT teaches the model to imitate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It copies the average of your demonstrations. If your labellers write mediocre answers, you get a mediocre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33472"/>
            <a:ext cx="5760720" cy="89611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45720" cy="89611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Writing a perfect answer is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3580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Ask a labeller to write the ideal response to 'explain quantum tunnelling to a child'. Slow, expensive, inconsistent.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39312"/>
            <a:ext cx="5760720" cy="89611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639312"/>
            <a:ext cx="45720" cy="89611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Comparing two answers is easy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41648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Show the same labeller two responses and ask 'which is better?'. Fast, cheap, far more consistent between people.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627632"/>
            <a:ext cx="5166360" cy="3017520"/>
          </a:xfrm>
          <a:prstGeom prst="roundRect">
            <a:avLst>
              <a:gd name="adj" fmla="val 6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66560" y="182880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The key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24028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2340"/>
                </a:solidFill>
                <a:latin typeface="Calibri"/>
              </a:rPr>
              <a:t>Humans are much better critics than authors.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RLHF turns that asymmetry into a training signal.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46120"/>
            <a:ext cx="4663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It also unlocks things SFT cannot express: 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• be honest about uncertainty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• refuse harmful requests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• stay concise unless asked otherwise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Alignment is where 'a model that knows things' becomes 'a model you would actually ship to users'.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RLHF — The Three-Step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Reinforcement Learning from Human Feedback, as introduced by InstructGPT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" name="Picture 6" descr="f_rlh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51" y="1517904"/>
            <a:ext cx="7011337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687568"/>
            <a:ext cx="7086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FA3C8"/>
                </a:solidFill>
                <a:latin typeface="Calibri"/>
              </a:rPr>
              <a:t>Ouyang et al., 2022 — InstructGPT, Figure 2 (arXiv:2203.02155). Blue arrows mark data used to train a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00200"/>
            <a:ext cx="3794760" cy="12801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863840" y="1600200"/>
            <a:ext cx="3794760" cy="457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8196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3794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2199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Collect human demonstrations and fine-tune with supervised learning. This is exactly the instruction tuning we just covered.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017520"/>
            <a:ext cx="3794760" cy="12801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863840" y="3017520"/>
            <a:ext cx="3794760" cy="457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323697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25526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Reward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63931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Sample several outputs per prompt, have labellers rank them, then train a model that scores any response with a single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434840"/>
            <a:ext cx="3794760" cy="12801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863840" y="4434840"/>
            <a:ext cx="379476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46542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6725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PPO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056631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Generate → score with the reward model → update the policy. A KL penalty keeps it from drifting away from the SFT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DPO — Skipping the Reward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Direct Preference Optimization: the same goal, without reinforcement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" name="Picture 6" descr="f_d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9" y="1536192"/>
            <a:ext cx="1028700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FA3C8"/>
                </a:solidFill>
                <a:latin typeface="Calibri"/>
              </a:rPr>
              <a:t>Rafailov et al., 2023 — DPO, Figure 1 (arXiv:2305.18290). Left: classic RLHF. Right: DPO collapses the loop into one supervised-style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24528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02920" y="4224528"/>
            <a:ext cx="553212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3708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RLHF / PPO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73168"/>
            <a:ext cx="64008" cy="640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000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Trains a separate reward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56631"/>
            <a:ext cx="64008" cy="640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83479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Samples from the policy during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340096"/>
            <a:ext cx="64008" cy="640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6694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Three models in memory at once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623559"/>
            <a:ext cx="64008" cy="640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550407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Sensitive to hyperparameters, can be unstable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07024"/>
            <a:ext cx="64008" cy="640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83387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Still used at the frontier labs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24528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4224528"/>
            <a:ext cx="5532120" cy="457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3708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DPO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59" y="4773168"/>
            <a:ext cx="64008" cy="640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7000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No reward model at 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59" y="5056631"/>
            <a:ext cx="64008" cy="640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983479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No sampling — the dataset is fixed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59" y="5340096"/>
            <a:ext cx="64008" cy="640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26694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Two models (policy + frozen reference)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59" y="5623559"/>
            <a:ext cx="64008" cy="640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550407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A simple classification-style loss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59" y="5907024"/>
            <a:ext cx="64008" cy="640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583387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506B"/>
                </a:solidFill>
                <a:latin typeface="Calibri"/>
              </a:rPr>
              <a:t>The default for open-source alignment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Part 1 Recap — The Full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Four stages, four kinds of data, four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43891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0020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60020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60020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8" y="1600200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50">
                <a:solidFill>
                  <a:srgbClr val="FFFFFF"/>
                </a:solidFill>
                <a:latin typeface="Calibri"/>
              </a:rPr>
              <a:t>WHAT YOU 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39112"/>
            <a:ext cx="11155680" cy="896112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2039112"/>
            <a:ext cx="45720" cy="89611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039112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Pre-training  (Causal 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039112"/>
            <a:ext cx="27889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Trillions of raw web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039112"/>
            <a:ext cx="2697479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Predict the next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039112"/>
            <a:ext cx="23317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 base model that knows a 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90088"/>
            <a:ext cx="11155680" cy="896112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2920" y="2990088"/>
            <a:ext cx="45720" cy="896112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990088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Pre-training  (Masked 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2990088"/>
            <a:ext cx="27889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Same corpora, tokens masked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990088"/>
            <a:ext cx="2697479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Predict masked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990088"/>
            <a:ext cx="23317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An encoder for understanding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41064"/>
            <a:ext cx="11155680" cy="896112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02920" y="3941064"/>
            <a:ext cx="45720" cy="89611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941064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Instruction tuning  (SFT)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941064"/>
            <a:ext cx="27889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Instruction → response pairs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941064"/>
            <a:ext cx="2697479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Next token, loss on the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3941064"/>
            <a:ext cx="23317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 model that follows 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92040"/>
            <a:ext cx="11155680" cy="896112"/>
          </a:xfrm>
          <a:prstGeom prst="roundRect">
            <a:avLst>
              <a:gd name="adj" fmla="val 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02920" y="4892040"/>
            <a:ext cx="45720" cy="89611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892040"/>
            <a:ext cx="20574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Alignment  (RLHF / DPO)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4892040"/>
            <a:ext cx="27889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Human preference comparisons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892040"/>
            <a:ext cx="2697479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Maximise preference, stay near SFT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4892040"/>
            <a:ext cx="233172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 model people prefer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Stages 3 and 4 are where you come in — and where the cost problem starts. That is Part 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66960" y="1280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182880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41280" y="22860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347472" cy="347472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66928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400">
                <a:solidFill>
                  <a:srgbClr val="02C39A"/>
                </a:solidFill>
                <a:latin typeface="Calibri"/>
              </a:rPr>
              <a:t>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mbria"/>
              </a:rPr>
              <a:t>Efficient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84448"/>
            <a:ext cx="1463040" cy="320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58768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Everything so far assumed you can afford to update every weight in the model.
For a 7B model on a consumer GPU, you cannot. Here is how we get around that.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Why Full Fine-Tuning Breaks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The memory bill for updating every parameter of a 7B model in mixed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mbria"/>
              </a:rPr>
              <a:t>Memory breakdown · 7B 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29968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2029968"/>
            <a:ext cx="45720" cy="475488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2996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fp16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29968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E7CB1"/>
                </a:solidFill>
                <a:latin typeface="Calibri"/>
              </a:rPr>
              <a:t>14 GB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96896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920" y="2596896"/>
            <a:ext cx="45720" cy="475488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596896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Gradients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96896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fp16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96896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E7CB1"/>
                </a:solidFill>
                <a:latin typeface="Calibri"/>
              </a:rPr>
              <a:t>14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63824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2920" y="3163824"/>
            <a:ext cx="45720" cy="47548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Adam state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1638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fp32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1638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96167"/>
                </a:solidFill>
                <a:latin typeface="Calibri"/>
              </a:rPr>
              <a:t>28 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30752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2920" y="3730752"/>
            <a:ext cx="45720" cy="47548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730752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Adam state 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3075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fp32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730752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96167"/>
                </a:solidFill>
                <a:latin typeface="Calibri"/>
              </a:rPr>
              <a:t>28 GB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9768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2920" y="4297680"/>
            <a:ext cx="45720" cy="475488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29768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Activations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8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varies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297680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2B33D"/>
                </a:solidFill>
                <a:latin typeface="Calibri"/>
              </a:rPr>
              <a:t>5–20 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64608"/>
            <a:ext cx="5760720" cy="566928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4672" y="486460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864608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02C39A"/>
                </a:solidFill>
                <a:latin typeface="Calibri"/>
              </a:rPr>
              <a:t>≈ 90–110 GB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160020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12280" y="181051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mbria"/>
              </a:rPr>
              <a:t>What that actually means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2295144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04304" y="221284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A free Colab T4 has 16 GB. An A100 has 80 GB.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2642615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4304" y="25603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So a 7B full fine-tune needs multiple datacentre GPUs.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2990087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04304" y="2907791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Every task you fine-tune for produces another full 14 GB checkpoint.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333756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325526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Ten tasks = 140 GB of near-identical weights to store and serve.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38862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E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812280" y="40782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mbria"/>
              </a:rPr>
              <a:t>The observation that saves 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462272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1B2340"/>
                </a:solidFill>
                <a:latin typeface="Calibri"/>
              </a:rPr>
              <a:t>Fine-tuning barely moves the weights.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The update ΔW needed to specialise a pre-trained model has very low intrinsic rank — it lives in a tiny subspace.</a:t>
            </a:r>
          </a:p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018F72"/>
                </a:solidFill>
                <a:latin typeface="Calibri"/>
              </a:rPr>
              <a:t>So why store and train it as a full d×d matrix?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LoRA — Low-Rank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Freeze the pre-trained weights; learn a small low-rank update beside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" name="Picture 6" descr="f_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54" y="1645920"/>
            <a:ext cx="3433690" cy="3154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91947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FA3C8"/>
                </a:solidFill>
                <a:latin typeface="Calibri"/>
              </a:rPr>
              <a:t>Hu et al., 2021 — LoRA, Figure 1 (arXiv:2106.09685).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27632"/>
            <a:ext cx="6949440" cy="123444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83480" y="1792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02C39A"/>
                </a:solidFill>
                <a:latin typeface="Calibri"/>
              </a:rPr>
              <a:t>THE WHOLE IDEA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84831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ourier New"/>
              </a:rPr>
              <a:t>h  =  W₀x  +  ΔWx   →   h  =  W₀x  +  BAx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23744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ourier New"/>
              </a:rPr>
              <a:t>W₀ frozen (blue)  ·  A, B trained (orange)  ·  A is r×d,  B is d×r,  with r ≪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999232"/>
            <a:ext cx="6949440" cy="685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709160" y="2999232"/>
            <a:ext cx="45720" cy="6858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072384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Why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319272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The adaptation ΔW is intrinsically low-rank, so BA with r as small as 8 captures nearly all of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776472"/>
            <a:ext cx="6949440" cy="685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09160" y="3776472"/>
            <a:ext cx="45720" cy="6858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849624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 starts at 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4096511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At step 0, BA = 0, so the model is exactly the pre-trained one. Training starts from a safe place.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553712"/>
            <a:ext cx="6949440" cy="685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709160" y="4553712"/>
            <a:ext cx="45720" cy="68580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4626864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10,000× fewer trainable params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4873751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LoRA on GPT-3 175B trains ~0.01% of the weights and cuts optimiser memory ~3×.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5330952"/>
            <a:ext cx="6949440" cy="685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709160" y="5330952"/>
            <a:ext cx="457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5404104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Zero inference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650992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After training you can fold BA into W₀. The deployed model is the same shape and speed as the original.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LoRA in Practice — The Four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These are the only hyperparameters you will actually touch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45720" cy="960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2821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295144"/>
            <a:ext cx="1371600" cy="201168"/>
          </a:xfrm>
          <a:prstGeom prst="roundRect">
            <a:avLst>
              <a:gd name="adj" fmla="val 25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2" y="22951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06B"/>
                </a:solidFill>
                <a:latin typeface="Calibri"/>
              </a:rPr>
              <a:t>8 – 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600200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How much capacity the adapter has. Higher r = more expressive, more memory. 8–16 is plenty for style and format; 32–64 for teaching genuinely new skills.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9191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2679191"/>
            <a:ext cx="45720" cy="9601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0720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lora_alpha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3639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B33D"/>
                </a:solidFill>
                <a:latin typeface="Calibri"/>
              </a:rPr>
              <a:t>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374135"/>
            <a:ext cx="1371600" cy="201168"/>
          </a:xfrm>
          <a:prstGeom prst="roundRect">
            <a:avLst>
              <a:gd name="adj" fmla="val 25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672" y="3374135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06B"/>
                </a:solidFill>
                <a:latin typeface="Calibri"/>
              </a:rPr>
              <a:t>16 –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679191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The update is scaled by alpha / r. A common default is alpha = 2r. Raising alpha makes the adapter's influence stronger.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58183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3758183"/>
            <a:ext cx="45720" cy="96012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88619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lora_dropout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215383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E7CB1"/>
                </a:solidFill>
                <a:latin typeface="Calibri"/>
              </a:rPr>
              <a:t>regularisation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4453127"/>
            <a:ext cx="1371600" cy="201168"/>
          </a:xfrm>
          <a:prstGeom prst="roundRect">
            <a:avLst>
              <a:gd name="adj" fmla="val 25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4672" y="4453127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06B"/>
                </a:solidFill>
                <a:latin typeface="Calibri"/>
              </a:rPr>
              <a:t>0.0 – 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758183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Dropout applied to the adapter input. Use 0.05–0.1 on small datasets to avoid memorising; 0 on large ones.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37176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2920" y="4837176"/>
            <a:ext cx="4572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9651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target_modules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2943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placement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5532120"/>
            <a:ext cx="1371600" cy="201168"/>
          </a:xfrm>
          <a:prstGeom prst="roundRect">
            <a:avLst>
              <a:gd name="adj" fmla="val 25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4672" y="55321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06B"/>
                </a:solidFill>
                <a:latin typeface="Calibri"/>
              </a:rPr>
              <a:t>q,k,v,o + MLP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837176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Which layers get adapters. The original paper used attention only; QLoRA showed adapting every linear layer closes the gap to full fine-tuning.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Rule of thumb: start at r=16, alpha=32, dropout=0.05, all linear layers — then only change r if the model underfits.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A Quick Detour —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Storing the same weight in fewer bits, so the frozen model gets smaller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mbria"/>
              </a:rPr>
              <a:t>The same 7B model, four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993392"/>
            <a:ext cx="45720" cy="822960"/>
          </a:xfrm>
          <a:prstGeom prst="rect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FP32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93392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8FA3C8"/>
                </a:solidFill>
                <a:latin typeface="Calibri"/>
              </a:rPr>
              <a:t>32 bits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04288"/>
            <a:ext cx="2926080" cy="201168"/>
          </a:xfrm>
          <a:prstGeom prst="rect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99339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8FA3C8"/>
                </a:solidFill>
                <a:latin typeface="Calibri"/>
              </a:rPr>
              <a:t>28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99339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Full precision. What you train in, classically.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45720" cy="82296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FP16 / BF16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9260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8FA3C8"/>
                </a:solidFill>
                <a:latin typeface="Calibri"/>
              </a:rPr>
              <a:t>16 bits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236976"/>
            <a:ext cx="1463040" cy="201168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9260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E7CB1"/>
                </a:solidFill>
                <a:latin typeface="Calibri"/>
              </a:rPr>
              <a:t>14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2608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The standard for inference and mixed-precision training. Essentially lossless.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58768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3858768"/>
            <a:ext cx="45720" cy="82296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58768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INT8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85876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8FA3C8"/>
                </a:solidFill>
                <a:latin typeface="Calibri"/>
              </a:rPr>
              <a:t>8 bits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169664"/>
            <a:ext cx="731520" cy="201168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85876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2B33D"/>
                </a:solidFill>
                <a:latin typeface="Calibri"/>
              </a:rPr>
              <a:t>7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85876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Integer quantization. Small quality cost; breaks down during training.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91456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02920" y="4791456"/>
            <a:ext cx="45720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91456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urier New"/>
              </a:rPr>
              <a:t>NF4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791456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8FA3C8"/>
                </a:solidFill>
                <a:latin typeface="Calibri"/>
              </a:rPr>
              <a:t>4 bits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102352"/>
            <a:ext cx="365760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791456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Calibri"/>
              </a:rPr>
              <a:t>3.5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791456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QLoRA's 4-bit NormalFloat. Information-theoretically optimal for normally-distributed weights.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Key point: quantization alone only helps inference — gradients through naively quantized weights are unstable. QLoRA is what makes it work for training.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QLoRA — LoRA on a 4-bit Frozen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Quantize the base model to 4-bit, keep the adapters in 16-bit, train only the adapters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" name="Picture 6" descr="f_q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722" y="1554480"/>
            <a:ext cx="9630075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FA3C8"/>
                </a:solidFill>
                <a:latin typeface="Calibri"/>
              </a:rPr>
              <a:t>Dettmers et al., 2023 — QLoRA, Figure 1 (arXiv:2305.14314). Blue = parameter updates, green = gradient flow, pink = paging to CPU. Note that gradients flow straight through the frozen 4-bit transformer into the 16-bit adapters — the base model is never updated.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The Three Things QLoRA Added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Quantizing a model for inference is easy; making it trainable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457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81051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4-bit NormalFloat (NF4)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163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F96167"/>
                </a:solidFill>
                <a:latin typeface="Calibr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72384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Standard 4-bit integer quantization wastes bins, because neural network weights are not uniformly distributed — they are close to a zero-centred normal.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1879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02C39A"/>
                </a:solidFill>
                <a:latin typeface="Calibri"/>
              </a:rPr>
              <a:t>THE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44398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Build the quantization bins from the quantiles of a normal distribution, so each bin holds an equal expected number of weights. Information-theoretically optimal for this data, and it beats INT4 and FP4 empirically.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0020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43400" y="1600200"/>
            <a:ext cx="3611880" cy="457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2" y="181051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23113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Double Quantization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8163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F96167"/>
                </a:solidFill>
                <a:latin typeface="Calibri"/>
              </a:rP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072384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Block-wise quantization needs one 32-bit scaling constant per block of 64 weights. Those constants are themselves a real memory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41879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02C39A"/>
                </a:solidFill>
                <a:latin typeface="Calibri"/>
              </a:rPr>
              <a:t>THE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44398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Quantize the quantization constants too. Saves about 0.37 bits per parameter — roughly 3 GB on a 65B model, for free.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60020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83880" y="1600200"/>
            <a:ext cx="36118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39912" y="181051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223113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Paged Optimizers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28163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F96167"/>
                </a:solidFill>
                <a:latin typeface="Calibri"/>
              </a:rPr>
              <a:t>THE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072384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Gradient checkpointing produces sharp memory spikes when a batch contains a long sequence. One spike and the whole run dies with an OOM.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41879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02C39A"/>
                </a:solidFill>
                <a:latin typeface="Calibri"/>
              </a:rPr>
              <a:t>THE 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444398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Use NVIDIA unified memory to page optimizer state out to CPU RAM during a spike and bring it back after — the same idea as OS virtual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Result: a 65B model fine-tuned on ONE 48 GB GPU, matching 16-bit full fine-tuning quality. A 1–7B model now fits comfortably on a free Colab T4.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What QLoRA Bought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The numbers that made fine-tuning a hobbyist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457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FA3C8"/>
                </a:solidFill>
                <a:latin typeface="Cambria"/>
              </a:rPr>
              <a:t>780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202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4506B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202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mbria"/>
              </a:rPr>
              <a:t>&lt; 48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Memory to fine-tune a 65B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611880" cy="457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20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FA3C8"/>
                </a:solidFill>
                <a:latin typeface="Cambria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9202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4506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2B33D"/>
                </a:solidFill>
                <a:latin typeface="Cambria"/>
              </a:rPr>
              <a:t>~0.2%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4203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Share of parameters actually trained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6002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83880" y="1600200"/>
            <a:ext cx="3611880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FA3C8"/>
                </a:solidFill>
                <a:latin typeface="Cambria"/>
              </a:rPr>
              <a:t>14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19202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4506B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9202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6167"/>
                </a:solidFill>
                <a:latin typeface="Cambria"/>
              </a:rPr>
              <a:t>~30 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54203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44506B"/>
                </a:solidFill>
                <a:latin typeface="Calibri"/>
              </a:rPr>
              <a:t>Size of what you ship per 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93008"/>
            <a:ext cx="5760720" cy="23317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3675887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mbria"/>
              </a:rPr>
              <a:t>Guanaco — the model they trained with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78224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Guanaco 65B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07822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41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782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02C39A"/>
                </a:solidFill>
                <a:latin typeface="Calibri"/>
              </a:rPr>
              <a:t>1022 Elo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7083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Guanaco 33B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7083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21 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3708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02C39A"/>
                </a:solidFill>
                <a:latin typeface="Calibri"/>
              </a:rPr>
              <a:t>992 Elo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6344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alibri"/>
              </a:rPr>
              <a:t>Vicuna 13B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6634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26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6634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44506B"/>
                </a:solidFill>
                <a:latin typeface="Calibri"/>
              </a:rPr>
              <a:t>974 Elo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95604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alibri"/>
              </a:rPr>
              <a:t>ChatGPT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560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95604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 i="0">
                <a:solidFill>
                  <a:srgbClr val="44506B"/>
                </a:solidFill>
                <a:latin typeface="Calibri"/>
              </a:rPr>
              <a:t>966 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4865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Guanaco 13B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248656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FA3C8"/>
                </a:solidFill>
                <a:latin typeface="Calibri"/>
              </a:rPr>
              <a:t>10 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24865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02C39A"/>
                </a:solidFill>
                <a:latin typeface="Calibri"/>
              </a:rPr>
              <a:t>916 Elo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50468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FA3C8"/>
                </a:solidFill>
                <a:latin typeface="Calibri"/>
              </a:rPr>
              <a:t>QLoRA, Table 1 — Elo from GPT-4-judged pairwise matches on the Vicuna benchmark.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3493008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12280" y="3675887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mbria"/>
              </a:rPr>
              <a:t>The honest caveats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4169664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04304" y="409651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QLoRA is slower per step than plain LoRA — you pay compute to save memory (roughly 20–40% slower).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2280" y="4608576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04304" y="453542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4-bit quantization is not free; on very hard reasoning tasks a small gap to 16-bit can appear.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12280" y="5047488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04304" y="4974336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LoRA adapts, it does not teach. Injecting large amounts of genuinely new knowledge still favours full fine-tuning or RAG.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12280" y="5486400"/>
            <a:ext cx="68580" cy="685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04304" y="54132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Benchmarks like Vicuna Elo are noisy — the paper itself says 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PEFT — The Wider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Parameter-Efficient Fine-Tuning is the category; LoRA is just its most successful 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E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45720" cy="960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urier New"/>
              </a:rPr>
              <a:t>LoRA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0253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Low-rank matrices beside frozen weights.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5856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The default. Start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E8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45720" cy="960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099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urier New"/>
              </a:rPr>
              <a:t>QLoRA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0253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LoRA + a 4-bit quantized base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5856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When memory is the binding constraint.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79191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2679191"/>
            <a:ext cx="45720" cy="960120"/>
          </a:xfrm>
          <a:prstGeom prst="rect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788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urier New"/>
              </a:rPr>
              <a:t>Prefix / P-Tuning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081527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Learn virtual tokens prepended to the input.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33755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Rare now — weaker and fiddlier.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79191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679191"/>
            <a:ext cx="45720" cy="960120"/>
          </a:xfrm>
          <a:prstGeom prst="rect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788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urier New"/>
              </a:rPr>
              <a:t>Adapters (Houlsby)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81527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Small bottleneck layers inserted in the block.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33755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Adds inference latency; superseded.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58183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2920" y="3758183"/>
            <a:ext cx="45720" cy="960120"/>
          </a:xfrm>
          <a:prstGeom prst="rect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86791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urier New"/>
              </a:rPr>
              <a:t>IA³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1605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Learn per-channel rescaling vectors.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416551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Extremely few params; niche.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758183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63640" y="3758183"/>
            <a:ext cx="45720" cy="96012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86791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ourier New"/>
              </a:rPr>
              <a:t>DoRA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1605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506B"/>
                </a:solidFill>
                <a:latin typeface="Calibri"/>
              </a:rPr>
              <a:t>Decomposes into magnitude + direction.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416551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3C8"/>
                </a:solidFill>
                <a:latin typeface="Calibri"/>
              </a:rPr>
              <a:t>A modern LoRA refinement worth watching.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89204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60" y="50474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In code, all of these are one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4009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ourier New"/>
              </a:rPr>
              <a:t>pip install peft   ·   LoraConfig(r=16, lora_alpha=32, target_modules=[...])   ·   get_peft_model(model, config)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So — Which One Do You Actually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A practical decision guide for your own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45720" cy="71323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You want a different tone, format or persona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901952"/>
            <a:ext cx="384048" cy="164592"/>
          </a:xfrm>
          <a:prstGeom prst="rightArrow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27632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Prompting, or LoRA on a few hundred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627632"/>
            <a:ext cx="1508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02C39A"/>
                </a:solidFill>
                <a:latin typeface="Calibri"/>
              </a:rPr>
              <a:t>Cheapest thing that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32304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920" y="2432304"/>
            <a:ext cx="45720" cy="71323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32304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You need domain-specific facts the model lacks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2706624"/>
            <a:ext cx="384048" cy="164592"/>
          </a:xfrm>
          <a:prstGeom prst="rightArrow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432304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RAG first — fine-tuning is a poor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432304"/>
            <a:ext cx="1508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F2B33D"/>
                </a:solidFill>
                <a:latin typeface="Calibri"/>
              </a:rPr>
              <a:t>Fine-tuning teaches skills, not 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36976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2920" y="3236976"/>
            <a:ext cx="45720" cy="71323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36976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You need a specialised skill or output structure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3511296"/>
            <a:ext cx="384048" cy="164592"/>
          </a:xfrm>
          <a:prstGeom prst="rightArrow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236976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LoRA / QLoRA on 1K–50K curated examples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236976"/>
            <a:ext cx="1508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02C39A"/>
                </a:solidFill>
                <a:latin typeface="Calibri"/>
              </a:rPr>
              <a:t>This is the sweet spot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41648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02920" y="4041648"/>
            <a:ext cx="45720" cy="71323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41648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The model must behave safely under pressure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440680" y="4315968"/>
            <a:ext cx="384048" cy="164592"/>
          </a:xfrm>
          <a:prstGeom prst="rightArrow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041648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SFT, then DPO on preference pairs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041648"/>
            <a:ext cx="1508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F96167"/>
                </a:solidFill>
                <a:latin typeface="Calibri"/>
              </a:rPr>
              <a:t>Alignment, not adaptation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46320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02920" y="4846320"/>
            <a:ext cx="45720" cy="713232"/>
          </a:xfrm>
          <a:prstGeom prst="rect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46320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4506B"/>
                </a:solidFill>
                <a:latin typeface="Calibri"/>
              </a:rPr>
              <a:t>You are building a genuinely new base model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440680" y="5120640"/>
            <a:ext cx="384048" cy="164592"/>
          </a:xfrm>
          <a:prstGeom prst="rightArrow">
            <a:avLst/>
          </a:prstGeom>
          <a:solidFill>
            <a:srgbClr val="8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846320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Full pre-training — budget in millions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846320"/>
            <a:ext cx="1508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8FA3C8"/>
                </a:solidFill>
                <a:latin typeface="Calibri"/>
              </a:rPr>
              <a:t>Almost never the right call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02920" y="5806440"/>
            <a:ext cx="50292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Calibri"/>
              </a:rPr>
              <a:t>Ordered roughly by cost. Always try the row above before the row below.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Hands-On Lab — QLoRA Fine-Tune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Session_28_QLoRA_Finetuning_Practical.ipynb · runs on a free Colab T4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45720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Base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70078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ourier New"/>
              </a:rPr>
              <a:t>TinyLlama/TinyLlama-1.1B-Chat-v1.0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938528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3C8"/>
                </a:solidFill>
                <a:latin typeface="Calibri"/>
              </a:rPr>
              <a:t>1.1B params, Apache-2.0, no gated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2286000"/>
            <a:ext cx="45720" cy="5669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8600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5915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ourier New"/>
              </a:rPr>
              <a:t>databricks/databricks-dolly-15k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9689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3C8"/>
                </a:solidFill>
                <a:latin typeface="Calibri"/>
              </a:rPr>
              <a:t>15,011 human-written instruction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44368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2944368"/>
            <a:ext cx="45720" cy="566928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944368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01752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ourier New"/>
              </a:rPr>
              <a:t>QLoRA — NF4 + LoRA r=16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255263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3C8"/>
                </a:solidFill>
                <a:latin typeface="Calibri"/>
              </a:rPr>
              <a:t>~0.5% of parameters trained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02736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3602736"/>
            <a:ext cx="45720" cy="566928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602736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67588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ourier New"/>
              </a:rPr>
              <a:t>One 16 GB T4 (free tier)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91363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3C8"/>
                </a:solidFill>
                <a:latin typeface="Calibri"/>
              </a:rPr>
              <a:t>Peak usage well under the limit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61104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2920" y="4261104"/>
            <a:ext cx="45720" cy="5669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261104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334256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ourier New"/>
              </a:rPr>
              <a:t>~15–20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57200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3C8"/>
                </a:solidFill>
                <a:latin typeface="Calibri"/>
              </a:rPr>
              <a:t>On a 2,000-example subset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1627632"/>
            <a:ext cx="4297680" cy="3035808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35240" y="18105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02C39A"/>
                </a:solidFill>
                <a:latin typeface="Calibri"/>
              </a:rPr>
              <a:t>WHAT YOU WILL 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1579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215798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Load TinyLlama in 4-bit NF4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40487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2404872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Inspect the memory saved vs fp16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6517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265176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Format Dolly into a chat template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89864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289864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Mask the loss on the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4553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14553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Attach LoRA adapters with PEFT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39242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1" y="339242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Count trainable vs total params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63931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639312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Train with SFTTrainer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88620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1" y="388620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Compare base vs tuned outputs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4133087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413308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Save and reload a 30 MB adapter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37997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28431" y="43799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Calibri"/>
              </a:rPr>
              <a:t>Merge the adapter for deployment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956048"/>
            <a:ext cx="11155680" cy="896112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02920" y="4956048"/>
            <a:ext cx="45720" cy="89611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084064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Before we start — set the runtime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35838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4506B"/>
                </a:solidFill>
                <a:latin typeface="Calibri"/>
              </a:rPr>
              <a:t>Colab  →  Runtime  →  Change runtime type  →  Hardware accelerator: T4 GPU.   Everything else installs from the first cell.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4506B"/>
                </a:solidFill>
                <a:latin typeface="Calibri"/>
              </a:rPr>
              <a:t>The eight things worth remembering from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2883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0315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77472" y="3840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04088" y="17830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7099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Pre-training is self-supervised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03911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The text labels itself. That is the only reason scaling to trillions of tokens was ever 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64807" y="17830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17099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Causal vs Masked is about what you hide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203911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Hide the future → a generator. Hide the middle → an encoder. The objective determines the use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9748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04088" y="28803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280720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A base model is not an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13639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Instruction tuning does not add knowledge; it reshapes existing knowledge into answers.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9748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64807" y="288036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80720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RLHF exploits an asymmetry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4" y="313639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People judge better than they write. DPO gets the same result without a reward model or RL.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9476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04088" y="39776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" y="39044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Full fine-tuning is mostly optimiser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" y="423367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Weights are 14 GB of a ~100 GB bill. Attack the optimiser and you win.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464807" y="397764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9044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LoRA works because ΔW is low-rank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4" y="423367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Adaptation lives in a tiny subspace, so a rank-16 factorisation captures nearly all of 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9204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04088" y="5074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" y="50017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QLoRA quantizes what it freezes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" y="533095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4-bit base, 16-bit adapters. Gradients flow through the frozen quantized weights.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892040"/>
            <a:ext cx="5532120" cy="987552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464807" y="5074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7144" y="50017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Adapters are small and swappable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533095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One 14 GB base model plus many 30 MB adapters beats many 14 GB checkpoints.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92640" y="10972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164592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21945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54480" y="557784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594360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54680"/>
            <a:ext cx="1463040" cy="320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Then open the notebook and let's fine-tune something.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Phase 6 Milestone — a fine-tuned domain-specific LLM, with proper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