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82296" cy="233172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4241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A8DC"/>
                </a:solidFill>
                <a:latin typeface="Trebuchet MS"/>
              </a:rPr>
              <a:t>SESSION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Text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C9D8EC"/>
                </a:solidFill>
                <a:latin typeface="Calibri"/>
              </a:rPr>
              <a:t>Turning Words into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FB3D9"/>
                </a:solidFill>
                <a:latin typeface="Calibri"/>
              </a:rPr>
              <a:t>How text becomes features a machine-learning model can actually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FB3D9"/>
                </a:solidFill>
                <a:latin typeface="Calibri"/>
              </a:rPr>
              <a:t>One-Hot Encoding   ·   Bag of Words   ·   TF-IDF   ·   Feature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100584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252728"/>
            <a:ext cx="603504" cy="6035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234439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Why Text Must Become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1581912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Models do math, not words — the core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21991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21991"/>
            <a:ext cx="73152" cy="100584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423160"/>
            <a:ext cx="603504" cy="603504"/>
          </a:xfrm>
          <a:prstGeom prst="ellipse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6" y="24048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Feature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2752344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Turning a document into a vector of numbers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92424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92424"/>
            <a:ext cx="73152" cy="100584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93592"/>
            <a:ext cx="603504" cy="6035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57530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One-Hot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3922776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The simplest representation — one slot per 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051560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1051560"/>
            <a:ext cx="73152" cy="100584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37760" y="1252728"/>
            <a:ext cx="603504" cy="603504"/>
          </a:xfrm>
          <a:prstGeom prst="ellipse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125272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6" y="1234439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Bag of Words (BoW)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6" y="1581912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Counting words, ignoring 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221991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221991"/>
            <a:ext cx="73152" cy="100584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0" y="2423160"/>
            <a:ext cx="603504" cy="6035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4231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24048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TF-IDF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5856" y="2752344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Weighting words by how informative they 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392424"/>
            <a:ext cx="39776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3392424"/>
            <a:ext cx="73152" cy="100584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7760" y="3593592"/>
            <a:ext cx="603504" cy="603504"/>
          </a:xfrm>
          <a:prstGeom prst="ellipse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359359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5856" y="357530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Practical Coding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05856" y="3922776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Build all three with scikit-learn in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From Tokens to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Session 19 cleaned the text — Session 20 turns it into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9776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977639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Where we left off (Session 19)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1920240"/>
            <a:ext cx="91440" cy="91440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10512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Raw text  →  cleaned &amp; lowercased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2487168"/>
            <a:ext cx="91440" cy="91440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77440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Split into tokens  [the, cat, sat]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3054096"/>
            <a:ext cx="91440" cy="91440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44368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Stop words removed, lemmatized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621024"/>
            <a:ext cx="91440" cy="91440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11296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Result: a clean list of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188720"/>
            <a:ext cx="39776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1188720"/>
            <a:ext cx="3977639" cy="6400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1417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The problem that remains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 model cannot multiply </a:t>
            </a:r>
            <a:r>
              <a:rPr sz="1200" b="1">
                <a:solidFill>
                  <a:srgbClr val="0E7FAB"/>
                </a:solidFill>
                <a:latin typeface="Consolas"/>
              </a:rPr>
              <a:t>"cat"</a:t>
            </a:r>
            <a:r>
              <a:rPr sz="1200" b="0">
                <a:solidFill>
                  <a:srgbClr val="334155"/>
                </a:solidFill>
                <a:latin typeface="Calibri"/>
              </a:rPr>
              <a:t> by a weight. Machine-learning algorithms only work on </a:t>
            </a:r>
            <a:r>
              <a:rPr sz="1200" b="1">
                <a:solidFill>
                  <a:srgbClr val="0F2440"/>
                </a:solidFill>
                <a:latin typeface="Calibri"/>
              </a:rPr>
              <a:t>numbers</a:t>
            </a:r>
            <a:r>
              <a:rPr sz="12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2834640"/>
            <a:ext cx="3611880" cy="1417320"/>
          </a:xfrm>
          <a:prstGeom prst="rect">
            <a:avLst/>
          </a:prstGeom>
          <a:solidFill>
            <a:srgbClr val="EEF6FB"/>
          </a:solidFill>
          <a:ln w="9525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971800"/>
            <a:ext cx="3291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7FAB"/>
                </a:solidFill>
                <a:latin typeface="Calibri"/>
              </a:rPr>
              <a:t>Today's job: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convert tokens into a vector of numbers a model can learn from.</a:t>
            </a:r>
          </a:p>
        </p:txBody>
      </p:sp>
      <p:sp>
        <p:nvSpPr>
          <p:cNvPr id="23" name="Chevron 22"/>
          <p:cNvSpPr/>
          <p:nvPr/>
        </p:nvSpPr>
        <p:spPr>
          <a:xfrm>
            <a:off x="4370832" y="2606040"/>
            <a:ext cx="502920" cy="384048"/>
          </a:xfrm>
          <a:prstGeom prst="chevron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Why Computers Can't Read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Everything a model does is arithmetic — so text must become numbers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 image is already numbers (pixel values). Text is just symbols — meaningless to the math inside a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9776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977639" cy="64008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Images: already numeric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67712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 pixel is a value 0–255. A model can add, scale and compare them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71800"/>
            <a:ext cx="3566160" cy="914400"/>
          </a:xfrm>
          <a:prstGeom prst="rect">
            <a:avLst/>
          </a:prstGeom>
          <a:solidFill>
            <a:srgbClr val="F1F8F4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63240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9E6A"/>
                </a:solidFill>
                <a:latin typeface="Consolas"/>
              </a:rPr>
              <a:t>[ 12, 240, 87 ]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ready for math 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737360"/>
            <a:ext cx="39776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737360"/>
            <a:ext cx="3977639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920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Text: just symbols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267712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"cat" is three letters. There is no number to multiply, no order, no distance.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0328" y="2971800"/>
            <a:ext cx="3566160" cy="914400"/>
          </a:xfrm>
          <a:prstGeom prst="rect">
            <a:avLst/>
          </a:prstGeom>
          <a:solidFill>
            <a:srgbClr val="FBF1F1"/>
          </a:solidFill>
          <a:ln w="9525">
            <a:solidFill>
              <a:srgbClr val="C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3063240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4A4A"/>
                </a:solidFill>
                <a:latin typeface="Consolas"/>
              </a:rPr>
              <a:t>"cat"  →  ? ? ?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a model can't use this  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E7FAB"/>
                </a:solidFill>
                <a:latin typeface="Calibri"/>
              </a:rPr>
              <a:t>So we need a recipe to turn words into vectors of numbers. That recipe is called </a:t>
            </a:r>
            <a:r>
              <a:rPr sz="1200" b="1">
                <a:solidFill>
                  <a:srgbClr val="0E7FAB"/>
                </a:solidFill>
                <a:latin typeface="Calibri"/>
              </a:rPr>
              <a:t>feature extraction</a:t>
            </a:r>
            <a:r>
              <a:rPr sz="1200" b="0">
                <a:solidFill>
                  <a:srgbClr val="0E7FA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Feature Extraction: Text →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Each document becomes a row of numbers; each column is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We fix a </a:t>
            </a:r>
            <a:r>
              <a:rPr sz="1250" b="1">
                <a:solidFill>
                  <a:srgbClr val="0F2440"/>
                </a:solidFill>
                <a:latin typeface="Calibri"/>
              </a:rPr>
              <a:t>vocabulary</a:t>
            </a:r>
            <a:r>
              <a:rPr sz="1250" b="0">
                <a:solidFill>
                  <a:srgbClr val="334155"/>
                </a:solidFill>
                <a:latin typeface="Calibri"/>
              </a:rPr>
              <a:t> (all the words we care about). Every document is then described by numbers measured against that vocabulary.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23317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331720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alibri"/>
              </a:rPr>
              <a:t>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96596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"the cat sat on the mat"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2606040"/>
            <a:ext cx="502920" cy="384048"/>
          </a:xfrm>
          <a:prstGeom prst="chevron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874519"/>
            <a:ext cx="23317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874519"/>
            <a:ext cx="2331720" cy="6400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alibri"/>
              </a:rPr>
              <a:t>Vectorizer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542032"/>
            <a:ext cx="2057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count / weight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each vocab word</a:t>
            </a:r>
          </a:p>
        </p:txBody>
      </p:sp>
      <p:sp>
        <p:nvSpPr>
          <p:cNvPr id="17" name="Chevron 16"/>
          <p:cNvSpPr/>
          <p:nvPr/>
        </p:nvSpPr>
        <p:spPr>
          <a:xfrm>
            <a:off x="6062472" y="2606040"/>
            <a:ext cx="502920" cy="384048"/>
          </a:xfrm>
          <a:prstGeom prst="chevron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874519"/>
            <a:ext cx="19202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1874519"/>
            <a:ext cx="1920240" cy="6400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alibri"/>
              </a:rPr>
              <a:t>Feature 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1152" y="2423160"/>
            <a:ext cx="1591056" cy="1097280"/>
          </a:xfrm>
          <a:prstGeom prst="rect">
            <a:avLst/>
          </a:prstGeom>
          <a:solidFill>
            <a:srgbClr val="EEF6FB"/>
          </a:solidFill>
          <a:ln w="9525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542032"/>
            <a:ext cx="15910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[2, 1, 1,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 1, 0, ...]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Three classic ways to fill that vector: </a:t>
            </a:r>
            <a:r>
              <a:rPr sz="1200" b="1">
                <a:solidFill>
                  <a:srgbClr val="0E7FAB"/>
                </a:solidFill>
                <a:latin typeface="Calibri"/>
              </a:rPr>
              <a:t>One-Hot, Bag of Words, and TF-IDF</a:t>
            </a:r>
            <a:r>
              <a:rPr sz="1200" b="0">
                <a:solidFill>
                  <a:srgbClr val="334155"/>
                </a:solidFill>
                <a:latin typeface="Calibri"/>
              </a:rPr>
              <a:t> — from simplest to smartest.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One-Hot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One slot per vocabulary word — exactly one slot is 'hot'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Give every word in the vocabulary its own position. A word becomes all 0s with a single 1 at its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55063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55063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55063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655063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dog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55063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0756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"cat"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1965960"/>
            <a:ext cx="1161288" cy="374904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96596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6596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96596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96596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196596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59" y="196596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96596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96596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57860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"dog"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246888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246888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6888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46888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46888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246888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59" y="2468880"/>
            <a:ext cx="1161288" cy="374904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59" y="246888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46888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46888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308152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"mat"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297180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297180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297180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297180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2971800"/>
            <a:ext cx="1161288" cy="374904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97180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59" y="297180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59" y="297180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2971800"/>
            <a:ext cx="1161288" cy="374904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971800"/>
            <a:ext cx="11612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EEF6FB"/>
          </a:solidFill>
          <a:ln w="9525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133087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alibri"/>
              </a:rPr>
              <a:t>Vector length = vocabulary size.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 word is equally distant from every other — "cat" is no closer to "dog" than to "mat".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One-Hot: Simple but 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Easy to build — but it scales badly and carries no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06040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No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87168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"cat" and "dog" are both [1,0,0…] with a single 1 — unrelated vectors. The model learns no similarity between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123444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4" y="1234440"/>
            <a:ext cx="2606040" cy="64008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6432" y="1481328"/>
            <a:ext cx="457200" cy="457200"/>
          </a:xfrm>
          <a:prstGeom prst="ellipse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81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084831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Huge &amp; sparse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487168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Real vocabularies have 50,000+ words. Each vector is 50,000 long and almost all zeros — wasteful to store, slow to compute.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123444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53328" y="1234440"/>
            <a:ext cx="2606040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1481328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81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084831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440"/>
                </a:solidFill>
                <a:latin typeface="Calibri"/>
              </a:rPr>
              <a:t>No order / OOV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487168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 sentence is just a pile of these vectors. Word order is lost, and a brand-new word has no slot at all (out-of-vocabulary).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Fix for short documents: instead of one vector per word, make </a:t>
            </a:r>
            <a:r>
              <a:rPr sz="1200" b="1">
                <a:solidFill>
                  <a:srgbClr val="0E7FAB"/>
                </a:solidFill>
                <a:latin typeface="Calibri"/>
              </a:rPr>
              <a:t>one vector per document</a:t>
            </a:r>
            <a:r>
              <a:rPr sz="1200" b="0">
                <a:solidFill>
                  <a:srgbClr val="334155"/>
                </a:solidFill>
                <a:latin typeface="Calibri"/>
              </a:rPr>
              <a:t> — that's Bag of Words.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Bag of Words (BoW)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Describe a whole document by how often each vocabulary word 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Throw all the words into a "bag", forget the order, and just </a:t>
            </a:r>
            <a:r>
              <a:rPr sz="1250" b="1">
                <a:solidFill>
                  <a:srgbClr val="0F2440"/>
                </a:solidFill>
                <a:latin typeface="Calibri"/>
              </a:rPr>
              <a:t>count</a:t>
            </a:r>
            <a:r>
              <a:rPr sz="1250" b="0">
                <a:solidFill>
                  <a:srgbClr val="334155"/>
                </a:solidFill>
                <a:latin typeface="Calibri"/>
              </a:rPr>
              <a:t> each one. One row of counts per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Document:  </a:t>
            </a:r>
            <a:r>
              <a:rPr sz="1200" b="1">
                <a:solidFill>
                  <a:srgbClr val="0E7FAB"/>
                </a:solidFill>
                <a:latin typeface="Consolas"/>
              </a:rPr>
              <a:t>"the cat sat on the mat"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414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208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onsolas"/>
              </a:rPr>
              <a:t>the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331720"/>
            <a:ext cx="1024128" cy="502920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331720"/>
            <a:ext cx="10241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0208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onsolas"/>
              </a:rPr>
              <a:t>cat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39" y="2331720"/>
            <a:ext cx="1024128" cy="502920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39" y="2331720"/>
            <a:ext cx="10241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2440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208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onsolas"/>
              </a:rPr>
              <a:t>sat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331720"/>
            <a:ext cx="1024128" cy="502920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331720"/>
            <a:ext cx="10241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2440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0208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onsolas"/>
              </a:rPr>
              <a:t>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331720"/>
            <a:ext cx="1024128" cy="502920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331720"/>
            <a:ext cx="10241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2440"/>
                </a:solidFill>
                <a:latin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0208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onsolas"/>
              </a:rPr>
              <a:t>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331720"/>
            <a:ext cx="1024128" cy="502920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10241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2440"/>
                </a:solidFill>
                <a:latin typeface="Consola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EEF6FB"/>
          </a:solidFill>
          <a:ln w="9525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10128"/>
            <a:ext cx="7863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FAB"/>
                </a:solidFill>
                <a:latin typeface="Consolas"/>
              </a:rPr>
              <a:t>Feature vector  =  [2, 1, 1, 1, 1]</a:t>
            </a:r>
            <a:r>
              <a:rPr sz="1150" b="0">
                <a:solidFill>
                  <a:srgbClr val="334155"/>
                </a:solidFill>
                <a:latin typeface="Calibri"/>
              </a:rPr>
              <a:t>    a fixed-length, model-ready row of numbers.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E9E6A"/>
                </a:solidFill>
                <a:latin typeface="Calibri"/>
              </a:rPr>
              <a:t>✓ One vector per document     ✓ Captures word frequency     </a:t>
            </a:r>
            <a:r>
              <a:rPr sz="1150" b="1">
                <a:solidFill>
                  <a:srgbClr val="C04A4A"/>
                </a:solidFill>
                <a:latin typeface="Calibri"/>
              </a:rPr>
              <a:t>✗ Ignores order &amp; treats every word as equally important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BoW: The Document-Term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Many documents stacked into one table — rows = docs, columns =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4215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dog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5464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sat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38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"the cat sat"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82880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82880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182880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182880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96712" y="182880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82880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82880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4871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"the dog ran"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237744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37744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72968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5" y="237744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14215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237744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37744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37744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37744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0358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"cat and dog"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292608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2968" y="292608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4215" y="2926080"/>
            <a:ext cx="731520" cy="420623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14215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55464" y="292608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96712" y="292608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96712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2926080"/>
            <a:ext cx="731520" cy="420623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926080"/>
            <a:ext cx="731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onsolas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This table is exactly what </a:t>
            </a:r>
            <a:r>
              <a:rPr sz="1200" b="1">
                <a:solidFill>
                  <a:srgbClr val="0E7FAB"/>
                </a:solidFill>
                <a:latin typeface="Consolas"/>
              </a:rPr>
              <a:t>CountVectorizer</a:t>
            </a:r>
            <a:r>
              <a:rPr sz="1200" b="0">
                <a:solidFill>
                  <a:srgbClr val="334155"/>
                </a:solidFill>
                <a:latin typeface="Calibri"/>
              </a:rPr>
              <a:t> produces in scikit-learn — ready to feed a classifier.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BF7EE"/>
          </a:solidFill>
          <a:ln w="9525">
            <a:solidFill>
              <a:srgbClr val="B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178808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97A1E"/>
                </a:solidFill>
                <a:latin typeface="Calibri"/>
              </a:rPr>
              <a:t>Problem: </a:t>
            </a:r>
            <a:r>
              <a:rPr sz="1150" b="0">
                <a:solidFill>
                  <a:srgbClr val="334155"/>
                </a:solidFill>
                <a:latin typeface="Calibri"/>
              </a:rPr>
              <a:t>common words like "the" get the biggest counts but tell us almost nothing. TF-IDF fixes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TF-IDF: Weighting What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Rare, document-specific words are informative; common words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TF-IDF keeps the counts but </a:t>
            </a:r>
            <a:r>
              <a:rPr sz="1250" b="1">
                <a:solidFill>
                  <a:srgbClr val="0F2440"/>
                </a:solidFill>
                <a:latin typeface="Calibri"/>
              </a:rPr>
              <a:t>re-weights</a:t>
            </a:r>
            <a:r>
              <a:rPr sz="1250" b="0">
                <a:solidFill>
                  <a:srgbClr val="334155"/>
                </a:solidFill>
                <a:latin typeface="Calibri"/>
              </a:rPr>
              <a:t> them: a word scores high only if it appears often </a:t>
            </a:r>
            <a:r>
              <a:rPr sz="1250" b="1">
                <a:solidFill>
                  <a:srgbClr val="0E7FAB"/>
                </a:solidFill>
                <a:latin typeface="Calibri"/>
              </a:rPr>
              <a:t>in this document</a:t>
            </a:r>
            <a:r>
              <a:rPr sz="1250" b="0">
                <a:solidFill>
                  <a:srgbClr val="334155"/>
                </a:solidFill>
                <a:latin typeface="Calibri"/>
              </a:rPr>
              <a:t> but rarely </a:t>
            </a:r>
            <a:r>
              <a:rPr sz="1250" b="1">
                <a:solidFill>
                  <a:srgbClr val="0E7FAB"/>
                </a:solidFill>
                <a:latin typeface="Calibri"/>
              </a:rPr>
              <a:t>across all documents</a:t>
            </a:r>
            <a:r>
              <a:rPr sz="125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977639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977639" cy="6400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2440"/>
                </a:solidFill>
                <a:latin typeface="Calibri"/>
              </a:rPr>
              <a:t>TF — Term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How often a word appears in </a:t>
            </a:r>
            <a:r>
              <a:rPr sz="1150" b="1">
                <a:solidFill>
                  <a:srgbClr val="0F2440"/>
                </a:solidFill>
                <a:latin typeface="Calibri"/>
              </a:rPr>
              <a:t>this</a:t>
            </a:r>
            <a:r>
              <a:rPr sz="1150" b="0">
                <a:solidFill>
                  <a:srgbClr val="64748B"/>
                </a:solidFill>
                <a:latin typeface="Calibri"/>
              </a:rPr>
              <a:t> document.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More mentions → more relevant </a:t>
            </a:r>
            <a:r>
              <a:rPr sz="1150" b="1">
                <a:solidFill>
                  <a:srgbClr val="0F2440"/>
                </a:solidFill>
                <a:latin typeface="Calibri"/>
              </a:rPr>
              <a:t>here</a:t>
            </a:r>
            <a:r>
              <a:rPr sz="1150" b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965960"/>
            <a:ext cx="3977639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965960"/>
            <a:ext cx="3977639" cy="6400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21762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2440"/>
                </a:solidFill>
                <a:latin typeface="Calibri"/>
              </a:rPr>
              <a:t>IDF — Inverse Document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56032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How </a:t>
            </a:r>
            <a:r>
              <a:rPr sz="1150" b="1">
                <a:solidFill>
                  <a:srgbClr val="0F2440"/>
                </a:solidFill>
                <a:latin typeface="Calibri"/>
              </a:rPr>
              <a:t>rare</a:t>
            </a:r>
            <a:r>
              <a:rPr sz="1150" b="0">
                <a:solidFill>
                  <a:srgbClr val="64748B"/>
                </a:solidFill>
                <a:latin typeface="Calibri"/>
              </a:rPr>
              <a:t> the word is across the whole collection.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In every doc (like "the") → near-zero weight.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FAB"/>
                </a:solidFill>
                <a:latin typeface="Consolas"/>
              </a:rPr>
              <a:t>Score  =  TF  ×  IDF</a:t>
            </a:r>
            <a:r>
              <a:rPr sz="1150" b="0">
                <a:solidFill>
                  <a:srgbClr val="334155"/>
                </a:solidFill>
                <a:latin typeface="Calibri"/>
              </a:rPr>
              <a:t>     high only when frequent here AND rare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TF-IDF: The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Two simple pieces multiplied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977639" cy="1234440"/>
          </a:xfrm>
          <a:prstGeom prst="rect">
            <a:avLst/>
          </a:prstGeom>
          <a:solidFill>
            <a:srgbClr val="EEF6FB"/>
          </a:solidFill>
          <a:ln w="11430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alibri"/>
              </a:rPr>
              <a:t>Term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onsolas"/>
              </a:rPr>
              <a:t>tf(t,d) =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count of t in d / words in 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88720"/>
            <a:ext cx="3977639" cy="1234440"/>
          </a:xfrm>
          <a:prstGeom prst="rect">
            <a:avLst/>
          </a:prstGeom>
          <a:solidFill>
            <a:srgbClr val="EEF6FB"/>
          </a:solidFill>
          <a:ln w="1143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25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alibri"/>
              </a:rPr>
              <a:t>Inverse Document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64208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onsolas"/>
              </a:rPr>
              <a:t>idf(t) =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log( N / docs containing t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tfidf(t, d)  =  tf(t, d)  ×  idf(t)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440"/>
                </a:solidFill>
                <a:latin typeface="Calibri"/>
              </a:rPr>
              <a:t>Worked intuition  (N = 100 documents)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"the"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576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in all 100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657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idf = log(100/100)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4A4A"/>
                </a:solidFill>
                <a:latin typeface="Calibri"/>
              </a:rPr>
              <a:t>weight ≈ 0  — ignored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FAB"/>
                </a:solidFill>
                <a:latin typeface="Consolas"/>
              </a:rPr>
              <a:t>"neural"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in 5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14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idf = log(100/5) ≈ 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14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9E6A"/>
                </a:solidFill>
                <a:latin typeface="Calibri"/>
              </a:rPr>
              <a:t>weight stays high — kept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TF-IDF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Same three documents — notice how weights differ from raw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4215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dog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5464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sat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749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38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"the cat sat"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828800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828800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0.37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1828800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1828800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96712" y="1828800"/>
            <a:ext cx="731520" cy="402335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0.48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828800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828800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"the dog ran"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2359152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359152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72968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5" y="2359152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14215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0.37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2359152"/>
            <a:ext cx="731520" cy="402335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0.48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359152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359152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359152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9992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FAB"/>
                </a:solidFill>
                <a:latin typeface="Consolas"/>
              </a:rPr>
              <a:t>"cat and dog"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2889504"/>
            <a:ext cx="731520" cy="402335"/>
          </a:xfrm>
          <a:prstGeom prst="rect">
            <a:avLst/>
          </a:prstGeom>
          <a:solidFill>
            <a:srgbClr val="1FA8D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0.55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2968" y="2889504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4215" y="2889504"/>
            <a:ext cx="731520" cy="402335"/>
          </a:xfrm>
          <a:prstGeom prst="rect">
            <a:avLst/>
          </a:prstGeom>
          <a:solidFill>
            <a:srgbClr val="BFE3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14215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onsolas"/>
              </a:rPr>
              <a:t>0.32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55464" y="2889504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96712" y="2889504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96712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2889504"/>
            <a:ext cx="731520" cy="402335"/>
          </a:xfrm>
          <a:prstGeom prst="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889504"/>
            <a:ext cx="731520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Consolas"/>
              </a:rPr>
              <a:t>0.00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584448"/>
            <a:ext cx="8229600" cy="502920"/>
          </a:xfrm>
          <a:prstGeom prst="rect">
            <a:avLst/>
          </a:prstGeom>
          <a:solidFill>
            <a:srgbClr val="F1F8F4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3648456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E9E6A"/>
                </a:solidFill>
                <a:latin typeface="Consolas"/>
              </a:rPr>
              <a:t>"the" now scores 0</a:t>
            </a:r>
            <a:r>
              <a:rPr sz="1150" b="0">
                <a:solidFill>
                  <a:srgbClr val="334155"/>
                </a:solidFill>
                <a:latin typeface="Calibri"/>
              </a:rPr>
              <a:t> (it's in every doc), while distinctive words like </a:t>
            </a:r>
            <a:r>
              <a:rPr sz="1150" b="1">
                <a:solidFill>
                  <a:srgbClr val="1E9E6A"/>
                </a:solidFill>
                <a:latin typeface="Consolas"/>
              </a:rPr>
              <a:t>"sat", "ran", "and"</a:t>
            </a:r>
            <a:r>
              <a:rPr sz="1150" b="0">
                <a:solidFill>
                  <a:srgbClr val="334155"/>
                </a:solidFill>
                <a:latin typeface="Calibri"/>
              </a:rPr>
              <a:t> carry the weight.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Values shown are illustrative (rounded). </a:t>
            </a:r>
            <a:r>
              <a:rPr sz="1050" b="0">
                <a:solidFill>
                  <a:srgbClr val="64748B"/>
                </a:solidFill>
                <a:latin typeface="Consolas"/>
              </a:rPr>
              <a:t>TfidfVectorizer</a:t>
            </a:r>
            <a:r>
              <a:rPr sz="1050" b="0" i="1">
                <a:solidFill>
                  <a:srgbClr val="64748B"/>
                </a:solidFill>
                <a:latin typeface="Calibri"/>
              </a:rPr>
              <a:t> computes the exact numbers in the notebook.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One-Hot vs BoW vs TF-IDF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Choosing the right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773936" cy="56692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7739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88720"/>
            <a:ext cx="2093976" cy="56692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20939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One-Hot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188720"/>
            <a:ext cx="2093976" cy="56692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20939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Bag of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1188720"/>
            <a:ext cx="2093976" cy="56692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188720"/>
            <a:ext cx="20939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55648"/>
            <a:ext cx="1773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55648"/>
            <a:ext cx="1627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alibri"/>
              </a:rPr>
              <a:t>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755648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755648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one 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755648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1755648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one 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1755648"/>
            <a:ext cx="2093976" cy="566928"/>
          </a:xfrm>
          <a:prstGeom prst="rect">
            <a:avLst/>
          </a:prstGeom>
          <a:solidFill>
            <a:srgbClr val="EEF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1755648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one 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22576"/>
            <a:ext cx="177393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22576"/>
            <a:ext cx="1627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alibri"/>
              </a:rPr>
              <a:t>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322576"/>
            <a:ext cx="209397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322576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0 /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322576"/>
            <a:ext cx="209397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2322576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word 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2322576"/>
            <a:ext cx="2093976" cy="566928"/>
          </a:xfrm>
          <a:prstGeom prst="rect">
            <a:avLst/>
          </a:prstGeom>
          <a:solidFill>
            <a:srgbClr val="EEF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19" y="2322576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weighted scores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89504"/>
            <a:ext cx="1773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89504"/>
            <a:ext cx="1627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alibri"/>
              </a:rPr>
              <a:t>Common words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889504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2889504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equal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889504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79" y="2889504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over-weighted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2889504"/>
            <a:ext cx="2093976" cy="566928"/>
          </a:xfrm>
          <a:prstGeom prst="rect">
            <a:avLst/>
          </a:prstGeom>
          <a:solidFill>
            <a:srgbClr val="EEF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19" y="2889504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down-weighted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56432"/>
            <a:ext cx="177393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456432"/>
            <a:ext cx="1627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alibri"/>
              </a:rPr>
              <a:t>Captures order?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456432"/>
            <a:ext cx="209397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3456432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3456432"/>
            <a:ext cx="2093976" cy="566928"/>
          </a:xfrm>
          <a:prstGeom prst="rect">
            <a:avLst/>
          </a:prstGeom>
          <a:solidFill>
            <a:srgbClr val="F1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79" y="3456432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79" y="3456432"/>
            <a:ext cx="2093976" cy="566928"/>
          </a:xfrm>
          <a:prstGeom prst="rect">
            <a:avLst/>
          </a:prstGeom>
          <a:solidFill>
            <a:srgbClr val="EEF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19" y="3456432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23360"/>
            <a:ext cx="1773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023360"/>
            <a:ext cx="1627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440"/>
                </a:solidFill>
                <a:latin typeface="Calibri"/>
              </a:rPr>
              <a:t>Best for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023360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4023360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tiny vocab / labels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4023360"/>
            <a:ext cx="209397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79" y="4023360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quick baselines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79" y="4023360"/>
            <a:ext cx="2093976" cy="566928"/>
          </a:xfrm>
          <a:prstGeom prst="rect">
            <a:avLst/>
          </a:prstGeom>
          <a:solidFill>
            <a:srgbClr val="EEF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19" y="4023360"/>
            <a:ext cx="1947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search &amp;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The Shared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All three are powerful — but none understand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One-Hot, BoW and TF-IDF all treat words as independent symbols. They count and weight — but never learn that words can be </a:t>
            </a:r>
            <a:r>
              <a:rPr sz="1250" b="1">
                <a:solidFill>
                  <a:srgbClr val="0F2440"/>
                </a:solidFill>
                <a:latin typeface="Calibri"/>
              </a:rPr>
              <a:t>related</a:t>
            </a:r>
            <a:r>
              <a:rPr sz="125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97763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977639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No semantics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95728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"king" and "queen", or "good" and "great", are as unrelated as "king" and "banana".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828800"/>
            <a:ext cx="397763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828800"/>
            <a:ext cx="3977639" cy="64008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20299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Sparse &amp; order-blind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395728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"dog bites man" and "man bites dog" get the identical vector. Vectors stay huge and mostly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EEF6FB"/>
          </a:solidFill>
          <a:ln w="11430">
            <a:solidFill>
              <a:srgbClr val="1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749039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7FAB"/>
                </a:solidFill>
                <a:latin typeface="Calibri"/>
              </a:rPr>
              <a:t>What's next  →  Word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96512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Dense vectors learned from data, where similar words sit close together — so </a:t>
            </a:r>
            <a:r>
              <a:rPr sz="1150" b="1">
                <a:solidFill>
                  <a:srgbClr val="0F2440"/>
                </a:solidFill>
                <a:latin typeface="Consolas"/>
              </a:rPr>
              <a:t>"king" − "man" + "woman" ≈ "queen"</a:t>
            </a:r>
            <a:r>
              <a:rPr sz="1150" b="0">
                <a:solidFill>
                  <a:srgbClr val="334155"/>
                </a:solidFill>
                <a:latin typeface="Calibri"/>
              </a:rPr>
              <a:t>. The leap into modern NLP.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F2440"/>
                </a:solidFill>
                <a:latin typeface="Trebuchet MS"/>
              </a:rPr>
              <a:t>Recap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Session 20  ·  Text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" cy="36576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Why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051560"/>
            <a:ext cx="5806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Models do arithmetic — text must be converted into feature vectors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09728" cy="36576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One-Hot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18488"/>
            <a:ext cx="5806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One slot per word; a single 1. Simple, but huge, sparse, and meaning-free.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31135"/>
            <a:ext cx="109728" cy="36576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85415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Bag of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85415"/>
            <a:ext cx="5806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Count words per document. Compact and useful — but common words dominate.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98063"/>
            <a:ext cx="109728" cy="36576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2344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5806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Weight by TF × IDF so informative, document-specific words stand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64991"/>
            <a:ext cx="109728" cy="36576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440"/>
                </a:solidFill>
                <a:latin typeface="Calibri"/>
              </a:rPr>
              <a:t>Shared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19272"/>
            <a:ext cx="5806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None capture order or meaning — the door to word embeddings.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8229600" cy="65836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91440" cy="65836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A8DC"/>
                </a:solidFill>
                <a:latin typeface="Calibri"/>
              </a:rPr>
              <a:t>Now: hands-on notebook  </a:t>
            </a:r>
            <a:r>
              <a:rPr sz="1150" b="0">
                <a:solidFill>
                  <a:srgbClr val="FFFFFF"/>
                </a:solidFill>
                <a:latin typeface="Calibri"/>
              </a:rPr>
              <a:t>Build one-hot, Bag of Words and TF-IDF with scikit-learn, inspect the matrices, and compare which words each method rewards.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