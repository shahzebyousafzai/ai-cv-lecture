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334000" y="-1143000"/>
            <a:ext cx="3302000" cy="330200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16000" y="2921000"/>
            <a:ext cx="2603500" cy="260350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47000" y="3810000"/>
            <a:ext cx="1905000" cy="190500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5000" y="1016000"/>
            <a:ext cx="63500" cy="190500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041400"/>
            <a:ext cx="6350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A8DC"/>
                </a:solidFill>
                <a:latin typeface="Trebuchet MS"/>
              </a:rPr>
              <a:t>SESSION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7747000" cy="889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Trebuchet MS"/>
              </a:rPr>
              <a:t>Word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3500"/>
            <a:ext cx="76200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>
                <a:solidFill>
                  <a:srgbClr val="C9D8EC"/>
                </a:solidFill>
                <a:latin typeface="Calibri"/>
              </a:rPr>
              <a:t>Words as Vectors that Capture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7747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3D9"/>
                </a:solidFill>
                <a:latin typeface="Calibri"/>
              </a:rPr>
              <a:t>Where text representation stops counting words and starts understanding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89400"/>
            <a:ext cx="7747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8FB3D9"/>
                </a:solidFill>
                <a:latin typeface="Calibri"/>
              </a:rPr>
              <a:t>Word2Vec  ·  CBOW  ·  Skip-Gram  ·  GloVe  ·  FastText  ·  Cosine Similarity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What we'll cover in this session — roughly half theory, half hands-on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684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84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12065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From Counting to Meaning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7600" y="14478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Why one-hot, BoW and TF-IDF fall short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796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796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19177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The Embedding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7600" y="21590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Dense vectors &amp; the distributional hypothesis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908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5908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26289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Measuring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600" y="28702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Vector space, cosine similarity, analogies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4400" y="11684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4400" y="11684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84800" y="12065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Word2Vec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4800" y="14478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CBOW and Skip-Gram explained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4400" y="18796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4400" y="18796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4800" y="19177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GloVe &amp; FastText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4800" y="21590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Global counts and subword vectors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24400" y="2590800"/>
            <a:ext cx="508000" cy="5334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24400" y="2590800"/>
            <a:ext cx="5080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84800" y="2628900"/>
            <a:ext cx="33528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0F2440"/>
                </a:solidFill>
                <a:latin typeface="Calibri"/>
              </a:rPr>
              <a:t>Trade-offs &amp;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84800" y="2870200"/>
            <a:ext cx="335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4748B"/>
                </a:solidFill>
                <a:latin typeface="Calibri"/>
              </a:rPr>
              <a:t>Choosing a model; what embeddings miss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Where Session 20 Left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Counting methods turn text into numbers — but the numbers carry no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1400"/>
            <a:ext cx="82296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34155"/>
                </a:solidFill>
                <a:latin typeface="Calibri"/>
              </a:rPr>
              <a:t>One-Hot, Bag of Words and TF-IDF all treat each word as an isolated symbol. </a:t>
            </a:r>
            <a:r>
              <a:rPr sz="1250" b="1" i="0">
                <a:solidFill>
                  <a:srgbClr val="0E7FAB"/>
                </a:solidFill>
                <a:latin typeface="Calibri"/>
              </a:rPr>
              <a:t>They never learn that words can be related.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51000"/>
            <a:ext cx="2667000" cy="11684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1803400"/>
            <a:ext cx="23114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440"/>
                </a:solidFill>
                <a:latin typeface="Calibri"/>
              </a:rPr>
              <a:t>One-Hot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133600"/>
            <a:ext cx="2311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E7FAB"/>
                </a:solidFill>
                <a:latin typeface="Consolas"/>
              </a:rPr>
              <a:t>One 1, rest 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2387600"/>
            <a:ext cx="2311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No notion of similarity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38500" y="1651000"/>
            <a:ext cx="2667000" cy="11684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6300" y="1803400"/>
            <a:ext cx="23114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440"/>
                </a:solidFill>
                <a:latin typeface="Calibri"/>
              </a:rPr>
              <a:t>Bag of Words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6300" y="2133600"/>
            <a:ext cx="2311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E7FAB"/>
                </a:solidFill>
                <a:latin typeface="Consolas"/>
              </a:rPr>
              <a:t>Word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6300" y="2387600"/>
            <a:ext cx="2311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Order &amp; meaning lost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19800" y="1651000"/>
            <a:ext cx="2667000" cy="11684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7600" y="1803400"/>
            <a:ext cx="23114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440"/>
                </a:solidFill>
                <a:latin typeface="Calibri"/>
              </a:rPr>
              <a:t>TF-IDF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7600" y="2133600"/>
            <a:ext cx="2311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0E7FAB"/>
                </a:solidFill>
                <a:latin typeface="Consolas"/>
              </a:rPr>
              <a:t>Weighted counts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7600" y="2387600"/>
            <a:ext cx="23114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4748B"/>
                </a:solidFill>
                <a:latin typeface="Calibri"/>
              </a:rPr>
              <a:t>Still just word matching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073400"/>
            <a:ext cx="8229600" cy="43180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00" y="3073400"/>
            <a:ext cx="78740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Problem: 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'cat' is no closer to 'dog' than to 'helicopter'. Every word is equally distant from every other.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57600"/>
            <a:ext cx="8229600" cy="9398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759200"/>
            <a:ext cx="7874000" cy="76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The fix — word embeddings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Instead of one slot per word, give every word a short list of learned numbers (a vector) so that words used in similar contexts end up close together. Meaning becomes geometry.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The Core Idea: Words as Dense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Each word becomes a point in space, learned from the company it keeps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1400"/>
            <a:ext cx="508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1">
                <a:solidFill>
                  <a:srgbClr val="0E7FAB"/>
                </a:solidFill>
                <a:latin typeface="Calibri"/>
              </a:rPr>
              <a:t>“You shall know a word by the company it keeps.”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80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— J. R. Firth, 1957  (the distributional hypothesis)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78000"/>
            <a:ext cx="5080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Words that appear in similar contexts should have similar vectors.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A model reads huge amounts of text and nudges each word's numbers until this holds true.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5000"/>
            <a:ext cx="5080000" cy="12446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3276600"/>
            <a:ext cx="47244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Why “dense”?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Every dimension is used and carries a little meaning — no giant blocks of zeros. Typical size: 50–300 numbers per word, not 50,000.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9000" y="1092200"/>
            <a:ext cx="2717800" cy="33274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9000" y="1270000"/>
            <a:ext cx="2717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2440"/>
                </a:solidFill>
                <a:latin typeface="Calibri"/>
              </a:rPr>
              <a:t>A learned vector for “king”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1625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7000" y="1625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0.21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7000" y="2006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7000" y="2006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-0.43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77000" y="2387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7000" y="2387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0.88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7000" y="2768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7000" y="2768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0.05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3149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7000" y="3149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-0.17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77000" y="3530600"/>
            <a:ext cx="1701800" cy="30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7000" y="3530600"/>
            <a:ext cx="170180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0.64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9000" y="3937000"/>
            <a:ext cx="2717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64748B"/>
                </a:solidFill>
                <a:latin typeface="Calibri"/>
              </a:rPr>
              <a:t>… a short list of numbers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Sparse vs Dense Representations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The shift that makes meaning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68400"/>
            <a:ext cx="4000500" cy="31750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6300" y="1168400"/>
            <a:ext cx="4000500" cy="31750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46200"/>
            <a:ext cx="35433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F2440"/>
                </a:solidFill>
                <a:latin typeface="Calibri"/>
              </a:rPr>
              <a:t>One-Hot / BoW  (sparse)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900" y="1346200"/>
            <a:ext cx="35433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7FAB"/>
                </a:solidFill>
                <a:latin typeface="Calibri"/>
              </a:rPr>
              <a:t>Embedding  (dense)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034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Length = vocabulary size (~50,000)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18034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Length is small &amp; fixed (50–300)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Almost all values are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22860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Every value is meaningful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686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No similarity between words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4900" y="27686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Similar words ≈ nearby vectors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2512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New words have no slot (OOV)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4900" y="32512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Meaning shared across dimensions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338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64748B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Built by counting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4900" y="3733800"/>
            <a:ext cx="3543300" cy="43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34155"/>
                </a:solidFill>
                <a:latin typeface="Calibri"/>
              </a:rPr>
              <a:t>Learned from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62400"/>
            <a:ext cx="3543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4748B"/>
                </a:solidFill>
                <a:latin typeface="Consolas"/>
              </a:rPr>
              <a:t>cat = [0,0,1,0,0,…,0]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4900" y="3962400"/>
            <a:ext cx="35433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FAB"/>
                </a:solidFill>
                <a:latin typeface="Consolas"/>
              </a:rPr>
              <a:t>cat = [0.21,-0.4,0.88,…]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Vector Space &amp; Semantic Similarity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Geometry encodes meaning — and even relationships between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1400"/>
            <a:ext cx="3810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Once words are vectors, we can </a:t>
            </a:r>
            <a:r>
              <a:rPr sz="1200" b="1" i="0">
                <a:solidFill>
                  <a:srgbClr val="0F2440"/>
                </a:solidFill>
                <a:latin typeface="Calibri"/>
              </a:rPr>
              <a:t>plot them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. Related words cluster together, and consistent relationships become consistent directions.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540000"/>
            <a:ext cx="3810000" cy="8890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641600"/>
            <a:ext cx="3454400" cy="711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Notice the parallel arrows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country → capital is the same direction for France→Paris and Germany→Berlin. The relationship is baked into the geometry.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30600"/>
            <a:ext cx="3810000" cy="9144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3632200"/>
            <a:ext cx="3454400" cy="736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Same for categories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Animals sit near animals, verbs near verbs — distance ≈ dissimilarity.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092200"/>
            <a:ext cx="4114800" cy="30226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na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400" y="1219200"/>
            <a:ext cx="2963866" cy="276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0" y="4191000"/>
            <a:ext cx="41148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Word-embedding space: parallel country→capital vectors. Source: Wikimedia Commons, CC BY-SA 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Cosine Similarity: Measuring Closeness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Compare the direction of two vectors, not their length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41400"/>
            <a:ext cx="4572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Two words are similar if their vectors </a:t>
            </a:r>
            <a:r>
              <a:rPr sz="1200" b="1" i="0">
                <a:solidFill>
                  <a:srgbClr val="0E7FAB"/>
                </a:solidFill>
                <a:latin typeface="Calibri"/>
              </a:rPr>
              <a:t>point the same way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. Cosine similarity measures the angle between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5000"/>
            <a:ext cx="4572000" cy="58420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905000"/>
            <a:ext cx="45720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Consolas"/>
              </a:rPr>
              <a:t>cos(θ) =  (A · B) / (‖A‖ ‖B‖)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667000"/>
            <a:ext cx="584200" cy="406400"/>
          </a:xfrm>
          <a:prstGeom prst="roundRect">
            <a:avLst/>
          </a:prstGeom>
          <a:solidFill>
            <a:srgbClr val="1A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67000"/>
            <a:ext cx="5842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+1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8400" y="2667000"/>
            <a:ext cx="3810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same direction → very similar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25800"/>
            <a:ext cx="584200" cy="406400"/>
          </a:xfrm>
          <a:prstGeom prst="roundRect">
            <a:avLst/>
          </a:prstGeom>
          <a:solidFill>
            <a:srgbClr val="D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25800"/>
            <a:ext cx="5842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8400" y="3225800"/>
            <a:ext cx="3810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perpendicular → unrelated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84600"/>
            <a:ext cx="584200" cy="406400"/>
          </a:xfrm>
          <a:prstGeom prst="roundRect">
            <a:avLst/>
          </a:prstGeom>
          <a:solidFill>
            <a:srgbClr val="C03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784600"/>
            <a:ext cx="5842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onsolas"/>
              </a:rPr>
              <a:t>−1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8400" y="3784600"/>
            <a:ext cx="3810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opposite → very different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8600" y="1168400"/>
            <a:ext cx="3378200" cy="31750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88000" y="3810000"/>
            <a:ext cx="2667000" cy="25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88000" y="1778000"/>
            <a:ext cx="25400" cy="20320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5969000" y="2159000"/>
            <a:ext cx="1905000" cy="1651000"/>
          </a:xfrm>
          <a:prstGeom prst="line">
            <a:avLst/>
          </a:prstGeom>
          <a:ln w="38100">
            <a:solidFill>
              <a:srgbClr val="0E7FA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969000" y="2921000"/>
            <a:ext cx="2159000" cy="889000"/>
          </a:xfrm>
          <a:prstGeom prst="line">
            <a:avLst/>
          </a:prstGeom>
          <a:ln w="38100">
            <a:solidFill>
              <a:srgbClr val="1FA8D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3000" y="19050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E7FAB"/>
                </a:solidFill>
                <a:latin typeface="Calibri"/>
              </a:rPr>
              <a:t>A  “cat”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4000" y="2717800"/>
            <a:ext cx="889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A8DC"/>
                </a:solidFill>
                <a:latin typeface="Calibri"/>
              </a:rPr>
              <a:t>B  “dog”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0" y="3251200"/>
            <a:ext cx="76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1">
                <a:solidFill>
                  <a:srgbClr val="334155"/>
                </a:solidFill>
                <a:latin typeface="Calibri"/>
              </a:rPr>
              <a:t>θ small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8600" y="4038600"/>
            <a:ext cx="3378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Small angle → high cosine → similar meaning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Word Analogies: Arithmetic on Meaning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Relationships become vector addition and subtraction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68400"/>
            <a:ext cx="8229600" cy="8890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68400"/>
            <a:ext cx="8229600" cy="88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F2440"/>
                </a:solidFill>
                <a:latin typeface="Consolas"/>
              </a:rPr>
              <a:t>vec(“king”) − vec(“man”) + vec(“woman”)  ≈  vec(“queen”)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35200"/>
            <a:ext cx="82296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Remove ‘maleness’, add ‘femaleness’ — and you land near the right word.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17800"/>
            <a:ext cx="26670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870200"/>
            <a:ext cx="23622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7FAB"/>
                </a:solidFill>
                <a:latin typeface="Consolas"/>
              </a:rPr>
              <a:t>king − man + woman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378200"/>
            <a:ext cx="2362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581400"/>
            <a:ext cx="2362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onsolas"/>
              </a:rPr>
              <a:t>queen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38500" y="2717800"/>
            <a:ext cx="26670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0900" y="2870200"/>
            <a:ext cx="23622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7FAB"/>
                </a:solidFill>
                <a:latin typeface="Consolas"/>
              </a:rPr>
              <a:t>paris − france + italy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0900" y="3378200"/>
            <a:ext cx="2362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0900" y="3581400"/>
            <a:ext cx="2362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onsolas"/>
              </a:rPr>
              <a:t>rome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9800" y="2717800"/>
            <a:ext cx="26670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870200"/>
            <a:ext cx="23622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E7FAB"/>
                </a:solidFill>
                <a:latin typeface="Consolas"/>
              </a:rPr>
              <a:t>walking − walk + swim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378200"/>
            <a:ext cx="23622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64748B"/>
                </a:solidFill>
                <a:latin typeface="Calibri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581400"/>
            <a:ext cx="23622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onsolas"/>
              </a:rPr>
              <a:t>swimming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089400"/>
            <a:ext cx="8229600" cy="5080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4191000"/>
            <a:ext cx="7874000" cy="33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7A1E"/>
                </a:solidFill>
                <a:latin typeface="Calibri"/>
              </a:rPr>
              <a:t>A useful caution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These analogies are real but cherry-picked — they don't always hold. Treat them as intuition, not proof.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Word2Vec: Learning Vectors by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Mikolov et al., Google, 2013 — the breakthrough that made embeddings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6800"/>
            <a:ext cx="8229600" cy="66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Train a </a:t>
            </a:r>
            <a:r>
              <a:rPr sz="1200" b="1" i="0">
                <a:solidFill>
                  <a:srgbClr val="0F2440"/>
                </a:solidFill>
                <a:latin typeface="Calibri"/>
              </a:rPr>
              <a:t>shallow neural network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 on a simple prediction game over a sliding window of text. We don't care about the predictions — </a:t>
            </a:r>
            <a:r>
              <a:rPr sz="1200" b="1" i="0">
                <a:solidFill>
                  <a:srgbClr val="0E7FAB"/>
                </a:solidFill>
                <a:latin typeface="Calibri"/>
              </a:rPr>
              <a:t>the hidden-layer weights become the word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05000"/>
            <a:ext cx="19812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2057400"/>
            <a:ext cx="355600" cy="3556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057400"/>
            <a:ext cx="355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489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Slide a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743200"/>
            <a:ext cx="1676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over the text, word by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200" y="2336800"/>
            <a:ext cx="203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A8DC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0000" y="1905000"/>
            <a:ext cx="19812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2400" y="2057400"/>
            <a:ext cx="355600" cy="3556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2400" y="2057400"/>
            <a:ext cx="355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2400" y="2489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Predict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2400" y="2743200"/>
            <a:ext cx="1676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a word from its neighbours (or vice-versa)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5000" y="2336800"/>
            <a:ext cx="203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A8D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2800" y="1905000"/>
            <a:ext cx="19812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775200" y="2057400"/>
            <a:ext cx="355600" cy="3556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5200" y="2057400"/>
            <a:ext cx="355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200" y="2489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Adjust weights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5200" y="2743200"/>
            <a:ext cx="1676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so good guesses score higher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7800" y="2336800"/>
            <a:ext cx="203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FA8DC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5600" y="1905000"/>
            <a:ext cx="1981200" cy="12192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0" y="2057400"/>
            <a:ext cx="355600" cy="3556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2057400"/>
            <a:ext cx="355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2489200"/>
            <a:ext cx="167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Read off vectors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743200"/>
            <a:ext cx="1676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4748B"/>
                </a:solidFill>
                <a:latin typeface="Calibri"/>
              </a:rPr>
              <a:t>the trained weights = embeddings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327400"/>
            <a:ext cx="8229600" cy="5588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000" y="3429000"/>
            <a:ext cx="7874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Two flavours of the same idea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CBOW predicts a word from its context. Skip-Gram predicts the context from a word. We'll see both next.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38600"/>
            <a:ext cx="3937000" cy="5080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038600"/>
            <a:ext cx="3937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E7FAB"/>
                </a:solidFill>
                <a:latin typeface="Calibri"/>
              </a:rPr>
              <a:t>CBOW  —  context  →  word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49800" y="4038600"/>
            <a:ext cx="3937000" cy="50800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49800" y="4038600"/>
            <a:ext cx="3937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Skip-Gram  —  word  → 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CBOW — Continuous Bag of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Predict the centre word from the surrounding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7600"/>
            <a:ext cx="4191000" cy="266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371600"/>
            <a:ext cx="3683000" cy="2421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3810000"/>
            <a:ext cx="419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CBOW: context “the, man, his, son” → predict “loves”. Source: Wikimedia Commons (D2L), CC BY-SA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400" y="1168400"/>
            <a:ext cx="3708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400" y="1498600"/>
            <a:ext cx="3708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Take the words around a blank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8400" y="1879600"/>
            <a:ext cx="3708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Average their vectors together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8400" y="2260600"/>
            <a:ext cx="3708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Use that to predict the missing word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8400" y="2641600"/>
            <a:ext cx="37084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Fast to train; smooths over the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78400" y="3175000"/>
            <a:ext cx="3708400" cy="12446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6200" y="3276600"/>
            <a:ext cx="33528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Best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You have a smaller dataset and care about frequent words. CBOW is quicker and represents common words well, but pays less attention to rare ones.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Skip-Gram — Predict 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Flip CBOW around: from one word, guess its neighbours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5800" y="1117600"/>
            <a:ext cx="4191000" cy="2667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kip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9800" y="1371600"/>
            <a:ext cx="3683000" cy="2421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95800" y="3810000"/>
            <a:ext cx="4191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4748B"/>
                </a:solidFill>
                <a:latin typeface="Calibri"/>
              </a:rPr>
              <a:t>Skip-Gram: “loves” → predict “the, man, his, son”. Source: Wikimedia Commons (D2L), CC BY-SA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68400"/>
            <a:ext cx="381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alibri"/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98600"/>
            <a:ext cx="3810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Take one target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9600"/>
            <a:ext cx="3810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Predict each surrounding word in 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0600"/>
            <a:ext cx="3810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Generates many training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41600"/>
            <a:ext cx="3810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FA8DC"/>
                </a:solidFill>
                <a:latin typeface="Calibri"/>
              </a:rPr>
              <a:t>•  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Slower, but learns rare words well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75000"/>
            <a:ext cx="3810000" cy="12446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3276600"/>
            <a:ext cx="3454400" cy="1066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Best when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You have a large corpus and want high-quality vectors, including for infrequent words. Skip-Gram (with negative sampling) is the most popular Word2Vec setup.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CBOW vs Skip-Gram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Same engine, opposite direction — pick by data size and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8400"/>
            <a:ext cx="1905000" cy="50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62200" y="1168400"/>
            <a:ext cx="3429000" cy="5080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91200" y="1168400"/>
            <a:ext cx="3429000" cy="508000"/>
          </a:xfrm>
          <a:prstGeom prst="rect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4200" y="1168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168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CBOW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168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Skip-Gram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76400"/>
            <a:ext cx="8763000" cy="5080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4200" y="1676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Predicts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676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Centre word from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676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Context from centre word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84400"/>
            <a:ext cx="87630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4200" y="2184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184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context  →  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184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word  → 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92400"/>
            <a:ext cx="8763000" cy="5080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4200" y="2692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Training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692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692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Slower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200400"/>
            <a:ext cx="87630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4200" y="3200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Frequent words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3200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Strong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200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708400"/>
            <a:ext cx="8763000" cy="5080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4200" y="3708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Rare 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3708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Weaker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3708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Stronger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16400"/>
            <a:ext cx="87630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4200" y="4216400"/>
            <a:ext cx="16510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Typical 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216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Smaller datasets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0" y="4216400"/>
            <a:ext cx="3124200" cy="50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Large datasets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GloVe — Global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Pennington, Socher &amp; Manning, Stanford, 2014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6800"/>
            <a:ext cx="4572000" cy="10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Word2Vec learns from </a:t>
            </a:r>
            <a:r>
              <a:rPr sz="1200" b="1" i="0">
                <a:solidFill>
                  <a:srgbClr val="0F2440"/>
                </a:solidFill>
                <a:latin typeface="Calibri"/>
              </a:rPr>
              <a:t>local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 windows. GloVe instead uses </a:t>
            </a:r>
            <a:r>
              <a:rPr sz="1200" b="1" i="0">
                <a:solidFill>
                  <a:srgbClr val="0E7FAB"/>
                </a:solidFill>
                <a:latin typeface="Calibri"/>
              </a:rPr>
              <a:t>global co-occurrence counts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 — how often word pairs appear together across the whole corpus — and factorises that table into vectors.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35200"/>
            <a:ext cx="4572000" cy="10160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000" y="2336800"/>
            <a:ext cx="4216400" cy="838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alibri"/>
              </a:rPr>
              <a:t>Key insight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Ratios of co-occurrence probabilities carry meaning. ice co-occurs with solid more than steam does — that ratio defines the dimension.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52800"/>
            <a:ext cx="4572000" cy="10668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" y="3454400"/>
            <a:ext cx="4216400" cy="889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F2440"/>
                </a:solidFill>
                <a:latin typeface="Calibri"/>
              </a:rPr>
              <a:t>In practice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Captures global statistics and trains efficiently. Pre-trained GloVe vectors (Wikipedia + Gigaword, Twitter) are widely used off-the-shelf.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61000" y="1168400"/>
            <a:ext cx="3225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0F2440"/>
                </a:solidFill>
                <a:latin typeface="Calibri"/>
              </a:rPr>
              <a:t>Co-occurrence counts (toy)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7600" y="1473200"/>
            <a:ext cx="81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solid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0400" y="1473200"/>
            <a:ext cx="81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gas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3200" y="1473200"/>
            <a:ext cx="812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water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1000" y="1752600"/>
            <a:ext cx="6858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1752600"/>
            <a:ext cx="736600" cy="355600"/>
          </a:xfrm>
          <a:prstGeom prst="roundRect">
            <a:avLst/>
          </a:prstGeom>
          <a:solidFill>
            <a:srgbClr val="1FA8DC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7600" y="17526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10400" y="17526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10400" y="17526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23200" y="17526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3200" y="17526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61000" y="2184400"/>
            <a:ext cx="6858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steam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7600" y="21844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7600" y="21844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10400" y="2184400"/>
            <a:ext cx="736600" cy="355600"/>
          </a:xfrm>
          <a:prstGeom prst="roundRect">
            <a:avLst/>
          </a:prstGeom>
          <a:solidFill>
            <a:srgbClr val="1FA8DC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10400" y="21844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31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23200" y="21844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23200" y="21844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61000" y="2616200"/>
            <a:ext cx="685800" cy="431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0E7FAB"/>
                </a:solidFill>
                <a:latin typeface="Consolas"/>
              </a:rPr>
              <a:t>water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7600" y="26162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7600" y="26162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10400" y="2616200"/>
            <a:ext cx="7366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10400" y="26162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64748B"/>
                </a:solidFill>
                <a:latin typeface="Consolas"/>
              </a:rPr>
              <a:t>11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823200" y="2616200"/>
            <a:ext cx="736600" cy="355600"/>
          </a:xfrm>
          <a:prstGeom prst="roundRect">
            <a:avLst/>
          </a:prstGeom>
          <a:solidFill>
            <a:srgbClr val="1FA8DC"/>
          </a:solidFill>
          <a:ln w="12700">
            <a:solidFill>
              <a:srgbClr val="C9D8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3200" y="2616200"/>
            <a:ext cx="736600" cy="355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onsolas"/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61000" y="3124200"/>
            <a:ext cx="32258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4748B"/>
                </a:solidFill>
                <a:latin typeface="Calibri"/>
              </a:rPr>
              <a:t>GloVe factorises this whole table into vectors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FastText — Words Made of Pieces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Bojanowski et al., Facebook AI, 2017 — embeddings from subword n-grams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66800"/>
            <a:ext cx="8229600" cy="584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34155"/>
                </a:solidFill>
                <a:latin typeface="Calibri"/>
              </a:rPr>
              <a:t>Word2Vec &amp; GloVe treat each word as atomic, so a word they never saw has </a:t>
            </a:r>
            <a:r>
              <a:rPr sz="1200" b="1" i="0">
                <a:solidFill>
                  <a:srgbClr val="C03B4B"/>
                </a:solidFill>
                <a:latin typeface="Calibri"/>
              </a:rPr>
              <a:t>no vector</a:t>
            </a:r>
            <a:r>
              <a:rPr sz="1200" b="0" i="0">
                <a:solidFill>
                  <a:srgbClr val="334155"/>
                </a:solidFill>
                <a:latin typeface="Calibri"/>
              </a:rPr>
              <a:t>. FastText represents a word as the sum of its character n-grams (subwords).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78000"/>
            <a:ext cx="8229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onsolas"/>
              </a:rPr>
              <a:t>“where”  →  </a:t>
            </a:r>
            <a:r>
              <a:rPr sz="1200" b="0" i="0">
                <a:solidFill>
                  <a:srgbClr val="64748B"/>
                </a:solidFill>
                <a:latin typeface="Calibri"/>
              </a:rPr>
              <a:t>broken into character n-grams: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33600"/>
            <a:ext cx="8890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33600"/>
            <a:ext cx="889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&lt;wh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73200" y="2133600"/>
            <a:ext cx="8890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73200" y="2133600"/>
            <a:ext cx="889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whe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89200" y="2133600"/>
            <a:ext cx="8890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89200" y="2133600"/>
            <a:ext cx="889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05200" y="2133600"/>
            <a:ext cx="8890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5200" y="2133600"/>
            <a:ext cx="889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ere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1200" y="2133600"/>
            <a:ext cx="8890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1200" y="2133600"/>
            <a:ext cx="8890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re&gt;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537200" y="2133600"/>
            <a:ext cx="1219200" cy="406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7200" y="2133600"/>
            <a:ext cx="1219200" cy="406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E7FAB"/>
                </a:solidFill>
                <a:latin typeface="Consolas"/>
              </a:rPr>
              <a:t>&lt;where&gt;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667000"/>
            <a:ext cx="82296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E7FAB"/>
                </a:solidFill>
                <a:latin typeface="Calibri"/>
              </a:rPr>
              <a:t>word vector  =  sum of these subword vectors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149600"/>
            <a:ext cx="4064000" cy="12700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000" y="3302000"/>
            <a:ext cx="3708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2440"/>
                </a:solidFill>
                <a:latin typeface="Calibri"/>
              </a:rPr>
              <a:t>Handles unknown words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3606800"/>
            <a:ext cx="37084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A new or misspelled word still gets a vector from its pieces — no more out-of-vocabulary gaps.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22800" y="3149600"/>
            <a:ext cx="4064000" cy="1270000"/>
          </a:xfrm>
          <a:prstGeom prst="round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600" y="3302000"/>
            <a:ext cx="37084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0F2440"/>
                </a:solidFill>
                <a:latin typeface="Calibri"/>
              </a:rPr>
              <a:t>Understands morphology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3606800"/>
            <a:ext cx="3708400" cy="736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‘play’, ‘playing’, ‘played’ share subwords, so related forms get related vectors — great for rich languages.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Word2Vec vs GloVe vs FastText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Three classic ways to learn static word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68400"/>
            <a:ext cx="1676400" cy="4572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33600" y="1168400"/>
            <a:ext cx="2336800" cy="457200"/>
          </a:xfrm>
          <a:prstGeom prst="rect">
            <a:avLst/>
          </a:prstGeom>
          <a:solidFill>
            <a:srgbClr val="0E7F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35200" y="1168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Word2Vec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0400" y="1168400"/>
            <a:ext cx="2336800" cy="457200"/>
          </a:xfrm>
          <a:prstGeom prst="rect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168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GloVe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07200" y="1168400"/>
            <a:ext cx="2336800" cy="457200"/>
          </a:xfrm>
          <a:prstGeom prst="rect">
            <a:avLst/>
          </a:prstGeom>
          <a:solidFill>
            <a:srgbClr val="14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8800" y="1168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FastText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25600"/>
            <a:ext cx="8686800" cy="4572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8800" y="16256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Learns from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5200" y="1625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Local context windows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25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Global co-occurrence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8800" y="1625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Subword n-grams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82800"/>
            <a:ext cx="8686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20828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Unknown words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5200" y="20828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Cannot handle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828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Cannot handle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8800" y="20828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Handles well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40000"/>
            <a:ext cx="8686800" cy="4572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8800" y="25400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Morphology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35200" y="25400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Ignored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5400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Ignored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8800" y="25400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Captured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97200"/>
            <a:ext cx="8686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8800" y="29972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Training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5200" y="29972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Predictive NN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9972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Matrix factorisation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8800" y="29972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Predictive + subwords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454400"/>
            <a:ext cx="8686800" cy="457200"/>
          </a:xfrm>
          <a:prstGeom prst="rect">
            <a:avLst/>
          </a:prstGeom>
          <a:solidFill>
            <a:srgbClr val="EC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800" y="34544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Best for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35200" y="3454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General purpose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454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Fast, global stats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8800" y="34544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Rare words &amp; typos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911600"/>
            <a:ext cx="8686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800" y="3911600"/>
            <a:ext cx="147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0F2440"/>
                </a:solidFill>
                <a:latin typeface="Calibri"/>
              </a:rPr>
              <a:t>Author / year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35200" y="3911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Google, 2013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911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Stanford, 2014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8800" y="3911600"/>
            <a:ext cx="2133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34155"/>
                </a:solidFill>
                <a:latin typeface="Calibri"/>
              </a:rPr>
              <a:t>Facebook, 2017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0500"/>
            <a:ext cx="82296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F2440"/>
                </a:solidFill>
                <a:latin typeface="Trebuchet MS"/>
              </a:rPr>
              <a:t>What These Embeddings Still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73100"/>
            <a:ext cx="82296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4748B"/>
                </a:solidFill>
                <a:latin typeface="Calibri"/>
              </a:rPr>
              <a:t>Powerful, but ‘static’ — one vector per word, no matter the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38700"/>
            <a:ext cx="5334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Session 21  ·  Word 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56600" y="4838700"/>
            <a:ext cx="330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68400"/>
            <a:ext cx="8229600" cy="914400"/>
          </a:xfrm>
          <a:prstGeom prst="round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1270000"/>
            <a:ext cx="7874000" cy="279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440"/>
                </a:solidFill>
                <a:latin typeface="Calibri"/>
              </a:rPr>
              <a:t>“I sat on the river bank.”        vs        “I deposited cash at the bank.”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25600"/>
            <a:ext cx="7874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5"/>
                </a:solidFill>
                <a:latin typeface="Calibri"/>
              </a:rPr>
              <a:t>Same single vector for “bank” — the model can't tell the two meanings apart.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6800"/>
            <a:ext cx="381000" cy="381000"/>
          </a:xfrm>
          <a:prstGeom prst="roundRect">
            <a:avLst/>
          </a:prstGeom>
          <a:solidFill>
            <a:srgbClr val="D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68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336800"/>
            <a:ext cx="381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One vector per word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Calibri"/>
              </a:rPr>
              <a:t>Polysemy (multiple meanings) is collapsed into one point.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1000"/>
            <a:ext cx="381000" cy="381000"/>
          </a:xfrm>
          <a:prstGeom prst="roundRect">
            <a:avLst/>
          </a:prstGeom>
          <a:solidFill>
            <a:srgbClr val="D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210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0600" y="2921000"/>
            <a:ext cx="381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Context-free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Calibri"/>
              </a:rPr>
              <a:t>The vector never changes with the surrounding sentence.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505200"/>
            <a:ext cx="381000" cy="381000"/>
          </a:xfrm>
          <a:prstGeom prst="roundRect">
            <a:avLst/>
          </a:prstGeom>
          <a:solidFill>
            <a:srgbClr val="D9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052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Trebuchet M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0600" y="3505200"/>
            <a:ext cx="381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2440"/>
                </a:solidFill>
                <a:latin typeface="Calibri"/>
              </a:rPr>
              <a:t>Can absorb bias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4748B"/>
                </a:solidFill>
                <a:latin typeface="Calibri"/>
              </a:rPr>
              <a:t>Vectors learn social biases present in the training 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8400" y="2336800"/>
            <a:ext cx="3708400" cy="177800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81600" y="2489200"/>
            <a:ext cx="3302000" cy="15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A8DC"/>
                </a:solidFill>
                <a:latin typeface="Calibri"/>
              </a:rPr>
              <a:t>What comes next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C9D8EC"/>
                </a:solidFill>
                <a:latin typeface="Calibri"/>
              </a:rPr>
              <a:t>Contextual embeddings (ELMo, BERT, and modern transformers) give a word a different vector in every sentence — solving exactly this problem. That's our bridge to the next sessions.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89000" y="3175000"/>
            <a:ext cx="2540000" cy="254000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0" y="-889000"/>
            <a:ext cx="2540000" cy="2540000"/>
          </a:xfrm>
          <a:prstGeom prst="ellipse">
            <a:avLst/>
          </a:prstGeom>
          <a:solidFill>
            <a:srgbClr val="1B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35000" y="584200"/>
            <a:ext cx="63500" cy="508000"/>
          </a:xfrm>
          <a:prstGeom prst="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8800"/>
            <a:ext cx="6350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FA8DC"/>
                </a:solidFill>
                <a:latin typeface="Trebuchet MS"/>
              </a:rPr>
              <a:t>RECAP &amp;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90600"/>
            <a:ext cx="7620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Session 21 in Five Ideas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25600"/>
            <a:ext cx="381000" cy="3810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256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7800" y="1600200"/>
            <a:ext cx="711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Words → vectors  —  </a:t>
            </a:r>
            <a:r>
              <a:rPr sz="1250" b="0" i="0">
                <a:solidFill>
                  <a:srgbClr val="C9D8EC"/>
                </a:solidFill>
                <a:latin typeface="Calibri"/>
              </a:rPr>
              <a:t>Dense numbers learned from context replace sparse counts.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235200"/>
            <a:ext cx="381000" cy="3810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352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7800" y="2209800"/>
            <a:ext cx="711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 is geometry  —  </a:t>
            </a:r>
            <a:r>
              <a:rPr sz="1250" b="0" i="0">
                <a:solidFill>
                  <a:srgbClr val="C9D8EC"/>
                </a:solidFill>
                <a:latin typeface="Calibri"/>
              </a:rPr>
              <a:t>Cosine similarity and analogies fall out of the vector space.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44800"/>
            <a:ext cx="381000" cy="3810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448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7800" y="2819400"/>
            <a:ext cx="711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Word2Vec  —  </a:t>
            </a:r>
            <a:r>
              <a:rPr sz="1250" b="0" i="0">
                <a:solidFill>
                  <a:srgbClr val="C9D8EC"/>
                </a:solidFill>
                <a:latin typeface="Calibri"/>
              </a:rPr>
              <a:t>CBOW (context→word) and Skip-Gram (word→context).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54400"/>
            <a:ext cx="381000" cy="3810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44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3429000"/>
            <a:ext cx="711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GloVe &amp; FastText  —  </a:t>
            </a:r>
            <a:r>
              <a:rPr sz="1250" b="0" i="0">
                <a:solidFill>
                  <a:srgbClr val="C9D8EC"/>
                </a:solidFill>
                <a:latin typeface="Calibri"/>
              </a:rPr>
              <a:t>Global co-occurrence; subwords for unknown words &amp; morphology.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64000"/>
            <a:ext cx="381000" cy="381000"/>
          </a:xfrm>
          <a:prstGeom prst="roundRect">
            <a:avLst/>
          </a:prstGeom>
          <a:solidFill>
            <a:srgbClr val="1FA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064000"/>
            <a:ext cx="381000" cy="38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47800" y="4038600"/>
            <a:ext cx="7112000" cy="55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Static limits  —  </a:t>
            </a:r>
            <a:r>
              <a:rPr sz="1250" b="0" i="0">
                <a:solidFill>
                  <a:srgbClr val="C9D8EC"/>
                </a:solidFill>
                <a:latin typeface="Calibri"/>
              </a:rPr>
              <a:t>One vector per word — contextual models come next.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62500"/>
            <a:ext cx="7620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8FB3D9"/>
                </a:solidFill>
                <a:latin typeface="Calibri"/>
              </a:rPr>
              <a:t>Hands-on next: train Word2Vec, measure cosine similarity, and solve analogies in the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