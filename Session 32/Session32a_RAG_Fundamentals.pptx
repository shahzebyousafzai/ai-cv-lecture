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833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session: today is the 'why' and the 'shape' of RAG. 32b is the machinery (embeddings + vector DBs) and the lab. Ask up front: 'what happens today if you ask ChatGPT about a document it has never seen?'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short — 60 seconds. Point out that 32b picks up exactly where item 3 leaves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Analogy: a student who crammed for an exam a year ago and is now sitting the exam with no notes, no phone, no textbook — and is not allowed to say 'I don't know'.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the client which of these four they have personally seen. Most people have seen 1 and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Checkpoint question: 'our HR policy changes every quarter — which row do you pick, and why not fine-tuning?' Answer: RAG, because updating means re-indexing one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the one-liner twice. The term comes from Lewis et al., 2020 (arXiv:2005.11401) — originally a trained retriever + generator; today it usually means the pipeline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 this on the whiteboard too. Everything in the rest of the course hangs on these two rows. Phase 1 costs money once; Phase 2 costs money per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Stress: this phase is where 80% of RAG quality is decided, and it happens before any LLM is involved. Session 33 (RAG Pipeline Lab) goes deep on chunking.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at the template: this is the whole 'augmented' part of RAG. Nothing magic — string concatenation with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Checkpoint: 'which of these five steps involves the LLM?' Answer: only steps 1 (embedding model, not the chat model) and 4. Retrieval is pure maths.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buys credibility. Sessions 71 and 73 (Advanced RAG, RAG evaluation) exist because of the right-hand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which of these is closest to the client's own work — the milestone project (Session 74) should be that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oversell Advanced/Modular. Mention Agentic RAG and GraphRAG exist and are covered in Phase 10 (Session 80).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is the one clients quote back at their own managers. Give them a moment to write it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Final checkpoint before the break: 'in your own words, what does the vector database actually store, and who writes to it?'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508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8CE6C9"/>
                </a:solidFill>
                <a:latin typeface="Calibri"/>
              </a:rPr>
              <a:t>SESSION 32A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RAG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718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CE6C9"/>
                </a:solidFill>
                <a:latin typeface="Calibri"/>
              </a:rPr>
              <a:t>Why LLMs need retrieval  ·  the pipeline  ·  how information flows  ·  architectures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6052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2C39A"/>
                </a:solidFill>
                <a:latin typeface="Calibri"/>
              </a:rPr>
              <a:t>COMPUTER VISION &amp; AI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4348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D6E7E4"/>
                </a:solidFill>
                <a:latin typeface="Calibri"/>
              </a:rPr>
              <a:t>Phase 9 — RAG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16052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2C39A"/>
                </a:solidFill>
                <a:latin typeface="Calibri"/>
              </a:rPr>
              <a:t>THEORY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4348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D6E7E4"/>
                </a:solidFill>
                <a:latin typeface="Calibri"/>
              </a:rPr>
              <a:t>No coding in this half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16052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2C39A"/>
                </a:solidFill>
                <a:latin typeface="Calibri"/>
              </a:rPr>
              <a:t>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4348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D6E7E4"/>
                </a:solidFill>
                <a:latin typeface="Calibri"/>
              </a:rPr>
              <a:t>~40 minutes of slides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4406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D6E7E4"/>
                </a:solidFill>
                <a:latin typeface="Calibri"/>
              </a:rPr>
              <a:t>Companion deck: Session 32b — Vector Databases (theory + lab)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What we'll cover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965960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048255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0744" y="1947672"/>
            <a:ext cx="10003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2221991"/>
            <a:ext cx="100035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A7A80"/>
                </a:solidFill>
                <a:latin typeface="Calibri"/>
              </a:rPr>
              <a:t>What a standalone LLM can and cannot know — and why that breaks real products.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807208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889503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0744" y="2788920"/>
            <a:ext cx="10003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What RAG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3063239"/>
            <a:ext cx="100035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A7A80"/>
                </a:solidFill>
                <a:latin typeface="Calibri"/>
              </a:rPr>
              <a:t>One idea: let the model look things up before it answers.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648456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730752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0744" y="3630168"/>
            <a:ext cx="10003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The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3904488"/>
            <a:ext cx="100035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A7A80"/>
                </a:solidFill>
                <a:latin typeface="Calibri"/>
              </a:rPr>
              <a:t>Indexing offline, retrieval + generation online. Every component named.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489704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0744" y="4471416"/>
            <a:ext cx="10003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Information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0744" y="4745736"/>
            <a:ext cx="100035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A7A80"/>
                </a:solidFill>
                <a:latin typeface="Calibri"/>
              </a:rPr>
              <a:t>We trace one question end to end, with real numbers.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330952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413248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0744" y="5312664"/>
            <a:ext cx="10003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Use cases &amp; architectures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0744" y="5586984"/>
            <a:ext cx="100035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A7A80"/>
                </a:solidFill>
                <a:latin typeface="Calibri"/>
              </a:rPr>
              <a:t>Where RAG is used, and how Naive → Advanced → Modular differ.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32a · RAG Fundamentals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An LLM is a frozen snapshot of the internet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5074920" cy="297180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2267712"/>
            <a:ext cx="4562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2343B"/>
                </a:solidFill>
                <a:latin typeface="Calibri"/>
              </a:rPr>
              <a:t>What lives inside the weights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651760"/>
            <a:ext cx="4562856" cy="2148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• Patterns of language — grammar, style, reasoning shape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• Facts that were common in the training data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• Everything is compressed into parameters, not stored as text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endParaRPr sz="1300" b="0" i="0">
              <a:solidFill>
                <a:srgbClr val="5A7A80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Training ends on a date. After that the model is fixed: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it cannot read, cannot look anything up, cannot be told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a new fact except through the prompt.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074920" cy="297180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392" y="2267712"/>
            <a:ext cx="4562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C15B4E"/>
                </a:solidFill>
                <a:latin typeface="Calibri"/>
              </a:rPr>
              <a:t>What is missing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651760"/>
            <a:ext cx="4562856" cy="2148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• Anything after the training cut-off date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• Your company's private documents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• Anything too rare to be memorised reliably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• A source it can point to for what it just said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endParaRPr sz="1300" b="0" i="0">
              <a:solidFill>
                <a:srgbClr val="5A7A80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When the model has no fact, it does not go quiet —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it produces the most plausible-sounding text instead.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28090"/>
                </a:solidFill>
                <a:latin typeface="Calibri"/>
              </a:rPr>
              <a:t>Key idea:  a missing fact and a known fact look identical to the model at generation time. That is the root of hallucination.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32a · RAG Fundamentals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Four failure modes you will hit in week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2468880" cy="26060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2313432"/>
            <a:ext cx="1956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C15B4E"/>
                </a:solidFill>
                <a:latin typeface="Calibri"/>
              </a:rPr>
              <a:t>Hallucination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697480"/>
            <a:ext cx="1956816" cy="1783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The model invents a policy number,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a citation, or an API that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does not exist — fluently.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057400"/>
            <a:ext cx="2468880" cy="26060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30752" y="2313432"/>
            <a:ext cx="1956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A259"/>
                </a:solidFill>
                <a:latin typeface="Calibri"/>
              </a:rPr>
              <a:t>Stale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0752" y="2697480"/>
            <a:ext cx="1956816" cy="1783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Anything that changed after the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cut-off is simply wrong, and the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model states it confidently.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2468880" cy="26060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313432"/>
            <a:ext cx="1956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No private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697480"/>
            <a:ext cx="1956816" cy="1783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Your contracts, tickets, wiki and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codebase were never in the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training set at 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057400"/>
            <a:ext cx="2468880" cy="26060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25712" y="2313432"/>
            <a:ext cx="1956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0A896"/>
                </a:solidFill>
                <a:latin typeface="Calibri"/>
              </a:rPr>
              <a:t>No provenance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2697480"/>
            <a:ext cx="1956816" cy="1783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The user cannot verify the answer.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In legal, medical or finance that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alone blocks deployment.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92040"/>
            <a:ext cx="10607040" cy="1179576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3271" y="5148072"/>
            <a:ext cx="10094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8CE6C9"/>
                </a:solidFill>
                <a:latin typeface="Calibri"/>
              </a:rPr>
              <a:t>Why fine-tuning is not the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5532120"/>
            <a:ext cx="10094976" cy="137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Fine-tuning teaches behaviour and style far better than it teaches facts. Every new document means another training run, facts still cannot be cited, and nothing can be deleted on request.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32a · RAG Fundamentals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THE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Four ways to give a model knowledge it lacks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3154680" cy="365760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965960"/>
            <a:ext cx="29352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CE6C9"/>
                </a:solidFill>
                <a:latin typeface="Calibri"/>
              </a:rPr>
              <a:t>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965960"/>
            <a:ext cx="1783080" cy="365760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33088" y="1965960"/>
            <a:ext cx="15636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CE6C9"/>
                </a:solidFill>
                <a:latin typeface="Calibri"/>
              </a:rPr>
              <a:t>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965960"/>
            <a:ext cx="2743200" cy="365760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07608" y="1965960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CE6C9"/>
                </a:solidFill>
                <a:latin typeface="Calibri"/>
              </a:rPr>
              <a:t>STRENGTH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965960"/>
            <a:ext cx="2651760" cy="365760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42248" y="1965960"/>
            <a:ext cx="2432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CE6C9"/>
                </a:solidFill>
                <a:latin typeface="Calibri"/>
              </a:rPr>
              <a:t>WEAKNESS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15468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450592"/>
            <a:ext cx="293522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343B"/>
                </a:solidFill>
                <a:latin typeface="Calibri"/>
              </a:rPr>
              <a:t>Retrain from scratch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2450592"/>
            <a:ext cx="178308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33088" y="2450592"/>
            <a:ext cx="156362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Weeks · $millions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2450592"/>
            <a:ext cx="274320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07608" y="2450592"/>
            <a:ext cx="252374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Perfect integration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450592"/>
            <a:ext cx="265176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42248" y="2450592"/>
            <a:ext cx="243230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Absurd for a document that changed this morning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364992"/>
            <a:ext cx="315468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364992"/>
            <a:ext cx="293522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343B"/>
                </a:solidFill>
                <a:latin typeface="Calibri"/>
              </a:rPr>
              <a:t>Fine-tune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3364992"/>
            <a:ext cx="178308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33088" y="3364992"/>
            <a:ext cx="156362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Hours · $$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3364992"/>
            <a:ext cx="274320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07608" y="3364992"/>
            <a:ext cx="252374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Great for tone, format, task behaviour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3364992"/>
            <a:ext cx="265176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42248" y="3364992"/>
            <a:ext cx="243230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Poor at facts; no citations; no delete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279392"/>
            <a:ext cx="315468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" y="4279392"/>
            <a:ext cx="293522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343B"/>
                </a:solidFill>
                <a:latin typeface="Calibri"/>
              </a:rPr>
              <a:t>Stuff everything in the prompt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0" y="4279392"/>
            <a:ext cx="178308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33088" y="4279392"/>
            <a:ext cx="156362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Seconds · $$$ per call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97880" y="4279392"/>
            <a:ext cx="274320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07608" y="4279392"/>
            <a:ext cx="252374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Trivial to build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32520" y="4279392"/>
            <a:ext cx="265176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42248" y="4279392"/>
            <a:ext cx="243230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Context limits, cost per token, attention dilution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193792"/>
            <a:ext cx="3154680" cy="841248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6968" y="5193792"/>
            <a:ext cx="293522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28090"/>
                </a:solidFill>
                <a:latin typeface="Calibri"/>
              </a:rPr>
              <a:t>Retrieval-Augmented Generation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23360" y="5193792"/>
            <a:ext cx="1783080" cy="841248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33088" y="5193792"/>
            <a:ext cx="156362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Seconds · $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97880" y="5193792"/>
            <a:ext cx="2743200" cy="841248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07608" y="5193792"/>
            <a:ext cx="252374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Fresh, private, citable, cheap to update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32520" y="5193792"/>
            <a:ext cx="2651760" cy="841248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42248" y="5193792"/>
            <a:ext cx="243230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Only as good as what retrieval returns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32a · RAG Fundamentals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0515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8CE6C9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624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What is RAG?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86000"/>
            <a:ext cx="10607040" cy="1371600"/>
          </a:xfrm>
          <a:prstGeom prst="roundRect">
            <a:avLst>
              <a:gd name="adj" fmla="val 8000"/>
            </a:avLst>
          </a:prstGeom>
          <a:solidFill>
            <a:srgbClr val="0F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2542032"/>
            <a:ext cx="10094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2606040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8CE6C9"/>
                </a:solidFill>
                <a:latin typeface="Calibri"/>
              </a:rPr>
              <a:t>Retrieval-Augmented Generation: before the model answers, we search an external knowledge source and paste the most relevant passages into its prompt.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77639"/>
            <a:ext cx="3383280" cy="1600200"/>
          </a:xfrm>
          <a:prstGeom prst="roundRect">
            <a:avLst>
              <a:gd name="adj" fmla="val 8000"/>
            </a:avLst>
          </a:prstGeom>
          <a:solidFill>
            <a:srgbClr val="0F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4233672"/>
            <a:ext cx="28712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Closed-book exam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4617720"/>
            <a:ext cx="2871216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The model answers from memory alone. Fluent, confident, sometimes wrong.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977639"/>
            <a:ext cx="3383280" cy="1600200"/>
          </a:xfrm>
          <a:prstGeom prst="roundRect">
            <a:avLst>
              <a:gd name="adj" fmla="val 8000"/>
            </a:avLst>
          </a:prstGeom>
          <a:solidFill>
            <a:srgbClr val="0F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4233672"/>
            <a:ext cx="28712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Open-book exam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4617720"/>
            <a:ext cx="2871216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The model gets the three most relevant pages first, then answers.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977639"/>
            <a:ext cx="3383280" cy="1600200"/>
          </a:xfrm>
          <a:prstGeom prst="roundRect">
            <a:avLst>
              <a:gd name="adj" fmla="val 8000"/>
            </a:avLst>
          </a:prstGeom>
          <a:solidFill>
            <a:srgbClr val="0F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1" y="4233672"/>
            <a:ext cx="28712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RAG is the librarian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4617720"/>
            <a:ext cx="2871216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Retrieval decides which pages land on the desk. The LLM only reads and writes.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D6E7E4"/>
                </a:solidFill>
                <a:latin typeface="Calibri"/>
              </a:rPr>
              <a:t>Session 32a · RAG Fundamentals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Two phases: one offline, one per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10607040" cy="17830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2221991"/>
            <a:ext cx="10094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2140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28090"/>
                </a:solidFill>
                <a:latin typeface="Calibri"/>
              </a:rPr>
              <a:t>PHASE 1 — INDEXING  (offline, run once per document)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487168"/>
            <a:ext cx="21488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487168"/>
            <a:ext cx="1929384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2343B"/>
                </a:solidFill>
                <a:latin typeface="Calibri"/>
              </a:rPr>
              <a:t>Documents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50" b="0" i="0">
                <a:solidFill>
                  <a:srgbClr val="5A7A80"/>
                </a:solidFill>
                <a:latin typeface="Calibri"/>
              </a:rPr>
              <a:t>PDF · HTML · DB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871216"/>
            <a:ext cx="384048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30168" y="2487168"/>
            <a:ext cx="21488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39896" y="2487168"/>
            <a:ext cx="1929384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2343B"/>
                </a:solidFill>
                <a:latin typeface="Calibri"/>
              </a:rPr>
              <a:t>Chunk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50" b="0" i="0">
                <a:solidFill>
                  <a:srgbClr val="5A7A80"/>
                </a:solidFill>
                <a:latin typeface="Calibri"/>
              </a:rPr>
              <a:t>~500 tokens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70448" y="2871216"/>
            <a:ext cx="384048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54496" y="2487168"/>
            <a:ext cx="21488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2487168"/>
            <a:ext cx="1929384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2343B"/>
                </a:solidFill>
                <a:latin typeface="Calibri"/>
              </a:rPr>
              <a:t>Embed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50" b="0" i="0">
                <a:solidFill>
                  <a:srgbClr val="5A7A80"/>
                </a:solidFill>
                <a:latin typeface="Calibri"/>
              </a:rPr>
              <a:t>text → vector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494776" y="2871216"/>
            <a:ext cx="384048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78824" y="2487168"/>
            <a:ext cx="21488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88552" y="2487168"/>
            <a:ext cx="1929384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2343B"/>
                </a:solidFill>
                <a:latin typeface="Calibri"/>
              </a:rPr>
              <a:t>Store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50" b="0" i="0">
                <a:solidFill>
                  <a:srgbClr val="5A7A80"/>
                </a:solidFill>
                <a:latin typeface="Calibri"/>
              </a:rPr>
              <a:t>vector database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977639"/>
            <a:ext cx="10607040" cy="1874519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3271" y="4233672"/>
            <a:ext cx="10094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133087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8CE6C9"/>
                </a:solidFill>
                <a:latin typeface="Calibri"/>
              </a:rPr>
              <a:t>PHASE 2 — RETRIEVAL + GENERATION  (online, every question)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526280"/>
            <a:ext cx="1737360" cy="1005840"/>
          </a:xfrm>
          <a:prstGeom prst="roundRect">
            <a:avLst>
              <a:gd name="adj" fmla="val 8000"/>
            </a:avLst>
          </a:prstGeom>
          <a:solidFill>
            <a:srgbClr val="0F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4526280"/>
            <a:ext cx="1517904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816352" y="4910328"/>
            <a:ext cx="274320" cy="237744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108960" y="4526280"/>
            <a:ext cx="1737360" cy="1005840"/>
          </a:xfrm>
          <a:prstGeom prst="roundRect">
            <a:avLst>
              <a:gd name="adj" fmla="val 8000"/>
            </a:avLst>
          </a:prstGeom>
          <a:solidFill>
            <a:srgbClr val="0F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18688" y="4526280"/>
            <a:ext cx="1517904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Embed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50" b="0" i="0">
                <a:solidFill>
                  <a:srgbClr val="8CE6C9"/>
                </a:solidFill>
                <a:latin typeface="Calibri"/>
              </a:rPr>
              <a:t>the query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919472" y="4910328"/>
            <a:ext cx="274320" cy="237744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12079" y="4526280"/>
            <a:ext cx="1737360" cy="1005840"/>
          </a:xfrm>
          <a:prstGeom prst="roundRect">
            <a:avLst>
              <a:gd name="adj" fmla="val 8000"/>
            </a:avLst>
          </a:prstGeom>
          <a:solidFill>
            <a:srgbClr val="0F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21807" y="4526280"/>
            <a:ext cx="1517904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Search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50" b="0" i="0">
                <a:solidFill>
                  <a:srgbClr val="8CE6C9"/>
                </a:solidFill>
                <a:latin typeface="Calibri"/>
              </a:rPr>
              <a:t>top-k similar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022592" y="4910328"/>
            <a:ext cx="274320" cy="237744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315199" y="4526280"/>
            <a:ext cx="1737360" cy="1005840"/>
          </a:xfrm>
          <a:prstGeom prst="roundRect">
            <a:avLst>
              <a:gd name="adj" fmla="val 8000"/>
            </a:avLst>
          </a:prstGeom>
          <a:solidFill>
            <a:srgbClr val="0F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24927" y="4526280"/>
            <a:ext cx="1517904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Build prompt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50" b="0" i="0">
                <a:solidFill>
                  <a:srgbClr val="8CE6C9"/>
                </a:solidFill>
                <a:latin typeface="Calibri"/>
              </a:rPr>
              <a:t>context + question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125711" y="4910328"/>
            <a:ext cx="274320" cy="237744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418319" y="4526280"/>
            <a:ext cx="1737360" cy="1005840"/>
          </a:xfrm>
          <a:prstGeom prst="roundRect">
            <a:avLst>
              <a:gd name="adj" fmla="val 8000"/>
            </a:avLst>
          </a:prstGeom>
          <a:solidFill>
            <a:srgbClr val="0F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28047" y="4526280"/>
            <a:ext cx="1517904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LLM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50" b="0" i="0">
                <a:solidFill>
                  <a:srgbClr val="8CE6C9"/>
                </a:solidFill>
                <a:latin typeface="Calibri"/>
              </a:rPr>
              <a:t>grounded 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62356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8CE6C9"/>
                </a:solidFill>
                <a:latin typeface="Calibri"/>
              </a:rPr>
              <a:t>The vector database is the hinge: Phase 1 writes to it, Phase 2 reads from 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32a · RAG Fundamentals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Indexing: turning documents into a searchable index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2011680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09397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0744" y="1993392"/>
            <a:ext cx="6163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2267712"/>
            <a:ext cx="61630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A7A80"/>
                </a:solidFill>
                <a:latin typeface="Calibri"/>
              </a:rPr>
              <a:t>Parse PDFs, HTML, Word, Notion, database rows into plain text plus metadata (source, page, date, author).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944368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026664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0744" y="2926080"/>
            <a:ext cx="6163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Chunk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3200400"/>
            <a:ext cx="61630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A7A80"/>
                </a:solidFill>
                <a:latin typeface="Calibri"/>
              </a:rPr>
              <a:t>Split into passages of roughly 300–800 tokens with a small overlap. Chunks must be small enough to be precise, big enough to stand alone.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877056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959352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0744" y="3858768"/>
            <a:ext cx="6163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Embed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4133088"/>
            <a:ext cx="61630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A7A80"/>
                </a:solidFill>
                <a:latin typeface="Calibri"/>
              </a:rPr>
              <a:t>Each chunk goes through an embedding model and comes back as a fixed-length vector — e.g. 1536 floats for text-embedding-3-small.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809744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0744" y="4791456"/>
            <a:ext cx="6163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0744" y="5065776"/>
            <a:ext cx="61630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A7A80"/>
                </a:solidFill>
                <a:latin typeface="Calibri"/>
              </a:rPr>
              <a:t>Vector + original text + metadata are written to the vector database, which builds an index for fast nearest-neighbour search.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011680"/>
            <a:ext cx="3383280" cy="36118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57031" y="2267712"/>
            <a:ext cx="28712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Decisions made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651760"/>
            <a:ext cx="2871216" cy="278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Chunk size and overlap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→ the single biggest lever on answer quality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endParaRPr sz="1200" b="0" i="0">
              <a:solidFill>
                <a:srgbClr val="5A7A80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Which embedding model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→ fixes the dimension and the cost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endParaRPr sz="1200" b="0" i="0">
              <a:solidFill>
                <a:srgbClr val="5A7A80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What metadata to keep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→ you cannot filter on what you didn't store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endParaRPr sz="1200" b="0" i="0">
              <a:solidFill>
                <a:srgbClr val="5A7A80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Re-indexing strategy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→ how a changed document gets refreshed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32a · RAG Fundamentals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Retrieval and generation: what happens per question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2011680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09397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0744" y="1993392"/>
            <a:ext cx="6163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Embed the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2267712"/>
            <a:ext cx="61630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A7A80"/>
                </a:solidFill>
                <a:latin typeface="Calibri"/>
              </a:rPr>
              <a:t>The same embedding model that indexed the documents must embed the question. Different model = meaningless comparison.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944368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026664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0744" y="2926080"/>
            <a:ext cx="6163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3200400"/>
            <a:ext cx="61630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A7A80"/>
                </a:solidFill>
                <a:latin typeface="Calibri"/>
              </a:rPr>
              <a:t>The database compares the query vector to stored vectors and returns the top-k most similar chunks — typically k = 3 to 8.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877056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959352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0744" y="3858768"/>
            <a:ext cx="6163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Assemble the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4133088"/>
            <a:ext cx="61630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A7A80"/>
                </a:solidFill>
                <a:latin typeface="Calibri"/>
              </a:rPr>
              <a:t>System instruction + retrieved chunks (with their sources) + the user's question, in one message.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809744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0744" y="4791456"/>
            <a:ext cx="6163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Generate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0744" y="5065776"/>
            <a:ext cx="61630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A7A80"/>
                </a:solidFill>
                <a:latin typeface="Calibri"/>
              </a:rPr>
              <a:t>The LLM answers using the context. Instruct it to say 'not in the provided documents' when the context doesn't cover the question.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011680"/>
            <a:ext cx="3383280" cy="3611880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57031" y="2267712"/>
            <a:ext cx="28712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8CE6C9"/>
                </a:solidFill>
                <a:latin typeface="Calibri"/>
              </a:rPr>
              <a:t>The prompt template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651760"/>
            <a:ext cx="2871216" cy="278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You are a support assistant.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Answer ONLY from the context.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If the answer is not there, say so.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Cite the source of each fact.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endParaRPr sz="1150" b="0" i="0">
              <a:solidFill>
                <a:srgbClr val="D6E7E4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CONTEXT: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[chunk 1]  (policy.pdf, p.4)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[chunk 2]  (faq.md)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[chunk 3]  (sla.pdf, p.1)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endParaRPr sz="1150" b="0" i="0">
              <a:solidFill>
                <a:srgbClr val="D6E7E4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QUESTION: {user question}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32a · RAG Fundamentals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INFORMATION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One question, traced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3560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A7A80"/>
                </a:solidFill>
                <a:latin typeface="Calibri"/>
              </a:rPr>
              <a:t>Corpus: 200-page employee handbook · 420 chunks · text-embedding-3-small (1536-d)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3500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2343B"/>
                </a:solidFill>
                <a:latin typeface="Calibri"/>
              </a:rPr>
              <a:t>User 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350008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A7A80"/>
                </a:solidFill>
                <a:latin typeface="Calibri"/>
              </a:rPr>
              <a:t>"How many days of paid leave do I get in my first year?"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2186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12724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2343B"/>
                </a:solidFill>
                <a:latin typeface="Calibri"/>
              </a:rPr>
              <a:t>Query → 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127248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A7A80"/>
                </a:solidFill>
                <a:latin typeface="Calibri"/>
              </a:rPr>
              <a:t>1 API call, ~15 tokens, ~40 ms. Out comes a list of 1536 numbers.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9959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04487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2343B"/>
                </a:solidFill>
                <a:latin typeface="Calibri"/>
              </a:rPr>
              <a:t>Vector →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904487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database compares against 420 stored vectors and returns the 4 nearest, each with a similarity score (0.71, 0.66, 0.61, 0.55).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66344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7731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681727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2343B"/>
                </a:solidFill>
                <a:latin typeface="Calibri"/>
              </a:rPr>
              <a:t>Chunks →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681727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4 chunk texts (~1,600 tokens) plus the question are pasted into the template.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440679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550407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458967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2343B"/>
                </a:solidFill>
                <a:latin typeface="Calibri"/>
              </a:rPr>
              <a:t>Prompt →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5458967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A7A80"/>
                </a:solidFill>
                <a:latin typeface="Calibri"/>
              </a:rPr>
              <a:t>"New employees receive 15 days of paid leave in year one (Handbook §4.2)."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Total: 2 API calls, ~0.9 s, a fraction of a cent — and the answer points at a page number.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32a · RAG Fundamentals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HONEST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What RAG fixes — and what it doesn't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5074920" cy="365760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2267712"/>
            <a:ext cx="4562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651760"/>
            <a:ext cx="4562856" cy="2834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0" i="0">
                <a:solidFill>
                  <a:srgbClr val="5A7A80"/>
                </a:solidFill>
                <a:latin typeface="Calibri"/>
              </a:rPr>
              <a:t>✓  Facts newer than the training cut-off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0" i="0">
                <a:solidFill>
                  <a:srgbClr val="5A7A80"/>
                </a:solidFill>
                <a:latin typeface="Calibri"/>
              </a:rPr>
              <a:t>✓  Private and domain-specific knowledge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0" i="0">
                <a:solidFill>
                  <a:srgbClr val="5A7A80"/>
                </a:solidFill>
                <a:latin typeface="Calibri"/>
              </a:rPr>
              <a:t>✓  Citations the user can check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0" i="0">
                <a:solidFill>
                  <a:srgbClr val="5A7A80"/>
                </a:solidFill>
                <a:latin typeface="Calibri"/>
              </a:rPr>
              <a:t>✓  Update = re-index one document, no training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0" i="0">
                <a:solidFill>
                  <a:srgbClr val="5A7A80"/>
                </a:solidFill>
                <a:latin typeface="Calibri"/>
              </a:rPr>
              <a:t>✓  Delete = remove a vector (right to be forgotten)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0" i="0">
                <a:solidFill>
                  <a:srgbClr val="5A7A80"/>
                </a:solidFill>
                <a:latin typeface="Calibri"/>
              </a:rPr>
              <a:t>✓  Cost: pennies instead of a training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074920" cy="365760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392" y="2267712"/>
            <a:ext cx="4562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C15B4E"/>
                </a:solidFill>
                <a:latin typeface="Calibri"/>
              </a:rPr>
              <a:t>Not fixed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651760"/>
            <a:ext cx="4562856" cy="2834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0" i="0">
                <a:solidFill>
                  <a:srgbClr val="5A7A80"/>
                </a:solidFill>
                <a:latin typeface="Calibri"/>
              </a:rPr>
              <a:t>✗  If retrieval misses, the answer is still wrong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0" i="0">
                <a:solidFill>
                  <a:srgbClr val="5A7A80"/>
                </a:solidFill>
                <a:latin typeface="Calibri"/>
              </a:rPr>
              <a:t>✗  Bad chunking silently destroys quality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0" i="0">
                <a:solidFill>
                  <a:srgbClr val="5A7A80"/>
                </a:solidFill>
                <a:latin typeface="Calibri"/>
              </a:rPr>
              <a:t>✗  The model can still ignore or misread context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0" i="0">
                <a:solidFill>
                  <a:srgbClr val="5A7A80"/>
                </a:solidFill>
                <a:latin typeface="Calibri"/>
              </a:rPr>
              <a:t>✗  Questions needing the whole corpus ("summarise all")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0" i="0">
                <a:solidFill>
                  <a:srgbClr val="5A7A80"/>
                </a:solidFill>
                <a:latin typeface="Calibri"/>
              </a:rPr>
              <a:t>✗  Extra latency and an extra system to operate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0" i="0">
                <a:solidFill>
                  <a:srgbClr val="5A7A80"/>
                </a:solidFill>
                <a:latin typeface="Calibri"/>
              </a:rPr>
              <a:t>✗  Garbage in the documents = confident garbage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2343B"/>
                </a:solidFill>
                <a:latin typeface="Calibri"/>
              </a:rPr>
              <a:t>Rule of thumb: RAG converts a knowledge problem into a search problem. Search problems are much easier to debug.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32a · RAG Fundamentals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IN THE WILD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Where RAG is actually deployed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2267712"/>
            <a:ext cx="28712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alibri"/>
              </a:rPr>
              <a:t>Customer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651760"/>
            <a:ext cx="2871216" cy="914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Answer from the current help centre, product docs and past tickets — with links, so agents can verify.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45152" y="2267712"/>
            <a:ext cx="28712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alibri"/>
              </a:rPr>
              <a:t>Internal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651760"/>
            <a:ext cx="2871216" cy="914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"What's our parental leave policy?" answered from HR documents that never leave the company.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01168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57031" y="2267712"/>
            <a:ext cx="28712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alibri"/>
              </a:rPr>
              <a:t>Documentation &amp;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2651760"/>
            <a:ext cx="2871216" cy="914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Assistants grounded in a specific library version instead of a memory of it from two years ago.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77639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4233672"/>
            <a:ext cx="28712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alibri"/>
              </a:rPr>
              <a:t>Legal &amp;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4617720"/>
            <a:ext cx="2871216" cy="914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Contract Q&amp;A where every sentence must be traceable to a clause.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77639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45152" y="4233672"/>
            <a:ext cx="28712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alibri"/>
              </a:rPr>
              <a:t>Healthcare &amp;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4617720"/>
            <a:ext cx="2871216" cy="914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Clinician-facing search over guidelines and literature — citations are non-negotiable.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977639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1" y="4233672"/>
            <a:ext cx="28712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alibri"/>
              </a:rPr>
              <a:t>Customer-facing 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4617720"/>
            <a:ext cx="2871216" cy="914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Chat over a user's own uploaded documents: the pattern behind most 'chat with your PDF' apps.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32a · RAG Fundamentals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Naive → Advanced → Modular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3560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A7A80"/>
                </a:solidFill>
                <a:latin typeface="Calibri"/>
              </a:rPr>
              <a:t>Terminology from Gao et al., 'Retrieval-Augmented Generation for Large Language Models: A Survey' (arXiv:2312.10997)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3383280" cy="28346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2432304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2343B"/>
                </a:solidFill>
                <a:latin typeface="Calibri"/>
              </a:rPr>
              <a:t>Naive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798064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5A7A80"/>
                </a:solidFill>
                <a:latin typeface="Calibri"/>
              </a:rPr>
              <a:t>Index → retrieve → 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246120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straight line we just drew.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One embedding model, one search,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one prompt. Where everyone starts —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and what we build in the lab.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15383" y="3520440"/>
            <a:ext cx="292608" cy="219456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383280" cy="28346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2432304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28090"/>
                </a:solidFill>
                <a:latin typeface="Calibri"/>
              </a:rPr>
              <a:t>Advanced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798064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5A7A80"/>
                </a:solidFill>
                <a:latin typeface="Calibri"/>
              </a:rPr>
              <a:t>Adds pre- and post-retrieval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246120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Query rewriting and expansion,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hybrid keyword + vector search,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re-ranking the top 50 down to 5,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context compression. Still a chain.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27263" y="3520440"/>
            <a:ext cx="292608" cy="219456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01000" y="2194560"/>
            <a:ext cx="3383280" cy="2834640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2432304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8CE6C9"/>
                </a:solidFill>
                <a:latin typeface="Calibri"/>
              </a:rPr>
              <a:t>Modular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798064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02C39A"/>
                </a:solidFill>
                <a:latin typeface="Calibri"/>
              </a:rPr>
              <a:t>Reconfigurable modules, loops allowed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3246120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Routing between sources, iterative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retrieve–read loops, memory, agents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that decide whether to search at all.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Sessions 71–80 live here.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257800"/>
            <a:ext cx="10607040" cy="7772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1" y="5513832"/>
            <a:ext cx="10094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440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2343B"/>
                </a:solidFill>
                <a:latin typeface="Calibri"/>
              </a:rPr>
              <a:t>Today and in the lab we build Naive RAG deliberately — you cannot tell whether re-ranking helped until you have a baseline that doesn't have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32a · RAG Fundamentals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CHOOSING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RAG or fine-tuning? Ask two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2313432"/>
            <a:ext cx="4562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Is the problem KNOWLEDGE?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697480"/>
            <a:ext cx="4562856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"The model doesn't know our refund policy."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"It's out of date."  "It made up a citation."    →  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57400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392" y="2313432"/>
            <a:ext cx="4562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C15B4E"/>
                </a:solidFill>
                <a:latin typeface="Calibri"/>
              </a:rPr>
              <a:t>Is the problem BEHAVIOUR?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697480"/>
            <a:ext cx="4562856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"It won't stay in our tone of voice."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"It ignores our output format."    →  Fine-tuning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03320"/>
            <a:ext cx="10607040" cy="1234440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3959352"/>
            <a:ext cx="10094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8CE6C9"/>
                </a:solidFill>
                <a:latin typeface="Calibri"/>
              </a:rPr>
              <a:t>Very often the answer is both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343400"/>
            <a:ext cx="10094976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D6E7E4"/>
                </a:solidFill>
                <a:latin typeface="Calibri"/>
              </a:rPr>
              <a:t>Fine-tune a small model to behave the way you want, then feed it retrieved context at inference time. The two techniques solve different problems and compose cleanly.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21208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212080"/>
            <a:ext cx="22494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Does the answer change over time?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2343B"/>
                </a:solidFill>
                <a:latin typeface="Calibri"/>
              </a:rPr>
              <a:t>→ RAG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521208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84448" y="5212080"/>
            <a:ext cx="22494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Must the user see a source?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2343B"/>
                </a:solidFill>
                <a:latin typeface="Calibri"/>
              </a:rPr>
              <a:t>→ 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521208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5212080"/>
            <a:ext cx="22494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Is the corpus private?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2343B"/>
                </a:solidFill>
                <a:latin typeface="Calibri"/>
              </a:rPr>
              <a:t>→ RAG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521208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79408" y="5212080"/>
            <a:ext cx="22494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Is the output shape wrong?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2343B"/>
                </a:solidFill>
                <a:latin typeface="Calibri"/>
              </a:rPr>
              <a:t>→ Fine-tune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32a · RAG Fundamentals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8229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8CE6C9"/>
                </a:solidFill>
                <a:latin typeface="Calibr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Five things to remember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194560"/>
            <a:ext cx="420624" cy="42062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276856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0B2E2E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249424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alibri"/>
              </a:rPr>
              <a:t>An LLM's knowledge is frozen, private-data-free and unciteable.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852928"/>
            <a:ext cx="420624" cy="42062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935224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0B2E2E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07792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alibri"/>
              </a:rPr>
              <a:t>RAG = search first, then answer using what was found.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511296"/>
            <a:ext cx="420624" cy="42062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593591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0B2E2E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6616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alibri"/>
              </a:rPr>
              <a:t>Two phases: indexing (offline) and retrieval + generation (per question).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69663"/>
            <a:ext cx="420624" cy="42062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51959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0B2E2E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24527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alibri"/>
              </a:rPr>
              <a:t>The vector database is the hinge between the two phases.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828031"/>
            <a:ext cx="420624" cy="42062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910327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0B2E2E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882895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alibri"/>
              </a:rPr>
              <a:t>RAG converts a knowledge problem into a search problem — so retrieval quality is everything.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532120"/>
            <a:ext cx="10607040" cy="777240"/>
          </a:xfrm>
          <a:prstGeom prst="roundRect">
            <a:avLst>
              <a:gd name="adj" fmla="val 8000"/>
            </a:avLst>
          </a:prstGeom>
          <a:solidFill>
            <a:srgbClr val="0F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1" y="5788152"/>
            <a:ext cx="10094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7150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8CE6C9"/>
                </a:solidFill>
                <a:latin typeface="Calibri"/>
              </a:rPr>
              <a:t>Next — Session 32b: embeddings, cosine similarity, and the vector databases that make step 2 fast. Then we build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D6E7E4"/>
                </a:solidFill>
                <a:latin typeface="Calibri"/>
              </a:rPr>
              <a:t>Session 32a · RAG Fundamentals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2355</Words>
  <Application>Microsoft Office PowerPoint</Application>
  <PresentationFormat>Widescreen</PresentationFormat>
  <Paragraphs>303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Shah Zeb</cp:lastModifiedBy>
  <cp:revision>2</cp:revision>
  <dcterms:created xsi:type="dcterms:W3CDTF">2013-01-27T09:14:16Z</dcterms:created>
  <dcterms:modified xsi:type="dcterms:W3CDTF">2026-07-27T07:10:05Z</dcterms:modified>
  <cp:category/>
</cp:coreProperties>
</file>