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32a pipeline diagram: today we open two boxes — 'Embed' and 'Search' — and then build them by hand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'give me a query where keyword search beats semantic search.' Any product code will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'model-specific'. The single most common beginner bug is embedding the corpus with one model and the query with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love/hate example is worth pausing on — it explains a whole class of retrieval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Figures from the OpenAI embeddings guide, checked 27 July 2026. 'Pages per dollar' assumes ~800 tokens per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Warning for the lab: Chroma's default space is l2, not cosine. Set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Checkpoint: 'if I double every number in A, what happens to cos(A,B)?' Answer: nothing — that is the whole point of dividing by the magnitudes.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 × 1536 × 4 bytes ≈ 61 GB — say it out loud, it's the number that makes 'just use numpy' stop sounding reasonable.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step 4 on the write side — Pinecone's docs warn that new records take a few seconds to become searchable. That surprises people in a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question: 'which do we use for the milestone project?' Chroma for development, Pinecone only if it must be deployed for real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46304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CE6C9"/>
                </a:solidFill>
                <a:latin typeface="Calibri"/>
              </a:rPr>
              <a:t>SESSION 32B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mbria"/>
              </a:rPr>
              <a:t>Embeddings &amp; Vector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8CE6C9"/>
                </a:solidFill>
                <a:latin typeface="Calibri"/>
              </a:rPr>
              <a:t>Text → vectors  ·  cosine similarity  ·  FAISS  ·  ChromaDB  ·  Pinecone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D6E7E4"/>
                </a:solidFill>
                <a:latin typeface="Calibri"/>
              </a:rPr>
              <a:t>Theory, then live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11480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3891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D6E7E4"/>
                </a:solidFill>
                <a:latin typeface="Calibri"/>
              </a:rPr>
              <a:t>Session32b_VectorDatabases_Notebook.ipynb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114800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EMBEDDING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438912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D6E7E4"/>
                </a:solidFill>
                <a:latin typeface="Calibri"/>
              </a:rPr>
              <a:t>OpenAI text-embedding-3-small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D6E7E4"/>
                </a:solidFill>
                <a:latin typeface="Calibri"/>
              </a:rPr>
              <a:t>Continues directly from Session 32a — this is the machinery inside "embed" and "search".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Theory first, then we build it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92024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00253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0744" y="1901952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Embeddings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2176272"/>
            <a:ext cx="10003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What a vector representation of text is, and why RAG cannot exist without one.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64261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624328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Similarity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2898648"/>
            <a:ext cx="10003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Cosine similarity, dot product, Euclidean — and which one to use when.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36499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4472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3346704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Search at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3621024"/>
            <a:ext cx="10003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Why brute force stops working, and what an ANN index does about it.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08736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16966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4069080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Vector databases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4343400"/>
            <a:ext cx="10003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What they store and what they add on top of a raw index.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09744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0744" y="4791456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FAISS · Chroma · Pinecone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5065776"/>
            <a:ext cx="10003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What each one is for, and how to choose between them.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53212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61441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0744" y="5513832"/>
            <a:ext cx="100035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" y="5788152"/>
            <a:ext cx="10003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Embeddings → similarity → FAISS → Chroma → Pinecone, step by step.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Keyword search doesn't understand meaning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5074920" cy="22860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3271" y="2313432"/>
            <a:ext cx="4562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15B4E"/>
                </a:solidFill>
                <a:latin typeface="Calibri"/>
              </a:rPr>
              <a:t>Keyword search (BM25, SQL LIKE)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97480"/>
            <a:ext cx="4562856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Query:  "how much time off do I get?"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Document:  "Employees receive 15 days of paid annual leave."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Shared words: "do", "I" — no useful overlap.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correct document scores near zero.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57400"/>
            <a:ext cx="5074920" cy="22860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65392" y="2313432"/>
            <a:ext cx="4562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Semantic search (embeddings)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697480"/>
            <a:ext cx="4562856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Both strings are converted to vectors first.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"time off" and "paid annual leave" land close together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because the model learned they occur in the same contexts.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Similarity ≈ 0.71 — retrieved as the top hit.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572000"/>
            <a:ext cx="10607040" cy="123444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33271" y="4828032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The trade-off is real, not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5212080"/>
            <a:ext cx="10094976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D6E7E4"/>
                </a:solidFill>
                <a:latin typeface="Calibri"/>
              </a:rPr>
              <a:t>Keyword search still wins on exact tokens — SKUs, error codes, surnames, version numbers. Production systems usually run both and merge the results (hybrid search, Session 71).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An embedding is a list of numbers that encodes meaning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852160" cy="3749039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3271" y="2267712"/>
            <a:ext cx="5340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Properties that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51760"/>
            <a:ext cx="5340096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Fixed length — every text, from 3 words to 3 pages, becomes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same number of floats (1536 for text-embedding-3-small).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Dense — nearly every number is non-zero. Meaning is spread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across all dimensions; no single one means "sports".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Positional — direction encodes meaning. Texts about the same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topic point the same way, so the angle between two vectors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is a usable measure of relatedness.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Model-specific — vectors from two different models are not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comparable. Index and query must use the same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011680"/>
            <a:ext cx="4434840" cy="3749039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205472" y="2267712"/>
            <a:ext cx="39227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What it looks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2651760"/>
            <a:ext cx="3922775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"paid annual leave"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        ↓  embedding model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[ -0.0069,  0.0212, -0.0453,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   0.0114,  0.0387, -0.0092,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   …  1536 numbers in total  … 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Not human-readable. That is fine —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we never read them, we only measure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distances between them.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D6E7E4"/>
                </a:solidFill>
                <a:latin typeface="Calibri"/>
              </a:rPr>
              <a:t>Storage: 1536 × 4 bytes ≈ 6 KB per chunk.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INTUITION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Similar meanings land in the same neighbourhood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560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A80"/>
                </a:solidFill>
                <a:latin typeface="Calibri"/>
              </a:rPr>
              <a:t>A 1536-dimension space, drawn (badly) in two dimensions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6583680" cy="34290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05839" y="2468880"/>
            <a:ext cx="2240280" cy="13167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61287" y="2679192"/>
            <a:ext cx="118872" cy="11887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71599" y="262432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343B"/>
                </a:solidFill>
                <a:latin typeface="Calibri"/>
              </a:rPr>
              <a:t>paid annual leave</a:t>
            </a:r>
          </a:p>
        </p:txBody>
      </p:sp>
      <p:sp>
        <p:nvSpPr>
          <p:cNvPr id="9" name="Oval 8"/>
          <p:cNvSpPr/>
          <p:nvPr/>
        </p:nvSpPr>
        <p:spPr>
          <a:xfrm>
            <a:off x="1161287" y="2990088"/>
            <a:ext cx="118872" cy="11887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71599" y="293522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343B"/>
                </a:solidFill>
                <a:latin typeface="Calibri"/>
              </a:rPr>
              <a:t>days off</a:t>
            </a:r>
          </a:p>
        </p:txBody>
      </p:sp>
      <p:sp>
        <p:nvSpPr>
          <p:cNvPr id="11" name="Oval 10"/>
          <p:cNvSpPr/>
          <p:nvPr/>
        </p:nvSpPr>
        <p:spPr>
          <a:xfrm>
            <a:off x="1161287" y="3300984"/>
            <a:ext cx="118872" cy="11887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71599" y="324612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343B"/>
                </a:solidFill>
                <a:latin typeface="Calibri"/>
              </a:rPr>
              <a:t>vacation policy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2286000"/>
            <a:ext cx="2240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270248" y="2496312"/>
            <a:ext cx="118872" cy="11887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80560" y="244144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343B"/>
                </a:solidFill>
                <a:latin typeface="Calibri"/>
              </a:rPr>
              <a:t>refund window</a:t>
            </a:r>
          </a:p>
        </p:txBody>
      </p:sp>
      <p:sp>
        <p:nvSpPr>
          <p:cNvPr id="16" name="Oval 15"/>
          <p:cNvSpPr/>
          <p:nvPr/>
        </p:nvSpPr>
        <p:spPr>
          <a:xfrm>
            <a:off x="4270248" y="2807208"/>
            <a:ext cx="118872" cy="118872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0560" y="275234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343B"/>
                </a:solidFill>
                <a:latin typeface="Calibri"/>
              </a:rPr>
              <a:t>return 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39" y="4023360"/>
            <a:ext cx="22402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618487" y="4233672"/>
            <a:ext cx="118872" cy="118872"/>
          </a:xfrm>
          <a:prstGeom prst="ellipse">
            <a:avLst/>
          </a:prstGeom>
          <a:solidFill>
            <a:srgbClr val="C15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28799" y="4178808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343B"/>
                </a:solidFill>
                <a:latin typeface="Calibri"/>
              </a:rPr>
              <a:t>API rate limit</a:t>
            </a:r>
          </a:p>
        </p:txBody>
      </p:sp>
      <p:sp>
        <p:nvSpPr>
          <p:cNvPr id="21" name="Oval 20"/>
          <p:cNvSpPr/>
          <p:nvPr/>
        </p:nvSpPr>
        <p:spPr>
          <a:xfrm>
            <a:off x="1618487" y="4544568"/>
            <a:ext cx="118872" cy="118872"/>
          </a:xfrm>
          <a:prstGeom prst="ellipse">
            <a:avLst/>
          </a:prstGeom>
          <a:solidFill>
            <a:srgbClr val="C15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828799" y="448970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2343B"/>
                </a:solidFill>
                <a:latin typeface="Calibri"/>
              </a:rPr>
              <a:t>requests per minute</a:t>
            </a:r>
          </a:p>
        </p:txBody>
      </p:sp>
      <p:sp>
        <p:nvSpPr>
          <p:cNvPr id="23" name="Oval 22"/>
          <p:cNvSpPr/>
          <p:nvPr/>
        </p:nvSpPr>
        <p:spPr>
          <a:xfrm>
            <a:off x="5623560" y="4434840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833872" y="4370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C39A"/>
                </a:solidFill>
                <a:latin typeface="Calibri"/>
              </a:rPr>
              <a:t>your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3492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7A80"/>
                </a:solidFill>
                <a:latin typeface="Calibri"/>
              </a:rPr>
              <a:t>Retrieval = "which stored points are closest to the query point?"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2286000"/>
            <a:ext cx="3611880" cy="34290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28431" y="2542032"/>
            <a:ext cx="30998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15B4E"/>
                </a:solidFill>
                <a:latin typeface="Calibri"/>
              </a:rPr>
              <a:t>Two honest caveats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926080"/>
            <a:ext cx="3099816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1.  A 2-D picture is a lie. In 1536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dimensions almost everything is far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from everything else; only relative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distances mean anything.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2.  "Similar" means "used in similar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contexts", not "logically related".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"I love this" and "I hate this" sit close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together — which is exactly why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sentiment cannot be read off a distance.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How text becomes a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05740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Text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5A7A80"/>
                </a:solidFill>
                <a:latin typeface="Calibri"/>
              </a:rPr>
              <a:t>"paid annual leave"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24912" y="2487168"/>
            <a:ext cx="274320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99232" y="205740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108960" y="205740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Tokenise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5A7A80"/>
                </a:solidFill>
                <a:latin typeface="Calibri"/>
              </a:rPr>
              <a:t>[paid][ annual][ leave]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4" y="2487168"/>
            <a:ext cx="274320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21224" y="205740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330952" y="205740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Transformer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5A7A80"/>
                </a:solidFill>
                <a:latin typeface="Calibri"/>
              </a:rPr>
              <a:t>contextual vectors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68896" y="2487168"/>
            <a:ext cx="274320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43216" y="205740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52944" y="205740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Pool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5A7A80"/>
                </a:solidFill>
                <a:latin typeface="Calibri"/>
              </a:rPr>
              <a:t>one vector per text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390888" y="2487168"/>
            <a:ext cx="274320" cy="237744"/>
          </a:xfrm>
          <a:prstGeom prst="rightArrow">
            <a:avLst/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65208" y="2057400"/>
            <a:ext cx="1874519" cy="10972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774936" y="2057400"/>
            <a:ext cx="165506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2343B"/>
                </a:solidFill>
                <a:latin typeface="Calibri"/>
              </a:rPr>
              <a:t>Normalise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1050" b="0" i="0">
                <a:solidFill>
                  <a:srgbClr val="5A7A80"/>
                </a:solidFill>
                <a:latin typeface="Calibri"/>
              </a:rPr>
              <a:t>length 1.0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20440"/>
            <a:ext cx="5852160" cy="22860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33271" y="3776472"/>
            <a:ext cx="5340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What the training objective was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60520"/>
            <a:ext cx="534009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 model was trained so that texts appearing in similar contexts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get similar vectors — typically with contrastive learning: pull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matching pairs together, push random pairs apart.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Nothing about your documents was memorised. The model is 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pure function: same text in → same vector out, every time.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520440"/>
            <a:ext cx="1901952" cy="475488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59168" y="3520440"/>
            <a:ext cx="16824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8CE6C9"/>
                </a:solidFill>
                <a:latin typeface="Calibri"/>
              </a:rPr>
              <a:t>OpenAI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06256" y="3520440"/>
            <a:ext cx="694944" cy="475488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15984" y="35204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CE6C9"/>
                </a:solidFill>
                <a:latin typeface="Calibri"/>
              </a:rPr>
              <a:t>Dim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56064" y="3520440"/>
            <a:ext cx="694944" cy="475488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765792" y="35204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CE6C9"/>
                </a:solidFill>
                <a:latin typeface="Calibri"/>
              </a:rPr>
              <a:t>MTEB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05872" y="3520440"/>
            <a:ext cx="868680" cy="475488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515600" y="3520440"/>
            <a:ext cx="6492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8CE6C9"/>
                </a:solidFill>
                <a:latin typeface="Calibri"/>
              </a:rPr>
              <a:t>Pages / $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4050791"/>
            <a:ext cx="1901952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9168" y="4050791"/>
            <a:ext cx="16824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28090"/>
                </a:solidFill>
                <a:latin typeface="Calibri"/>
              </a:rPr>
              <a:t>text-embedding-3-small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06256" y="4050791"/>
            <a:ext cx="694944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15984" y="405079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1536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56064" y="4050791"/>
            <a:ext cx="694944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765792" y="4050791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62.3%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05872" y="4050791"/>
            <a:ext cx="868680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515600" y="4050791"/>
            <a:ext cx="6492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~62,500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0" y="4581144"/>
            <a:ext cx="1901952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059168" y="4581144"/>
            <a:ext cx="16824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28090"/>
                </a:solidFill>
                <a:latin typeface="Calibri"/>
              </a:rPr>
              <a:t>text-embedding-3-large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06256" y="4581144"/>
            <a:ext cx="694944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15984" y="458114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3072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56064" y="4581144"/>
            <a:ext cx="694944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765792" y="458114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64.6%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05872" y="4581144"/>
            <a:ext cx="868680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515600" y="4581144"/>
            <a:ext cx="6492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~9,615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0" y="5111496"/>
            <a:ext cx="1901952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059168" y="5111496"/>
            <a:ext cx="168249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28090"/>
                </a:solidFill>
                <a:latin typeface="Calibri"/>
              </a:rPr>
              <a:t>text-embedding-ada-002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06256" y="5111496"/>
            <a:ext cx="694944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15984" y="511149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1536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56064" y="5111496"/>
            <a:ext cx="694944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765792" y="511149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61.0%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405872" y="5111496"/>
            <a:ext cx="868680" cy="475488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515600" y="5111496"/>
            <a:ext cx="64922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7A80"/>
                </a:solidFill>
                <a:latin typeface="Calibri"/>
              </a:rPr>
              <a:t>~12,500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5623560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5A7A80"/>
                </a:solidFill>
                <a:latin typeface="Calibri"/>
              </a:rPr>
              <a:t>All three accept up to 8,192 tokens per request. The dimensions parameter can shorten 3-large to 256–1024 floats with only a small accuracy loss (Matryoshka embeddings).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Three ways to compare two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3271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Cosine similarity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060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343B"/>
                </a:solidFill>
                <a:latin typeface="Courier New"/>
              </a:rPr>
              <a:t>cos(θ) = (A · B) / (|A| |B|)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310896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The angle between the vectors — magnitude ignored.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Range −1 … 1.  1 = identical direction, 0 = unrelated.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The default for text. Length varies with wording;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meaning shouldn't.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45152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343B"/>
                </a:solidFill>
                <a:latin typeface="Calibri"/>
              </a:rPr>
              <a:t>Dot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6060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343B"/>
                </a:solidFill>
                <a:latin typeface="Courier New"/>
              </a:rPr>
              <a:t>A · B = Σ AᵢBᵢ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310896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Angle and magnitude together. Unbounded.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If vectors are normalised to length 1, the dot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product IS the cosine — which is how every fast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index computes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1168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57031" y="2240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343B"/>
                </a:solidFill>
                <a:latin typeface="Calibri"/>
              </a:rPr>
              <a:t>Euclidean (L2)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26060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343B"/>
                </a:solidFill>
                <a:latin typeface="Courier New"/>
              </a:rPr>
              <a:t>d = √Σ (Aᵢ − Bᵢ)²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310896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Straight-line distance. Small = similar,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so it is a distance, not a similarity.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On normalised vectors it ranks identically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to cosine:  d² = 2 − 2·cos(θ).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440680"/>
            <a:ext cx="10607040" cy="77724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33271" y="5696712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343B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60527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CE6C9"/>
                </a:solidFill>
                <a:latin typeface="Calibri"/>
              </a:rPr>
              <a:t>Practical rule: normalise your vectors, then use the dot product. You get cosine semantics at the speed of a multiply-add — and every ranking below agrees.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Cosine, worked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560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A80"/>
                </a:solidFill>
                <a:latin typeface="Calibri"/>
              </a:rPr>
              <a:t>Toy 3-dimension vectors so the arithmetic is visible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5074920" cy="32004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450591"/>
            <a:ext cx="4562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834639"/>
            <a:ext cx="456285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= "paid annual leave"      →  [ 0.9,  0.4,  0.1 ]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B = "vacation days policy"   →  [ 0.8,  0.5,  0.2 ]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 = "API rate limit"          →  [ 0.1, −0.3,  0.9 ]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· B  =  0.72 + 0.20 + 0.02  =  0.94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|A| = 0.99      |B| = 0.96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cos(A,B)  =  0.94 / (0.99 × 0.96)  =  0.99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A · C  =  0.09 − 0.12 + 0.09  =  0.06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cos(A,C)  =  0.06 / (0.99 × 0.95)  =  0.06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074920" cy="32004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65392" y="2450591"/>
            <a:ext cx="4562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343B"/>
                </a:solidFill>
                <a:latin typeface="Calibri"/>
              </a:rPr>
              <a:t>How to read the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834639"/>
            <a:ext cx="456285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0.99   near-duplicate — same idea, different words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0.80   clearly related, safe to retrieve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0.60   loosely related — often still useful context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0.30   different topic that shares vocabulary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0.06   unrelated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There is no universal cut-off. Thresholds depend on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model and the corpus — measure them, don't guess.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With text-embedding-3 models, unrelated text rarely goes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below ~0.1, so "low" starts higher than beginners expect.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Why brute force stops working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074920" cy="210312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3271" y="2267712"/>
            <a:ext cx="4562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Exact search is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51760"/>
            <a:ext cx="4562856" cy="1280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For each stored vector: compute similarity with the query,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keep the best k. Guaranteed correct — it checks everything.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300" b="0" i="0">
                <a:solidFill>
                  <a:srgbClr val="5A7A80"/>
                </a:solidFill>
                <a:latin typeface="Calibri"/>
              </a:rPr>
              <a:t>Cost per query = N × d multiply-adds.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251960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4251960"/>
            <a:ext cx="14721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1,000 chunks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4251960"/>
            <a:ext cx="1417320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51760" y="4251960"/>
            <a:ext cx="11978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1.5 M ops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32504" y="4251960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142232" y="4251960"/>
            <a:ext cx="1600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instant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727448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727448"/>
            <a:ext cx="14721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100,000 chunks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42032" y="4727448"/>
            <a:ext cx="1417320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51760" y="4727448"/>
            <a:ext cx="11978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150 M 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32504" y="4727448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142232" y="4727448"/>
            <a:ext cx="1600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~50 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02936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202936"/>
            <a:ext cx="14721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10 M chunks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2032" y="5202936"/>
            <a:ext cx="1417320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651760" y="5202936"/>
            <a:ext cx="11978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15 B 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32504" y="5202936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42232" y="5202936"/>
            <a:ext cx="1600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seconds — too slow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678423"/>
            <a:ext cx="1691640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86968" y="5678423"/>
            <a:ext cx="14721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10 M chunks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42032" y="5678423"/>
            <a:ext cx="1417320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651760" y="5678423"/>
            <a:ext cx="119786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61 GB in 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32504" y="5678423"/>
            <a:ext cx="1819656" cy="420624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42232" y="5678423"/>
            <a:ext cx="1600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C15B4E"/>
                </a:solidFill>
                <a:latin typeface="Calibri"/>
              </a:rPr>
              <a:t>and it must all fit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011680"/>
            <a:ext cx="5074920" cy="416052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65392" y="2267712"/>
            <a:ext cx="45628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The way out: approximate search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2651760"/>
            <a:ext cx="4562856" cy="33375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Give up the guarantee of a perfect answer in exchange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for a massive speed-up. Typical: 95–99% of the true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neighbours, 10–100× faster. This is ANN — approximate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nearest neighbour search. Two families dominate: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•  Partitioning — cluster the vectors, search only the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    few clusters nearest the query  (IVF, SPANN)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•  Graph — link each vector to its neighbours and walk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    the graph towards the query  (HNSW)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Recall — the fraction of the true top-k you got back —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is what you tune against latency.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Flat, IVF, HNSW — the three you will meet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383280" cy="30632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33271" y="22402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3500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2258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Calibri"/>
              </a:rPr>
              <a:t>Flat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252374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28090"/>
                </a:solidFill>
                <a:latin typeface="Calibri"/>
              </a:rPr>
              <a:t>Exact · no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971800"/>
            <a:ext cx="2880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Store the vectors, compare against all of them.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100% recall, zero tuning, linear cost.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Use below ~100k vectors — which is most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teaching projects and many real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30632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645152" y="2240280"/>
            <a:ext cx="457200" cy="457200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45152" y="23500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258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Calibri"/>
              </a:rPr>
              <a:t>IVF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52374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0A896"/>
                </a:solidFill>
                <a:latin typeface="Calibri"/>
              </a:rPr>
              <a:t>Cluster and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971800"/>
            <a:ext cx="2880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k-means the vectors into nlist cells; a query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searches only the nprobe nearest cells.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FAISS guidance: nlist ≈ 4·√N … 16·√N.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Raise nprobe for recall, lower it for speed.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Needs a training pass over sample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011680"/>
            <a:ext cx="3383280" cy="30632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57031" y="224028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57031" y="23500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2258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343B"/>
                </a:solidFill>
                <a:latin typeface="Calibri"/>
              </a:rPr>
              <a:t>HNSW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2523744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02C39A"/>
                </a:solidFill>
                <a:latin typeface="Calibri"/>
              </a:rPr>
              <a:t>Navigable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971800"/>
            <a:ext cx="2880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A layered graph: each vector links to 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neighbours; search descends from a sparse top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layer to the dense bottom one.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Fast and accurate, no training, but memory-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hungry: (d×4 + M×2×4) bytes per vector.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The default in Chroma single-node.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2120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33271" y="5468112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Choosing, in one 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1" y="5852160"/>
            <a:ext cx="10094976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0" i="0">
                <a:solidFill>
                  <a:srgbClr val="5A7A80"/>
                </a:solidFill>
                <a:latin typeface="Calibri"/>
              </a:rPr>
              <a:t>Start Flat. Move to HNSW when queries get slow and you have RAM to spare. Move to IVF or a compressed index when the vectors stop fitting in memory.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VECTOR DATABASES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An index is not a database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201168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09397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0744" y="1993392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2267712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Vectors plus the original text and metadata, so a hit can be shown to a user.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4436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302666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0744" y="2926080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3200400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Build and maintain the ANN structure as data arrives.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87705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95935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3858768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744" y="4133088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Combine similarity with metadata conditions: where source = 'hr.pdf' and year ≥ 2025.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809744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0744" y="4791456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0744" y="5065776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Insert, update and delete single records without rebuilding everything.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201168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09360" y="209397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1993392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Persist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4" y="2267712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Survive a restart. A numpy array in RAM does not.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294436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09360" y="302666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864" y="2926080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200400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Shard across machines, cache hot data, keep p99 latency predictable.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387705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09360" y="395935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2864" y="3858768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Isolate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4" y="4133088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Namespaces or collections so one customer never sees another's vectors.</a:t>
            </a:r>
          </a:p>
        </p:txBody>
      </p:sp>
      <p:sp>
        <p:nvSpPr>
          <p:cNvPr id="32" name="Oval 31"/>
          <p:cNvSpPr/>
          <p:nvPr/>
        </p:nvSpPr>
        <p:spPr>
          <a:xfrm>
            <a:off x="6309360" y="4809744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09360" y="48920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12864" y="4791456"/>
            <a:ext cx="43342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2343B"/>
                </a:solidFill>
                <a:latin typeface="Calibri"/>
              </a:rPr>
              <a:t>Operate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5065776"/>
            <a:ext cx="433425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A80"/>
                </a:solidFill>
                <a:latin typeface="Calibri"/>
              </a:rPr>
              <a:t>Backups, access control, monitoring, eventual-consistency guarantees.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48640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33271" y="5742432"/>
            <a:ext cx="10094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343B"/>
                </a:solidFill>
                <a:latin typeface="Calibri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Metadata filtering is the feature people underestimate — it is what turns a demo into a multi-tenant product.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Store → index → retrieve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4709160" cy="3794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33271" y="2267712"/>
            <a:ext cx="41970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One record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1" y="2651760"/>
            <a:ext cx="4197096" cy="297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id        "handbook-042"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vector    [0.0069, -0.0212, … ]   1536 floats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document  "Employees receive 15 days of paid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           annual leave in their first year …"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metadata  { source: "handbook.pdf",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            page: 4, section: "4.2",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            updated: "2026-01-15" }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The vector is for finding it.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The document is what you paste into the prompt.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The metadata is what you filter and cite with.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201168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062472" y="22128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343B"/>
                </a:solidFill>
                <a:latin typeface="Calibri"/>
              </a:rPr>
              <a:t>WRITE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2542032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1  Chunk arrives with its metadata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2  Embedding model returns a vector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3  Record is written to storage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4  Index is updated (immediately, or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     in the background — eventual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5A7A80"/>
                </a:solidFill>
                <a:latin typeface="Calibri"/>
              </a:rPr>
              <a:t>     consistency in managed services)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4023360"/>
            <a:ext cx="5577840" cy="178308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062472" y="422452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CE6C9"/>
                </a:solidFill>
                <a:latin typeface="Calibri"/>
              </a:rP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4553712"/>
            <a:ext cx="5029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1  Query text → vector (same model)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2  Metadata filter narrows the candidates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3  ANN index returns top-k ids + scores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4  Store returns document + metadata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5  Chunks go into the prompt, sources</a:t>
            </a:r>
          </a:p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150" b="0" i="0">
                <a:solidFill>
                  <a:srgbClr val="D6E7E4"/>
                </a:solidFill>
                <a:latin typeface="Calibri"/>
              </a:rPr>
              <a:t>     go into the citation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TOOL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FAISS — a similarity-search library, not a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560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A80"/>
                </a:solidFill>
                <a:latin typeface="Calibri"/>
              </a:rPr>
              <a:t>Facebook AI Similarity Search · open source · C++ with Python bindings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 library you import. It builds an index in RAM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and answers nearest-neighbour queries very fast.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No server, no schema, no metadata, no filtering,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no persistence beyond write_index() / read_index().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It stores vectors and integer ids. Mapping an id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back to text is your job.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45152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Why people use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Speed and control. The reference implementation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of nearly every ANN algorithm — Flat, IVF, HNSW,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PQ/OPQ compression, RaBitQ, GPU indexes.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Battle-tested at billion-vector scale.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It is also the engine inside many higher-level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tools — LangChain's FAISS vector store wraps 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7031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When to reach for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A read-mostly corpus that fits in RAM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You want to see exactly what the index does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Batch/offline similarity jobs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Learning how ANN works — our lab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✗  You need metadata filters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✗  Records change constantly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✗  You want a service other apps can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In the lab:  faiss.IndexFlatIP on normalised vectors — exact cosine search in three lines.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TOOL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ChromaDB — the developer-friendly local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560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A80"/>
                </a:solidFill>
                <a:latin typeface="Calibri"/>
              </a:rPr>
              <a:t>Open source (Apache 2.0) · embedded in your process, or a server, or Chroma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 real vector database that runs inside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your Python process: chromadb.Client()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and you are up.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Collections hold ids, embeddings,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documents and metadata together — 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it will call the embedding model for you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if you pass raw text.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PersistentClient writes to disk, reloads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on the next run.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45152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What you get for 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add / upsert / update / delete by id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where= metadata filters and full-text search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HNSW index per collection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configurable space: l2 (default), cosine, ip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ef_construction 100 · ef_search 100 ·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    max_neighbors 16 by default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Same API locally and on Chroma Cloud.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7031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When to reach for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Prototypes and single-machine apps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You want filters without running a server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Documents change while you develop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Teaching and demos — it is the least ceremony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✗  Very large corpora on one node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✗  Heavy multi-tenant production traffic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     (that's what the Cloud tier is for)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C15B4E"/>
                </a:solidFill>
                <a:latin typeface="Calibri"/>
              </a:rPr>
              <a:t>Watch out:  the default distance is squared L2. If you want cosine, say so at creation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TOOL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Pinecone — the managed, serverless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3560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7A80"/>
                </a:solidFill>
                <a:latin typeface="Calibri"/>
              </a:rPr>
              <a:t>Commercial SaaS · free Starter tier (AWS us-east-1) · you never see a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What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1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A hosted vector database behind an API key.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You create an index, upsert records, query.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Sharding, replication, backups, scaling and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uptime are somebody else's problem.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Two modes: bring your own vectors, or let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Pinecone embed your text with a hosted model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(create_index_for_model + upsert_records).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45152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  <a:latin typeface="Calibri"/>
              </a:rPr>
              <a:t>Production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namespaces — one per tenant, queried in isolation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metadata filters ($eq, $in, $gte, $and …)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40 KB of metadata per record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cosine / dotproduct / euclidean metrics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hybrid dense + sparse search and reranking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•  eventually consistent: new records take a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5A7A80"/>
                </a:solidFill>
                <a:latin typeface="Calibri"/>
              </a:rPr>
              <a:t>    few seconds to become searchable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286000"/>
            <a:ext cx="3383280" cy="329184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7031" y="2542032"/>
            <a:ext cx="28712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8CE6C9"/>
                </a:solidFill>
                <a:latin typeface="Calibri"/>
              </a:rPr>
              <a:t>When to reach for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926080"/>
            <a:ext cx="2871216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Production traffic with real users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Millions of vectors, elastic load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A team that does not want to run infrastructure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✓  Multi-tenant isolation out of the box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✗  Learning the internals — it hides them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✗  Air-gapped or strict data-residency work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 i="0">
                <a:solidFill>
                  <a:srgbClr val="D6E7E4"/>
                </a:solidFill>
                <a:latin typeface="Calibri"/>
              </a:rPr>
              <a:t>✗  Zero budget at scale (it is usage-priced)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In the lab this section is optional — it runs only if a PINECONE_API_KEY is present.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CHOOSING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343B"/>
                </a:solidFill>
                <a:latin typeface="Cambria"/>
              </a:rPr>
              <a:t>FAISS vs ChromaDB vs Pinecone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65960"/>
            <a:ext cx="2377440" cy="41148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1965960"/>
            <a:ext cx="21579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CE6C9"/>
                </a:solidFill>
                <a:latin typeface="Calibr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965960"/>
            <a:ext cx="2606040" cy="41148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55848" y="1965960"/>
            <a:ext cx="23865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CE6C9"/>
                </a:solidFill>
                <a:latin typeface="Calibri"/>
              </a:rPr>
              <a:t>FAISS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965960"/>
            <a:ext cx="2606040" cy="41148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53328" y="1965960"/>
            <a:ext cx="238658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CE6C9"/>
                </a:solidFill>
                <a:latin typeface="Calibri"/>
              </a:rPr>
              <a:t>ChromaDB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965960"/>
            <a:ext cx="2743200" cy="411480"/>
          </a:xfrm>
          <a:prstGeom prst="roundRect">
            <a:avLst>
              <a:gd name="adj" fmla="val 8000"/>
            </a:avLst>
          </a:prstGeom>
          <a:solidFill>
            <a:srgbClr val="0B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50807" y="1965960"/>
            <a:ext cx="252374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8CE6C9"/>
                </a:solidFill>
                <a:latin typeface="Calibri"/>
              </a:rPr>
              <a:t>Pinecone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32304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2432304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What it 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432304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355848" y="2432304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Library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432304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053328" y="2432304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Database (embedded)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2432304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50807" y="2432304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Managed service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834640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86968" y="2834640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Runs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2834640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55848" y="2834640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In your process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2834640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53328" y="2834640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In-process or server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2834640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750807" y="283464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In Pinecone's cloud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236976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86968" y="3236976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Persistence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3236976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355848" y="3236976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Manual save/load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0" y="3236976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053328" y="3236976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Automatic on disk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3236976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750807" y="3236976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Managed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3639312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" y="3639312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Metadata filters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363931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355848" y="363931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No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363931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053328" y="363931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Yes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41080" y="3639312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750807" y="363931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Yes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041648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86968" y="4041648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Stores the text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6120" y="4041648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355848" y="4041648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No — ids only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4041648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053328" y="4041648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Yes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41080" y="4041648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750807" y="4041648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Yes (as metadata)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4443984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86968" y="4443984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Index control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46120" y="4443984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355848" y="4443984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Total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0" y="4443984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053328" y="4443984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HNSW, tunable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41080" y="4443984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750807" y="4443984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Hidden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" y="4846320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886968" y="4846320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Scale ceiling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246120" y="4846320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355848" y="4846320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One machine's RAM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0" y="4846320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053328" y="4846320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One node (or Cloud)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41080" y="4846320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750807" y="4846320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Effectively none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77240" y="5248656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86968" y="5248656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Cost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46120" y="5248656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355848" y="5248656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Free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943600" y="5248656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053328" y="5248656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Free (self-hosted)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641080" y="5248656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D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750807" y="5248656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Usage-based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7240" y="5650992"/>
            <a:ext cx="23774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86968" y="5650992"/>
            <a:ext cx="21579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2343B"/>
                </a:solidFill>
                <a:latin typeface="Calibri"/>
              </a:rPr>
              <a:t>Best for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46120" y="565099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355848" y="565099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Speed &amp; learning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0" y="5650992"/>
            <a:ext cx="260604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053328" y="5650992"/>
            <a:ext cx="238658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Prototypes &amp; apps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41080" y="5650992"/>
            <a:ext cx="2743200" cy="365760"/>
          </a:xfrm>
          <a:prstGeom prst="roundRect">
            <a:avLst>
              <a:gd name="adj" fmla="val 8000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750807" y="5650992"/>
            <a:ext cx="2523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7A80"/>
                </a:solidFill>
                <a:latin typeface="Calibri"/>
              </a:rPr>
              <a:t>Production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7240" y="6108192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028090"/>
                </a:solidFill>
                <a:latin typeface="Calibri"/>
              </a:rPr>
              <a:t>They are not competitors so much as three points on one axis: control ⟶ convenience.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5A7A80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8CE6C9"/>
                </a:solidFill>
                <a:latin typeface="Calibr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88136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Six things to remember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01168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209397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B2E2E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05740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An embedding turns text into a fixed-length vector whose direction encodes meaning.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78608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66090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B2E2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24328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Index and query must use the same embedding model — always.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45536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22783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B2E2E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191256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Cosine similarity compares direction; normalise and the dot product gives it to you free.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12464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B2E2E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58184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Exact search is fine until it isn't; ANN indexes trade a little recall for a lot of speed.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279392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4361688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B2E2E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325112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A vector database = index + storage + metadata filtering + operations.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846320"/>
            <a:ext cx="402336" cy="402336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4928616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0B2E2E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89204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 i="0">
                <a:solidFill>
                  <a:srgbClr val="FFFFFF"/>
                </a:solidFill>
                <a:latin typeface="Calibri"/>
              </a:rPr>
              <a:t>FAISS for control, Chroma for convenience, Pinecone for production.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3212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0F3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51560" y="56875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02C39A"/>
                </a:solidFill>
                <a:latin typeface="Calibri"/>
              </a:rPr>
              <a:t>NOW — TO THE NOTEBOOK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9618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8CE6C9"/>
                </a:solidFill>
                <a:latin typeface="Calibri"/>
              </a:rPr>
              <a:t>Embeddings → cosine by hand → brute-force search → FAISS → ChromaDB → Pinecone → a working mini-RAG answer.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276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D6E7E4"/>
                </a:solidFill>
                <a:latin typeface="Calibri"/>
              </a:rPr>
              <a:t>Session 32b · Embeddings &amp; Vector Databases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