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417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set the frame. Two halves: agents as an idea, then LangGraph as the tool. Say up front that the last twelve minutes are hands-on so they know to keep questions short in the theory block. 30 seconds, no more.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this out. Point at it. The one thing to flag: the first half is deliberately theory-only, and it exists so that the LangGraph half makes sense rather than looking like arbitrary API. Tell them to hold detailed questions for the demo. 45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transition slide. Say: 'we're going to earn the right to use a framework.' 10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in the first half. Everything else elaborates it.
Say it plainly: in a normal LLM app, YOU wrote the control flow. Prompt goes in, text comes out, maybe you chain three calls — but the sequence was decided when you typed it. In an agent, the control flow is decided at runtime, by the model.
Good line: 'the control flow stops being code and becomes data.'
Ask the room: 'a RAG pipeline — retrieve, stuff the context, generate. Is that an agent?' Let them answer. The answer is no — the path never varies, no matter what the question is. That usually lands, because they built one two sessions ago.
2 minutes.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fast here. Model, tools, state — they've met all three in earlier sessions. Tools in Phase 8, state as chat memory, models throughout.
Spend your time on number four. The loop is what's actually new. Plant the flag now: 'hold on to the loop, because in the second half we're going to hand it to a framework, and the entire argument for LangGraph is about what you get in return.'
1 minute 15.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circle once, slowly, then stop. Don't over-explain — the point is that they can hold four boxes in their head.
The thing worth stressing: 'perception' sounds grand but it just means reading a dictionary. Deflate the vocabulary; it makes the whole topic less intimidating.
1 minute 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it up as a problem before you name the solution. Two failure modes:
One — pure chain-of-thought. It reasons well but it never touches the world, so when it doesn't know something it invents it. They have all seen this.
Two — action-only. It calls tools but has no thread of reasoning connecting them, so it flails.
Then the payoff: ReAct is just alternating them. Reason, act, reason, act. That's the whole paper.
Mention the paper by name and year — it's from 2022 and it's short. Worth telling them it's readable in an evening.
1 minute 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loop with your hand as you talk. Thought, action, observation, back to thought.
The box at the bottom matters more than it looks. A lot of the tutorials they'll find online still show the original text-parsing version with 'Thought:' and 'Action:' printed as strings. That's obsolete. Models do tool calls natively now. Tell them so they don't get confused when the code they find doesn't match the code we write.
1 minute 15.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trace out loud, in character. It takes about forty seconds and it's the moment the abstraction becomes concrete.
Then the key question for the room: 'how many database queries does this agent run?' Wait. The answer is: nobody knows in advance. Two here. If there were five warehouses it would be five. THAT is the difference from a pipeline — the number of steps is decided while it runs.
Also point out the last Thought. Deciding to stop is itself a reasoning step. That comes back in a few slides.
1 minute 30.</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beats. First: a tool is nothing exotic. It's a function with a good description.
Second, and this is the one they'll remember: the docstring IS the prompt. It's the entire basis on which the model decides to call this thing. If you write 'gets stock' you will get bad tool selection and you'll blame the model.
Ask: 'if you had a tool called `run_query` with the docstring "runs a query" — what goes wrong?' Answer: it gets called for everything, including things it can't do.
1 minute.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misunderstood mechanic for beginners, so slow down.
The model does not execute anything. It emits a small piece of structured JSON that says 'please run get_stock with sku A-114'. Your code decides whether to honour that, runs it, and hands the result back as text.
Why it matters practically: that gap is where you put permission checks. The model asking to delete a table is not the model deleting a table.
Good question for the room: 'so what stops an agent dropping your production database?' Answer: you do. In that gap.
1 minute 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 this is a breather slide. Point at the RAG one specifically: the retriever they built in Session 33 is a tool. Nothing new, just wired differently.
End on the bottom bar. Tool bloat is real. Every extra tool is more description competing for the model's attention. Five good tools beat twenty mediocre ones. 45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genuine trade-off with no right answer, because that's what it is.
Step-by-step adapts but wanders and costs more. Plan-first is cheap and auditable but shatters when step two returns something unexpected.
The practical point: if you can read the plan before anything executes, you can approve it. That matters enormously when the tools do real things — sending emails, moving money.
Re-planning is where most production systems land.
And one link back: a plan is only as good as the tools available. Planning and tool design are the same design problem.
1 minute 30.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for the whole first half. Let it sit for a second before you talk.
The architecture is genuinely this small. Model call, and then one of two arrows. Orange means it asked for a tool, so run it and go round again. Green means it didn't, so you're done.
Then say the thing that sets up the rest: 'everything difficult about agents lives in the choice between those two arrows.' Loops, stopping, failure — all of it is that decision.
1 minute 15.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one strong message.
The healthy stop is number one: the model just stops asking for tools. But you never rely on it alone, because a confused model will happily loop forever.
So you always add a step budget. It feels inelegant. Say that out loud — 'it feels like a hack, and you will ship it anyway, in every agent you ever build.' In the notebook it's three lines called MAX_ATTEMPTS, and we'll watch it actually fire.
45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just list these — they're the setup for the LangGraph argument, so land the last line hard.
Go through them briskly. The one worth dwelling on is silent failure: a tool throws, you catch it, you return the error string, and the model treats 'ConnectionError: timed out' as data and reasons on top of it. Nothing crashes. The answer is just wrong.
Then the bottom bar. Every single one of these is only debuggable if you can inspect the run step by step. Hold that thought — next slide.
1 minute 15.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hinge of the whole session. Slow right down.
Start by being fair to the simple version. Read the twenty lines. Say: 'this is a real agent. It works. If you took nothing else from today you could go and build that this afternoon and it would do something useful.'
Then turn it. Four things happen when you try to ship it — walk the right column one at a time, and let each one land.
Crash on step nine, start from scratch. Follow-up question, nothing persisted. Wrong tool, no record. Need an approval, nowhere to pause.
And then: LangGraph is not a nicer way to write that while loop. It's the same loop, with those four things solved. That's the pitch, and it's an honest one.
2 minutes. Take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Just breathe and switch gears.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the concrete slides that follow do the real teaching.
The framing that helps most: LangGraph is deliberately low-level. It doesn't try to be clever about prompts or agents. It gives you a way to say 'here are the steps and here's how you move between them', and then it runs it carefully.
Middle box is the one to stress: because the runtime moves you one node at a time, it has a natural place to save state. Checkpointing isn't bolted on — it falls out of the design.
1 minute 15.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docs line and then say it again: nodes do the work, edges tell what to do next. Six words, and it genuinely is the whole API.
One thing to make explicit because it surprises people: nodes never call each other. Node A does not invoke node B. A writes to state, the edge decides B runs, B reads state. That indirection is what lets you rewire a graph without touching any node.
1 minute.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code out. It's short enough to read literally.
The point to make: state is the only channel between nodes. There is no other way for node A to tell node B anything.
And emphasise partial updates — a node returns a small dict of just what it changed, and LangGraph merges it. People expect to have to return the whole state and they don't.
Flag the green line as a cliffhanger, then move on.
1 minute 15.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where beginners lose an afternoon.
Default behaviour is overwrite. Two nodes both write to 'draft', the second one wins. Fine, expected.
But if you want to accumulate — a log, a chat history, a list of retrieved documents — overwrite destroys it. So you annotate the key with a function that says how to combine old and new. operator.add on a list appends.
Say the diagnosis line explicitly: 'if your message history keeps getting wiped, this is why.' Somebody in the room will hit this within a week and remember.
We run this live in the notebook in about eight minutes.
1 minute 15.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side-by-side is the point. Left one calls a model, right one counts words, and the framework treats them identically.
Why this matters practically: it means most of your graph is normal, testable Python. You can unit-test the review node in one line. People assume an 'agent framework' means everything becomes model calls and magic. It doesn't.
The right-hand node is literally the one we build in the notebook — and I'll tell them why it's not an LLM when we get there. Tease it: 'there's a good story behind why that reviewer is plain Python.'
1 minute.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edge first, ten seconds — write always goes to review, nothing interesting.
Then the conditional edge, which is the whole reason we're here. A small function reads state and returns a label. You map labels to nodes.
And then the bottom bar, which is the moment: one of those labels points at a node we've already run. That's it. That's the loop. There's no loop construct in LangGraph — a cycle is just an edge that points backwards.
Worth pausing on. People expect something more.
1 minute 15.</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down the right-hand side. Don't read the code line by line — they'll read it themselves.
Two things to say out loud:
START and END are real, built-in nodes. You don't define them. add_edge(START, 'write') is how you say where to begin.
And compile() matters — the builder is inert, the compiled graph is the runnable thing. If they get an error saying a StateGraph has no invoke method, they forgot to compile. That error will happen to somebody.
1 minute 15.</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picture with your voice: the graph steps, and after every step the runtime writes down the entire state. Those snapshots are strung onto a thread, which is just an id you pass in.
The mechanism is dull. Say so — it's a dictionary getting saved repeatedly. What it enables is not dull, and that's the next slide.
One practical note: InMemorySaver is RAM, so it dies with the process. One-line swap to SQLite or Postgres for anything real.
1 minute 30.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callback deliberately. Four slides ago you listed four things that break when you ship the while-loop. This slide is the same four, solved, and they all come from one feature.
If you land nothing else about LangGraph, land this: checkpointing is the reason to use it. Everything else is convenience.
Be honest about scope: we'll demo resume-and-inspect in the notebook. Human-in-the-loop and time travel we're naming, not building — they need their own session.
1 minute.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before you show the code, so they have somewhere to hang it.
One node writes with an LLM, one node checks with plain Python, and a conditional edge sends it back round if the check fails.
Say the guarantee out loud: 'there is nothing in this notebook we haven't already covered on a slide.' It lowers the temperature considerably.
Then switch to the notebook. 30 seconds on this slide, no more.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eight. Pick three and say them properly.
My suggestion: (1) an agent decides its own path — that's the definition; (2) a backward edge is the only loop there is — that's the LangGraph insight; (3) checkpointing is the reason the framework exists.
Then open the floor. If nobody speaks, prompt with: 'what's the first thing you'd want to turn into a graph?'
2 minutes including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the omissions are choices, not oversights — it builds trust and it tells them where to go next.
The one to flag properly is create_agent. There's a one-line shortcut that builds a whole tool-calling agent for you. Tell them it exists, and tell them you deliberately didn't teach it today, because if you start there you never learn what it's doing. Now they could write it themselves.
End with the homework — it's a real exercise, it takes five minutes, and the answer is genuinely interesting.
1 minute, then done.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3A"/>
        </a:solidFill>
        <a:effectLst/>
      </p:bgPr>
    </p:bg>
    <p:spTree>
      <p:nvGrpSpPr>
        <p:cNvPr id="1" name=""/>
        <p:cNvGrpSpPr/>
        <p:nvPr/>
      </p:nvGrpSpPr>
      <p:grpSpPr>
        <a:xfrm>
          <a:off x="0" y="0"/>
          <a:ext cx="0" cy="0"/>
          <a:chOff x="0" y="0"/>
          <a:chExt cx="0" cy="0"/>
        </a:xfrm>
      </p:grpSpPr>
      <p:sp>
        <p:nvSpPr>
          <p:cNvPr id="14" name="Text 12"/>
          <p:cNvSpPr/>
          <p:nvPr/>
        </p:nvSpPr>
        <p:spPr>
          <a:xfrm>
            <a:off x="914400" y="2148840"/>
            <a:ext cx="10058400" cy="320040"/>
          </a:xfrm>
          <a:prstGeom prst="rect">
            <a:avLst/>
          </a:prstGeom>
          <a:noFill/>
          <a:ln/>
        </p:spPr>
        <p:txBody>
          <a:bodyPr wrap="square" lIns="0" tIns="0" rIns="0" bIns="0" rtlCol="0" anchor="ctr"/>
          <a:lstStyle/>
          <a:p>
            <a:pPr marL="0" indent="0">
              <a:buNone/>
            </a:pPr>
            <a:r>
              <a:rPr lang="en-US" sz="1500" b="1" kern="0" spc="300" dirty="0">
                <a:solidFill>
                  <a:srgbClr val="FF9F1C"/>
                </a:solidFill>
                <a:latin typeface="Calibri" pitchFamily="34" charset="0"/>
                <a:ea typeface="Calibri" pitchFamily="34" charset="-122"/>
                <a:cs typeface="Calibri" pitchFamily="34" charset="-120"/>
              </a:rPr>
              <a:t>SESSION 35  ·  PHASE 10</a:t>
            </a:r>
            <a:endParaRPr lang="en-US" sz="1500" dirty="0"/>
          </a:p>
        </p:txBody>
      </p:sp>
      <p:sp>
        <p:nvSpPr>
          <p:cNvPr id="15" name="Text 13"/>
          <p:cNvSpPr/>
          <p:nvPr/>
        </p:nvSpPr>
        <p:spPr>
          <a:xfrm>
            <a:off x="914400" y="2560320"/>
            <a:ext cx="10058400" cy="1737360"/>
          </a:xfrm>
          <a:prstGeom prst="rect">
            <a:avLst/>
          </a:prstGeom>
          <a:noFill/>
          <a:ln/>
        </p:spPr>
        <p:txBody>
          <a:bodyPr wrap="square" lIns="0" tIns="0" rIns="0" bIns="0" rtlCol="0" anchor="ctr"/>
          <a:lstStyle/>
          <a:p>
            <a:pPr marL="0" indent="0">
              <a:lnSpc>
                <a:spcPts val="5600"/>
              </a:lnSpc>
              <a:buNone/>
            </a:pPr>
            <a:r>
              <a:rPr lang="en-US" sz="4600" b="1" dirty="0">
                <a:solidFill>
                  <a:srgbClr val="FFFFFF"/>
                </a:solidFill>
                <a:latin typeface="Cambria" pitchFamily="34" charset="0"/>
                <a:ea typeface="Cambria" pitchFamily="34" charset="-122"/>
                <a:cs typeface="Cambria" pitchFamily="34" charset="-120"/>
              </a:rPr>
              <a:t>AI Agents and</a:t>
            </a:r>
            <a:endParaRPr lang="en-US" sz="4600" dirty="0"/>
          </a:p>
          <a:p>
            <a:pPr marL="0" indent="0">
              <a:lnSpc>
                <a:spcPts val="5600"/>
              </a:lnSpc>
              <a:buNone/>
            </a:pPr>
            <a:r>
              <a:rPr lang="en-US" sz="4600" b="1" dirty="0">
                <a:solidFill>
                  <a:srgbClr val="FFFFFF"/>
                </a:solidFill>
                <a:latin typeface="Cambria" pitchFamily="34" charset="0"/>
                <a:ea typeface="Cambria" pitchFamily="34" charset="-122"/>
                <a:cs typeface="Cambria" pitchFamily="34" charset="-120"/>
              </a:rPr>
              <a:t>LangGraph Fundamentals</a:t>
            </a:r>
            <a:endParaRPr lang="en-US" sz="4600" dirty="0"/>
          </a:p>
        </p:txBody>
      </p:sp>
      <p:sp>
        <p:nvSpPr>
          <p:cNvPr id="16" name="Text 14"/>
          <p:cNvSpPr/>
          <p:nvPr/>
        </p:nvSpPr>
        <p:spPr>
          <a:xfrm>
            <a:off x="914400" y="4343400"/>
            <a:ext cx="10058400" cy="457200"/>
          </a:xfrm>
          <a:prstGeom prst="rect">
            <a:avLst/>
          </a:prstGeom>
          <a:noFill/>
          <a:ln/>
        </p:spPr>
        <p:txBody>
          <a:bodyPr wrap="square" lIns="0" tIns="0" rIns="0" bIns="0" rtlCol="0" anchor="ctr"/>
          <a:lstStyle/>
          <a:p>
            <a:pPr marL="0" indent="0">
              <a:buNone/>
            </a:pPr>
            <a:r>
              <a:rPr lang="en-US" sz="1900" dirty="0">
                <a:solidFill>
                  <a:srgbClr val="C9C4EE"/>
                </a:solidFill>
                <a:latin typeface="Calibri" pitchFamily="34" charset="0"/>
                <a:ea typeface="Calibri" pitchFamily="34" charset="-122"/>
                <a:cs typeface="Calibri" pitchFamily="34" charset="-120"/>
              </a:rPr>
              <a:t>From a model that answers, to a system that decides</a:t>
            </a:r>
            <a:endParaRPr lang="en-US" sz="1900" dirty="0"/>
          </a:p>
        </p:txBody>
      </p:sp>
      <p:sp>
        <p:nvSpPr>
          <p:cNvPr id="17" name="Text 15"/>
          <p:cNvSpPr/>
          <p:nvPr/>
        </p:nvSpPr>
        <p:spPr>
          <a:xfrm>
            <a:off x="914400" y="4892040"/>
            <a:ext cx="10058400" cy="365760"/>
          </a:xfrm>
          <a:prstGeom prst="rect">
            <a:avLst/>
          </a:prstGeom>
          <a:noFill/>
          <a:ln/>
        </p:spPr>
        <p:txBody>
          <a:bodyPr wrap="square" lIns="0" tIns="0" rIns="0" bIns="0" rtlCol="0" anchor="ctr"/>
          <a:lstStyle/>
          <a:p>
            <a:pPr marL="0" indent="0">
              <a:buNone/>
            </a:pPr>
            <a:r>
              <a:rPr lang="en-US" sz="1400" dirty="0">
                <a:solidFill>
                  <a:srgbClr val="6B6B8A"/>
                </a:solidFill>
                <a:latin typeface="Calibri" pitchFamily="34" charset="0"/>
                <a:ea typeface="Calibri" pitchFamily="34" charset="-122"/>
                <a:cs typeface="Calibri" pitchFamily="34" charset="-120"/>
              </a:rPr>
              <a:t>45 minutes  ·  theory + live notebook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TODAY</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Where the 45 minutes go</a:t>
            </a:r>
            <a:endParaRPr lang="en-US" sz="3200" dirty="0"/>
          </a:p>
        </p:txBody>
      </p:sp>
      <p:sp>
        <p:nvSpPr>
          <p:cNvPr id="4" name="Shape 2"/>
          <p:cNvSpPr/>
          <p:nvPr/>
        </p:nvSpPr>
        <p:spPr>
          <a:xfrm>
            <a:off x="640080" y="1600200"/>
            <a:ext cx="10881360" cy="713232"/>
          </a:xfrm>
          <a:prstGeom prst="roundRect">
            <a:avLst>
              <a:gd name="adj" fmla="val 12821"/>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Shape 3"/>
          <p:cNvSpPr/>
          <p:nvPr/>
        </p:nvSpPr>
        <p:spPr>
          <a:xfrm>
            <a:off x="868680" y="1728216"/>
            <a:ext cx="457200" cy="457200"/>
          </a:xfrm>
          <a:prstGeom prst="ellipse">
            <a:avLst/>
          </a:prstGeom>
          <a:solidFill>
            <a:srgbClr val="5B4BC4"/>
          </a:solidFill>
          <a:ln w="12700">
            <a:solidFill>
              <a:srgbClr val="FFFFFF"/>
            </a:solidFill>
            <a:prstDash val="solid"/>
          </a:ln>
        </p:spPr>
      </p:sp>
      <p:sp>
        <p:nvSpPr>
          <p:cNvPr id="6" name="Text 4"/>
          <p:cNvSpPr/>
          <p:nvPr/>
        </p:nvSpPr>
        <p:spPr>
          <a:xfrm>
            <a:off x="868680" y="17282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508760" y="1600200"/>
            <a:ext cx="8229600" cy="713232"/>
          </a:xfrm>
          <a:prstGeom prst="rect">
            <a:avLst/>
          </a:prstGeom>
          <a:noFill/>
          <a:ln/>
        </p:spPr>
        <p:txBody>
          <a:bodyPr wrap="square" lIns="0" tIns="0" rIns="0" bIns="0" rtlCol="0" anchor="ctr"/>
          <a:lstStyle/>
          <a:p>
            <a:pPr marL="0" indent="0">
              <a:buNone/>
            </a:pPr>
            <a:r>
              <a:rPr lang="en-US" sz="1700" dirty="0">
                <a:solidFill>
                  <a:srgbClr val="16163A"/>
                </a:solidFill>
                <a:latin typeface="Calibri" pitchFamily="34" charset="0"/>
                <a:ea typeface="Calibri" pitchFamily="34" charset="-122"/>
                <a:cs typeface="Calibri" pitchFamily="34" charset="-120"/>
              </a:rPr>
              <a:t>AI agents — what they are, ReAct, tools, planning, loops</a:t>
            </a:r>
            <a:endParaRPr lang="en-US" sz="1700" dirty="0"/>
          </a:p>
        </p:txBody>
      </p:sp>
      <p:sp>
        <p:nvSpPr>
          <p:cNvPr id="8" name="Text 6"/>
          <p:cNvSpPr/>
          <p:nvPr/>
        </p:nvSpPr>
        <p:spPr>
          <a:xfrm>
            <a:off x="9875520" y="1600200"/>
            <a:ext cx="1463040" cy="713232"/>
          </a:xfrm>
          <a:prstGeom prst="rect">
            <a:avLst/>
          </a:prstGeom>
          <a:noFill/>
          <a:ln/>
        </p:spPr>
        <p:txBody>
          <a:bodyPr wrap="square" lIns="0" tIns="0" rIns="0" bIns="0" rtlCol="0" anchor="ctr"/>
          <a:lstStyle/>
          <a:p>
            <a:pPr marL="0" indent="0" algn="r">
              <a:buNone/>
            </a:pPr>
            <a:r>
              <a:rPr lang="en-US" sz="1500" b="1" dirty="0">
                <a:solidFill>
                  <a:srgbClr val="6B6B8A"/>
                </a:solidFill>
                <a:latin typeface="Calibri" pitchFamily="34" charset="0"/>
                <a:ea typeface="Calibri" pitchFamily="34" charset="-122"/>
                <a:cs typeface="Calibri" pitchFamily="34" charset="-120"/>
              </a:rPr>
              <a:t>17 min</a:t>
            </a:r>
            <a:endParaRPr lang="en-US" sz="1500" dirty="0"/>
          </a:p>
        </p:txBody>
      </p:sp>
      <p:sp>
        <p:nvSpPr>
          <p:cNvPr id="9" name="Shape 7"/>
          <p:cNvSpPr/>
          <p:nvPr/>
        </p:nvSpPr>
        <p:spPr>
          <a:xfrm>
            <a:off x="640080" y="2468880"/>
            <a:ext cx="10881360" cy="713232"/>
          </a:xfrm>
          <a:prstGeom prst="roundRect">
            <a:avLst>
              <a:gd name="adj" fmla="val 1282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0" name="Shape 8"/>
          <p:cNvSpPr/>
          <p:nvPr/>
        </p:nvSpPr>
        <p:spPr>
          <a:xfrm>
            <a:off x="868680" y="2596896"/>
            <a:ext cx="457200" cy="457200"/>
          </a:xfrm>
          <a:prstGeom prst="ellipse">
            <a:avLst/>
          </a:prstGeom>
          <a:solidFill>
            <a:srgbClr val="5B4BC4"/>
          </a:solidFill>
          <a:ln w="12700">
            <a:solidFill>
              <a:srgbClr val="FFFFFF"/>
            </a:solidFill>
            <a:prstDash val="solid"/>
          </a:ln>
        </p:spPr>
      </p:sp>
      <p:sp>
        <p:nvSpPr>
          <p:cNvPr id="11" name="Text 9"/>
          <p:cNvSpPr/>
          <p:nvPr/>
        </p:nvSpPr>
        <p:spPr>
          <a:xfrm>
            <a:off x="868680" y="25968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508760" y="2468880"/>
            <a:ext cx="8229600" cy="713232"/>
          </a:xfrm>
          <a:prstGeom prst="rect">
            <a:avLst/>
          </a:prstGeom>
          <a:noFill/>
          <a:ln/>
        </p:spPr>
        <p:txBody>
          <a:bodyPr wrap="square" lIns="0" tIns="0" rIns="0" bIns="0" rtlCol="0" anchor="ctr"/>
          <a:lstStyle/>
          <a:p>
            <a:pPr marL="0" indent="0">
              <a:buNone/>
            </a:pPr>
            <a:r>
              <a:rPr lang="en-US" sz="1700" dirty="0">
                <a:solidFill>
                  <a:srgbClr val="16163A"/>
                </a:solidFill>
                <a:latin typeface="Calibri" pitchFamily="34" charset="0"/>
                <a:ea typeface="Calibri" pitchFamily="34" charset="-122"/>
                <a:cs typeface="Calibri" pitchFamily="34" charset="-120"/>
              </a:rPr>
              <a:t>Why you need orchestration</a:t>
            </a:r>
            <a:endParaRPr lang="en-US" sz="1700" dirty="0"/>
          </a:p>
        </p:txBody>
      </p:sp>
      <p:sp>
        <p:nvSpPr>
          <p:cNvPr id="13" name="Text 11"/>
          <p:cNvSpPr/>
          <p:nvPr/>
        </p:nvSpPr>
        <p:spPr>
          <a:xfrm>
            <a:off x="9875520" y="2468880"/>
            <a:ext cx="1463040" cy="713232"/>
          </a:xfrm>
          <a:prstGeom prst="rect">
            <a:avLst/>
          </a:prstGeom>
          <a:noFill/>
          <a:ln/>
        </p:spPr>
        <p:txBody>
          <a:bodyPr wrap="square" lIns="0" tIns="0" rIns="0" bIns="0" rtlCol="0" anchor="ctr"/>
          <a:lstStyle/>
          <a:p>
            <a:pPr marL="0" indent="0" algn="r">
              <a:buNone/>
            </a:pPr>
            <a:r>
              <a:rPr lang="en-US" sz="1500" b="1" dirty="0">
                <a:solidFill>
                  <a:srgbClr val="6B6B8A"/>
                </a:solidFill>
                <a:latin typeface="Calibri" pitchFamily="34" charset="0"/>
                <a:ea typeface="Calibri" pitchFamily="34" charset="-122"/>
                <a:cs typeface="Calibri" pitchFamily="34" charset="-120"/>
              </a:rPr>
              <a:t>2 min</a:t>
            </a:r>
            <a:endParaRPr lang="en-US" sz="1500" dirty="0"/>
          </a:p>
        </p:txBody>
      </p:sp>
      <p:sp>
        <p:nvSpPr>
          <p:cNvPr id="14" name="Shape 12"/>
          <p:cNvSpPr/>
          <p:nvPr/>
        </p:nvSpPr>
        <p:spPr>
          <a:xfrm>
            <a:off x="640080" y="3337560"/>
            <a:ext cx="10881360" cy="713232"/>
          </a:xfrm>
          <a:prstGeom prst="roundRect">
            <a:avLst>
              <a:gd name="adj" fmla="val 12821"/>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5" name="Shape 13"/>
          <p:cNvSpPr/>
          <p:nvPr/>
        </p:nvSpPr>
        <p:spPr>
          <a:xfrm>
            <a:off x="868680" y="3465576"/>
            <a:ext cx="457200" cy="457200"/>
          </a:xfrm>
          <a:prstGeom prst="ellipse">
            <a:avLst/>
          </a:prstGeom>
          <a:solidFill>
            <a:srgbClr val="5B4BC4"/>
          </a:solidFill>
          <a:ln w="12700">
            <a:solidFill>
              <a:srgbClr val="FFFFFF"/>
            </a:solidFill>
            <a:prstDash val="solid"/>
          </a:ln>
        </p:spPr>
      </p:sp>
      <p:sp>
        <p:nvSpPr>
          <p:cNvPr id="16" name="Text 14"/>
          <p:cNvSpPr/>
          <p:nvPr/>
        </p:nvSpPr>
        <p:spPr>
          <a:xfrm>
            <a:off x="868680" y="346557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508760" y="3337560"/>
            <a:ext cx="8229600" cy="713232"/>
          </a:xfrm>
          <a:prstGeom prst="rect">
            <a:avLst/>
          </a:prstGeom>
          <a:noFill/>
          <a:ln/>
        </p:spPr>
        <p:txBody>
          <a:bodyPr wrap="square" lIns="0" tIns="0" rIns="0" bIns="0" rtlCol="0" anchor="ctr"/>
          <a:lstStyle/>
          <a:p>
            <a:pPr marL="0" indent="0">
              <a:buNone/>
            </a:pPr>
            <a:r>
              <a:rPr lang="en-US" sz="1700" dirty="0">
                <a:solidFill>
                  <a:srgbClr val="16163A"/>
                </a:solidFill>
                <a:latin typeface="Calibri" pitchFamily="34" charset="0"/>
                <a:ea typeface="Calibri" pitchFamily="34" charset="-122"/>
                <a:cs typeface="Calibri" pitchFamily="34" charset="-120"/>
              </a:rPr>
              <a:t>LangGraph — state, nodes, edges, StateGraph, checkpointing</a:t>
            </a:r>
            <a:endParaRPr lang="en-US" sz="1700" dirty="0"/>
          </a:p>
        </p:txBody>
      </p:sp>
      <p:sp>
        <p:nvSpPr>
          <p:cNvPr id="18" name="Text 16"/>
          <p:cNvSpPr/>
          <p:nvPr/>
        </p:nvSpPr>
        <p:spPr>
          <a:xfrm>
            <a:off x="9875520" y="3337560"/>
            <a:ext cx="1463040" cy="713232"/>
          </a:xfrm>
          <a:prstGeom prst="rect">
            <a:avLst/>
          </a:prstGeom>
          <a:noFill/>
          <a:ln/>
        </p:spPr>
        <p:txBody>
          <a:bodyPr wrap="square" lIns="0" tIns="0" rIns="0" bIns="0" rtlCol="0" anchor="ctr"/>
          <a:lstStyle/>
          <a:p>
            <a:pPr marL="0" indent="0" algn="r">
              <a:buNone/>
            </a:pPr>
            <a:r>
              <a:rPr lang="en-US" sz="1500" b="1" dirty="0">
                <a:solidFill>
                  <a:srgbClr val="6B6B8A"/>
                </a:solidFill>
                <a:latin typeface="Calibri" pitchFamily="34" charset="0"/>
                <a:ea typeface="Calibri" pitchFamily="34" charset="-122"/>
                <a:cs typeface="Calibri" pitchFamily="34" charset="-120"/>
              </a:rPr>
              <a:t>9 min</a:t>
            </a:r>
            <a:endParaRPr lang="en-US" sz="1500" dirty="0"/>
          </a:p>
        </p:txBody>
      </p:sp>
      <p:sp>
        <p:nvSpPr>
          <p:cNvPr id="19" name="Shape 17"/>
          <p:cNvSpPr/>
          <p:nvPr/>
        </p:nvSpPr>
        <p:spPr>
          <a:xfrm>
            <a:off x="640080" y="4206240"/>
            <a:ext cx="10881360" cy="713232"/>
          </a:xfrm>
          <a:prstGeom prst="roundRect">
            <a:avLst>
              <a:gd name="adj" fmla="val 1282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0" name="Shape 18"/>
          <p:cNvSpPr/>
          <p:nvPr/>
        </p:nvSpPr>
        <p:spPr>
          <a:xfrm>
            <a:off x="868680" y="4334256"/>
            <a:ext cx="457200" cy="457200"/>
          </a:xfrm>
          <a:prstGeom prst="ellipse">
            <a:avLst/>
          </a:prstGeom>
          <a:solidFill>
            <a:srgbClr val="FF9F1C"/>
          </a:solidFill>
          <a:ln w="12700">
            <a:solidFill>
              <a:srgbClr val="FFFFFF"/>
            </a:solidFill>
            <a:prstDash val="solid"/>
          </a:ln>
        </p:spPr>
      </p:sp>
      <p:sp>
        <p:nvSpPr>
          <p:cNvPr id="21" name="Text 19"/>
          <p:cNvSpPr/>
          <p:nvPr/>
        </p:nvSpPr>
        <p:spPr>
          <a:xfrm>
            <a:off x="868680" y="433425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1508760" y="4206240"/>
            <a:ext cx="8229600" cy="713232"/>
          </a:xfrm>
          <a:prstGeom prst="rect">
            <a:avLst/>
          </a:prstGeom>
          <a:noFill/>
          <a:ln/>
        </p:spPr>
        <p:txBody>
          <a:bodyPr wrap="square" lIns="0" tIns="0" rIns="0" bIns="0" rtlCol="0" anchor="ctr"/>
          <a:lstStyle/>
          <a:p>
            <a:pPr marL="0" indent="0">
              <a:buNone/>
            </a:pPr>
            <a:r>
              <a:rPr lang="en-US" sz="1700" dirty="0">
                <a:solidFill>
                  <a:srgbClr val="16163A"/>
                </a:solidFill>
                <a:latin typeface="Calibri" pitchFamily="34" charset="0"/>
                <a:ea typeface="Calibri" pitchFamily="34" charset="-122"/>
                <a:cs typeface="Calibri" pitchFamily="34" charset="-120"/>
              </a:rPr>
              <a:t>Live notebook — build a graph that loops</a:t>
            </a:r>
            <a:endParaRPr lang="en-US" sz="1700" dirty="0"/>
          </a:p>
        </p:txBody>
      </p:sp>
      <p:sp>
        <p:nvSpPr>
          <p:cNvPr id="23" name="Text 21"/>
          <p:cNvSpPr/>
          <p:nvPr/>
        </p:nvSpPr>
        <p:spPr>
          <a:xfrm>
            <a:off x="9875520" y="4206240"/>
            <a:ext cx="1463040" cy="713232"/>
          </a:xfrm>
          <a:prstGeom prst="rect">
            <a:avLst/>
          </a:prstGeom>
          <a:noFill/>
          <a:ln/>
        </p:spPr>
        <p:txBody>
          <a:bodyPr wrap="square" lIns="0" tIns="0" rIns="0" bIns="0" rtlCol="0" anchor="ctr"/>
          <a:lstStyle/>
          <a:p>
            <a:pPr marL="0" indent="0" algn="r">
              <a:buNone/>
            </a:pPr>
            <a:r>
              <a:rPr lang="en-US" sz="1500" b="1" dirty="0">
                <a:solidFill>
                  <a:srgbClr val="6B6B8A"/>
                </a:solidFill>
                <a:latin typeface="Calibri" pitchFamily="34" charset="0"/>
                <a:ea typeface="Calibri" pitchFamily="34" charset="-122"/>
                <a:cs typeface="Calibri" pitchFamily="34" charset="-120"/>
              </a:rPr>
              <a:t>12 min</a:t>
            </a:r>
            <a:endParaRPr lang="en-US" sz="1500" dirty="0"/>
          </a:p>
        </p:txBody>
      </p:sp>
      <p:sp>
        <p:nvSpPr>
          <p:cNvPr id="24" name="Shape 22"/>
          <p:cNvSpPr/>
          <p:nvPr/>
        </p:nvSpPr>
        <p:spPr>
          <a:xfrm>
            <a:off x="640080" y="5074920"/>
            <a:ext cx="10881360" cy="713232"/>
          </a:xfrm>
          <a:prstGeom prst="roundRect">
            <a:avLst>
              <a:gd name="adj" fmla="val 12821"/>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5" name="Shape 23"/>
          <p:cNvSpPr/>
          <p:nvPr/>
        </p:nvSpPr>
        <p:spPr>
          <a:xfrm>
            <a:off x="868680" y="5202936"/>
            <a:ext cx="457200" cy="457200"/>
          </a:xfrm>
          <a:prstGeom prst="ellipse">
            <a:avLst/>
          </a:prstGeom>
          <a:solidFill>
            <a:srgbClr val="FF9F1C"/>
          </a:solidFill>
          <a:ln w="12700">
            <a:solidFill>
              <a:srgbClr val="FFFFFF"/>
            </a:solidFill>
            <a:prstDash val="solid"/>
          </a:ln>
        </p:spPr>
      </p:sp>
      <p:sp>
        <p:nvSpPr>
          <p:cNvPr id="26" name="Text 24"/>
          <p:cNvSpPr/>
          <p:nvPr/>
        </p:nvSpPr>
        <p:spPr>
          <a:xfrm>
            <a:off x="868680" y="520293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1508760" y="5074920"/>
            <a:ext cx="8229600" cy="713232"/>
          </a:xfrm>
          <a:prstGeom prst="rect">
            <a:avLst/>
          </a:prstGeom>
          <a:noFill/>
          <a:ln/>
        </p:spPr>
        <p:txBody>
          <a:bodyPr wrap="square" lIns="0" tIns="0" rIns="0" bIns="0" rtlCol="0" anchor="ctr"/>
          <a:lstStyle/>
          <a:p>
            <a:pPr marL="0" indent="0">
              <a:buNone/>
            </a:pPr>
            <a:r>
              <a:rPr lang="en-US" sz="1700" dirty="0">
                <a:solidFill>
                  <a:srgbClr val="16163A"/>
                </a:solidFill>
                <a:latin typeface="Calibri" pitchFamily="34" charset="0"/>
                <a:ea typeface="Calibri" pitchFamily="34" charset="-122"/>
                <a:cs typeface="Calibri" pitchFamily="34" charset="-120"/>
              </a:rPr>
              <a:t>Recap and questions</a:t>
            </a:r>
            <a:endParaRPr lang="en-US" sz="1700" dirty="0"/>
          </a:p>
        </p:txBody>
      </p:sp>
      <p:sp>
        <p:nvSpPr>
          <p:cNvPr id="28" name="Text 26"/>
          <p:cNvSpPr/>
          <p:nvPr/>
        </p:nvSpPr>
        <p:spPr>
          <a:xfrm>
            <a:off x="9875520" y="5074920"/>
            <a:ext cx="1463040" cy="713232"/>
          </a:xfrm>
          <a:prstGeom prst="rect">
            <a:avLst/>
          </a:prstGeom>
          <a:noFill/>
          <a:ln/>
        </p:spPr>
        <p:txBody>
          <a:bodyPr wrap="square" lIns="0" tIns="0" rIns="0" bIns="0" rtlCol="0" anchor="ctr"/>
          <a:lstStyle/>
          <a:p>
            <a:pPr marL="0" indent="0" algn="r">
              <a:buNone/>
            </a:pPr>
            <a:r>
              <a:rPr lang="en-US" sz="1500" b="1" dirty="0">
                <a:solidFill>
                  <a:srgbClr val="6B6B8A"/>
                </a:solidFill>
                <a:latin typeface="Calibri" pitchFamily="34" charset="0"/>
                <a:ea typeface="Calibri" pitchFamily="34" charset="-122"/>
                <a:cs typeface="Calibri" pitchFamily="34" charset="-120"/>
              </a:rPr>
              <a:t>3 min</a:t>
            </a:r>
            <a:endParaRPr lang="en-US" sz="1500" dirty="0"/>
          </a:p>
        </p:txBody>
      </p:sp>
      <p:sp>
        <p:nvSpPr>
          <p:cNvPr id="29" name="Text 27"/>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Theory first — but every idea in the first half turns into a line of code in the second.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3A"/>
        </a:solidFill>
        <a:effectLst/>
      </p:bgPr>
    </p:bg>
    <p:spTree>
      <p:nvGrpSpPr>
        <p:cNvPr id="1" name=""/>
        <p:cNvGrpSpPr/>
        <p:nvPr/>
      </p:nvGrpSpPr>
      <p:grpSpPr>
        <a:xfrm>
          <a:off x="0" y="0"/>
          <a:ext cx="0" cy="0"/>
          <a:chOff x="0" y="0"/>
          <a:chExt cx="0" cy="0"/>
        </a:xfrm>
      </p:grpSpPr>
      <p:sp>
        <p:nvSpPr>
          <p:cNvPr id="2" name="Text 0"/>
          <p:cNvSpPr/>
          <p:nvPr/>
        </p:nvSpPr>
        <p:spPr>
          <a:xfrm>
            <a:off x="822960" y="1965960"/>
            <a:ext cx="10515600" cy="320040"/>
          </a:xfrm>
          <a:prstGeom prst="rect">
            <a:avLst/>
          </a:prstGeom>
          <a:noFill/>
          <a:ln/>
        </p:spPr>
        <p:txBody>
          <a:bodyPr wrap="square" lIns="0" tIns="0" rIns="0" bIns="0" rtlCol="0" anchor="ctr"/>
          <a:lstStyle/>
          <a:p>
            <a:pPr marL="0" indent="0">
              <a:buNone/>
            </a:pPr>
            <a:r>
              <a:rPr lang="en-US" sz="1400" b="1" kern="0" spc="200" dirty="0">
                <a:solidFill>
                  <a:srgbClr val="FF9F1C"/>
                </a:solidFill>
                <a:latin typeface="Calibri" pitchFamily="34" charset="0"/>
                <a:ea typeface="Calibri" pitchFamily="34" charset="-122"/>
                <a:cs typeface="Calibri" pitchFamily="34" charset="-120"/>
              </a:rPr>
              <a:t>PART ONE  ·  17 MINUTES</a:t>
            </a:r>
            <a:endParaRPr lang="en-US" sz="1400" dirty="0"/>
          </a:p>
        </p:txBody>
      </p:sp>
      <p:sp>
        <p:nvSpPr>
          <p:cNvPr id="3" name="Text 1"/>
          <p:cNvSpPr/>
          <p:nvPr/>
        </p:nvSpPr>
        <p:spPr>
          <a:xfrm>
            <a:off x="822960" y="2331720"/>
            <a:ext cx="10515600" cy="13716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AI Agents</a:t>
            </a:r>
            <a:endParaRPr lang="en-US" sz="4400" dirty="0"/>
          </a:p>
        </p:txBody>
      </p:sp>
      <p:sp>
        <p:nvSpPr>
          <p:cNvPr id="4" name="Text 2"/>
          <p:cNvSpPr/>
          <p:nvPr/>
        </p:nvSpPr>
        <p:spPr>
          <a:xfrm>
            <a:off x="822960" y="3794760"/>
            <a:ext cx="9601200" cy="1097280"/>
          </a:xfrm>
          <a:prstGeom prst="rect">
            <a:avLst/>
          </a:prstGeom>
          <a:noFill/>
          <a:ln/>
        </p:spPr>
        <p:txBody>
          <a:bodyPr wrap="square" lIns="0" tIns="0" rIns="0" bIns="0" rtlCol="0" anchor="t"/>
          <a:lstStyle/>
          <a:p>
            <a:pPr marL="0" indent="0">
              <a:buNone/>
            </a:pPr>
            <a:r>
              <a:rPr lang="en-US" sz="1800" dirty="0">
                <a:solidFill>
                  <a:srgbClr val="C9C4EE"/>
                </a:solidFill>
                <a:latin typeface="Calibri" pitchFamily="34" charset="0"/>
                <a:ea typeface="Calibri" pitchFamily="34" charset="-122"/>
                <a:cs typeface="Calibri" pitchFamily="34" charset="-120"/>
              </a:rPr>
              <a:t>The conceptual half. No code — but everything here shows up as code after the break.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FROM APPS TO AGENTS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difference is who decides the path</a:t>
            </a:r>
            <a:endParaRPr lang="en-US" sz="3200" dirty="0"/>
          </a:p>
        </p:txBody>
      </p:sp>
      <p:sp>
        <p:nvSpPr>
          <p:cNvPr id="4" name="Shape 2"/>
          <p:cNvSpPr/>
          <p:nvPr/>
        </p:nvSpPr>
        <p:spPr>
          <a:xfrm>
            <a:off x="640080" y="1508760"/>
            <a:ext cx="5257800" cy="4160520"/>
          </a:xfrm>
          <a:prstGeom prst="roundRect">
            <a:avLst>
              <a:gd name="adj" fmla="val 219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Text 3"/>
          <p:cNvSpPr/>
          <p:nvPr/>
        </p:nvSpPr>
        <p:spPr>
          <a:xfrm>
            <a:off x="914400" y="1691640"/>
            <a:ext cx="4754880" cy="365760"/>
          </a:xfrm>
          <a:prstGeom prst="rect">
            <a:avLst/>
          </a:prstGeom>
          <a:noFill/>
          <a:ln/>
        </p:spPr>
        <p:txBody>
          <a:bodyPr wrap="square" lIns="0" tIns="0" rIns="0" bIns="0" rtlCol="0" anchor="ctr"/>
          <a:lstStyle/>
          <a:p>
            <a:pPr marL="0" indent="0">
              <a:buNone/>
            </a:pPr>
            <a:r>
              <a:rPr lang="en-US" sz="1900" b="1" dirty="0">
                <a:solidFill>
                  <a:srgbClr val="6B6B8A"/>
                </a:solidFill>
                <a:latin typeface="Calibri" pitchFamily="34" charset="0"/>
                <a:ea typeface="Calibri" pitchFamily="34" charset="-122"/>
                <a:cs typeface="Calibri" pitchFamily="34" charset="-120"/>
              </a:rPr>
              <a:t>LLM application</a:t>
            </a:r>
            <a:endParaRPr lang="en-US" sz="1900" dirty="0"/>
          </a:p>
        </p:txBody>
      </p:sp>
      <p:sp>
        <p:nvSpPr>
          <p:cNvPr id="6" name="Shape 4"/>
          <p:cNvSpPr/>
          <p:nvPr/>
        </p:nvSpPr>
        <p:spPr>
          <a:xfrm>
            <a:off x="2103120" y="2240280"/>
            <a:ext cx="2286000" cy="658368"/>
          </a:xfrm>
          <a:prstGeom prst="roundRect">
            <a:avLst>
              <a:gd name="adj" fmla="val 13889"/>
            </a:avLst>
          </a:prstGeom>
          <a:solidFill>
            <a:srgbClr val="EFEFF4"/>
          </a:solidFill>
          <a:ln w="12700">
            <a:solidFill>
              <a:srgbClr val="FFFFFF"/>
            </a:solidFill>
            <a:prstDash val="solid"/>
          </a:ln>
          <a:effectLst>
            <a:outerShdw blurRad="127000" dist="25400" dir="5400000" algn="bl" rotWithShape="0">
              <a:srgbClr val="1A1A3A">
                <a:alpha val="10000"/>
              </a:srgbClr>
            </a:outerShdw>
          </a:effectLst>
        </p:spPr>
      </p:sp>
      <p:sp>
        <p:nvSpPr>
          <p:cNvPr id="7" name="Text 5"/>
          <p:cNvSpPr/>
          <p:nvPr/>
        </p:nvSpPr>
        <p:spPr>
          <a:xfrm>
            <a:off x="2103120" y="2240280"/>
            <a:ext cx="2286000" cy="658368"/>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prompt</a:t>
            </a:r>
            <a:endParaRPr lang="en-US" sz="1500" dirty="0"/>
          </a:p>
        </p:txBody>
      </p:sp>
      <p:sp>
        <p:nvSpPr>
          <p:cNvPr id="8" name="Shape 6"/>
          <p:cNvSpPr/>
          <p:nvPr/>
        </p:nvSpPr>
        <p:spPr>
          <a:xfrm>
            <a:off x="3246120" y="2898648"/>
            <a:ext cx="0" cy="384048"/>
          </a:xfrm>
          <a:prstGeom prst="line">
            <a:avLst/>
          </a:prstGeom>
          <a:noFill/>
          <a:ln w="28575">
            <a:solidFill>
              <a:srgbClr val="6B6B8A"/>
            </a:solidFill>
            <a:prstDash val="solid"/>
            <a:tailEnd type="triangle"/>
          </a:ln>
        </p:spPr>
      </p:sp>
      <p:sp>
        <p:nvSpPr>
          <p:cNvPr id="9" name="Shape 7"/>
          <p:cNvSpPr/>
          <p:nvPr/>
        </p:nvSpPr>
        <p:spPr>
          <a:xfrm>
            <a:off x="2103120" y="3291840"/>
            <a:ext cx="2286000" cy="658368"/>
          </a:xfrm>
          <a:prstGeom prst="roundRect">
            <a:avLst>
              <a:gd name="adj" fmla="val 13889"/>
            </a:avLst>
          </a:prstGeom>
          <a:solidFill>
            <a:srgbClr val="EFEFF4"/>
          </a:solidFill>
          <a:ln w="12700">
            <a:solidFill>
              <a:srgbClr val="FFFFFF"/>
            </a:solidFill>
            <a:prstDash val="solid"/>
          </a:ln>
          <a:effectLst>
            <a:outerShdw blurRad="127000" dist="25400" dir="5400000" algn="bl" rotWithShape="0">
              <a:srgbClr val="1A1A3A">
                <a:alpha val="10000"/>
              </a:srgbClr>
            </a:outerShdw>
          </a:effectLst>
        </p:spPr>
      </p:sp>
      <p:sp>
        <p:nvSpPr>
          <p:cNvPr id="10" name="Text 8"/>
          <p:cNvSpPr/>
          <p:nvPr/>
        </p:nvSpPr>
        <p:spPr>
          <a:xfrm>
            <a:off x="2103120" y="3291840"/>
            <a:ext cx="2286000" cy="658368"/>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model</a:t>
            </a:r>
            <a:endParaRPr lang="en-US" sz="1500" dirty="0"/>
          </a:p>
        </p:txBody>
      </p:sp>
      <p:sp>
        <p:nvSpPr>
          <p:cNvPr id="11" name="Shape 9"/>
          <p:cNvSpPr/>
          <p:nvPr/>
        </p:nvSpPr>
        <p:spPr>
          <a:xfrm>
            <a:off x="3246120" y="3950208"/>
            <a:ext cx="0" cy="384048"/>
          </a:xfrm>
          <a:prstGeom prst="line">
            <a:avLst/>
          </a:prstGeom>
          <a:noFill/>
          <a:ln w="28575">
            <a:solidFill>
              <a:srgbClr val="6B6B8A"/>
            </a:solidFill>
            <a:prstDash val="solid"/>
            <a:tailEnd type="triangle"/>
          </a:ln>
        </p:spPr>
      </p:sp>
      <p:sp>
        <p:nvSpPr>
          <p:cNvPr id="12" name="Shape 10"/>
          <p:cNvSpPr/>
          <p:nvPr/>
        </p:nvSpPr>
        <p:spPr>
          <a:xfrm>
            <a:off x="2103120" y="4343400"/>
            <a:ext cx="2286000" cy="658368"/>
          </a:xfrm>
          <a:prstGeom prst="roundRect">
            <a:avLst>
              <a:gd name="adj" fmla="val 13889"/>
            </a:avLst>
          </a:prstGeom>
          <a:solidFill>
            <a:srgbClr val="EFEFF4"/>
          </a:solidFill>
          <a:ln w="12700">
            <a:solidFill>
              <a:srgbClr val="FFFFFF"/>
            </a:solidFill>
            <a:prstDash val="solid"/>
          </a:ln>
          <a:effectLst>
            <a:outerShdw blurRad="127000" dist="25400" dir="5400000" algn="bl" rotWithShape="0">
              <a:srgbClr val="1A1A3A">
                <a:alpha val="10000"/>
              </a:srgbClr>
            </a:outerShdw>
          </a:effectLst>
        </p:spPr>
      </p:sp>
      <p:sp>
        <p:nvSpPr>
          <p:cNvPr id="13" name="Text 11"/>
          <p:cNvSpPr/>
          <p:nvPr/>
        </p:nvSpPr>
        <p:spPr>
          <a:xfrm>
            <a:off x="2103120" y="4343400"/>
            <a:ext cx="2286000" cy="658368"/>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output</a:t>
            </a:r>
            <a:endParaRPr lang="en-US" sz="1500" dirty="0"/>
          </a:p>
        </p:txBody>
      </p:sp>
      <p:sp>
        <p:nvSpPr>
          <p:cNvPr id="14" name="Text 12"/>
          <p:cNvSpPr/>
          <p:nvPr/>
        </p:nvSpPr>
        <p:spPr>
          <a:xfrm>
            <a:off x="914400" y="5138928"/>
            <a:ext cx="4754880" cy="457200"/>
          </a:xfrm>
          <a:prstGeom prst="rect">
            <a:avLst/>
          </a:prstGeom>
          <a:noFill/>
          <a:ln/>
        </p:spPr>
        <p:txBody>
          <a:bodyPr wrap="square" lIns="0" tIns="0" rIns="0" bIns="0" rtlCol="0" anchor="ctr"/>
          <a:lstStyle/>
          <a:p>
            <a:pPr marL="0" indent="0">
              <a:buNone/>
            </a:pPr>
            <a:r>
              <a:rPr lang="en-US" sz="1400" i="1" dirty="0">
                <a:solidFill>
                  <a:srgbClr val="6B6B8A"/>
                </a:solidFill>
                <a:latin typeface="Calibri" pitchFamily="34" charset="0"/>
                <a:ea typeface="Calibri" pitchFamily="34" charset="-122"/>
                <a:cs typeface="Calibri" pitchFamily="34" charset="-120"/>
              </a:rPr>
              <a:t>You wrote the path. It is the same every time.</a:t>
            </a:r>
            <a:endParaRPr lang="en-US" sz="1400" dirty="0"/>
          </a:p>
        </p:txBody>
      </p:sp>
      <p:sp>
        <p:nvSpPr>
          <p:cNvPr id="15" name="Shape 13"/>
          <p:cNvSpPr/>
          <p:nvPr/>
        </p:nvSpPr>
        <p:spPr>
          <a:xfrm>
            <a:off x="6263640" y="1508760"/>
            <a:ext cx="5382020" cy="4160520"/>
          </a:xfrm>
          <a:prstGeom prst="roundRect">
            <a:avLst>
              <a:gd name="adj" fmla="val 219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6" name="Text 14"/>
          <p:cNvSpPr/>
          <p:nvPr/>
        </p:nvSpPr>
        <p:spPr>
          <a:xfrm>
            <a:off x="6537960" y="1691640"/>
            <a:ext cx="4754880" cy="365760"/>
          </a:xfrm>
          <a:prstGeom prst="rect">
            <a:avLst/>
          </a:prstGeom>
          <a:noFill/>
          <a:ln/>
        </p:spPr>
        <p:txBody>
          <a:bodyPr wrap="square" lIns="0" tIns="0" rIns="0" bIns="0" rtlCol="0" anchor="ctr"/>
          <a:lstStyle/>
          <a:p>
            <a:pPr marL="0" indent="0">
              <a:buNone/>
            </a:pPr>
            <a:r>
              <a:rPr lang="en-US" sz="1900" b="1" dirty="0">
                <a:solidFill>
                  <a:srgbClr val="3B2E8F"/>
                </a:solidFill>
                <a:latin typeface="Calibri" pitchFamily="34" charset="0"/>
                <a:ea typeface="Calibri" pitchFamily="34" charset="-122"/>
                <a:cs typeface="Calibri" pitchFamily="34" charset="-120"/>
              </a:rPr>
              <a:t>Agent</a:t>
            </a:r>
            <a:endParaRPr lang="en-US" sz="1900" dirty="0"/>
          </a:p>
        </p:txBody>
      </p:sp>
      <p:sp>
        <p:nvSpPr>
          <p:cNvPr id="17" name="Shape 15"/>
          <p:cNvSpPr/>
          <p:nvPr/>
        </p:nvSpPr>
        <p:spPr>
          <a:xfrm>
            <a:off x="7680960" y="2240280"/>
            <a:ext cx="2286000" cy="658368"/>
          </a:xfrm>
          <a:prstGeom prst="roundRect">
            <a:avLst>
              <a:gd name="adj" fmla="val 13889"/>
            </a:avLst>
          </a:prstGeom>
          <a:solidFill>
            <a:srgbClr val="FFFFFF"/>
          </a:solidFill>
          <a:ln w="12700">
            <a:solidFill>
              <a:srgbClr val="FFFFFF"/>
            </a:solidFill>
            <a:prstDash val="solid"/>
          </a:ln>
          <a:effectLst>
            <a:outerShdw blurRad="127000" dist="25400" dir="5400000" algn="bl" rotWithShape="0">
              <a:srgbClr val="1A1A3A">
                <a:alpha val="10000"/>
              </a:srgbClr>
            </a:outerShdw>
          </a:effectLst>
        </p:spPr>
      </p:sp>
      <p:sp>
        <p:nvSpPr>
          <p:cNvPr id="18" name="Text 16"/>
          <p:cNvSpPr/>
          <p:nvPr/>
        </p:nvSpPr>
        <p:spPr>
          <a:xfrm>
            <a:off x="7680960" y="2240280"/>
            <a:ext cx="2286000" cy="658368"/>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goal</a:t>
            </a:r>
            <a:endParaRPr lang="en-US" sz="1500" dirty="0"/>
          </a:p>
        </p:txBody>
      </p:sp>
      <p:sp>
        <p:nvSpPr>
          <p:cNvPr id="19" name="Shape 17"/>
          <p:cNvSpPr/>
          <p:nvPr/>
        </p:nvSpPr>
        <p:spPr>
          <a:xfrm>
            <a:off x="7680960" y="3291840"/>
            <a:ext cx="2286000" cy="658368"/>
          </a:xfrm>
          <a:prstGeom prst="roundRect">
            <a:avLst>
              <a:gd name="adj" fmla="val 13889"/>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20" name="Text 18"/>
          <p:cNvSpPr/>
          <p:nvPr/>
        </p:nvSpPr>
        <p:spPr>
          <a:xfrm>
            <a:off x="7680960" y="3291840"/>
            <a:ext cx="2286000"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 decides</a:t>
            </a:r>
            <a:endParaRPr lang="en-US" sz="1500" dirty="0"/>
          </a:p>
        </p:txBody>
      </p:sp>
      <p:sp>
        <p:nvSpPr>
          <p:cNvPr id="21" name="Shape 19"/>
          <p:cNvSpPr/>
          <p:nvPr/>
        </p:nvSpPr>
        <p:spPr>
          <a:xfrm>
            <a:off x="7680960" y="4343400"/>
            <a:ext cx="2286000" cy="658368"/>
          </a:xfrm>
          <a:prstGeom prst="roundRect">
            <a:avLst>
              <a:gd name="adj" fmla="val 13889"/>
            </a:avLst>
          </a:prstGeom>
          <a:solidFill>
            <a:srgbClr val="FFFFFF"/>
          </a:solidFill>
          <a:ln w="12700">
            <a:solidFill>
              <a:srgbClr val="FFFFFF"/>
            </a:solidFill>
            <a:prstDash val="solid"/>
          </a:ln>
          <a:effectLst>
            <a:outerShdw blurRad="127000" dist="25400" dir="5400000" algn="bl" rotWithShape="0">
              <a:srgbClr val="1A1A3A">
                <a:alpha val="10000"/>
              </a:srgbClr>
            </a:outerShdw>
          </a:effectLst>
        </p:spPr>
      </p:sp>
      <p:sp>
        <p:nvSpPr>
          <p:cNvPr id="22" name="Text 20"/>
          <p:cNvSpPr/>
          <p:nvPr/>
        </p:nvSpPr>
        <p:spPr>
          <a:xfrm>
            <a:off x="7680960" y="4343400"/>
            <a:ext cx="2286000" cy="658368"/>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tool / answer</a:t>
            </a:r>
            <a:endParaRPr lang="en-US" sz="1500" dirty="0"/>
          </a:p>
        </p:txBody>
      </p:sp>
      <p:sp>
        <p:nvSpPr>
          <p:cNvPr id="23" name="Shape 21"/>
          <p:cNvSpPr/>
          <p:nvPr/>
        </p:nvSpPr>
        <p:spPr>
          <a:xfrm>
            <a:off x="8823960" y="2898648"/>
            <a:ext cx="0" cy="393192"/>
          </a:xfrm>
          <a:prstGeom prst="line">
            <a:avLst/>
          </a:prstGeom>
          <a:noFill/>
          <a:ln w="28575">
            <a:solidFill>
              <a:srgbClr val="5B4BC4"/>
            </a:solidFill>
            <a:prstDash val="solid"/>
            <a:tailEnd type="triangle"/>
          </a:ln>
        </p:spPr>
      </p:sp>
      <p:sp>
        <p:nvSpPr>
          <p:cNvPr id="24" name="Shape 22"/>
          <p:cNvSpPr/>
          <p:nvPr/>
        </p:nvSpPr>
        <p:spPr>
          <a:xfrm>
            <a:off x="8823960" y="3950208"/>
            <a:ext cx="0" cy="393192"/>
          </a:xfrm>
          <a:prstGeom prst="line">
            <a:avLst/>
          </a:prstGeom>
          <a:noFill/>
          <a:ln w="28575">
            <a:solidFill>
              <a:srgbClr val="5B4BC4"/>
            </a:solidFill>
            <a:prstDash val="solid"/>
            <a:tailEnd type="triangle"/>
          </a:ln>
        </p:spPr>
      </p:sp>
      <p:sp>
        <p:nvSpPr>
          <p:cNvPr id="26" name="Shape 24"/>
          <p:cNvSpPr/>
          <p:nvPr/>
        </p:nvSpPr>
        <p:spPr>
          <a:xfrm>
            <a:off x="11109960" y="4672584"/>
            <a:ext cx="0" cy="0"/>
          </a:xfrm>
          <a:prstGeom prst="line">
            <a:avLst/>
          </a:prstGeom>
          <a:noFill/>
          <a:ln w="28575">
            <a:solidFill>
              <a:srgbClr val="FF9F1C"/>
            </a:solidFill>
            <a:prstDash val="solid"/>
          </a:ln>
        </p:spPr>
      </p:sp>
      <p:sp>
        <p:nvSpPr>
          <p:cNvPr id="27" name="Shape 25"/>
          <p:cNvSpPr/>
          <p:nvPr/>
        </p:nvSpPr>
        <p:spPr>
          <a:xfrm>
            <a:off x="11109960" y="3621024"/>
            <a:ext cx="0" cy="0"/>
          </a:xfrm>
          <a:prstGeom prst="line">
            <a:avLst/>
          </a:prstGeom>
          <a:noFill/>
          <a:ln w="28575">
            <a:solidFill>
              <a:srgbClr val="FF9F1C"/>
            </a:solidFill>
            <a:prstDash val="solid"/>
            <a:tailEnd type="triangle"/>
          </a:ln>
        </p:spPr>
      </p:sp>
      <p:sp>
        <p:nvSpPr>
          <p:cNvPr id="29" name="Text 27"/>
          <p:cNvSpPr/>
          <p:nvPr/>
        </p:nvSpPr>
        <p:spPr>
          <a:xfrm>
            <a:off x="6537960" y="5138928"/>
            <a:ext cx="4754880" cy="457200"/>
          </a:xfrm>
          <a:prstGeom prst="rect">
            <a:avLst/>
          </a:prstGeom>
          <a:noFill/>
          <a:ln/>
        </p:spPr>
        <p:txBody>
          <a:bodyPr wrap="square" lIns="0" tIns="0" rIns="0" bIns="0" rtlCol="0" anchor="ctr"/>
          <a:lstStyle/>
          <a:p>
            <a:pPr marL="0" indent="0">
              <a:buNone/>
            </a:pPr>
            <a:r>
              <a:rPr lang="en-US" sz="1400" b="1" i="1" dirty="0">
                <a:solidFill>
                  <a:srgbClr val="3B2E8F"/>
                </a:solidFill>
                <a:latin typeface="Calibri" pitchFamily="34" charset="0"/>
                <a:ea typeface="Calibri" pitchFamily="34" charset="-122"/>
                <a:cs typeface="Calibri" pitchFamily="34" charset="-120"/>
              </a:rPr>
              <a:t>The model chooses the path at runtime.</a:t>
            </a:r>
            <a:endParaRPr lang="en-US" sz="1400" dirty="0"/>
          </a:p>
        </p:txBody>
      </p:sp>
      <p:sp>
        <p:nvSpPr>
          <p:cNvPr id="30" name="Text 28"/>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LangChain's own wording: workflows have predetermined code paths; agents define their own process and tool usage.</a:t>
            </a:r>
            <a:endParaRPr lang="en-US" sz="1100" dirty="0"/>
          </a:p>
        </p:txBody>
      </p:sp>
      <p:cxnSp>
        <p:nvCxnSpPr>
          <p:cNvPr id="32" name="Connector: Elbow 31">
            <a:extLst>
              <a:ext uri="{FF2B5EF4-FFF2-40B4-BE49-F238E27FC236}">
                <a16:creationId xmlns:a16="http://schemas.microsoft.com/office/drawing/2014/main" id="{B8FA6864-631E-B6E0-5D3D-835FF8A92C69}"/>
              </a:ext>
            </a:extLst>
          </p:cNvPr>
          <p:cNvCxnSpPr>
            <a:stCxn id="21" idx="3"/>
            <a:endCxn id="19" idx="3"/>
          </p:cNvCxnSpPr>
          <p:nvPr/>
        </p:nvCxnSpPr>
        <p:spPr>
          <a:xfrm flipV="1">
            <a:off x="9966960" y="3621024"/>
            <a:ext cx="12700" cy="1051560"/>
          </a:xfrm>
          <a:prstGeom prst="bentConnector3">
            <a:avLst>
              <a:gd name="adj1" fmla="val 9543402"/>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ANATOMY OF AN AGENT</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Four parts, and you already know three of them</a:t>
            </a:r>
            <a:endParaRPr lang="en-US" sz="3200" dirty="0"/>
          </a:p>
        </p:txBody>
      </p:sp>
      <p:sp>
        <p:nvSpPr>
          <p:cNvPr id="4" name="Shape 2"/>
          <p:cNvSpPr/>
          <p:nvPr/>
        </p:nvSpPr>
        <p:spPr>
          <a:xfrm>
            <a:off x="640080" y="1554480"/>
            <a:ext cx="5349240" cy="1874520"/>
          </a:xfrm>
          <a:prstGeom prst="roundRect">
            <a:avLst>
              <a:gd name="adj" fmla="val 487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Shape 3"/>
          <p:cNvSpPr/>
          <p:nvPr/>
        </p:nvSpPr>
        <p:spPr>
          <a:xfrm>
            <a:off x="960120" y="1901952"/>
            <a:ext cx="566928" cy="566928"/>
          </a:xfrm>
          <a:prstGeom prst="ellipse">
            <a:avLst/>
          </a:prstGeom>
          <a:solidFill>
            <a:srgbClr val="5B4BC4"/>
          </a:solidFill>
          <a:ln w="12700">
            <a:solidFill>
              <a:srgbClr val="FFFFFF"/>
            </a:solidFill>
            <a:prstDash val="solid"/>
          </a:ln>
        </p:spPr>
      </p:sp>
      <p:sp>
        <p:nvSpPr>
          <p:cNvPr id="6" name="Text 4"/>
          <p:cNvSpPr/>
          <p:nvPr/>
        </p:nvSpPr>
        <p:spPr>
          <a:xfrm>
            <a:off x="960120" y="1901952"/>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737360" y="1865376"/>
            <a:ext cx="3931920" cy="411480"/>
          </a:xfrm>
          <a:prstGeom prst="rect">
            <a:avLst/>
          </a:prstGeom>
          <a:noFill/>
          <a:ln/>
        </p:spPr>
        <p:txBody>
          <a:bodyPr wrap="square" lIns="0" tIns="0" rIns="0" bIns="0" rtlCol="0" anchor="ctr"/>
          <a:lstStyle/>
          <a:p>
            <a:pPr marL="0" indent="0">
              <a:buNone/>
            </a:pPr>
            <a:r>
              <a:rPr lang="en-US" sz="2100" b="1" dirty="0">
                <a:solidFill>
                  <a:srgbClr val="16163A"/>
                </a:solidFill>
                <a:latin typeface="Calibri" pitchFamily="34" charset="0"/>
                <a:ea typeface="Calibri" pitchFamily="34" charset="-122"/>
                <a:cs typeface="Calibri" pitchFamily="34" charset="-120"/>
              </a:rPr>
              <a:t>Model</a:t>
            </a:r>
            <a:endParaRPr lang="en-US" sz="2100" dirty="0"/>
          </a:p>
        </p:txBody>
      </p:sp>
      <p:sp>
        <p:nvSpPr>
          <p:cNvPr id="8" name="Text 6"/>
          <p:cNvSpPr/>
          <p:nvPr/>
        </p:nvSpPr>
        <p:spPr>
          <a:xfrm>
            <a:off x="1737360" y="2331720"/>
            <a:ext cx="3931920" cy="868680"/>
          </a:xfrm>
          <a:prstGeom prst="rect">
            <a:avLst/>
          </a:prstGeom>
          <a:noFill/>
          <a:ln/>
        </p:spPr>
        <p:txBody>
          <a:bodyPr wrap="square" lIns="0" tIns="0" rIns="0" bIns="0" rtlCol="0" anchor="t"/>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The reasoning engine. Reads the situation, picks the next move.</a:t>
            </a:r>
            <a:endParaRPr lang="en-US" sz="1450" dirty="0"/>
          </a:p>
        </p:txBody>
      </p:sp>
      <p:sp>
        <p:nvSpPr>
          <p:cNvPr id="9" name="Shape 7"/>
          <p:cNvSpPr/>
          <p:nvPr/>
        </p:nvSpPr>
        <p:spPr>
          <a:xfrm>
            <a:off x="6263640" y="1554480"/>
            <a:ext cx="5349240" cy="1874520"/>
          </a:xfrm>
          <a:prstGeom prst="roundRect">
            <a:avLst>
              <a:gd name="adj" fmla="val 487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0" name="Shape 8"/>
          <p:cNvSpPr/>
          <p:nvPr/>
        </p:nvSpPr>
        <p:spPr>
          <a:xfrm>
            <a:off x="6583680" y="1901952"/>
            <a:ext cx="566928" cy="566928"/>
          </a:xfrm>
          <a:prstGeom prst="ellipse">
            <a:avLst/>
          </a:prstGeom>
          <a:solidFill>
            <a:srgbClr val="5B4BC4"/>
          </a:solidFill>
          <a:ln w="12700">
            <a:solidFill>
              <a:srgbClr val="FFFFFF"/>
            </a:solidFill>
            <a:prstDash val="solid"/>
          </a:ln>
        </p:spPr>
      </p:sp>
      <p:sp>
        <p:nvSpPr>
          <p:cNvPr id="11" name="Text 9"/>
          <p:cNvSpPr/>
          <p:nvPr/>
        </p:nvSpPr>
        <p:spPr>
          <a:xfrm>
            <a:off x="6583680" y="1901952"/>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360920" y="1865376"/>
            <a:ext cx="3931920" cy="411480"/>
          </a:xfrm>
          <a:prstGeom prst="rect">
            <a:avLst/>
          </a:prstGeom>
          <a:noFill/>
          <a:ln/>
        </p:spPr>
        <p:txBody>
          <a:bodyPr wrap="square" lIns="0" tIns="0" rIns="0" bIns="0" rtlCol="0" anchor="ctr"/>
          <a:lstStyle/>
          <a:p>
            <a:pPr marL="0" indent="0">
              <a:buNone/>
            </a:pPr>
            <a:r>
              <a:rPr lang="en-US" sz="2100" b="1" dirty="0">
                <a:solidFill>
                  <a:srgbClr val="16163A"/>
                </a:solidFill>
                <a:latin typeface="Calibri" pitchFamily="34" charset="0"/>
                <a:ea typeface="Calibri" pitchFamily="34" charset="-122"/>
                <a:cs typeface="Calibri" pitchFamily="34" charset="-120"/>
              </a:rPr>
              <a:t>Tools</a:t>
            </a:r>
            <a:endParaRPr lang="en-US" sz="2100" dirty="0"/>
          </a:p>
        </p:txBody>
      </p:sp>
      <p:sp>
        <p:nvSpPr>
          <p:cNvPr id="13" name="Text 11"/>
          <p:cNvSpPr/>
          <p:nvPr/>
        </p:nvSpPr>
        <p:spPr>
          <a:xfrm>
            <a:off x="7360920" y="2331720"/>
            <a:ext cx="3931920" cy="868680"/>
          </a:xfrm>
          <a:prstGeom prst="rect">
            <a:avLst/>
          </a:prstGeom>
          <a:noFill/>
          <a:ln/>
        </p:spPr>
        <p:txBody>
          <a:bodyPr wrap="square" lIns="0" tIns="0" rIns="0" bIns="0" rtlCol="0" anchor="t"/>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Functions it can ask to have run. Search, SQL, an API, a calculator.</a:t>
            </a:r>
            <a:endParaRPr lang="en-US" sz="1450" dirty="0"/>
          </a:p>
        </p:txBody>
      </p:sp>
      <p:sp>
        <p:nvSpPr>
          <p:cNvPr id="14" name="Shape 12"/>
          <p:cNvSpPr/>
          <p:nvPr/>
        </p:nvSpPr>
        <p:spPr>
          <a:xfrm>
            <a:off x="640080" y="3703320"/>
            <a:ext cx="5349240" cy="1874520"/>
          </a:xfrm>
          <a:prstGeom prst="roundRect">
            <a:avLst>
              <a:gd name="adj" fmla="val 487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5" name="Shape 13"/>
          <p:cNvSpPr/>
          <p:nvPr/>
        </p:nvSpPr>
        <p:spPr>
          <a:xfrm>
            <a:off x="960120" y="4050792"/>
            <a:ext cx="566928" cy="566928"/>
          </a:xfrm>
          <a:prstGeom prst="ellipse">
            <a:avLst/>
          </a:prstGeom>
          <a:solidFill>
            <a:srgbClr val="5B4BC4"/>
          </a:solidFill>
          <a:ln w="12700">
            <a:solidFill>
              <a:srgbClr val="FFFFFF"/>
            </a:solidFill>
            <a:prstDash val="solid"/>
          </a:ln>
        </p:spPr>
      </p:sp>
      <p:sp>
        <p:nvSpPr>
          <p:cNvPr id="16" name="Text 14"/>
          <p:cNvSpPr/>
          <p:nvPr/>
        </p:nvSpPr>
        <p:spPr>
          <a:xfrm>
            <a:off x="960120" y="4050792"/>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737360" y="4014216"/>
            <a:ext cx="3931920" cy="411480"/>
          </a:xfrm>
          <a:prstGeom prst="rect">
            <a:avLst/>
          </a:prstGeom>
          <a:noFill/>
          <a:ln/>
        </p:spPr>
        <p:txBody>
          <a:bodyPr wrap="square" lIns="0" tIns="0" rIns="0" bIns="0" rtlCol="0" anchor="ctr"/>
          <a:lstStyle/>
          <a:p>
            <a:pPr marL="0" indent="0">
              <a:buNone/>
            </a:pPr>
            <a:r>
              <a:rPr lang="en-US" sz="2100" b="1" dirty="0">
                <a:solidFill>
                  <a:srgbClr val="16163A"/>
                </a:solidFill>
                <a:latin typeface="Calibri" pitchFamily="34" charset="0"/>
                <a:ea typeface="Calibri" pitchFamily="34" charset="-122"/>
                <a:cs typeface="Calibri" pitchFamily="34" charset="-120"/>
              </a:rPr>
              <a:t>State</a:t>
            </a:r>
            <a:endParaRPr lang="en-US" sz="2100" dirty="0"/>
          </a:p>
        </p:txBody>
      </p:sp>
      <p:sp>
        <p:nvSpPr>
          <p:cNvPr id="18" name="Text 16"/>
          <p:cNvSpPr/>
          <p:nvPr/>
        </p:nvSpPr>
        <p:spPr>
          <a:xfrm>
            <a:off x="1737360" y="4480560"/>
            <a:ext cx="3931920" cy="868680"/>
          </a:xfrm>
          <a:prstGeom prst="rect">
            <a:avLst/>
          </a:prstGeom>
          <a:noFill/>
          <a:ln/>
        </p:spPr>
        <p:txBody>
          <a:bodyPr wrap="square" lIns="0" tIns="0" rIns="0" bIns="0" rtlCol="0" anchor="t"/>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Everything it has seen so far — goal, past steps, results.</a:t>
            </a:r>
            <a:endParaRPr lang="en-US" sz="1450" dirty="0"/>
          </a:p>
        </p:txBody>
      </p:sp>
      <p:sp>
        <p:nvSpPr>
          <p:cNvPr id="19" name="Shape 17"/>
          <p:cNvSpPr/>
          <p:nvPr/>
        </p:nvSpPr>
        <p:spPr>
          <a:xfrm>
            <a:off x="6263640" y="3703320"/>
            <a:ext cx="5349240" cy="1874520"/>
          </a:xfrm>
          <a:prstGeom prst="roundRect">
            <a:avLst>
              <a:gd name="adj" fmla="val 487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0" name="Shape 18"/>
          <p:cNvSpPr/>
          <p:nvPr/>
        </p:nvSpPr>
        <p:spPr>
          <a:xfrm>
            <a:off x="6583680" y="4050792"/>
            <a:ext cx="566928" cy="566928"/>
          </a:xfrm>
          <a:prstGeom prst="ellipse">
            <a:avLst/>
          </a:prstGeom>
          <a:solidFill>
            <a:srgbClr val="FF9F1C"/>
          </a:solidFill>
          <a:ln w="12700">
            <a:solidFill>
              <a:srgbClr val="FFFFFF"/>
            </a:solidFill>
            <a:prstDash val="solid"/>
          </a:ln>
        </p:spPr>
      </p:sp>
      <p:sp>
        <p:nvSpPr>
          <p:cNvPr id="21" name="Text 19"/>
          <p:cNvSpPr/>
          <p:nvPr/>
        </p:nvSpPr>
        <p:spPr>
          <a:xfrm>
            <a:off x="6583680" y="4050792"/>
            <a:ext cx="566928"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360920" y="4014216"/>
            <a:ext cx="3931920" cy="411480"/>
          </a:xfrm>
          <a:prstGeom prst="rect">
            <a:avLst/>
          </a:prstGeom>
          <a:noFill/>
          <a:ln/>
        </p:spPr>
        <p:txBody>
          <a:bodyPr wrap="square" lIns="0" tIns="0" rIns="0" bIns="0" rtlCol="0" anchor="ctr"/>
          <a:lstStyle/>
          <a:p>
            <a:pPr marL="0" indent="0">
              <a:buNone/>
            </a:pPr>
            <a:r>
              <a:rPr lang="en-US" sz="2100" b="1" dirty="0">
                <a:solidFill>
                  <a:srgbClr val="16163A"/>
                </a:solidFill>
                <a:latin typeface="Calibri" pitchFamily="34" charset="0"/>
                <a:ea typeface="Calibri" pitchFamily="34" charset="-122"/>
                <a:cs typeface="Calibri" pitchFamily="34" charset="-120"/>
              </a:rPr>
              <a:t>Loop</a:t>
            </a:r>
            <a:endParaRPr lang="en-US" sz="2100" dirty="0"/>
          </a:p>
        </p:txBody>
      </p:sp>
      <p:sp>
        <p:nvSpPr>
          <p:cNvPr id="23" name="Text 21"/>
          <p:cNvSpPr/>
          <p:nvPr/>
        </p:nvSpPr>
        <p:spPr>
          <a:xfrm>
            <a:off x="7360920" y="4480560"/>
            <a:ext cx="3931920" cy="868680"/>
          </a:xfrm>
          <a:prstGeom prst="rect">
            <a:avLst/>
          </a:prstGeom>
          <a:noFill/>
          <a:ln/>
        </p:spPr>
        <p:txBody>
          <a:bodyPr wrap="square" lIns="0" tIns="0" rIns="0" bIns="0" rtlCol="0" anchor="t"/>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The thing that keeps calling the model until the job is done.</a:t>
            </a:r>
            <a:endParaRPr lang="en-US" sz="1450" dirty="0"/>
          </a:p>
        </p:txBody>
      </p:sp>
      <p:sp>
        <p:nvSpPr>
          <p:cNvPr id="24" name="Text 22"/>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The loop is the new part — and it is the part LangGraph takes off your hands.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PERCEIVE · REASON · ACT · OBSERVE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cycle every agent runs</a:t>
            </a:r>
            <a:endParaRPr lang="en-US" sz="3200" dirty="0"/>
          </a:p>
        </p:txBody>
      </p:sp>
      <p:sp>
        <p:nvSpPr>
          <p:cNvPr id="4" name="Shape 2"/>
          <p:cNvSpPr/>
          <p:nvPr/>
        </p:nvSpPr>
        <p:spPr>
          <a:xfrm>
            <a:off x="2651760" y="1554480"/>
            <a:ext cx="2286000" cy="914400"/>
          </a:xfrm>
          <a:prstGeom prst="roundRect">
            <a:avLst>
              <a:gd name="adj" fmla="val 100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2651760" y="1682496"/>
            <a:ext cx="2286000" cy="347472"/>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Perceive</a:t>
            </a:r>
            <a:endParaRPr lang="en-US" sz="1600" dirty="0"/>
          </a:p>
        </p:txBody>
      </p:sp>
      <p:sp>
        <p:nvSpPr>
          <p:cNvPr id="6" name="Text 4"/>
          <p:cNvSpPr/>
          <p:nvPr/>
        </p:nvSpPr>
        <p:spPr>
          <a:xfrm>
            <a:off x="2651760" y="2029968"/>
            <a:ext cx="2286000" cy="365760"/>
          </a:xfrm>
          <a:prstGeom prst="rect">
            <a:avLst/>
          </a:prstGeom>
          <a:noFill/>
          <a:ln/>
        </p:spPr>
        <p:txBody>
          <a:bodyPr wrap="square" lIns="0" tIns="0" rIns="0" bIns="0" rtlCol="0" anchor="ctr"/>
          <a:lstStyle/>
          <a:p>
            <a:pPr marL="0" indent="0" algn="ctr">
              <a:buNone/>
            </a:pPr>
            <a:r>
              <a:rPr lang="en-US" sz="1100" dirty="0">
                <a:solidFill>
                  <a:srgbClr val="6B6B8A"/>
                </a:solidFill>
                <a:latin typeface="Calibri" pitchFamily="34" charset="0"/>
                <a:ea typeface="Calibri" pitchFamily="34" charset="-122"/>
                <a:cs typeface="Calibri" pitchFamily="34" charset="-120"/>
              </a:rPr>
              <a:t>read the current state</a:t>
            </a:r>
            <a:endParaRPr lang="en-US" sz="1100" dirty="0"/>
          </a:p>
        </p:txBody>
      </p:sp>
      <p:sp>
        <p:nvSpPr>
          <p:cNvPr id="7" name="Shape 5"/>
          <p:cNvSpPr/>
          <p:nvPr/>
        </p:nvSpPr>
        <p:spPr>
          <a:xfrm>
            <a:off x="4343400" y="3246120"/>
            <a:ext cx="2286000" cy="914400"/>
          </a:xfrm>
          <a:prstGeom prst="roundRect">
            <a:avLst>
              <a:gd name="adj" fmla="val 10000"/>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8" name="Text 6"/>
          <p:cNvSpPr/>
          <p:nvPr/>
        </p:nvSpPr>
        <p:spPr>
          <a:xfrm>
            <a:off x="4343400" y="3374136"/>
            <a:ext cx="228600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Reason</a:t>
            </a:r>
            <a:endParaRPr lang="en-US" sz="1600" dirty="0"/>
          </a:p>
        </p:txBody>
      </p:sp>
      <p:sp>
        <p:nvSpPr>
          <p:cNvPr id="9" name="Text 7"/>
          <p:cNvSpPr/>
          <p:nvPr/>
        </p:nvSpPr>
        <p:spPr>
          <a:xfrm>
            <a:off x="4343400" y="3721608"/>
            <a:ext cx="2286000" cy="365760"/>
          </a:xfrm>
          <a:prstGeom prst="rect">
            <a:avLst/>
          </a:prstGeom>
          <a:noFill/>
          <a:ln/>
        </p:spPr>
        <p:txBody>
          <a:bodyPr wrap="square" lIns="0" tIns="0" rIns="0" bIns="0" rtlCol="0" anchor="ctr"/>
          <a:lstStyle/>
          <a:p>
            <a:pPr marL="0" indent="0" algn="ctr">
              <a:buNone/>
            </a:pPr>
            <a:r>
              <a:rPr lang="en-US" sz="1100" dirty="0">
                <a:solidFill>
                  <a:srgbClr val="DCD8F8"/>
                </a:solidFill>
                <a:latin typeface="Calibri" pitchFamily="34" charset="0"/>
                <a:ea typeface="Calibri" pitchFamily="34" charset="-122"/>
                <a:cs typeface="Calibri" pitchFamily="34" charset="-120"/>
              </a:rPr>
              <a:t>decide the next move</a:t>
            </a:r>
            <a:endParaRPr lang="en-US" sz="1100" dirty="0"/>
          </a:p>
        </p:txBody>
      </p:sp>
      <p:sp>
        <p:nvSpPr>
          <p:cNvPr id="10" name="Shape 8"/>
          <p:cNvSpPr/>
          <p:nvPr/>
        </p:nvSpPr>
        <p:spPr>
          <a:xfrm>
            <a:off x="2651760" y="4937760"/>
            <a:ext cx="2286000" cy="914400"/>
          </a:xfrm>
          <a:prstGeom prst="roundRect">
            <a:avLst>
              <a:gd name="adj" fmla="val 100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2651760" y="5065776"/>
            <a:ext cx="2286000" cy="347472"/>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Act</a:t>
            </a:r>
            <a:endParaRPr lang="en-US" sz="1600" dirty="0"/>
          </a:p>
        </p:txBody>
      </p:sp>
      <p:sp>
        <p:nvSpPr>
          <p:cNvPr id="12" name="Text 10"/>
          <p:cNvSpPr/>
          <p:nvPr/>
        </p:nvSpPr>
        <p:spPr>
          <a:xfrm>
            <a:off x="2651760" y="5413248"/>
            <a:ext cx="2286000" cy="365760"/>
          </a:xfrm>
          <a:prstGeom prst="rect">
            <a:avLst/>
          </a:prstGeom>
          <a:noFill/>
          <a:ln/>
        </p:spPr>
        <p:txBody>
          <a:bodyPr wrap="square" lIns="0" tIns="0" rIns="0" bIns="0" rtlCol="0" anchor="ctr"/>
          <a:lstStyle/>
          <a:p>
            <a:pPr marL="0" indent="0" algn="ctr">
              <a:buNone/>
            </a:pPr>
            <a:r>
              <a:rPr lang="en-US" sz="1100" dirty="0">
                <a:solidFill>
                  <a:srgbClr val="6B6B8A"/>
                </a:solidFill>
                <a:latin typeface="Calibri" pitchFamily="34" charset="0"/>
                <a:ea typeface="Calibri" pitchFamily="34" charset="-122"/>
                <a:cs typeface="Calibri" pitchFamily="34" charset="-120"/>
              </a:rPr>
              <a:t>call a tool</a:t>
            </a:r>
            <a:endParaRPr lang="en-US" sz="1100" dirty="0"/>
          </a:p>
        </p:txBody>
      </p:sp>
      <p:sp>
        <p:nvSpPr>
          <p:cNvPr id="13" name="Shape 11"/>
          <p:cNvSpPr/>
          <p:nvPr/>
        </p:nvSpPr>
        <p:spPr>
          <a:xfrm>
            <a:off x="960120" y="3246120"/>
            <a:ext cx="2286000" cy="914400"/>
          </a:xfrm>
          <a:prstGeom prst="roundRect">
            <a:avLst>
              <a:gd name="adj" fmla="val 100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4" name="Text 12"/>
          <p:cNvSpPr/>
          <p:nvPr/>
        </p:nvSpPr>
        <p:spPr>
          <a:xfrm>
            <a:off x="960120" y="3374136"/>
            <a:ext cx="2286000" cy="347472"/>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Observe</a:t>
            </a:r>
            <a:endParaRPr lang="en-US" sz="1600" dirty="0"/>
          </a:p>
        </p:txBody>
      </p:sp>
      <p:sp>
        <p:nvSpPr>
          <p:cNvPr id="15" name="Text 13"/>
          <p:cNvSpPr/>
          <p:nvPr/>
        </p:nvSpPr>
        <p:spPr>
          <a:xfrm>
            <a:off x="960120" y="3721608"/>
            <a:ext cx="2286000" cy="365760"/>
          </a:xfrm>
          <a:prstGeom prst="rect">
            <a:avLst/>
          </a:prstGeom>
          <a:noFill/>
          <a:ln/>
        </p:spPr>
        <p:txBody>
          <a:bodyPr wrap="square" lIns="0" tIns="0" rIns="0" bIns="0" rtlCol="0" anchor="ctr"/>
          <a:lstStyle/>
          <a:p>
            <a:pPr marL="0" indent="0" algn="ctr">
              <a:buNone/>
            </a:pPr>
            <a:r>
              <a:rPr lang="en-US" sz="1100" dirty="0">
                <a:solidFill>
                  <a:srgbClr val="6B6B8A"/>
                </a:solidFill>
                <a:latin typeface="Calibri" pitchFamily="34" charset="0"/>
                <a:ea typeface="Calibri" pitchFamily="34" charset="-122"/>
                <a:cs typeface="Calibri" pitchFamily="34" charset="-120"/>
              </a:rPr>
              <a:t>write the result back</a:t>
            </a:r>
            <a:endParaRPr lang="en-US" sz="1100" dirty="0"/>
          </a:p>
        </p:txBody>
      </p:sp>
      <p:sp>
        <p:nvSpPr>
          <p:cNvPr id="16" name="Shape 14"/>
          <p:cNvSpPr/>
          <p:nvPr/>
        </p:nvSpPr>
        <p:spPr>
          <a:xfrm>
            <a:off x="4983480" y="2468880"/>
            <a:ext cx="502920" cy="502920"/>
          </a:xfrm>
          <a:prstGeom prst="line">
            <a:avLst/>
          </a:prstGeom>
          <a:noFill/>
          <a:ln w="28575">
            <a:solidFill>
              <a:srgbClr val="5B4BC4"/>
            </a:solidFill>
            <a:prstDash val="solid"/>
            <a:tailEnd type="triangle"/>
          </a:ln>
        </p:spPr>
      </p:sp>
      <p:sp>
        <p:nvSpPr>
          <p:cNvPr id="17" name="Shape 15"/>
          <p:cNvSpPr/>
          <p:nvPr/>
        </p:nvSpPr>
        <p:spPr>
          <a:xfrm flipH="1">
            <a:off x="4937760" y="4242816"/>
            <a:ext cx="548640" cy="658368"/>
          </a:xfrm>
          <a:prstGeom prst="line">
            <a:avLst/>
          </a:prstGeom>
          <a:noFill/>
          <a:ln w="28575">
            <a:solidFill>
              <a:srgbClr val="5B4BC4"/>
            </a:solidFill>
            <a:prstDash val="solid"/>
            <a:tailEnd type="triangle"/>
          </a:ln>
        </p:spPr>
      </p:sp>
      <p:sp>
        <p:nvSpPr>
          <p:cNvPr id="18" name="Shape 16"/>
          <p:cNvSpPr/>
          <p:nvPr/>
        </p:nvSpPr>
        <p:spPr>
          <a:xfrm>
            <a:off x="2606040" y="4983480"/>
            <a:ext cx="0" cy="0"/>
          </a:xfrm>
          <a:prstGeom prst="line">
            <a:avLst/>
          </a:prstGeom>
          <a:noFill/>
          <a:ln w="28575">
            <a:solidFill>
              <a:srgbClr val="5B4BC4"/>
            </a:solidFill>
            <a:prstDash val="solid"/>
            <a:tailEnd type="triangle"/>
          </a:ln>
        </p:spPr>
      </p:sp>
      <p:sp>
        <p:nvSpPr>
          <p:cNvPr id="19" name="Shape 17"/>
          <p:cNvSpPr/>
          <p:nvPr/>
        </p:nvSpPr>
        <p:spPr>
          <a:xfrm flipV="1">
            <a:off x="2103120" y="2532888"/>
            <a:ext cx="502920" cy="640080"/>
          </a:xfrm>
          <a:prstGeom prst="line">
            <a:avLst/>
          </a:prstGeom>
          <a:noFill/>
          <a:ln w="28575">
            <a:solidFill>
              <a:srgbClr val="5B4BC4"/>
            </a:solidFill>
            <a:prstDash val="solid"/>
            <a:tailEnd type="triangle"/>
          </a:ln>
        </p:spPr>
      </p:sp>
      <p:sp>
        <p:nvSpPr>
          <p:cNvPr id="20" name="Text 18"/>
          <p:cNvSpPr/>
          <p:nvPr/>
        </p:nvSpPr>
        <p:spPr>
          <a:xfrm>
            <a:off x="7269480" y="1691640"/>
            <a:ext cx="4251960" cy="4023360"/>
          </a:xfrm>
          <a:prstGeom prst="rect">
            <a:avLst/>
          </a:prstGeom>
          <a:noFill/>
          <a:ln/>
        </p:spPr>
        <p:txBody>
          <a:bodyPr wrap="square" lIns="0" tIns="0" rIns="0" bIns="0" rtlCol="0" anchor="t"/>
          <a:lstStyle/>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Perception is not vision — it is just reading state.</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Reasoning is one model call, nothing mystical.</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Acting means asking for a tool to be run.</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The observation goes back into state, and round it goes.</a:t>
            </a:r>
            <a:endParaRPr lang="en-US" sz="1600" dirty="0"/>
          </a:p>
          <a:p>
            <a:pPr marL="342900" indent="-342900">
              <a:lnSpc>
                <a:spcPts val="2160"/>
              </a:lnSpc>
              <a:spcAft>
                <a:spcPts val="1000"/>
              </a:spcAft>
              <a:buSzPct val="100000"/>
              <a:buChar char="•"/>
            </a:pPr>
            <a:r>
              <a:rPr lang="en-US" sz="1600" dirty="0">
                <a:solidFill>
                  <a:srgbClr val="16163A"/>
                </a:solidFill>
                <a:latin typeface="Calibri" pitchFamily="34" charset="0"/>
                <a:ea typeface="Calibri" pitchFamily="34" charset="-122"/>
                <a:cs typeface="Calibri" pitchFamily="34" charset="-120"/>
              </a:rPr>
              <a:t>Stop when the model stops asking for tools.</a:t>
            </a:r>
            <a:endParaRPr lang="en-US" sz="1600" dirty="0"/>
          </a:p>
        </p:txBody>
      </p:sp>
      <p:sp>
        <p:nvSpPr>
          <p:cNvPr id="21" name="Shape 19"/>
          <p:cNvSpPr/>
          <p:nvPr/>
        </p:nvSpPr>
        <p:spPr>
          <a:xfrm>
            <a:off x="6903720" y="1691640"/>
            <a:ext cx="0" cy="3931920"/>
          </a:xfrm>
          <a:prstGeom prst="line">
            <a:avLst/>
          </a:prstGeom>
          <a:noFill/>
          <a:ln w="19050">
            <a:solidFill>
              <a:srgbClr val="D9D5F2"/>
            </a:solidFill>
            <a:prstDash val="solid"/>
          </a:ln>
        </p:spPr>
      </p:sp>
      <p:sp>
        <p:nvSpPr>
          <p:cNvPr id="22" name="Text 20"/>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Same four boxes will reappear as nodes and edges in the second half.</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ReAct  ·  WHY IT EXISTS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Two ways an LLM fails on its own</a:t>
            </a:r>
            <a:endParaRPr lang="en-US" sz="3200" dirty="0"/>
          </a:p>
        </p:txBody>
      </p:sp>
      <p:sp>
        <p:nvSpPr>
          <p:cNvPr id="4" name="Shape 2"/>
          <p:cNvSpPr/>
          <p:nvPr/>
        </p:nvSpPr>
        <p:spPr>
          <a:xfrm>
            <a:off x="640080" y="1554480"/>
            <a:ext cx="5257800" cy="1965960"/>
          </a:xfrm>
          <a:prstGeom prst="roundRect">
            <a:avLst>
              <a:gd name="adj" fmla="val 465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Text 3"/>
          <p:cNvSpPr/>
          <p:nvPr/>
        </p:nvSpPr>
        <p:spPr>
          <a:xfrm>
            <a:off x="960120" y="1755648"/>
            <a:ext cx="4663440" cy="365760"/>
          </a:xfrm>
          <a:prstGeom prst="rect">
            <a:avLst/>
          </a:prstGeom>
          <a:noFill/>
          <a:ln/>
        </p:spPr>
        <p:txBody>
          <a:bodyPr wrap="square" lIns="0" tIns="0" rIns="0" bIns="0" rtlCol="0" anchor="ctr"/>
          <a:lstStyle/>
          <a:p>
            <a:pPr marL="0" indent="0">
              <a:buNone/>
            </a:pPr>
            <a:r>
              <a:rPr lang="en-US" sz="1900" b="1" dirty="0">
                <a:solidFill>
                  <a:srgbClr val="B23A48"/>
                </a:solidFill>
                <a:latin typeface="Calibri" pitchFamily="34" charset="0"/>
                <a:ea typeface="Calibri" pitchFamily="34" charset="-122"/>
                <a:cs typeface="Calibri" pitchFamily="34" charset="-120"/>
              </a:rPr>
              <a:t>Reasoning only</a:t>
            </a:r>
            <a:endParaRPr lang="en-US" sz="1900" dirty="0"/>
          </a:p>
        </p:txBody>
      </p:sp>
      <p:sp>
        <p:nvSpPr>
          <p:cNvPr id="6" name="Text 4"/>
          <p:cNvSpPr/>
          <p:nvPr/>
        </p:nvSpPr>
        <p:spPr>
          <a:xfrm>
            <a:off x="960120" y="2194560"/>
            <a:ext cx="4663440" cy="1143000"/>
          </a:xfrm>
          <a:prstGeom prst="rect">
            <a:avLst/>
          </a:prstGeom>
          <a:noFill/>
          <a:ln/>
        </p:spPr>
        <p:txBody>
          <a:bodyPr wrap="square" lIns="0" tIns="0" rIns="0" bIns="0" rtlCol="0" anchor="t"/>
          <a:lstStyle/>
          <a:p>
            <a:pPr marL="0" indent="0">
              <a:lnSpc>
                <a:spcPts val="2100"/>
              </a:lnSpc>
              <a:buNone/>
            </a:pPr>
            <a:r>
              <a:rPr lang="en-US" sz="1500" dirty="0">
                <a:solidFill>
                  <a:srgbClr val="16163A"/>
                </a:solidFill>
                <a:latin typeface="Calibri" pitchFamily="34" charset="0"/>
                <a:ea typeface="Calibri" pitchFamily="34" charset="-122"/>
                <a:cs typeface="Calibri" pitchFamily="34" charset="-120"/>
              </a:rPr>
              <a:t>Chain-of-thought thinks beautifully and never checks anything. Confident, fluent, and sometimes entirely made up.</a:t>
            </a:r>
            <a:endParaRPr lang="en-US" sz="1500" dirty="0"/>
          </a:p>
        </p:txBody>
      </p:sp>
      <p:sp>
        <p:nvSpPr>
          <p:cNvPr id="7" name="Shape 5"/>
          <p:cNvSpPr/>
          <p:nvPr/>
        </p:nvSpPr>
        <p:spPr>
          <a:xfrm>
            <a:off x="6263640" y="1554480"/>
            <a:ext cx="5257800" cy="1965960"/>
          </a:xfrm>
          <a:prstGeom prst="roundRect">
            <a:avLst>
              <a:gd name="adj" fmla="val 465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8" name="Text 6"/>
          <p:cNvSpPr/>
          <p:nvPr/>
        </p:nvSpPr>
        <p:spPr>
          <a:xfrm>
            <a:off x="6583680" y="1755648"/>
            <a:ext cx="4663440" cy="365760"/>
          </a:xfrm>
          <a:prstGeom prst="rect">
            <a:avLst/>
          </a:prstGeom>
          <a:noFill/>
          <a:ln/>
        </p:spPr>
        <p:txBody>
          <a:bodyPr wrap="square" lIns="0" tIns="0" rIns="0" bIns="0" rtlCol="0" anchor="ctr"/>
          <a:lstStyle/>
          <a:p>
            <a:pPr marL="0" indent="0">
              <a:buNone/>
            </a:pPr>
            <a:r>
              <a:rPr lang="en-US" sz="1900" b="1" dirty="0">
                <a:solidFill>
                  <a:srgbClr val="B23A48"/>
                </a:solidFill>
                <a:latin typeface="Calibri" pitchFamily="34" charset="0"/>
                <a:ea typeface="Calibri" pitchFamily="34" charset="-122"/>
                <a:cs typeface="Calibri" pitchFamily="34" charset="-120"/>
              </a:rPr>
              <a:t>Acting only</a:t>
            </a:r>
            <a:endParaRPr lang="en-US" sz="1900" dirty="0"/>
          </a:p>
        </p:txBody>
      </p:sp>
      <p:sp>
        <p:nvSpPr>
          <p:cNvPr id="9" name="Text 7"/>
          <p:cNvSpPr/>
          <p:nvPr/>
        </p:nvSpPr>
        <p:spPr>
          <a:xfrm>
            <a:off x="6583680" y="2194560"/>
            <a:ext cx="4663440" cy="1143000"/>
          </a:xfrm>
          <a:prstGeom prst="rect">
            <a:avLst/>
          </a:prstGeom>
          <a:noFill/>
          <a:ln/>
        </p:spPr>
        <p:txBody>
          <a:bodyPr wrap="square" lIns="0" tIns="0" rIns="0" bIns="0" rtlCol="0" anchor="t"/>
          <a:lstStyle/>
          <a:p>
            <a:pPr marL="0" indent="0">
              <a:lnSpc>
                <a:spcPts val="2100"/>
              </a:lnSpc>
              <a:buNone/>
            </a:pPr>
            <a:r>
              <a:rPr lang="en-US" sz="1500" dirty="0">
                <a:solidFill>
                  <a:srgbClr val="16163A"/>
                </a:solidFill>
                <a:latin typeface="Calibri" pitchFamily="34" charset="0"/>
                <a:ea typeface="Calibri" pitchFamily="34" charset="-122"/>
                <a:cs typeface="Calibri" pitchFamily="34" charset="-120"/>
              </a:rPr>
              <a:t>Fires off tool calls with no plan. It gets real data back and has no idea what to do with it.</a:t>
            </a:r>
            <a:endParaRPr lang="en-US" sz="1500" dirty="0"/>
          </a:p>
        </p:txBody>
      </p:sp>
      <p:sp>
        <p:nvSpPr>
          <p:cNvPr id="10" name="Shape 8"/>
          <p:cNvSpPr/>
          <p:nvPr/>
        </p:nvSpPr>
        <p:spPr>
          <a:xfrm>
            <a:off x="640080" y="3794760"/>
            <a:ext cx="10881360" cy="1874520"/>
          </a:xfrm>
          <a:prstGeom prst="roundRect">
            <a:avLst>
              <a:gd name="adj" fmla="val 487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1005840" y="4023360"/>
            <a:ext cx="10149840" cy="457200"/>
          </a:xfrm>
          <a:prstGeom prst="rect">
            <a:avLst/>
          </a:prstGeom>
          <a:noFill/>
          <a:ln/>
        </p:spPr>
        <p:txBody>
          <a:bodyPr wrap="square" lIns="0" tIns="0" rIns="0" bIns="0" rtlCol="0" anchor="ctr"/>
          <a:lstStyle/>
          <a:p>
            <a:pPr marL="0" indent="0">
              <a:buNone/>
            </a:pPr>
            <a:r>
              <a:rPr lang="en-US" sz="2600" b="1" dirty="0">
                <a:solidFill>
                  <a:srgbClr val="3B2E8F"/>
                </a:solidFill>
                <a:latin typeface="Cambria" pitchFamily="34" charset="0"/>
                <a:ea typeface="Cambria" pitchFamily="34" charset="-122"/>
                <a:cs typeface="Cambria" pitchFamily="34" charset="-120"/>
              </a:rPr>
              <a:t>ReAct  =  Reason + Act, interleaved</a:t>
            </a:r>
            <a:endParaRPr lang="en-US" sz="2600" dirty="0"/>
          </a:p>
        </p:txBody>
      </p:sp>
      <p:sp>
        <p:nvSpPr>
          <p:cNvPr id="12" name="Text 10"/>
          <p:cNvSpPr/>
          <p:nvPr/>
        </p:nvSpPr>
        <p:spPr>
          <a:xfrm>
            <a:off x="1005840" y="4572000"/>
            <a:ext cx="10149840" cy="914400"/>
          </a:xfrm>
          <a:prstGeom prst="rect">
            <a:avLst/>
          </a:prstGeom>
          <a:noFill/>
          <a:ln/>
        </p:spPr>
        <p:txBody>
          <a:bodyPr wrap="square" lIns="0" tIns="0" rIns="0" bIns="0" rtlCol="0" anchor="t"/>
          <a:lstStyle/>
          <a:p>
            <a:pPr marL="0" indent="0">
              <a:lnSpc>
                <a:spcPts val="2300"/>
              </a:lnSpc>
              <a:buNone/>
            </a:pPr>
            <a:r>
              <a:rPr lang="en-US" sz="1600" dirty="0">
                <a:solidFill>
                  <a:srgbClr val="16163A"/>
                </a:solidFill>
                <a:latin typeface="Calibri" pitchFamily="34" charset="0"/>
                <a:ea typeface="Calibri" pitchFamily="34" charset="-122"/>
                <a:cs typeface="Calibri" pitchFamily="34" charset="-120"/>
              </a:rPr>
              <a:t>Reasoning keeps the plan honest and handles surprises. Acting keeps the reasoning tied to something real. Neither works well alone.</a:t>
            </a:r>
            <a:endParaRPr lang="en-US" sz="1600" dirty="0"/>
          </a:p>
        </p:txBody>
      </p:sp>
      <p:sp>
        <p:nvSpPr>
          <p:cNvPr id="13" name="Text 11"/>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Yao et al., ReAct: Synergizing Reasoning and Acting in Language Models, arXiv:2210.03629 (ICLR 2023).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ReAct  ·  THE LOOP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Thought → Action → Observation, and repeat</a:t>
            </a:r>
            <a:endParaRPr lang="en-US" sz="3200" dirty="0"/>
          </a:p>
        </p:txBody>
      </p:sp>
      <p:sp>
        <p:nvSpPr>
          <p:cNvPr id="4" name="Shape 2"/>
          <p:cNvSpPr/>
          <p:nvPr/>
        </p:nvSpPr>
        <p:spPr>
          <a:xfrm>
            <a:off x="1371600" y="1828800"/>
            <a:ext cx="2651760" cy="1371600"/>
          </a:xfrm>
          <a:prstGeom prst="roundRect">
            <a:avLst>
              <a:gd name="adj" fmla="val 6667"/>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1371600" y="1993392"/>
            <a:ext cx="2651760" cy="4114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Thought</a:t>
            </a:r>
            <a:endParaRPr lang="en-US" sz="1900" dirty="0"/>
          </a:p>
        </p:txBody>
      </p:sp>
      <p:sp>
        <p:nvSpPr>
          <p:cNvPr id="6" name="Text 4"/>
          <p:cNvSpPr/>
          <p:nvPr/>
        </p:nvSpPr>
        <p:spPr>
          <a:xfrm>
            <a:off x="1508760" y="2487168"/>
            <a:ext cx="2377440" cy="548640"/>
          </a:xfrm>
          <a:prstGeom prst="rect">
            <a:avLst/>
          </a:prstGeom>
          <a:noFill/>
          <a:ln/>
        </p:spPr>
        <p:txBody>
          <a:bodyPr wrap="square" lIns="0" tIns="0" rIns="0" bIns="0" rtlCol="0" anchor="t"/>
          <a:lstStyle/>
          <a:p>
            <a:pPr marL="0" indent="0" algn="ctr">
              <a:lnSpc>
                <a:spcPts val="1500"/>
              </a:lnSpc>
              <a:buNone/>
            </a:pPr>
            <a:r>
              <a:rPr lang="en-US" sz="1150" dirty="0">
                <a:solidFill>
                  <a:srgbClr val="DCD8F8"/>
                </a:solidFill>
                <a:latin typeface="Calibri" pitchFamily="34" charset="0"/>
                <a:ea typeface="Calibri" pitchFamily="34" charset="-122"/>
                <a:cs typeface="Calibri" pitchFamily="34" charset="-120"/>
              </a:rPr>
              <a:t>what do I know,</a:t>
            </a:r>
            <a:endParaRPr lang="en-US" sz="1150" dirty="0"/>
          </a:p>
          <a:p>
            <a:pPr marL="0" indent="0" algn="ctr">
              <a:lnSpc>
                <a:spcPts val="1500"/>
              </a:lnSpc>
              <a:buNone/>
            </a:pPr>
            <a:r>
              <a:rPr lang="en-US" sz="1150" dirty="0">
                <a:solidFill>
                  <a:srgbClr val="DCD8F8"/>
                </a:solidFill>
                <a:latin typeface="Calibri" pitchFamily="34" charset="0"/>
                <a:ea typeface="Calibri" pitchFamily="34" charset="-122"/>
                <a:cs typeface="Calibri" pitchFamily="34" charset="-120"/>
              </a:rPr>
              <a:t>what do I need next</a:t>
            </a:r>
            <a:endParaRPr lang="en-US" sz="1150" dirty="0"/>
          </a:p>
        </p:txBody>
      </p:sp>
      <p:sp>
        <p:nvSpPr>
          <p:cNvPr id="7" name="Shape 5"/>
          <p:cNvSpPr/>
          <p:nvPr/>
        </p:nvSpPr>
        <p:spPr>
          <a:xfrm>
            <a:off x="4069080" y="2514600"/>
            <a:ext cx="640080" cy="0"/>
          </a:xfrm>
          <a:prstGeom prst="line">
            <a:avLst/>
          </a:prstGeom>
          <a:noFill/>
          <a:ln w="28575">
            <a:solidFill>
              <a:srgbClr val="5B4BC4"/>
            </a:solidFill>
            <a:prstDash val="solid"/>
            <a:tailEnd type="triangle"/>
          </a:ln>
        </p:spPr>
      </p:sp>
      <p:sp>
        <p:nvSpPr>
          <p:cNvPr id="8" name="Shape 6"/>
          <p:cNvSpPr/>
          <p:nvPr/>
        </p:nvSpPr>
        <p:spPr>
          <a:xfrm>
            <a:off x="4754880" y="1828800"/>
            <a:ext cx="2651760" cy="1371600"/>
          </a:xfrm>
          <a:prstGeom prst="roundRect">
            <a:avLst>
              <a:gd name="adj" fmla="val 6667"/>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4754880" y="1993392"/>
            <a:ext cx="2651760" cy="411480"/>
          </a:xfrm>
          <a:prstGeom prst="rect">
            <a:avLst/>
          </a:prstGeom>
          <a:noFill/>
          <a:ln/>
        </p:spPr>
        <p:txBody>
          <a:bodyPr wrap="square" lIns="0" tIns="0" rIns="0" bIns="0" rtlCol="0" anchor="ctr"/>
          <a:lstStyle/>
          <a:p>
            <a:pPr marL="0" indent="0" algn="ctr">
              <a:buNone/>
            </a:pPr>
            <a:r>
              <a:rPr lang="en-US" sz="1900" b="1" dirty="0">
                <a:solidFill>
                  <a:srgbClr val="16163A"/>
                </a:solidFill>
                <a:latin typeface="Calibri" pitchFamily="34" charset="0"/>
                <a:ea typeface="Calibri" pitchFamily="34" charset="-122"/>
                <a:cs typeface="Calibri" pitchFamily="34" charset="-120"/>
              </a:rPr>
              <a:t>Action</a:t>
            </a:r>
            <a:endParaRPr lang="en-US" sz="1900" dirty="0"/>
          </a:p>
        </p:txBody>
      </p:sp>
      <p:sp>
        <p:nvSpPr>
          <p:cNvPr id="10" name="Text 8"/>
          <p:cNvSpPr/>
          <p:nvPr/>
        </p:nvSpPr>
        <p:spPr>
          <a:xfrm>
            <a:off x="4892040" y="2487168"/>
            <a:ext cx="2377440" cy="548640"/>
          </a:xfrm>
          <a:prstGeom prst="rect">
            <a:avLst/>
          </a:prstGeom>
          <a:noFill/>
          <a:ln/>
        </p:spPr>
        <p:txBody>
          <a:bodyPr wrap="square" lIns="0" tIns="0" rIns="0" bIns="0" rtlCol="0" anchor="t"/>
          <a:lstStyle/>
          <a:p>
            <a:pPr marL="0" indent="0" algn="ctr">
              <a:lnSpc>
                <a:spcPts val="1500"/>
              </a:lnSpc>
              <a:buNone/>
            </a:pPr>
            <a:r>
              <a:rPr lang="en-US" sz="1150" dirty="0">
                <a:solidFill>
                  <a:srgbClr val="6B6B8A"/>
                </a:solidFill>
                <a:latin typeface="Calibri" pitchFamily="34" charset="0"/>
                <a:ea typeface="Calibri" pitchFamily="34" charset="-122"/>
                <a:cs typeface="Calibri" pitchFamily="34" charset="-120"/>
              </a:rPr>
              <a:t>ask for one tool call</a:t>
            </a:r>
            <a:endParaRPr lang="en-US" sz="1150" dirty="0"/>
          </a:p>
        </p:txBody>
      </p:sp>
      <p:sp>
        <p:nvSpPr>
          <p:cNvPr id="11" name="Shape 9"/>
          <p:cNvSpPr/>
          <p:nvPr/>
        </p:nvSpPr>
        <p:spPr>
          <a:xfrm>
            <a:off x="7452360" y="2514600"/>
            <a:ext cx="640080" cy="0"/>
          </a:xfrm>
          <a:prstGeom prst="line">
            <a:avLst/>
          </a:prstGeom>
          <a:noFill/>
          <a:ln w="28575">
            <a:solidFill>
              <a:srgbClr val="5B4BC4"/>
            </a:solidFill>
            <a:prstDash val="solid"/>
            <a:tailEnd type="triangle"/>
          </a:ln>
        </p:spPr>
      </p:sp>
      <p:sp>
        <p:nvSpPr>
          <p:cNvPr id="12" name="Shape 10"/>
          <p:cNvSpPr/>
          <p:nvPr/>
        </p:nvSpPr>
        <p:spPr>
          <a:xfrm>
            <a:off x="8138160" y="1828800"/>
            <a:ext cx="2651760" cy="1371600"/>
          </a:xfrm>
          <a:prstGeom prst="roundRect">
            <a:avLst>
              <a:gd name="adj" fmla="val 6667"/>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3" name="Text 11"/>
          <p:cNvSpPr/>
          <p:nvPr/>
        </p:nvSpPr>
        <p:spPr>
          <a:xfrm>
            <a:off x="8138160" y="1993392"/>
            <a:ext cx="2651760" cy="411480"/>
          </a:xfrm>
          <a:prstGeom prst="rect">
            <a:avLst/>
          </a:prstGeom>
          <a:noFill/>
          <a:ln/>
        </p:spPr>
        <p:txBody>
          <a:bodyPr wrap="square" lIns="0" tIns="0" rIns="0" bIns="0" rtlCol="0" anchor="ctr"/>
          <a:lstStyle/>
          <a:p>
            <a:pPr marL="0" indent="0" algn="ctr">
              <a:buNone/>
            </a:pPr>
            <a:r>
              <a:rPr lang="en-US" sz="1900" b="1" dirty="0">
                <a:solidFill>
                  <a:srgbClr val="16163A"/>
                </a:solidFill>
                <a:latin typeface="Calibri" pitchFamily="34" charset="0"/>
                <a:ea typeface="Calibri" pitchFamily="34" charset="-122"/>
                <a:cs typeface="Calibri" pitchFamily="34" charset="-120"/>
              </a:rPr>
              <a:t>Observation</a:t>
            </a:r>
            <a:endParaRPr lang="en-US" sz="1900" dirty="0"/>
          </a:p>
        </p:txBody>
      </p:sp>
      <p:sp>
        <p:nvSpPr>
          <p:cNvPr id="14" name="Text 12"/>
          <p:cNvSpPr/>
          <p:nvPr/>
        </p:nvSpPr>
        <p:spPr>
          <a:xfrm>
            <a:off x="8275320" y="2487168"/>
            <a:ext cx="2377440" cy="548640"/>
          </a:xfrm>
          <a:prstGeom prst="rect">
            <a:avLst/>
          </a:prstGeom>
          <a:noFill/>
          <a:ln/>
        </p:spPr>
        <p:txBody>
          <a:bodyPr wrap="square" lIns="0" tIns="0" rIns="0" bIns="0" rtlCol="0" anchor="t"/>
          <a:lstStyle/>
          <a:p>
            <a:pPr marL="0" indent="0" algn="ctr">
              <a:lnSpc>
                <a:spcPts val="1500"/>
              </a:lnSpc>
              <a:buNone/>
            </a:pPr>
            <a:r>
              <a:rPr lang="en-US" sz="1150" dirty="0">
                <a:solidFill>
                  <a:srgbClr val="6B6B8A"/>
                </a:solidFill>
                <a:latin typeface="Calibri" pitchFamily="34" charset="0"/>
                <a:ea typeface="Calibri" pitchFamily="34" charset="-122"/>
                <a:cs typeface="Calibri" pitchFamily="34" charset="-120"/>
              </a:rPr>
              <a:t>the result comes back</a:t>
            </a:r>
            <a:endParaRPr lang="en-US" sz="1150" dirty="0"/>
          </a:p>
        </p:txBody>
      </p:sp>
      <p:sp>
        <p:nvSpPr>
          <p:cNvPr id="15" name="Shape 13"/>
          <p:cNvSpPr/>
          <p:nvPr/>
        </p:nvSpPr>
        <p:spPr>
          <a:xfrm>
            <a:off x="9464040" y="3200400"/>
            <a:ext cx="0" cy="502920"/>
          </a:xfrm>
          <a:prstGeom prst="line">
            <a:avLst/>
          </a:prstGeom>
          <a:noFill/>
          <a:ln w="28575">
            <a:solidFill>
              <a:srgbClr val="FF9F1C"/>
            </a:solidFill>
            <a:prstDash val="solid"/>
          </a:ln>
        </p:spPr>
      </p:sp>
      <p:sp>
        <p:nvSpPr>
          <p:cNvPr id="16" name="Shape 14"/>
          <p:cNvSpPr/>
          <p:nvPr/>
        </p:nvSpPr>
        <p:spPr>
          <a:xfrm>
            <a:off x="9464040" y="3703320"/>
            <a:ext cx="0" cy="0"/>
          </a:xfrm>
          <a:prstGeom prst="line">
            <a:avLst/>
          </a:prstGeom>
          <a:noFill/>
          <a:ln w="28575">
            <a:solidFill>
              <a:srgbClr val="FF9F1C"/>
            </a:solidFill>
            <a:prstDash val="solid"/>
          </a:ln>
        </p:spPr>
      </p:sp>
      <p:sp>
        <p:nvSpPr>
          <p:cNvPr id="18" name="Text 16"/>
          <p:cNvSpPr/>
          <p:nvPr/>
        </p:nvSpPr>
        <p:spPr>
          <a:xfrm>
            <a:off x="7452360" y="3767328"/>
            <a:ext cx="384048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until the model has an answer</a:t>
            </a:r>
            <a:endParaRPr lang="en-US" sz="1200" dirty="0"/>
          </a:p>
        </p:txBody>
      </p:sp>
      <p:sp>
        <p:nvSpPr>
          <p:cNvPr id="19" name="Shape 17"/>
          <p:cNvSpPr/>
          <p:nvPr/>
        </p:nvSpPr>
        <p:spPr>
          <a:xfrm>
            <a:off x="640080" y="4023360"/>
            <a:ext cx="10881360" cy="1691640"/>
          </a:xfrm>
          <a:prstGeom prst="roundRect">
            <a:avLst>
              <a:gd name="adj" fmla="val 5405"/>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0" name="Text 18"/>
          <p:cNvSpPr/>
          <p:nvPr/>
        </p:nvSpPr>
        <p:spPr>
          <a:xfrm>
            <a:off x="1005840" y="4206240"/>
            <a:ext cx="10149840" cy="365760"/>
          </a:xfrm>
          <a:prstGeom prst="rect">
            <a:avLst/>
          </a:prstGeom>
          <a:noFill/>
          <a:ln/>
        </p:spPr>
        <p:txBody>
          <a:bodyPr wrap="square" lIns="0" tIns="0" rIns="0" bIns="0" rtlCol="0" anchor="ctr"/>
          <a:lstStyle/>
          <a:p>
            <a:pPr marL="0" indent="0">
              <a:buNone/>
            </a:pPr>
            <a:r>
              <a:rPr lang="en-US" sz="1700" b="1" dirty="0">
                <a:solidFill>
                  <a:srgbClr val="3B2E8F"/>
                </a:solidFill>
                <a:latin typeface="Calibri" pitchFamily="34" charset="0"/>
                <a:ea typeface="Calibri" pitchFamily="34" charset="-122"/>
                <a:cs typeface="Calibri" pitchFamily="34" charset="-120"/>
              </a:rPr>
              <a:t>A note on 2026</a:t>
            </a:r>
            <a:endParaRPr lang="en-US" sz="1700" dirty="0"/>
          </a:p>
        </p:txBody>
      </p:sp>
      <p:sp>
        <p:nvSpPr>
          <p:cNvPr id="21" name="Text 19"/>
          <p:cNvSpPr/>
          <p:nvPr/>
        </p:nvSpPr>
        <p:spPr>
          <a:xfrm>
            <a:off x="1005840" y="4645152"/>
            <a:ext cx="10149840" cy="914400"/>
          </a:xfrm>
          <a:prstGeom prst="rect">
            <a:avLst/>
          </a:prstGeom>
          <a:noFill/>
          <a:ln/>
        </p:spPr>
        <p:txBody>
          <a:bodyPr wrap="square" lIns="0" tIns="0" rIns="0" bIns="0" rtlCol="0" anchor="t"/>
          <a:lstStyle/>
          <a:p>
            <a:pPr marL="0" indent="0">
              <a:lnSpc>
                <a:spcPts val="2100"/>
              </a:lnSpc>
              <a:buNone/>
            </a:pPr>
            <a:r>
              <a:rPr lang="en-US" sz="1500" dirty="0">
                <a:solidFill>
                  <a:srgbClr val="16163A"/>
                </a:solidFill>
                <a:latin typeface="Calibri" pitchFamily="34" charset="0"/>
                <a:ea typeface="Calibri" pitchFamily="34" charset="-122"/>
                <a:cs typeface="Calibri" pitchFamily="34" charset="-120"/>
              </a:rPr>
              <a:t>The paper made the model write "Thought:" and "Action:" as literal text, which you then parsed. Nobody does that now — models emit structured tool calls natively. The pattern survived; the plumbing was replaced. Tutorials that still parse strings are showing you 2022.</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ReAct  ·  A WORKED EXAMPLE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What it actually looks like</a:t>
            </a:r>
            <a:endParaRPr lang="en-US" sz="3200" dirty="0"/>
          </a:p>
        </p:txBody>
      </p:sp>
      <p:sp>
        <p:nvSpPr>
          <p:cNvPr id="4" name="Text 2"/>
          <p:cNvSpPr/>
          <p:nvPr/>
        </p:nvSpPr>
        <p:spPr>
          <a:xfrm>
            <a:off x="640080" y="1417320"/>
            <a:ext cx="10881360" cy="457200"/>
          </a:xfrm>
          <a:prstGeom prst="rect">
            <a:avLst/>
          </a:prstGeom>
          <a:noFill/>
          <a:ln/>
        </p:spPr>
        <p:txBody>
          <a:bodyPr wrap="square" lIns="0" tIns="0" rIns="0" bIns="0" rtlCol="0" anchor="ctr"/>
          <a:lstStyle/>
          <a:p>
            <a:pPr marL="0" indent="0">
              <a:buNone/>
            </a:pPr>
            <a:r>
              <a:rPr lang="en-US" sz="2000" b="1" i="1" dirty="0">
                <a:solidFill>
                  <a:srgbClr val="3B2E8F"/>
                </a:solidFill>
                <a:latin typeface="Cambria" pitchFamily="34" charset="0"/>
                <a:ea typeface="Cambria" pitchFamily="34" charset="-122"/>
                <a:cs typeface="Cambria" pitchFamily="34" charset="-120"/>
              </a:rPr>
              <a:t>“Which of our two warehouses shipped more units last month?”</a:t>
            </a:r>
            <a:endParaRPr lang="en-US" sz="2000" dirty="0"/>
          </a:p>
        </p:txBody>
      </p:sp>
      <p:sp>
        <p:nvSpPr>
          <p:cNvPr id="5" name="Text 3"/>
          <p:cNvSpPr/>
          <p:nvPr/>
        </p:nvSpPr>
        <p:spPr>
          <a:xfrm>
            <a:off x="822960" y="2011680"/>
            <a:ext cx="1554480" cy="457200"/>
          </a:xfrm>
          <a:prstGeom prst="rect">
            <a:avLst/>
          </a:prstGeom>
          <a:noFill/>
          <a:ln/>
        </p:spPr>
        <p:txBody>
          <a:bodyPr wrap="square" lIns="0" tIns="0" rIns="0" bIns="0" rtlCol="0" anchor="ctr"/>
          <a:lstStyle/>
          <a:p>
            <a:pPr marL="0" indent="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6" name="Text 4"/>
          <p:cNvSpPr/>
          <p:nvPr/>
        </p:nvSpPr>
        <p:spPr>
          <a:xfrm>
            <a:off x="2468880" y="2011680"/>
            <a:ext cx="9052560" cy="457200"/>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I need last month's totals. I have a SQL tool. Start with the Leeds site.</a:t>
            </a:r>
            <a:endParaRPr lang="en-US" sz="1450" dirty="0"/>
          </a:p>
        </p:txBody>
      </p:sp>
      <p:sp>
        <p:nvSpPr>
          <p:cNvPr id="7" name="Shape 5"/>
          <p:cNvSpPr/>
          <p:nvPr/>
        </p:nvSpPr>
        <p:spPr>
          <a:xfrm>
            <a:off x="822960" y="2514600"/>
            <a:ext cx="10698480" cy="0"/>
          </a:xfrm>
          <a:prstGeom prst="line">
            <a:avLst/>
          </a:prstGeom>
          <a:noFill/>
          <a:ln w="12700">
            <a:solidFill>
              <a:srgbClr val="EEECF8"/>
            </a:solidFill>
            <a:prstDash val="solid"/>
          </a:ln>
        </p:spPr>
      </p:sp>
      <p:sp>
        <p:nvSpPr>
          <p:cNvPr id="8" name="Text 6"/>
          <p:cNvSpPr/>
          <p:nvPr/>
        </p:nvSpPr>
        <p:spPr>
          <a:xfrm>
            <a:off x="822960" y="2560320"/>
            <a:ext cx="1554480" cy="457200"/>
          </a:xfrm>
          <a:prstGeom prst="rect">
            <a:avLst/>
          </a:prstGeom>
          <a:noFill/>
          <a:ln/>
        </p:spPr>
        <p:txBody>
          <a:bodyPr wrap="square" lIns="0" tIns="0" rIns="0" bIns="0" rtlCol="0" anchor="ctr"/>
          <a:lstStyle/>
          <a:p>
            <a:pPr marL="0" indent="0">
              <a:buNone/>
            </a:pPr>
            <a:r>
              <a:rPr lang="en-US" sz="1350" b="1" dirty="0">
                <a:solidFill>
                  <a:srgbClr val="6B6B8A"/>
                </a:solidFill>
                <a:latin typeface="Calibri" pitchFamily="34" charset="0"/>
                <a:ea typeface="Calibri" pitchFamily="34" charset="-122"/>
                <a:cs typeface="Calibri" pitchFamily="34" charset="-120"/>
              </a:rPr>
              <a:t>Action</a:t>
            </a:r>
            <a:endParaRPr lang="en-US" sz="1350" dirty="0"/>
          </a:p>
        </p:txBody>
      </p:sp>
      <p:sp>
        <p:nvSpPr>
          <p:cNvPr id="9" name="Text 7"/>
          <p:cNvSpPr/>
          <p:nvPr/>
        </p:nvSpPr>
        <p:spPr>
          <a:xfrm>
            <a:off x="2468880" y="2560320"/>
            <a:ext cx="9052560" cy="457200"/>
          </a:xfrm>
          <a:prstGeom prst="rect">
            <a:avLst/>
          </a:prstGeom>
          <a:noFill/>
          <a:ln/>
        </p:spPr>
        <p:txBody>
          <a:bodyPr wrap="square" lIns="0" tIns="0" rIns="0" bIns="0" rtlCol="0" anchor="ctr"/>
          <a:lstStyle/>
          <a:p>
            <a:pPr marL="0" indent="0">
              <a:buNone/>
            </a:pPr>
            <a:r>
              <a:rPr lang="en-US" sz="1250" dirty="0">
                <a:solidFill>
                  <a:srgbClr val="16163A"/>
                </a:solidFill>
                <a:latin typeface="Courier New" pitchFamily="34" charset="0"/>
                <a:ea typeface="Courier New" pitchFamily="34" charset="-122"/>
                <a:cs typeface="Courier New" pitchFamily="34" charset="-120"/>
              </a:rPr>
              <a:t>query_db("SELECT SUM(units) ... WHERE site='Leeds'")</a:t>
            </a:r>
            <a:endParaRPr lang="en-US" sz="1250" dirty="0"/>
          </a:p>
        </p:txBody>
      </p:sp>
      <p:sp>
        <p:nvSpPr>
          <p:cNvPr id="10" name="Shape 8"/>
          <p:cNvSpPr/>
          <p:nvPr/>
        </p:nvSpPr>
        <p:spPr>
          <a:xfrm>
            <a:off x="822960" y="3063240"/>
            <a:ext cx="10698480" cy="0"/>
          </a:xfrm>
          <a:prstGeom prst="line">
            <a:avLst/>
          </a:prstGeom>
          <a:noFill/>
          <a:ln w="12700">
            <a:solidFill>
              <a:srgbClr val="EEECF8"/>
            </a:solidFill>
            <a:prstDash val="solid"/>
          </a:ln>
        </p:spPr>
      </p:sp>
      <p:sp>
        <p:nvSpPr>
          <p:cNvPr id="11" name="Text 9"/>
          <p:cNvSpPr/>
          <p:nvPr/>
        </p:nvSpPr>
        <p:spPr>
          <a:xfrm>
            <a:off x="822960" y="3108960"/>
            <a:ext cx="1554480" cy="457200"/>
          </a:xfrm>
          <a:prstGeom prst="rect">
            <a:avLst/>
          </a:prstGeom>
          <a:noFill/>
          <a:ln/>
        </p:spPr>
        <p:txBody>
          <a:bodyPr wrap="square" lIns="0" tIns="0" rIns="0" bIns="0" rtlCol="0" anchor="ctr"/>
          <a:lstStyle/>
          <a:p>
            <a:pPr marL="0" indent="0">
              <a:buNone/>
            </a:pPr>
            <a:r>
              <a:rPr lang="en-US" sz="1350" b="1" dirty="0">
                <a:solidFill>
                  <a:srgbClr val="2E7D5B"/>
                </a:solidFill>
                <a:latin typeface="Calibri" pitchFamily="34" charset="0"/>
                <a:ea typeface="Calibri" pitchFamily="34" charset="-122"/>
                <a:cs typeface="Calibri" pitchFamily="34" charset="-120"/>
              </a:rPr>
              <a:t>Observation</a:t>
            </a:r>
            <a:endParaRPr lang="en-US" sz="1350" dirty="0"/>
          </a:p>
        </p:txBody>
      </p:sp>
      <p:sp>
        <p:nvSpPr>
          <p:cNvPr id="12" name="Text 10"/>
          <p:cNvSpPr/>
          <p:nvPr/>
        </p:nvSpPr>
        <p:spPr>
          <a:xfrm>
            <a:off x="2468880" y="3108960"/>
            <a:ext cx="9052560" cy="457200"/>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41,208</a:t>
            </a:r>
            <a:endParaRPr lang="en-US" sz="1450" dirty="0"/>
          </a:p>
        </p:txBody>
      </p:sp>
      <p:sp>
        <p:nvSpPr>
          <p:cNvPr id="13" name="Shape 11"/>
          <p:cNvSpPr/>
          <p:nvPr/>
        </p:nvSpPr>
        <p:spPr>
          <a:xfrm>
            <a:off x="822960" y="3611880"/>
            <a:ext cx="10698480" cy="0"/>
          </a:xfrm>
          <a:prstGeom prst="line">
            <a:avLst/>
          </a:prstGeom>
          <a:noFill/>
          <a:ln w="12700">
            <a:solidFill>
              <a:srgbClr val="EEECF8"/>
            </a:solidFill>
            <a:prstDash val="solid"/>
          </a:ln>
        </p:spPr>
      </p:sp>
      <p:sp>
        <p:nvSpPr>
          <p:cNvPr id="14" name="Text 12"/>
          <p:cNvSpPr/>
          <p:nvPr/>
        </p:nvSpPr>
        <p:spPr>
          <a:xfrm>
            <a:off x="822960" y="3657600"/>
            <a:ext cx="1554480" cy="457200"/>
          </a:xfrm>
          <a:prstGeom prst="rect">
            <a:avLst/>
          </a:prstGeom>
          <a:noFill/>
          <a:ln/>
        </p:spPr>
        <p:txBody>
          <a:bodyPr wrap="square" lIns="0" tIns="0" rIns="0" bIns="0" rtlCol="0" anchor="ctr"/>
          <a:lstStyle/>
          <a:p>
            <a:pPr marL="0" indent="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15" name="Text 13"/>
          <p:cNvSpPr/>
          <p:nvPr/>
        </p:nvSpPr>
        <p:spPr>
          <a:xfrm>
            <a:off x="2468880" y="3657600"/>
            <a:ext cx="9052560" cy="457200"/>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Now the other one, so I can compare.</a:t>
            </a:r>
            <a:endParaRPr lang="en-US" sz="1450" dirty="0"/>
          </a:p>
        </p:txBody>
      </p:sp>
      <p:sp>
        <p:nvSpPr>
          <p:cNvPr id="16" name="Shape 14"/>
          <p:cNvSpPr/>
          <p:nvPr/>
        </p:nvSpPr>
        <p:spPr>
          <a:xfrm>
            <a:off x="822960" y="4160520"/>
            <a:ext cx="10698480" cy="0"/>
          </a:xfrm>
          <a:prstGeom prst="line">
            <a:avLst/>
          </a:prstGeom>
          <a:noFill/>
          <a:ln w="12700">
            <a:solidFill>
              <a:srgbClr val="EEECF8"/>
            </a:solidFill>
            <a:prstDash val="solid"/>
          </a:ln>
        </p:spPr>
      </p:sp>
      <p:sp>
        <p:nvSpPr>
          <p:cNvPr id="17" name="Text 15"/>
          <p:cNvSpPr/>
          <p:nvPr/>
        </p:nvSpPr>
        <p:spPr>
          <a:xfrm>
            <a:off x="822960" y="4206240"/>
            <a:ext cx="1554480" cy="457200"/>
          </a:xfrm>
          <a:prstGeom prst="rect">
            <a:avLst/>
          </a:prstGeom>
          <a:noFill/>
          <a:ln/>
        </p:spPr>
        <p:txBody>
          <a:bodyPr wrap="square" lIns="0" tIns="0" rIns="0" bIns="0" rtlCol="0" anchor="ctr"/>
          <a:lstStyle/>
          <a:p>
            <a:pPr marL="0" indent="0">
              <a:buNone/>
            </a:pPr>
            <a:r>
              <a:rPr lang="en-US" sz="1350" b="1" dirty="0">
                <a:solidFill>
                  <a:srgbClr val="6B6B8A"/>
                </a:solidFill>
                <a:latin typeface="Calibri" pitchFamily="34" charset="0"/>
                <a:ea typeface="Calibri" pitchFamily="34" charset="-122"/>
                <a:cs typeface="Calibri" pitchFamily="34" charset="-120"/>
              </a:rPr>
              <a:t>Action</a:t>
            </a:r>
            <a:endParaRPr lang="en-US" sz="1350" dirty="0"/>
          </a:p>
        </p:txBody>
      </p:sp>
      <p:sp>
        <p:nvSpPr>
          <p:cNvPr id="18" name="Text 16"/>
          <p:cNvSpPr/>
          <p:nvPr/>
        </p:nvSpPr>
        <p:spPr>
          <a:xfrm>
            <a:off x="2468880" y="4206240"/>
            <a:ext cx="9052560" cy="457200"/>
          </a:xfrm>
          <a:prstGeom prst="rect">
            <a:avLst/>
          </a:prstGeom>
          <a:noFill/>
          <a:ln/>
        </p:spPr>
        <p:txBody>
          <a:bodyPr wrap="square" lIns="0" tIns="0" rIns="0" bIns="0" rtlCol="0" anchor="ctr"/>
          <a:lstStyle/>
          <a:p>
            <a:pPr marL="0" indent="0">
              <a:buNone/>
            </a:pPr>
            <a:r>
              <a:rPr lang="en-US" sz="1250" dirty="0">
                <a:solidFill>
                  <a:srgbClr val="16163A"/>
                </a:solidFill>
                <a:latin typeface="Courier New" pitchFamily="34" charset="0"/>
                <a:ea typeface="Courier New" pitchFamily="34" charset="-122"/>
                <a:cs typeface="Courier New" pitchFamily="34" charset="-120"/>
              </a:rPr>
              <a:t>query_db("SELECT SUM(units) ... WHERE site='Derby'")</a:t>
            </a:r>
            <a:endParaRPr lang="en-US" sz="1250" dirty="0"/>
          </a:p>
        </p:txBody>
      </p:sp>
      <p:sp>
        <p:nvSpPr>
          <p:cNvPr id="19" name="Shape 17"/>
          <p:cNvSpPr/>
          <p:nvPr/>
        </p:nvSpPr>
        <p:spPr>
          <a:xfrm>
            <a:off x="822960" y="4709160"/>
            <a:ext cx="10698480" cy="0"/>
          </a:xfrm>
          <a:prstGeom prst="line">
            <a:avLst/>
          </a:prstGeom>
          <a:noFill/>
          <a:ln w="12700">
            <a:solidFill>
              <a:srgbClr val="EEECF8"/>
            </a:solidFill>
            <a:prstDash val="solid"/>
          </a:ln>
        </p:spPr>
      </p:sp>
      <p:sp>
        <p:nvSpPr>
          <p:cNvPr id="20" name="Text 18"/>
          <p:cNvSpPr/>
          <p:nvPr/>
        </p:nvSpPr>
        <p:spPr>
          <a:xfrm>
            <a:off x="822960" y="4754880"/>
            <a:ext cx="1554480" cy="457200"/>
          </a:xfrm>
          <a:prstGeom prst="rect">
            <a:avLst/>
          </a:prstGeom>
          <a:noFill/>
          <a:ln/>
        </p:spPr>
        <p:txBody>
          <a:bodyPr wrap="square" lIns="0" tIns="0" rIns="0" bIns="0" rtlCol="0" anchor="ctr"/>
          <a:lstStyle/>
          <a:p>
            <a:pPr marL="0" indent="0">
              <a:buNone/>
            </a:pPr>
            <a:r>
              <a:rPr lang="en-US" sz="1350" b="1" dirty="0">
                <a:solidFill>
                  <a:srgbClr val="2E7D5B"/>
                </a:solidFill>
                <a:latin typeface="Calibri" pitchFamily="34" charset="0"/>
                <a:ea typeface="Calibri" pitchFamily="34" charset="-122"/>
                <a:cs typeface="Calibri" pitchFamily="34" charset="-120"/>
              </a:rPr>
              <a:t>Observation</a:t>
            </a:r>
            <a:endParaRPr lang="en-US" sz="1350" dirty="0"/>
          </a:p>
        </p:txBody>
      </p:sp>
      <p:sp>
        <p:nvSpPr>
          <p:cNvPr id="21" name="Text 19"/>
          <p:cNvSpPr/>
          <p:nvPr/>
        </p:nvSpPr>
        <p:spPr>
          <a:xfrm>
            <a:off x="2468880" y="4754880"/>
            <a:ext cx="9052560" cy="457200"/>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38,455</a:t>
            </a:r>
            <a:endParaRPr lang="en-US" sz="1450" dirty="0"/>
          </a:p>
        </p:txBody>
      </p:sp>
      <p:sp>
        <p:nvSpPr>
          <p:cNvPr id="22" name="Shape 20"/>
          <p:cNvSpPr/>
          <p:nvPr/>
        </p:nvSpPr>
        <p:spPr>
          <a:xfrm>
            <a:off x="822960" y="5257800"/>
            <a:ext cx="10698480" cy="0"/>
          </a:xfrm>
          <a:prstGeom prst="line">
            <a:avLst/>
          </a:prstGeom>
          <a:noFill/>
          <a:ln w="12700">
            <a:solidFill>
              <a:srgbClr val="EEECF8"/>
            </a:solidFill>
            <a:prstDash val="solid"/>
          </a:ln>
        </p:spPr>
      </p:sp>
      <p:sp>
        <p:nvSpPr>
          <p:cNvPr id="23" name="Text 21"/>
          <p:cNvSpPr/>
          <p:nvPr/>
        </p:nvSpPr>
        <p:spPr>
          <a:xfrm>
            <a:off x="822960" y="5303520"/>
            <a:ext cx="1554480" cy="457200"/>
          </a:xfrm>
          <a:prstGeom prst="rect">
            <a:avLst/>
          </a:prstGeom>
          <a:noFill/>
          <a:ln/>
        </p:spPr>
        <p:txBody>
          <a:bodyPr wrap="square" lIns="0" tIns="0" rIns="0" bIns="0" rtlCol="0" anchor="ctr"/>
          <a:lstStyle/>
          <a:p>
            <a:pPr marL="0" indent="0">
              <a:buNone/>
            </a:pPr>
            <a:r>
              <a:rPr lang="en-US" sz="1350" b="1" dirty="0">
                <a:solidFill>
                  <a:srgbClr val="5B4BC4"/>
                </a:solidFill>
                <a:latin typeface="Calibri" pitchFamily="34" charset="0"/>
                <a:ea typeface="Calibri" pitchFamily="34" charset="-122"/>
                <a:cs typeface="Calibri" pitchFamily="34" charset="-120"/>
              </a:rPr>
              <a:t>Thought</a:t>
            </a:r>
            <a:endParaRPr lang="en-US" sz="1350" dirty="0"/>
          </a:p>
        </p:txBody>
      </p:sp>
      <p:sp>
        <p:nvSpPr>
          <p:cNvPr id="24" name="Text 22"/>
          <p:cNvSpPr/>
          <p:nvPr/>
        </p:nvSpPr>
        <p:spPr>
          <a:xfrm>
            <a:off x="2468880" y="5303520"/>
            <a:ext cx="9052560" cy="457200"/>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I have both. No more tools needed — answer.</a:t>
            </a:r>
            <a:endParaRPr lang="en-US" sz="1450" dirty="0"/>
          </a:p>
        </p:txBody>
      </p:sp>
      <p:sp>
        <p:nvSpPr>
          <p:cNvPr id="25" name="Shape 23"/>
          <p:cNvSpPr/>
          <p:nvPr/>
        </p:nvSpPr>
        <p:spPr>
          <a:xfrm>
            <a:off x="822960" y="5806440"/>
            <a:ext cx="10698480" cy="0"/>
          </a:xfrm>
          <a:prstGeom prst="line">
            <a:avLst/>
          </a:prstGeom>
          <a:noFill/>
          <a:ln w="12700">
            <a:solidFill>
              <a:srgbClr val="EEECF8"/>
            </a:solidFill>
            <a:prstDash val="solid"/>
          </a:ln>
        </p:spPr>
      </p:sp>
      <p:sp>
        <p:nvSpPr>
          <p:cNvPr id="26" name="Text 24"/>
          <p:cNvSpPr/>
          <p:nvPr/>
        </p:nvSpPr>
        <p:spPr>
          <a:xfrm>
            <a:off x="822960" y="5852160"/>
            <a:ext cx="1554480" cy="457200"/>
          </a:xfrm>
          <a:prstGeom prst="rect">
            <a:avLst/>
          </a:prstGeom>
          <a:noFill/>
          <a:ln/>
        </p:spPr>
        <p:txBody>
          <a:bodyPr wrap="square" lIns="0" tIns="0" rIns="0" bIns="0" rtlCol="0" anchor="ctr"/>
          <a:lstStyle/>
          <a:p>
            <a:pPr marL="0" indent="0">
              <a:buNone/>
            </a:pPr>
            <a:r>
              <a:rPr lang="en-US" sz="1350" b="1" dirty="0">
                <a:solidFill>
                  <a:srgbClr val="FF9F1C"/>
                </a:solidFill>
                <a:latin typeface="Calibri" pitchFamily="34" charset="0"/>
                <a:ea typeface="Calibri" pitchFamily="34" charset="-122"/>
                <a:cs typeface="Calibri" pitchFamily="34" charset="-120"/>
              </a:rPr>
              <a:t>Answer</a:t>
            </a:r>
            <a:endParaRPr lang="en-US" sz="1350" dirty="0"/>
          </a:p>
        </p:txBody>
      </p:sp>
      <p:sp>
        <p:nvSpPr>
          <p:cNvPr id="27" name="Text 25"/>
          <p:cNvSpPr/>
          <p:nvPr/>
        </p:nvSpPr>
        <p:spPr>
          <a:xfrm>
            <a:off x="2468880" y="5852160"/>
            <a:ext cx="9052560" cy="457200"/>
          </a:xfrm>
          <a:prstGeom prst="rect">
            <a:avLst/>
          </a:prstGeom>
          <a:noFill/>
          <a:ln/>
        </p:spPr>
        <p:txBody>
          <a:bodyPr wrap="square" lIns="0" tIns="0" rIns="0" bIns="0" rtlCol="0" anchor="ctr"/>
          <a:lstStyle/>
          <a:p>
            <a:pPr marL="0" indent="0">
              <a:buNone/>
            </a:pPr>
            <a:r>
              <a:rPr lang="en-US" sz="1250" dirty="0">
                <a:solidFill>
                  <a:srgbClr val="16163A"/>
                </a:solidFill>
                <a:latin typeface="Courier New" pitchFamily="34" charset="0"/>
                <a:ea typeface="Courier New" pitchFamily="34" charset="-122"/>
                <a:cs typeface="Courier New" pitchFamily="34" charset="-120"/>
              </a:rPr>
              <a:t>Leeds, by about 2,750 units.</a:t>
            </a:r>
            <a:endParaRPr lang="en-US" sz="1250" dirty="0"/>
          </a:p>
        </p:txBody>
      </p:sp>
      <p:sp>
        <p:nvSpPr>
          <p:cNvPr id="28" name="Text 26"/>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Seven steps, three of them reasoning. The agent decided how many queries to run — nobody wrote "run two queries".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TOOLS  ·  WHAT THEY ARE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A tool is a function plus a description</a:t>
            </a:r>
            <a:endParaRPr lang="en-US" sz="3200" dirty="0"/>
          </a:p>
        </p:txBody>
      </p:sp>
      <p:sp>
        <p:nvSpPr>
          <p:cNvPr id="4" name="Shape 2"/>
          <p:cNvSpPr/>
          <p:nvPr/>
        </p:nvSpPr>
        <p:spPr>
          <a:xfrm>
            <a:off x="640080" y="1554480"/>
            <a:ext cx="5486400" cy="3337560"/>
          </a:xfrm>
          <a:prstGeom prst="roundRect">
            <a:avLst>
              <a:gd name="adj" fmla="val 2740"/>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914400" y="1828800"/>
            <a:ext cx="4937760" cy="1463040"/>
          </a:xfrm>
          <a:prstGeom prst="rect">
            <a:avLst/>
          </a:prstGeom>
          <a:noFill/>
          <a:ln/>
        </p:spPr>
        <p:txBody>
          <a:bodyPr wrap="square" lIns="0" tIns="0" rIns="0" bIns="0" rtlCol="0" anchor="t"/>
          <a:lstStyle/>
          <a:p>
            <a:pPr marL="0" indent="0">
              <a:lnSpc>
                <a:spcPts val="2400"/>
              </a:lnSpc>
              <a:buNone/>
            </a:pPr>
            <a:r>
              <a:rPr lang="en-US" sz="1450" dirty="0">
                <a:solidFill>
                  <a:srgbClr val="FF9F1C"/>
                </a:solidFill>
                <a:latin typeface="Courier New" pitchFamily="34" charset="0"/>
                <a:ea typeface="Courier New" pitchFamily="34" charset="-122"/>
                <a:cs typeface="Courier New" pitchFamily="34" charset="-120"/>
              </a:rPr>
              <a:t>@tool</a:t>
            </a:r>
            <a:endParaRPr lang="en-US" sz="1450" dirty="0"/>
          </a:p>
          <a:p>
            <a:pPr marL="0" indent="0">
              <a:lnSpc>
                <a:spcPts val="2400"/>
              </a:lnSpc>
              <a:buNone/>
            </a:pPr>
            <a:r>
              <a:rPr lang="en-US" sz="1450" dirty="0">
                <a:solidFill>
                  <a:srgbClr val="E6E3FA"/>
                </a:solidFill>
                <a:latin typeface="Courier New" pitchFamily="34" charset="0"/>
                <a:ea typeface="Courier New" pitchFamily="34" charset="-122"/>
                <a:cs typeface="Courier New" pitchFamily="34" charset="-120"/>
              </a:rPr>
              <a:t>def get_stock(sku: str) -&gt; int:</a:t>
            </a:r>
            <a:endParaRPr lang="en-US" sz="1450" dirty="0"/>
          </a:p>
          <a:p>
            <a:pPr marL="0" indent="0">
              <a:lnSpc>
                <a:spcPts val="2400"/>
              </a:lnSpc>
              <a:buNone/>
            </a:pPr>
            <a:r>
              <a:rPr lang="en-US" sz="1450" dirty="0">
                <a:solidFill>
                  <a:srgbClr val="9AE6B4"/>
                </a:solidFill>
                <a:latin typeface="Courier New" pitchFamily="34" charset="0"/>
                <a:ea typeface="Courier New" pitchFamily="34" charset="-122"/>
                <a:cs typeface="Courier New" pitchFamily="34" charset="-120"/>
              </a:rPr>
              <a:t>    """Look up how many units of</a:t>
            </a:r>
            <a:endParaRPr lang="en-US" sz="1450" dirty="0"/>
          </a:p>
          <a:p>
            <a:pPr marL="0" indent="0">
              <a:lnSpc>
                <a:spcPts val="2400"/>
              </a:lnSpc>
              <a:buNone/>
            </a:pPr>
            <a:r>
              <a:rPr lang="en-US" sz="1450" dirty="0">
                <a:solidFill>
                  <a:srgbClr val="9AE6B4"/>
                </a:solidFill>
                <a:latin typeface="Courier New" pitchFamily="34" charset="0"/>
                <a:ea typeface="Courier New" pitchFamily="34" charset="-122"/>
                <a:cs typeface="Courier New" pitchFamily="34" charset="-120"/>
              </a:rPr>
              <a:t>    a SKU are in the warehouse."""</a:t>
            </a:r>
            <a:endParaRPr lang="en-US" sz="1450" dirty="0"/>
          </a:p>
          <a:p>
            <a:pPr marL="0" indent="0">
              <a:lnSpc>
                <a:spcPts val="2400"/>
              </a:lnSpc>
              <a:buNone/>
            </a:pPr>
            <a:r>
              <a:rPr lang="en-US" sz="1450" dirty="0">
                <a:solidFill>
                  <a:srgbClr val="E6E3FA"/>
                </a:solidFill>
                <a:latin typeface="Courier New" pitchFamily="34" charset="0"/>
                <a:ea typeface="Courier New" pitchFamily="34" charset="-122"/>
                <a:cs typeface="Courier New" pitchFamily="34" charset="-120"/>
              </a:rPr>
              <a:t>    return db.stock_for(sku)</a:t>
            </a:r>
            <a:endParaRPr lang="en-US" sz="1450" dirty="0"/>
          </a:p>
        </p:txBody>
      </p:sp>
      <p:sp>
        <p:nvSpPr>
          <p:cNvPr id="6" name="Shape 4"/>
          <p:cNvSpPr/>
          <p:nvPr/>
        </p:nvSpPr>
        <p:spPr>
          <a:xfrm>
            <a:off x="914400" y="3474720"/>
            <a:ext cx="4937760" cy="0"/>
          </a:xfrm>
          <a:prstGeom prst="line">
            <a:avLst/>
          </a:prstGeom>
          <a:noFill/>
          <a:ln w="12700">
            <a:solidFill>
              <a:srgbClr val="3A3A6A"/>
            </a:solidFill>
            <a:prstDash val="solid"/>
          </a:ln>
        </p:spPr>
      </p:sp>
      <p:sp>
        <p:nvSpPr>
          <p:cNvPr id="7" name="Text 5"/>
          <p:cNvSpPr/>
          <p:nvPr/>
        </p:nvSpPr>
        <p:spPr>
          <a:xfrm>
            <a:off x="914400" y="3675888"/>
            <a:ext cx="4937760" cy="1005840"/>
          </a:xfrm>
          <a:prstGeom prst="rect">
            <a:avLst/>
          </a:prstGeom>
          <a:noFill/>
          <a:ln/>
        </p:spPr>
        <p:txBody>
          <a:bodyPr wrap="square" lIns="0" tIns="0" rIns="0" bIns="0" rtlCol="0" anchor="t"/>
          <a:lstStyle/>
          <a:p>
            <a:pPr marL="0" indent="0">
              <a:lnSpc>
                <a:spcPts val="1900"/>
              </a:lnSpc>
              <a:buNone/>
            </a:pPr>
            <a:r>
              <a:rPr lang="en-US" sz="1350" dirty="0">
                <a:solidFill>
                  <a:srgbClr val="C9C4EE"/>
                </a:solidFill>
                <a:latin typeface="Calibri" pitchFamily="34" charset="0"/>
                <a:ea typeface="Calibri" pitchFamily="34" charset="-122"/>
                <a:cs typeface="Calibri" pitchFamily="34" charset="-120"/>
              </a:rPr>
              <a:t>The docstring is not documentation. It is</a:t>
            </a:r>
            <a:endParaRPr lang="en-US" sz="1350" dirty="0"/>
          </a:p>
          <a:p>
            <a:pPr marL="0" indent="0">
              <a:lnSpc>
                <a:spcPts val="1900"/>
              </a:lnSpc>
              <a:buNone/>
            </a:pPr>
            <a:r>
              <a:rPr lang="en-US" sz="1350" dirty="0">
                <a:solidFill>
                  <a:srgbClr val="C9C4EE"/>
                </a:solidFill>
                <a:latin typeface="Calibri" pitchFamily="34" charset="0"/>
                <a:ea typeface="Calibri" pitchFamily="34" charset="-122"/>
                <a:cs typeface="Calibri" pitchFamily="34" charset="-120"/>
              </a:rPr>
              <a:t>the prompt — the only thing the model sees</a:t>
            </a:r>
            <a:endParaRPr lang="en-US" sz="1350" dirty="0"/>
          </a:p>
          <a:p>
            <a:pPr marL="0" indent="0">
              <a:lnSpc>
                <a:spcPts val="1900"/>
              </a:lnSpc>
              <a:buNone/>
            </a:pPr>
            <a:r>
              <a:rPr lang="en-US" sz="1350" dirty="0">
                <a:solidFill>
                  <a:srgbClr val="C9C4EE"/>
                </a:solidFill>
                <a:latin typeface="Calibri" pitchFamily="34" charset="0"/>
                <a:ea typeface="Calibri" pitchFamily="34" charset="-122"/>
                <a:cs typeface="Calibri" pitchFamily="34" charset="-120"/>
              </a:rPr>
              <a:t>when deciding whether to reach for this.</a:t>
            </a:r>
            <a:endParaRPr lang="en-US" sz="1350" dirty="0"/>
          </a:p>
        </p:txBody>
      </p:sp>
      <p:sp>
        <p:nvSpPr>
          <p:cNvPr id="8" name="Text 6"/>
          <p:cNvSpPr/>
          <p:nvPr/>
        </p:nvSpPr>
        <p:spPr>
          <a:xfrm>
            <a:off x="6492240" y="1600200"/>
            <a:ext cx="5029200" cy="411480"/>
          </a:xfrm>
          <a:prstGeom prst="rect">
            <a:avLst/>
          </a:prstGeom>
          <a:noFill/>
          <a:ln/>
        </p:spPr>
        <p:txBody>
          <a:bodyPr wrap="square" lIns="0" tIns="0" rIns="0" bIns="0" rtlCol="0" anchor="ctr"/>
          <a:lstStyle/>
          <a:p>
            <a:pPr marL="0" indent="0">
              <a:buNone/>
            </a:pPr>
            <a:r>
              <a:rPr lang="en-US" sz="2000" b="1" dirty="0">
                <a:solidFill>
                  <a:srgbClr val="16163A"/>
                </a:solidFill>
                <a:latin typeface="Calibri" pitchFamily="34" charset="0"/>
                <a:ea typeface="Calibri" pitchFamily="34" charset="-122"/>
                <a:cs typeface="Calibri" pitchFamily="34" charset="-120"/>
              </a:rPr>
              <a:t>Why agents need them</a:t>
            </a:r>
            <a:endParaRPr lang="en-US" sz="2000" dirty="0"/>
          </a:p>
        </p:txBody>
      </p:sp>
      <p:sp>
        <p:nvSpPr>
          <p:cNvPr id="9" name="Text 7"/>
          <p:cNvSpPr/>
          <p:nvPr/>
        </p:nvSpPr>
        <p:spPr>
          <a:xfrm>
            <a:off x="6492240" y="2103120"/>
            <a:ext cx="5029200" cy="2560320"/>
          </a:xfrm>
          <a:prstGeom prst="rect">
            <a:avLst/>
          </a:prstGeom>
          <a:noFill/>
          <a:ln/>
        </p:spPr>
        <p:txBody>
          <a:bodyPr wrap="square" lIns="0" tIns="0" rIns="0" bIns="0" rtlCol="0" anchor="t"/>
          <a:lstStyle/>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model knows what it was trained on. Tools are how it learns anything current, private, or true.</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Arithmetic, live data, your database, the outside world — none of that is in the weights.</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Tools are also how an agent changes things in the world, rather than just describing them.</a:t>
            </a:r>
            <a:endParaRPr lang="en-US" sz="1550" dirty="0"/>
          </a:p>
        </p:txBody>
      </p:sp>
      <p:sp>
        <p:nvSpPr>
          <p:cNvPr id="10" name="Shape 8"/>
          <p:cNvSpPr/>
          <p:nvPr/>
        </p:nvSpPr>
        <p:spPr>
          <a:xfrm>
            <a:off x="640080" y="5120640"/>
            <a:ext cx="10881360" cy="868680"/>
          </a:xfrm>
          <a:prstGeom prst="roundRect">
            <a:avLst>
              <a:gd name="adj" fmla="val 10526"/>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1005840" y="5120640"/>
            <a:ext cx="10149840" cy="868680"/>
          </a:xfrm>
          <a:prstGeom prst="rect">
            <a:avLst/>
          </a:prstGeom>
          <a:noFill/>
          <a:ln/>
        </p:spPr>
        <p:txBody>
          <a:bodyPr wrap="square" lIns="0" tIns="0" rIns="0" bIns="0" rtlCol="0" anchor="ctr"/>
          <a:lstStyle/>
          <a:p>
            <a:pPr marL="0" indent="0">
              <a:buNone/>
            </a:pPr>
            <a:r>
              <a:rPr lang="en-US" sz="1500" b="1" i="1" dirty="0">
                <a:solidFill>
                  <a:srgbClr val="3B2E8F"/>
                </a:solidFill>
                <a:latin typeface="Calibri" pitchFamily="34" charset="0"/>
                <a:ea typeface="Calibri" pitchFamily="34" charset="-122"/>
                <a:cs typeface="Calibri" pitchFamily="34" charset="-120"/>
              </a:rPr>
              <a:t>Bad docstrings are the number one cause of an agent picking the wrong tool. Write them for the model, not for your colleague.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TOOLS  ·  THE HANDOFF</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model never runs your code</a:t>
            </a:r>
            <a:endParaRPr lang="en-US" sz="3200" dirty="0"/>
          </a:p>
        </p:txBody>
      </p:sp>
      <p:sp>
        <p:nvSpPr>
          <p:cNvPr id="4" name="Shape 2"/>
          <p:cNvSpPr/>
          <p:nvPr/>
        </p:nvSpPr>
        <p:spPr>
          <a:xfrm>
            <a:off x="822960" y="1965960"/>
            <a:ext cx="2834640" cy="1051560"/>
          </a:xfrm>
          <a:prstGeom prst="roundRect">
            <a:avLst>
              <a:gd name="adj" fmla="val 8696"/>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822960" y="1965960"/>
            <a:ext cx="2834640" cy="10515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Model</a:t>
            </a:r>
            <a:endParaRPr lang="en-US" sz="1900" dirty="0"/>
          </a:p>
        </p:txBody>
      </p:sp>
      <p:sp>
        <p:nvSpPr>
          <p:cNvPr id="6" name="Shape 4"/>
          <p:cNvSpPr/>
          <p:nvPr/>
        </p:nvSpPr>
        <p:spPr>
          <a:xfrm>
            <a:off x="4663440" y="1965960"/>
            <a:ext cx="2834640" cy="1051560"/>
          </a:xfrm>
          <a:prstGeom prst="roundRect">
            <a:avLst>
              <a:gd name="adj" fmla="val 8696"/>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7" name="Text 5"/>
          <p:cNvSpPr/>
          <p:nvPr/>
        </p:nvSpPr>
        <p:spPr>
          <a:xfrm>
            <a:off x="4663440" y="1965960"/>
            <a:ext cx="2834640" cy="105156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Your code</a:t>
            </a:r>
            <a:endParaRPr lang="en-US" sz="1900" dirty="0"/>
          </a:p>
        </p:txBody>
      </p:sp>
      <p:sp>
        <p:nvSpPr>
          <p:cNvPr id="8" name="Shape 6"/>
          <p:cNvSpPr/>
          <p:nvPr/>
        </p:nvSpPr>
        <p:spPr>
          <a:xfrm>
            <a:off x="8503920" y="1965960"/>
            <a:ext cx="2834640" cy="1051560"/>
          </a:xfrm>
          <a:prstGeom prst="roundRect">
            <a:avLst>
              <a:gd name="adj" fmla="val 8696"/>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8503920" y="1965960"/>
            <a:ext cx="2834640" cy="1051560"/>
          </a:xfrm>
          <a:prstGeom prst="rect">
            <a:avLst/>
          </a:prstGeom>
          <a:noFill/>
          <a:ln/>
        </p:spPr>
        <p:txBody>
          <a:bodyPr wrap="square" lIns="0" tIns="0" rIns="0" bIns="0" rtlCol="0" anchor="ctr"/>
          <a:lstStyle/>
          <a:p>
            <a:pPr marL="0" indent="0" algn="ctr">
              <a:buNone/>
            </a:pPr>
            <a:r>
              <a:rPr lang="en-US" sz="1900" b="1" dirty="0">
                <a:solidFill>
                  <a:srgbClr val="16163A"/>
                </a:solidFill>
                <a:latin typeface="Calibri" pitchFamily="34" charset="0"/>
                <a:ea typeface="Calibri" pitchFamily="34" charset="-122"/>
                <a:cs typeface="Calibri" pitchFamily="34" charset="-120"/>
              </a:rPr>
              <a:t>The tool</a:t>
            </a:r>
            <a:endParaRPr lang="en-US" sz="1900" dirty="0"/>
          </a:p>
        </p:txBody>
      </p:sp>
      <p:sp>
        <p:nvSpPr>
          <p:cNvPr id="10" name="Shape 8"/>
          <p:cNvSpPr/>
          <p:nvPr/>
        </p:nvSpPr>
        <p:spPr>
          <a:xfrm>
            <a:off x="3749040" y="2423160"/>
            <a:ext cx="822960" cy="0"/>
          </a:xfrm>
          <a:prstGeom prst="line">
            <a:avLst/>
          </a:prstGeom>
          <a:noFill/>
          <a:ln w="28575">
            <a:solidFill>
              <a:srgbClr val="5B4BC4"/>
            </a:solidFill>
            <a:prstDash val="solid"/>
            <a:tailEnd type="triangle"/>
          </a:ln>
        </p:spPr>
      </p:sp>
      <p:sp>
        <p:nvSpPr>
          <p:cNvPr id="11" name="Text 9"/>
          <p:cNvSpPr/>
          <p:nvPr/>
        </p:nvSpPr>
        <p:spPr>
          <a:xfrm>
            <a:off x="3749040" y="2039112"/>
            <a:ext cx="822960" cy="320040"/>
          </a:xfrm>
          <a:prstGeom prst="rect">
            <a:avLst/>
          </a:prstGeom>
          <a:noFill/>
          <a:ln/>
        </p:spPr>
        <p:txBody>
          <a:bodyPr wrap="square" lIns="0" tIns="0" rIns="0" bIns="0" rtlCol="0" anchor="ctr"/>
          <a:lstStyle/>
          <a:p>
            <a:pPr marL="0" indent="0" algn="ctr">
              <a:buNone/>
            </a:pPr>
            <a:r>
              <a:rPr lang="en-US" sz="1100" b="1" dirty="0">
                <a:solidFill>
                  <a:srgbClr val="5B4BC4"/>
                </a:solidFill>
                <a:latin typeface="Calibri" pitchFamily="34" charset="0"/>
                <a:ea typeface="Calibri" pitchFamily="34" charset="-122"/>
                <a:cs typeface="Calibri" pitchFamily="34" charset="-120"/>
              </a:rPr>
              <a:t>asks</a:t>
            </a:r>
            <a:endParaRPr lang="en-US" sz="1100" dirty="0"/>
          </a:p>
        </p:txBody>
      </p:sp>
      <p:sp>
        <p:nvSpPr>
          <p:cNvPr id="12" name="Shape 10"/>
          <p:cNvSpPr/>
          <p:nvPr/>
        </p:nvSpPr>
        <p:spPr>
          <a:xfrm>
            <a:off x="7589520" y="2423160"/>
            <a:ext cx="822960" cy="0"/>
          </a:xfrm>
          <a:prstGeom prst="line">
            <a:avLst/>
          </a:prstGeom>
          <a:noFill/>
          <a:ln w="28575">
            <a:solidFill>
              <a:srgbClr val="5B4BC4"/>
            </a:solidFill>
            <a:prstDash val="solid"/>
            <a:tailEnd type="triangle"/>
          </a:ln>
        </p:spPr>
      </p:sp>
      <p:sp>
        <p:nvSpPr>
          <p:cNvPr id="13" name="Text 11"/>
          <p:cNvSpPr/>
          <p:nvPr/>
        </p:nvSpPr>
        <p:spPr>
          <a:xfrm>
            <a:off x="7589520" y="2039112"/>
            <a:ext cx="822960" cy="320040"/>
          </a:xfrm>
          <a:prstGeom prst="rect">
            <a:avLst/>
          </a:prstGeom>
          <a:noFill/>
          <a:ln/>
        </p:spPr>
        <p:txBody>
          <a:bodyPr wrap="square" lIns="0" tIns="0" rIns="0" bIns="0" rtlCol="0" anchor="ctr"/>
          <a:lstStyle/>
          <a:p>
            <a:pPr marL="0" indent="0" algn="ctr">
              <a:buNone/>
            </a:pPr>
            <a:r>
              <a:rPr lang="en-US" sz="1100" b="1" dirty="0">
                <a:solidFill>
                  <a:srgbClr val="5B4BC4"/>
                </a:solidFill>
                <a:latin typeface="Calibri" pitchFamily="34" charset="0"/>
                <a:ea typeface="Calibri" pitchFamily="34" charset="-122"/>
                <a:cs typeface="Calibri" pitchFamily="34" charset="-120"/>
              </a:rPr>
              <a:t>runs</a:t>
            </a:r>
            <a:endParaRPr lang="en-US" sz="1100" dirty="0"/>
          </a:p>
        </p:txBody>
      </p:sp>
      <p:sp>
        <p:nvSpPr>
          <p:cNvPr id="14" name="Shape 12"/>
          <p:cNvSpPr/>
          <p:nvPr/>
        </p:nvSpPr>
        <p:spPr>
          <a:xfrm>
            <a:off x="9921240" y="3063240"/>
            <a:ext cx="0" cy="640080"/>
          </a:xfrm>
          <a:prstGeom prst="line">
            <a:avLst/>
          </a:prstGeom>
          <a:noFill/>
          <a:ln w="28575">
            <a:solidFill>
              <a:srgbClr val="2E7D5B"/>
            </a:solidFill>
            <a:prstDash val="solid"/>
          </a:ln>
        </p:spPr>
      </p:sp>
      <p:sp>
        <p:nvSpPr>
          <p:cNvPr id="15" name="Shape 13"/>
          <p:cNvSpPr/>
          <p:nvPr/>
        </p:nvSpPr>
        <p:spPr>
          <a:xfrm>
            <a:off x="9921240" y="3703320"/>
            <a:ext cx="0" cy="0"/>
          </a:xfrm>
          <a:prstGeom prst="line">
            <a:avLst/>
          </a:prstGeom>
          <a:noFill/>
          <a:ln w="28575">
            <a:solidFill>
              <a:srgbClr val="2E7D5B"/>
            </a:solidFill>
            <a:prstDash val="solid"/>
          </a:ln>
        </p:spPr>
      </p:sp>
      <p:sp>
        <p:nvSpPr>
          <p:cNvPr id="16" name="Shape 14"/>
          <p:cNvSpPr/>
          <p:nvPr/>
        </p:nvSpPr>
        <p:spPr>
          <a:xfrm>
            <a:off x="2240280" y="3703320"/>
            <a:ext cx="0" cy="0"/>
          </a:xfrm>
          <a:prstGeom prst="line">
            <a:avLst/>
          </a:prstGeom>
          <a:noFill/>
          <a:ln w="28575">
            <a:solidFill>
              <a:srgbClr val="2E7D5B"/>
            </a:solidFill>
            <a:prstDash val="solid"/>
            <a:tailEnd type="triangle"/>
          </a:ln>
        </p:spPr>
      </p:sp>
      <p:sp>
        <p:nvSpPr>
          <p:cNvPr id="17" name="Text 15"/>
          <p:cNvSpPr/>
          <p:nvPr/>
        </p:nvSpPr>
        <p:spPr>
          <a:xfrm>
            <a:off x="7863840" y="3749040"/>
            <a:ext cx="4114800" cy="320040"/>
          </a:xfrm>
          <a:prstGeom prst="rect">
            <a:avLst/>
          </a:prstGeom>
          <a:noFill/>
          <a:ln/>
        </p:spPr>
        <p:txBody>
          <a:bodyPr wrap="square" lIns="0" tIns="0" rIns="0" bIns="0" rtlCol="0" anchor="ctr"/>
          <a:lstStyle/>
          <a:p>
            <a:pPr marL="0" indent="0" algn="ctr">
              <a:buNone/>
            </a:pPr>
            <a:r>
              <a:rPr lang="en-US" sz="1200" b="1" dirty="0">
                <a:solidFill>
                  <a:srgbClr val="2E7D5B"/>
                </a:solidFill>
                <a:latin typeface="Calibri" pitchFamily="34" charset="0"/>
                <a:ea typeface="Calibri" pitchFamily="34" charset="-122"/>
                <a:cs typeface="Calibri" pitchFamily="34" charset="-120"/>
              </a:rPr>
              <a:t>the result, as an observation</a:t>
            </a:r>
            <a:endParaRPr lang="en-US" sz="1200" dirty="0"/>
          </a:p>
        </p:txBody>
      </p:sp>
      <p:sp>
        <p:nvSpPr>
          <p:cNvPr id="18" name="Shape 16"/>
          <p:cNvSpPr/>
          <p:nvPr/>
        </p:nvSpPr>
        <p:spPr>
          <a:xfrm>
            <a:off x="822960" y="4297680"/>
            <a:ext cx="5120640" cy="1417320"/>
          </a:xfrm>
          <a:prstGeom prst="roundRect">
            <a:avLst>
              <a:gd name="adj" fmla="val 645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9" name="Text 17"/>
          <p:cNvSpPr/>
          <p:nvPr/>
        </p:nvSpPr>
        <p:spPr>
          <a:xfrm>
            <a:off x="1097280" y="4434840"/>
            <a:ext cx="4572000" cy="320040"/>
          </a:xfrm>
          <a:prstGeom prst="rect">
            <a:avLst/>
          </a:prstGeom>
          <a:noFill/>
          <a:ln/>
        </p:spPr>
        <p:txBody>
          <a:bodyPr wrap="square" lIns="0" tIns="0" rIns="0" bIns="0" rtlCol="0" anchor="ctr"/>
          <a:lstStyle/>
          <a:p>
            <a:pPr marL="0" indent="0">
              <a:buNone/>
            </a:pPr>
            <a:r>
              <a:rPr lang="en-US" sz="1400" b="1" dirty="0">
                <a:solidFill>
                  <a:srgbClr val="6B6B8A"/>
                </a:solidFill>
                <a:latin typeface="Calibri" pitchFamily="34" charset="0"/>
                <a:ea typeface="Calibri" pitchFamily="34" charset="-122"/>
                <a:cs typeface="Calibri" pitchFamily="34" charset="-120"/>
              </a:rPr>
              <a:t>What the model emits</a:t>
            </a:r>
            <a:endParaRPr lang="en-US" sz="1400" dirty="0"/>
          </a:p>
        </p:txBody>
      </p:sp>
      <p:sp>
        <p:nvSpPr>
          <p:cNvPr id="20" name="Text 18"/>
          <p:cNvSpPr/>
          <p:nvPr/>
        </p:nvSpPr>
        <p:spPr>
          <a:xfrm>
            <a:off x="1097280" y="4800600"/>
            <a:ext cx="4572000" cy="777240"/>
          </a:xfrm>
          <a:prstGeom prst="rect">
            <a:avLst/>
          </a:prstGeom>
          <a:noFill/>
          <a:ln/>
        </p:spPr>
        <p:txBody>
          <a:bodyPr wrap="square" lIns="0" tIns="0" rIns="0" bIns="0" rtlCol="0" anchor="t"/>
          <a:lstStyle/>
          <a:p>
            <a:pPr marL="0" indent="0">
              <a:lnSpc>
                <a:spcPts val="2200"/>
              </a:lnSpc>
              <a:buNone/>
            </a:pPr>
            <a:r>
              <a:rPr lang="en-US" sz="1400" dirty="0">
                <a:solidFill>
                  <a:srgbClr val="16163A"/>
                </a:solidFill>
                <a:latin typeface="Courier New" pitchFamily="34" charset="0"/>
                <a:ea typeface="Courier New" pitchFamily="34" charset="-122"/>
                <a:cs typeface="Courier New" pitchFamily="34" charset="-120"/>
              </a:rPr>
              <a:t>{"name": "get_stock",</a:t>
            </a:r>
            <a:endParaRPr lang="en-US" sz="1400" dirty="0"/>
          </a:p>
          <a:p>
            <a:pPr marL="0" indent="0">
              <a:lnSpc>
                <a:spcPts val="2200"/>
              </a:lnSpc>
              <a:buNone/>
            </a:pPr>
            <a:r>
              <a:rPr lang="en-US" sz="1400" dirty="0">
                <a:solidFill>
                  <a:srgbClr val="16163A"/>
                </a:solidFill>
                <a:latin typeface="Courier New" pitchFamily="34" charset="0"/>
                <a:ea typeface="Courier New" pitchFamily="34" charset="-122"/>
                <a:cs typeface="Courier New" pitchFamily="34" charset="-120"/>
              </a:rPr>
              <a:t> "args": {"sku": "A-114"}}</a:t>
            </a:r>
            <a:endParaRPr lang="en-US" sz="1400" dirty="0"/>
          </a:p>
        </p:txBody>
      </p:sp>
      <p:sp>
        <p:nvSpPr>
          <p:cNvPr id="21" name="Shape 19"/>
          <p:cNvSpPr/>
          <p:nvPr/>
        </p:nvSpPr>
        <p:spPr>
          <a:xfrm>
            <a:off x="6263640" y="4297680"/>
            <a:ext cx="5074920" cy="1417320"/>
          </a:xfrm>
          <a:prstGeom prst="roundRect">
            <a:avLst>
              <a:gd name="adj" fmla="val 645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2" name="Text 20"/>
          <p:cNvSpPr/>
          <p:nvPr/>
        </p:nvSpPr>
        <p:spPr>
          <a:xfrm>
            <a:off x="6537960" y="4434840"/>
            <a:ext cx="4572000" cy="320040"/>
          </a:xfrm>
          <a:prstGeom prst="rect">
            <a:avLst/>
          </a:prstGeom>
          <a:noFill/>
          <a:ln/>
        </p:spPr>
        <p:txBody>
          <a:bodyPr wrap="square" lIns="0" tIns="0" rIns="0" bIns="0" rtlCol="0" anchor="ctr"/>
          <a:lstStyle/>
          <a:p>
            <a:pPr marL="0" indent="0">
              <a:buNone/>
            </a:pPr>
            <a:r>
              <a:rPr lang="en-US" sz="1400" b="1" dirty="0">
                <a:solidFill>
                  <a:srgbClr val="6B6B8A"/>
                </a:solidFill>
                <a:latin typeface="Calibri" pitchFamily="34" charset="0"/>
                <a:ea typeface="Calibri" pitchFamily="34" charset="-122"/>
                <a:cs typeface="Calibri" pitchFamily="34" charset="-120"/>
              </a:rPr>
              <a:t>What comes back</a:t>
            </a:r>
            <a:endParaRPr lang="en-US" sz="1400" dirty="0"/>
          </a:p>
        </p:txBody>
      </p:sp>
      <p:sp>
        <p:nvSpPr>
          <p:cNvPr id="23" name="Text 21"/>
          <p:cNvSpPr/>
          <p:nvPr/>
        </p:nvSpPr>
        <p:spPr>
          <a:xfrm>
            <a:off x="6537960" y="4800600"/>
            <a:ext cx="4572000" cy="777240"/>
          </a:xfrm>
          <a:prstGeom prst="rect">
            <a:avLst/>
          </a:prstGeom>
          <a:noFill/>
          <a:ln/>
        </p:spPr>
        <p:txBody>
          <a:bodyPr wrap="square" lIns="0" tIns="0" rIns="0" bIns="0" rtlCol="0" anchor="t"/>
          <a:lstStyle/>
          <a:p>
            <a:pPr marL="0" indent="0">
              <a:lnSpc>
                <a:spcPts val="2200"/>
              </a:lnSpc>
              <a:buNone/>
            </a:pPr>
            <a:r>
              <a:rPr lang="en-US" sz="1400" dirty="0">
                <a:solidFill>
                  <a:srgbClr val="16163A"/>
                </a:solidFill>
                <a:latin typeface="Courier New" pitchFamily="34" charset="0"/>
                <a:ea typeface="Courier New" pitchFamily="34" charset="-122"/>
                <a:cs typeface="Courier New" pitchFamily="34" charset="-120"/>
              </a:rPr>
              <a:t>412</a:t>
            </a:r>
            <a:endParaRPr lang="en-US" sz="1400" dirty="0"/>
          </a:p>
          <a:p>
            <a:pPr marL="0" indent="0">
              <a:lnSpc>
                <a:spcPts val="2200"/>
              </a:lnSpc>
              <a:buNone/>
            </a:pPr>
            <a:r>
              <a:rPr lang="en-US" sz="1400" dirty="0">
                <a:solidFill>
                  <a:srgbClr val="16163A"/>
                </a:solidFill>
                <a:latin typeface="Courier New" pitchFamily="34" charset="0"/>
                <a:ea typeface="Courier New" pitchFamily="34" charset="-122"/>
                <a:cs typeface="Courier New" pitchFamily="34" charset="-120"/>
              </a:rPr>
              <a:t>→ appended to state as an observation</a:t>
            </a:r>
            <a:endParaRPr lang="en-US" sz="1400" dirty="0"/>
          </a:p>
        </p:txBody>
      </p:sp>
      <p:sp>
        <p:nvSpPr>
          <p:cNvPr id="24" name="Text 22"/>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This gap is where permissions, validation, rate limits and audit logging live. It is a feature, not a nuisance.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TOOLS  ·  IN PRACTICE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usual suspects</a:t>
            </a:r>
            <a:endParaRPr lang="en-US" sz="3200" dirty="0"/>
          </a:p>
        </p:txBody>
      </p:sp>
      <p:sp>
        <p:nvSpPr>
          <p:cNvPr id="4" name="Shape 2"/>
          <p:cNvSpPr/>
          <p:nvPr/>
        </p:nvSpPr>
        <p:spPr>
          <a:xfrm>
            <a:off x="640080" y="1600200"/>
            <a:ext cx="3474720" cy="1783080"/>
          </a:xfrm>
          <a:prstGeom prst="roundRect">
            <a:avLst>
              <a:gd name="adj" fmla="val 512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914400" y="187452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Search</a:t>
            </a:r>
            <a:endParaRPr lang="en-US" sz="1800" dirty="0"/>
          </a:p>
        </p:txBody>
      </p:sp>
      <p:sp>
        <p:nvSpPr>
          <p:cNvPr id="6" name="Text 4"/>
          <p:cNvSpPr/>
          <p:nvPr/>
        </p:nvSpPr>
        <p:spPr>
          <a:xfrm>
            <a:off x="914400" y="235000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web or internal, when the answer isn't in the weights</a:t>
            </a:r>
            <a:endParaRPr lang="en-US" sz="1350" dirty="0"/>
          </a:p>
        </p:txBody>
      </p:sp>
      <p:sp>
        <p:nvSpPr>
          <p:cNvPr id="7" name="Shape 5"/>
          <p:cNvSpPr/>
          <p:nvPr/>
        </p:nvSpPr>
        <p:spPr>
          <a:xfrm>
            <a:off x="4343400" y="160020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8" name="Text 6"/>
          <p:cNvSpPr/>
          <p:nvPr/>
        </p:nvSpPr>
        <p:spPr>
          <a:xfrm>
            <a:off x="4617720" y="187452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Calculator</a:t>
            </a:r>
            <a:endParaRPr lang="en-US" sz="1800" dirty="0"/>
          </a:p>
        </p:txBody>
      </p:sp>
      <p:sp>
        <p:nvSpPr>
          <p:cNvPr id="9" name="Text 7"/>
          <p:cNvSpPr/>
          <p:nvPr/>
        </p:nvSpPr>
        <p:spPr>
          <a:xfrm>
            <a:off x="4617720" y="235000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because language models are genuinely bad at arithmetic</a:t>
            </a:r>
            <a:endParaRPr lang="en-US" sz="1350" dirty="0"/>
          </a:p>
        </p:txBody>
      </p:sp>
      <p:sp>
        <p:nvSpPr>
          <p:cNvPr id="10" name="Shape 8"/>
          <p:cNvSpPr/>
          <p:nvPr/>
        </p:nvSpPr>
        <p:spPr>
          <a:xfrm>
            <a:off x="8046720" y="1600200"/>
            <a:ext cx="3474720" cy="1783080"/>
          </a:xfrm>
          <a:prstGeom prst="roundRect">
            <a:avLst>
              <a:gd name="adj" fmla="val 512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8321040" y="187452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Database / SQL</a:t>
            </a:r>
            <a:endParaRPr lang="en-US" sz="1800" dirty="0"/>
          </a:p>
        </p:txBody>
      </p:sp>
      <p:sp>
        <p:nvSpPr>
          <p:cNvPr id="12" name="Text 10"/>
          <p:cNvSpPr/>
          <p:nvPr/>
        </p:nvSpPr>
        <p:spPr>
          <a:xfrm>
            <a:off x="8321040" y="235000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your data, queried live</a:t>
            </a:r>
            <a:endParaRPr lang="en-US" sz="1350" dirty="0"/>
          </a:p>
        </p:txBody>
      </p:sp>
      <p:sp>
        <p:nvSpPr>
          <p:cNvPr id="13" name="Shape 11"/>
          <p:cNvSpPr/>
          <p:nvPr/>
        </p:nvSpPr>
        <p:spPr>
          <a:xfrm>
            <a:off x="640080" y="361188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4" name="Text 12"/>
          <p:cNvSpPr/>
          <p:nvPr/>
        </p:nvSpPr>
        <p:spPr>
          <a:xfrm>
            <a:off x="914400" y="388620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HTTP APIs</a:t>
            </a:r>
            <a:endParaRPr lang="en-US" sz="1800" dirty="0"/>
          </a:p>
        </p:txBody>
      </p:sp>
      <p:sp>
        <p:nvSpPr>
          <p:cNvPr id="15" name="Text 13"/>
          <p:cNvSpPr/>
          <p:nvPr/>
        </p:nvSpPr>
        <p:spPr>
          <a:xfrm>
            <a:off x="914400" y="436168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weather, CRM, payments, anything with an endpoint</a:t>
            </a:r>
            <a:endParaRPr lang="en-US" sz="1350" dirty="0"/>
          </a:p>
        </p:txBody>
      </p:sp>
      <p:sp>
        <p:nvSpPr>
          <p:cNvPr id="16" name="Shape 14"/>
          <p:cNvSpPr/>
          <p:nvPr/>
        </p:nvSpPr>
        <p:spPr>
          <a:xfrm>
            <a:off x="4343400" y="3611880"/>
            <a:ext cx="3474720" cy="1783080"/>
          </a:xfrm>
          <a:prstGeom prst="roundRect">
            <a:avLst>
              <a:gd name="adj" fmla="val 512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7" name="Text 15"/>
          <p:cNvSpPr/>
          <p:nvPr/>
        </p:nvSpPr>
        <p:spPr>
          <a:xfrm>
            <a:off x="4617720" y="388620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Code execution</a:t>
            </a:r>
            <a:endParaRPr lang="en-US" sz="1800" dirty="0"/>
          </a:p>
        </p:txBody>
      </p:sp>
      <p:sp>
        <p:nvSpPr>
          <p:cNvPr id="18" name="Text 16"/>
          <p:cNvSpPr/>
          <p:nvPr/>
        </p:nvSpPr>
        <p:spPr>
          <a:xfrm>
            <a:off x="4617720" y="436168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when the task is easier to compute than to reason about</a:t>
            </a:r>
            <a:endParaRPr lang="en-US" sz="1350" dirty="0"/>
          </a:p>
        </p:txBody>
      </p:sp>
      <p:sp>
        <p:nvSpPr>
          <p:cNvPr id="19" name="Shape 17"/>
          <p:cNvSpPr/>
          <p:nvPr/>
        </p:nvSpPr>
        <p:spPr>
          <a:xfrm>
            <a:off x="8046720" y="361188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0" name="Text 18"/>
          <p:cNvSpPr/>
          <p:nvPr/>
        </p:nvSpPr>
        <p:spPr>
          <a:xfrm>
            <a:off x="8321040" y="3886200"/>
            <a:ext cx="2926080" cy="41148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Files &amp; RAG</a:t>
            </a:r>
            <a:endParaRPr lang="en-US" sz="1800" dirty="0"/>
          </a:p>
        </p:txBody>
      </p:sp>
      <p:sp>
        <p:nvSpPr>
          <p:cNvPr id="21" name="Text 19"/>
          <p:cNvSpPr/>
          <p:nvPr/>
        </p:nvSpPr>
        <p:spPr>
          <a:xfrm>
            <a:off x="8321040" y="4361688"/>
            <a:ext cx="2926080" cy="86868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the retriever from Sessions 32–34 is just another tool</a:t>
            </a:r>
            <a:endParaRPr lang="en-US" sz="1350" dirty="0"/>
          </a:p>
        </p:txBody>
      </p:sp>
      <p:sp>
        <p:nvSpPr>
          <p:cNvPr id="22" name="Shape 20"/>
          <p:cNvSpPr/>
          <p:nvPr/>
        </p:nvSpPr>
        <p:spPr>
          <a:xfrm>
            <a:off x="640080" y="5669280"/>
            <a:ext cx="10881360" cy="777240"/>
          </a:xfrm>
          <a:prstGeom prst="roundRect">
            <a:avLst>
              <a:gd name="adj" fmla="val 11765"/>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3" name="Text 21"/>
          <p:cNvSpPr/>
          <p:nvPr/>
        </p:nvSpPr>
        <p:spPr>
          <a:xfrm>
            <a:off x="1005840" y="5669280"/>
            <a:ext cx="10149840" cy="7772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More tools is not better. Twenty vague tools give worse results than five sharp ones.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PLANNING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Decide the next step, or decide all the steps?</a:t>
            </a:r>
            <a:endParaRPr lang="en-US" sz="3200" dirty="0"/>
          </a:p>
        </p:txBody>
      </p:sp>
      <p:sp>
        <p:nvSpPr>
          <p:cNvPr id="4" name="Shape 2"/>
          <p:cNvSpPr/>
          <p:nvPr/>
        </p:nvSpPr>
        <p:spPr>
          <a:xfrm>
            <a:off x="640080" y="1508760"/>
            <a:ext cx="5257800" cy="3794760"/>
          </a:xfrm>
          <a:prstGeom prst="roundRect">
            <a:avLst>
              <a:gd name="adj" fmla="val 2410"/>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Text 3"/>
          <p:cNvSpPr/>
          <p:nvPr/>
        </p:nvSpPr>
        <p:spPr>
          <a:xfrm>
            <a:off x="960120" y="1691640"/>
            <a:ext cx="4663440" cy="384048"/>
          </a:xfrm>
          <a:prstGeom prst="rect">
            <a:avLst/>
          </a:prstGeom>
          <a:noFill/>
          <a:ln/>
        </p:spPr>
        <p:txBody>
          <a:bodyPr wrap="square" lIns="0" tIns="0" rIns="0" bIns="0" rtlCol="0" anchor="ctr"/>
          <a:lstStyle/>
          <a:p>
            <a:pPr marL="0" indent="0">
              <a:buNone/>
            </a:pPr>
            <a:r>
              <a:rPr lang="en-US" sz="2000" b="1" dirty="0">
                <a:solidFill>
                  <a:srgbClr val="16163A"/>
                </a:solidFill>
                <a:latin typeface="Calibri" pitchFamily="34" charset="0"/>
                <a:ea typeface="Calibri" pitchFamily="34" charset="-122"/>
                <a:cs typeface="Calibri" pitchFamily="34" charset="-120"/>
              </a:rPr>
              <a:t>Step by step</a:t>
            </a:r>
            <a:endParaRPr lang="en-US" sz="2000" dirty="0"/>
          </a:p>
        </p:txBody>
      </p:sp>
      <p:sp>
        <p:nvSpPr>
          <p:cNvPr id="6" name="Text 4"/>
          <p:cNvSpPr/>
          <p:nvPr/>
        </p:nvSpPr>
        <p:spPr>
          <a:xfrm>
            <a:off x="960120" y="2103120"/>
            <a:ext cx="4663440" cy="64008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ReAct. Pick one action, look at the result, then pick the next.</a:t>
            </a:r>
            <a:endParaRPr lang="en-US" sz="1400" dirty="0"/>
          </a:p>
        </p:txBody>
      </p:sp>
      <p:sp>
        <p:nvSpPr>
          <p:cNvPr id="7" name="Text 5"/>
          <p:cNvSpPr/>
          <p:nvPr/>
        </p:nvSpPr>
        <p:spPr>
          <a:xfrm>
            <a:off x="960120" y="2788920"/>
            <a:ext cx="4663440" cy="365760"/>
          </a:xfrm>
          <a:prstGeom prst="rect">
            <a:avLst/>
          </a:prstGeom>
          <a:noFill/>
          <a:ln/>
        </p:spPr>
        <p:txBody>
          <a:bodyPr wrap="square" lIns="0" tIns="0" rIns="0" bIns="0" rtlCol="0" anchor="ctr"/>
          <a:lstStyle/>
          <a:p>
            <a:pPr marL="0" indent="0">
              <a:buNone/>
            </a:pPr>
            <a:r>
              <a:rPr lang="en-US" sz="1400" b="1" dirty="0">
                <a:solidFill>
                  <a:srgbClr val="2E7D5B"/>
                </a:solidFill>
                <a:latin typeface="Calibri" pitchFamily="34" charset="0"/>
                <a:ea typeface="Calibri" pitchFamily="34" charset="-122"/>
                <a:cs typeface="Calibri" pitchFamily="34" charset="-120"/>
              </a:rPr>
              <a:t>+  Adapts when reality disagrees</a:t>
            </a:r>
            <a:endParaRPr lang="en-US" sz="1400" dirty="0"/>
          </a:p>
        </p:txBody>
      </p:sp>
      <p:sp>
        <p:nvSpPr>
          <p:cNvPr id="8" name="Text 6"/>
          <p:cNvSpPr/>
          <p:nvPr/>
        </p:nvSpPr>
        <p:spPr>
          <a:xfrm>
            <a:off x="960120" y="3200400"/>
            <a:ext cx="4663440" cy="365760"/>
          </a:xfrm>
          <a:prstGeom prst="rect">
            <a:avLst/>
          </a:prstGeom>
          <a:noFill/>
          <a:ln/>
        </p:spPr>
        <p:txBody>
          <a:bodyPr wrap="square" lIns="0" tIns="0" rIns="0" bIns="0" rtlCol="0" anchor="ctr"/>
          <a:lstStyle/>
          <a:p>
            <a:pPr marL="0" indent="0">
              <a:buNone/>
            </a:pPr>
            <a:r>
              <a:rPr lang="en-US" sz="1400" b="1" dirty="0">
                <a:solidFill>
                  <a:srgbClr val="2E7D5B"/>
                </a:solidFill>
                <a:latin typeface="Calibri" pitchFamily="34" charset="0"/>
                <a:ea typeface="Calibri" pitchFamily="34" charset="-122"/>
                <a:cs typeface="Calibri" pitchFamily="34" charset="-120"/>
              </a:rPr>
              <a:t>+  Recovers from a failed tool call</a:t>
            </a:r>
            <a:endParaRPr lang="en-US" sz="1400" dirty="0"/>
          </a:p>
        </p:txBody>
      </p:sp>
      <p:sp>
        <p:nvSpPr>
          <p:cNvPr id="9" name="Text 7"/>
          <p:cNvSpPr/>
          <p:nvPr/>
        </p:nvSpPr>
        <p:spPr>
          <a:xfrm>
            <a:off x="960120" y="3703320"/>
            <a:ext cx="4663440" cy="365760"/>
          </a:xfrm>
          <a:prstGeom prst="rect">
            <a:avLst/>
          </a:prstGeom>
          <a:noFill/>
          <a:ln/>
        </p:spPr>
        <p:txBody>
          <a:bodyPr wrap="square" lIns="0" tIns="0" rIns="0" bIns="0" rtlCol="0" anchor="ctr"/>
          <a:lstStyle/>
          <a:p>
            <a:pPr marL="0" indent="0">
              <a:buNone/>
            </a:pPr>
            <a:r>
              <a:rPr lang="en-US" sz="1400" b="1" dirty="0">
                <a:solidFill>
                  <a:srgbClr val="B23A48"/>
                </a:solidFill>
                <a:latin typeface="Calibri" pitchFamily="34" charset="0"/>
                <a:ea typeface="Calibri" pitchFamily="34" charset="-122"/>
                <a:cs typeface="Calibri" pitchFamily="34" charset="-120"/>
              </a:rPr>
              <a:t>−  Can drift or go in circles</a:t>
            </a:r>
            <a:endParaRPr lang="en-US" sz="1400" dirty="0"/>
          </a:p>
        </p:txBody>
      </p:sp>
      <p:sp>
        <p:nvSpPr>
          <p:cNvPr id="10" name="Text 8"/>
          <p:cNvSpPr/>
          <p:nvPr/>
        </p:nvSpPr>
        <p:spPr>
          <a:xfrm>
            <a:off x="960120" y="4114800"/>
            <a:ext cx="4663440" cy="365760"/>
          </a:xfrm>
          <a:prstGeom prst="rect">
            <a:avLst/>
          </a:prstGeom>
          <a:noFill/>
          <a:ln/>
        </p:spPr>
        <p:txBody>
          <a:bodyPr wrap="square" lIns="0" tIns="0" rIns="0" bIns="0" rtlCol="0" anchor="ctr"/>
          <a:lstStyle/>
          <a:p>
            <a:pPr marL="0" indent="0">
              <a:buNone/>
            </a:pPr>
            <a:r>
              <a:rPr lang="en-US" sz="1400" b="1" dirty="0">
                <a:solidFill>
                  <a:srgbClr val="B23A48"/>
                </a:solidFill>
                <a:latin typeface="Calibri" pitchFamily="34" charset="0"/>
                <a:ea typeface="Calibri" pitchFamily="34" charset="-122"/>
                <a:cs typeface="Calibri" pitchFamily="34" charset="-120"/>
              </a:rPr>
              <a:t>−  One model call per step — slow, and it adds up</a:t>
            </a:r>
            <a:endParaRPr lang="en-US" sz="1400" dirty="0"/>
          </a:p>
        </p:txBody>
      </p:sp>
      <p:sp>
        <p:nvSpPr>
          <p:cNvPr id="11" name="Text 9"/>
          <p:cNvSpPr/>
          <p:nvPr/>
        </p:nvSpPr>
        <p:spPr>
          <a:xfrm>
            <a:off x="960120" y="4709160"/>
            <a:ext cx="4663440" cy="457200"/>
          </a:xfrm>
          <a:prstGeom prst="rect">
            <a:avLst/>
          </a:prstGeom>
          <a:noFill/>
          <a:ln/>
        </p:spPr>
        <p:txBody>
          <a:bodyPr wrap="square" lIns="0" tIns="0" rIns="0" bIns="0" rtlCol="0" anchor="t"/>
          <a:lstStyle/>
          <a:p>
            <a:pPr marL="0" indent="0">
              <a:buNone/>
            </a:pPr>
            <a:r>
              <a:rPr lang="en-US" sz="1350" i="1" dirty="0">
                <a:solidFill>
                  <a:srgbClr val="3B2E8F"/>
                </a:solidFill>
                <a:latin typeface="Calibri" pitchFamily="34" charset="0"/>
                <a:ea typeface="Calibri" pitchFamily="34" charset="-122"/>
                <a:cs typeface="Calibri" pitchFamily="34" charset="-120"/>
              </a:rPr>
              <a:t>Good when: the path can't be known up front.</a:t>
            </a:r>
            <a:endParaRPr lang="en-US" sz="1350" dirty="0"/>
          </a:p>
        </p:txBody>
      </p:sp>
      <p:sp>
        <p:nvSpPr>
          <p:cNvPr id="12" name="Shape 10"/>
          <p:cNvSpPr/>
          <p:nvPr/>
        </p:nvSpPr>
        <p:spPr>
          <a:xfrm>
            <a:off x="6263640" y="1508760"/>
            <a:ext cx="5257800" cy="3794760"/>
          </a:xfrm>
          <a:prstGeom prst="roundRect">
            <a:avLst>
              <a:gd name="adj" fmla="val 241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3" name="Text 11"/>
          <p:cNvSpPr/>
          <p:nvPr/>
        </p:nvSpPr>
        <p:spPr>
          <a:xfrm>
            <a:off x="6583680" y="1691640"/>
            <a:ext cx="4663440" cy="384048"/>
          </a:xfrm>
          <a:prstGeom prst="rect">
            <a:avLst/>
          </a:prstGeom>
          <a:noFill/>
          <a:ln/>
        </p:spPr>
        <p:txBody>
          <a:bodyPr wrap="square" lIns="0" tIns="0" rIns="0" bIns="0" rtlCol="0" anchor="ctr"/>
          <a:lstStyle/>
          <a:p>
            <a:pPr marL="0" indent="0">
              <a:buNone/>
            </a:pPr>
            <a:r>
              <a:rPr lang="en-US" sz="2000" b="1" dirty="0">
                <a:solidFill>
                  <a:srgbClr val="16163A"/>
                </a:solidFill>
                <a:latin typeface="Calibri" pitchFamily="34" charset="0"/>
                <a:ea typeface="Calibri" pitchFamily="34" charset="-122"/>
                <a:cs typeface="Calibri" pitchFamily="34" charset="-120"/>
              </a:rPr>
              <a:t>Plan, then execute</a:t>
            </a:r>
            <a:endParaRPr lang="en-US" sz="2000" dirty="0"/>
          </a:p>
        </p:txBody>
      </p:sp>
      <p:sp>
        <p:nvSpPr>
          <p:cNvPr id="14" name="Text 12"/>
          <p:cNvSpPr/>
          <p:nvPr/>
        </p:nvSpPr>
        <p:spPr>
          <a:xfrm>
            <a:off x="6583680" y="2103120"/>
            <a:ext cx="4663440" cy="64008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Write the whole plan first, then run the steps in order.</a:t>
            </a:r>
            <a:endParaRPr lang="en-US" sz="1400" dirty="0"/>
          </a:p>
        </p:txBody>
      </p:sp>
      <p:sp>
        <p:nvSpPr>
          <p:cNvPr id="15" name="Text 13"/>
          <p:cNvSpPr/>
          <p:nvPr/>
        </p:nvSpPr>
        <p:spPr>
          <a:xfrm>
            <a:off x="6583680" y="2788920"/>
            <a:ext cx="4663440" cy="365760"/>
          </a:xfrm>
          <a:prstGeom prst="rect">
            <a:avLst/>
          </a:prstGeom>
          <a:noFill/>
          <a:ln/>
        </p:spPr>
        <p:txBody>
          <a:bodyPr wrap="square" lIns="0" tIns="0" rIns="0" bIns="0" rtlCol="0" anchor="ctr"/>
          <a:lstStyle/>
          <a:p>
            <a:pPr marL="0" indent="0">
              <a:buNone/>
            </a:pPr>
            <a:r>
              <a:rPr lang="en-US" sz="1400" b="1" dirty="0">
                <a:solidFill>
                  <a:srgbClr val="2E7D5B"/>
                </a:solidFill>
                <a:latin typeface="Calibri" pitchFamily="34" charset="0"/>
                <a:ea typeface="Calibri" pitchFamily="34" charset="-122"/>
                <a:cs typeface="Calibri" pitchFamily="34" charset="-120"/>
              </a:rPr>
              <a:t>+  Cheaper — one big reasoning call</a:t>
            </a:r>
            <a:endParaRPr lang="en-US" sz="1400" dirty="0"/>
          </a:p>
        </p:txBody>
      </p:sp>
      <p:sp>
        <p:nvSpPr>
          <p:cNvPr id="16" name="Text 14"/>
          <p:cNvSpPr/>
          <p:nvPr/>
        </p:nvSpPr>
        <p:spPr>
          <a:xfrm>
            <a:off x="6583680" y="3200400"/>
            <a:ext cx="4663440" cy="365760"/>
          </a:xfrm>
          <a:prstGeom prst="rect">
            <a:avLst/>
          </a:prstGeom>
          <a:noFill/>
          <a:ln/>
        </p:spPr>
        <p:txBody>
          <a:bodyPr wrap="square" lIns="0" tIns="0" rIns="0" bIns="0" rtlCol="0" anchor="ctr"/>
          <a:lstStyle/>
          <a:p>
            <a:pPr marL="0" indent="0">
              <a:buNone/>
            </a:pPr>
            <a:r>
              <a:rPr lang="en-US" sz="1400" b="1" dirty="0">
                <a:solidFill>
                  <a:srgbClr val="2E7D5B"/>
                </a:solidFill>
                <a:latin typeface="Calibri" pitchFamily="34" charset="0"/>
                <a:ea typeface="Calibri" pitchFamily="34" charset="-122"/>
                <a:cs typeface="Calibri" pitchFamily="34" charset="-120"/>
              </a:rPr>
              <a:t>+  You can read the plan before it runs</a:t>
            </a:r>
            <a:endParaRPr lang="en-US" sz="1400" dirty="0"/>
          </a:p>
        </p:txBody>
      </p:sp>
      <p:sp>
        <p:nvSpPr>
          <p:cNvPr id="17" name="Text 15"/>
          <p:cNvSpPr/>
          <p:nvPr/>
        </p:nvSpPr>
        <p:spPr>
          <a:xfrm>
            <a:off x="6583680" y="3703320"/>
            <a:ext cx="4663440" cy="365760"/>
          </a:xfrm>
          <a:prstGeom prst="rect">
            <a:avLst/>
          </a:prstGeom>
          <a:noFill/>
          <a:ln/>
        </p:spPr>
        <p:txBody>
          <a:bodyPr wrap="square" lIns="0" tIns="0" rIns="0" bIns="0" rtlCol="0" anchor="ctr"/>
          <a:lstStyle/>
          <a:p>
            <a:pPr marL="0" indent="0">
              <a:buNone/>
            </a:pPr>
            <a:r>
              <a:rPr lang="en-US" sz="1400" b="1" dirty="0">
                <a:solidFill>
                  <a:srgbClr val="B23A48"/>
                </a:solidFill>
                <a:latin typeface="Calibri" pitchFamily="34" charset="0"/>
                <a:ea typeface="Calibri" pitchFamily="34" charset="-122"/>
                <a:cs typeface="Calibri" pitchFamily="34" charset="-120"/>
              </a:rPr>
              <a:t>−  Brittle the moment step 2 surprises it</a:t>
            </a:r>
            <a:endParaRPr lang="en-US" sz="1400" dirty="0"/>
          </a:p>
        </p:txBody>
      </p:sp>
      <p:sp>
        <p:nvSpPr>
          <p:cNvPr id="18" name="Text 16"/>
          <p:cNvSpPr/>
          <p:nvPr/>
        </p:nvSpPr>
        <p:spPr>
          <a:xfrm>
            <a:off x="6583680" y="4114800"/>
            <a:ext cx="4663440" cy="365760"/>
          </a:xfrm>
          <a:prstGeom prst="rect">
            <a:avLst/>
          </a:prstGeom>
          <a:noFill/>
          <a:ln/>
        </p:spPr>
        <p:txBody>
          <a:bodyPr wrap="square" lIns="0" tIns="0" rIns="0" bIns="0" rtlCol="0" anchor="ctr"/>
          <a:lstStyle/>
          <a:p>
            <a:pPr marL="0" indent="0">
              <a:buNone/>
            </a:pPr>
            <a:r>
              <a:rPr lang="en-US" sz="1400" b="1" dirty="0">
                <a:solidFill>
                  <a:srgbClr val="B23A48"/>
                </a:solidFill>
                <a:latin typeface="Calibri" pitchFamily="34" charset="0"/>
                <a:ea typeface="Calibri" pitchFamily="34" charset="-122"/>
                <a:cs typeface="Calibri" pitchFamily="34" charset="-120"/>
              </a:rPr>
              <a:t>−  Commits before it knows enough</a:t>
            </a:r>
            <a:endParaRPr lang="en-US" sz="1400" dirty="0"/>
          </a:p>
        </p:txBody>
      </p:sp>
      <p:sp>
        <p:nvSpPr>
          <p:cNvPr id="19" name="Text 17"/>
          <p:cNvSpPr/>
          <p:nvPr/>
        </p:nvSpPr>
        <p:spPr>
          <a:xfrm>
            <a:off x="6583680" y="4709160"/>
            <a:ext cx="4663440" cy="457200"/>
          </a:xfrm>
          <a:prstGeom prst="rect">
            <a:avLst/>
          </a:prstGeom>
          <a:noFill/>
          <a:ln/>
        </p:spPr>
        <p:txBody>
          <a:bodyPr wrap="square" lIns="0" tIns="0" rIns="0" bIns="0" rtlCol="0" anchor="t"/>
          <a:lstStyle/>
          <a:p>
            <a:pPr marL="0" indent="0">
              <a:buNone/>
            </a:pPr>
            <a:r>
              <a:rPr lang="en-US" sz="1350" b="1" i="1" dirty="0">
                <a:solidFill>
                  <a:srgbClr val="3B2E8F"/>
                </a:solidFill>
                <a:latin typeface="Calibri" pitchFamily="34" charset="0"/>
                <a:ea typeface="Calibri" pitchFamily="34" charset="-122"/>
                <a:cs typeface="Calibri" pitchFamily="34" charset="-120"/>
              </a:rPr>
              <a:t>Good when: the shape of the task is predictable.</a:t>
            </a:r>
            <a:endParaRPr lang="en-US" sz="1350" dirty="0"/>
          </a:p>
        </p:txBody>
      </p:sp>
      <p:sp>
        <p:nvSpPr>
          <p:cNvPr id="20" name="Shape 18"/>
          <p:cNvSpPr/>
          <p:nvPr/>
        </p:nvSpPr>
        <p:spPr>
          <a:xfrm>
            <a:off x="640080" y="5486400"/>
            <a:ext cx="10881360" cy="777240"/>
          </a:xfrm>
          <a:prstGeom prst="roundRect">
            <a:avLst>
              <a:gd name="adj" fmla="val 11765"/>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1" name="Text 19"/>
          <p:cNvSpPr/>
          <p:nvPr/>
        </p:nvSpPr>
        <p:spPr>
          <a:xfrm>
            <a:off x="1005840" y="5486400"/>
            <a:ext cx="10149840" cy="7772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Re-planning is the middle ground: make a plan, execute, and rewrite it when the world disagrees.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THE AGENT LOOP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whole thing, in one picture</a:t>
            </a:r>
            <a:endParaRPr lang="en-US" sz="3200" dirty="0"/>
          </a:p>
        </p:txBody>
      </p:sp>
      <p:sp>
        <p:nvSpPr>
          <p:cNvPr id="4" name="Shape 2"/>
          <p:cNvSpPr/>
          <p:nvPr/>
        </p:nvSpPr>
        <p:spPr>
          <a:xfrm>
            <a:off x="4846320" y="1463040"/>
            <a:ext cx="2651760" cy="777240"/>
          </a:xfrm>
          <a:prstGeom prst="roundRect">
            <a:avLst>
              <a:gd name="adj" fmla="val 11765"/>
            </a:avLst>
          </a:prstGeom>
          <a:solidFill>
            <a:srgbClr val="EFEFF4"/>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4846320" y="1463040"/>
            <a:ext cx="2651760" cy="777240"/>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goal in</a:t>
            </a:r>
            <a:endParaRPr lang="en-US" sz="1600" dirty="0"/>
          </a:p>
        </p:txBody>
      </p:sp>
      <p:sp>
        <p:nvSpPr>
          <p:cNvPr id="6" name="Shape 4"/>
          <p:cNvSpPr/>
          <p:nvPr/>
        </p:nvSpPr>
        <p:spPr>
          <a:xfrm>
            <a:off x="4846320" y="2697480"/>
            <a:ext cx="2651760" cy="914400"/>
          </a:xfrm>
          <a:prstGeom prst="roundRect">
            <a:avLst>
              <a:gd name="adj" fmla="val 10000"/>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7" name="Text 5"/>
          <p:cNvSpPr/>
          <p:nvPr/>
        </p:nvSpPr>
        <p:spPr>
          <a:xfrm>
            <a:off x="4846320" y="2697480"/>
            <a:ext cx="2651760" cy="9144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model call</a:t>
            </a:r>
            <a:endParaRPr lang="en-US" sz="1800" dirty="0"/>
          </a:p>
        </p:txBody>
      </p:sp>
      <p:sp>
        <p:nvSpPr>
          <p:cNvPr id="8" name="Shape 6"/>
          <p:cNvSpPr/>
          <p:nvPr/>
        </p:nvSpPr>
        <p:spPr>
          <a:xfrm>
            <a:off x="4846320" y="4114800"/>
            <a:ext cx="2651760" cy="914400"/>
          </a:xfrm>
          <a:prstGeom prst="roundRect">
            <a:avLst>
              <a:gd name="adj" fmla="val 100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4846320" y="4114800"/>
            <a:ext cx="2651760" cy="914400"/>
          </a:xfrm>
          <a:prstGeom prst="rect">
            <a:avLst/>
          </a:prstGeom>
          <a:noFill/>
          <a:ln/>
        </p:spPr>
        <p:txBody>
          <a:bodyPr wrap="square" lIns="0" tIns="0" rIns="0" bIns="0" rtlCol="0" anchor="ctr"/>
          <a:lstStyle/>
          <a:p>
            <a:pPr marL="0" indent="0" algn="ctr">
              <a:buNone/>
            </a:pPr>
            <a:r>
              <a:rPr lang="en-US" sz="1800" b="1" dirty="0">
                <a:solidFill>
                  <a:srgbClr val="16163A"/>
                </a:solidFill>
                <a:latin typeface="Calibri" pitchFamily="34" charset="0"/>
                <a:ea typeface="Calibri" pitchFamily="34" charset="-122"/>
                <a:cs typeface="Calibri" pitchFamily="34" charset="-120"/>
              </a:rPr>
              <a:t>tool runs</a:t>
            </a:r>
            <a:endParaRPr lang="en-US" sz="1800" dirty="0"/>
          </a:p>
        </p:txBody>
      </p:sp>
      <p:sp>
        <p:nvSpPr>
          <p:cNvPr id="10" name="Shape 8"/>
          <p:cNvSpPr/>
          <p:nvPr/>
        </p:nvSpPr>
        <p:spPr>
          <a:xfrm>
            <a:off x="4846320" y="5486400"/>
            <a:ext cx="2651760" cy="777240"/>
          </a:xfrm>
          <a:prstGeom prst="roundRect">
            <a:avLst>
              <a:gd name="adj" fmla="val 11765"/>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4846320" y="5486400"/>
            <a:ext cx="2651760" cy="7772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answer out</a:t>
            </a:r>
            <a:endParaRPr lang="en-US" sz="1600" dirty="0"/>
          </a:p>
        </p:txBody>
      </p:sp>
      <p:sp>
        <p:nvSpPr>
          <p:cNvPr id="12" name="Shape 10"/>
          <p:cNvSpPr/>
          <p:nvPr/>
        </p:nvSpPr>
        <p:spPr>
          <a:xfrm>
            <a:off x="6172200" y="2240280"/>
            <a:ext cx="0" cy="411480"/>
          </a:xfrm>
          <a:prstGeom prst="line">
            <a:avLst/>
          </a:prstGeom>
          <a:noFill/>
          <a:ln w="28575">
            <a:solidFill>
              <a:srgbClr val="5B4BC4"/>
            </a:solidFill>
            <a:prstDash val="solid"/>
            <a:tailEnd type="triangle"/>
          </a:ln>
        </p:spPr>
      </p:sp>
      <p:sp>
        <p:nvSpPr>
          <p:cNvPr id="13" name="Shape 11"/>
          <p:cNvSpPr/>
          <p:nvPr/>
        </p:nvSpPr>
        <p:spPr>
          <a:xfrm>
            <a:off x="6172200" y="3657600"/>
            <a:ext cx="0" cy="411480"/>
          </a:xfrm>
          <a:prstGeom prst="line">
            <a:avLst/>
          </a:prstGeom>
          <a:noFill/>
          <a:ln w="28575">
            <a:solidFill>
              <a:srgbClr val="5B4BC4"/>
            </a:solidFill>
            <a:prstDash val="solid"/>
            <a:tailEnd type="triangle"/>
          </a:ln>
        </p:spPr>
      </p:sp>
      <p:sp>
        <p:nvSpPr>
          <p:cNvPr id="14" name="Text 12"/>
          <p:cNvSpPr/>
          <p:nvPr/>
        </p:nvSpPr>
        <p:spPr>
          <a:xfrm>
            <a:off x="6309360" y="3703320"/>
            <a:ext cx="1828800" cy="274320"/>
          </a:xfrm>
          <a:prstGeom prst="rect">
            <a:avLst/>
          </a:prstGeom>
          <a:noFill/>
          <a:ln/>
        </p:spPr>
        <p:txBody>
          <a:bodyPr wrap="square" lIns="0" tIns="0" rIns="0" bIns="0" rtlCol="0" anchor="ctr"/>
          <a:lstStyle/>
          <a:p>
            <a:pPr marL="0" indent="0">
              <a:buNone/>
            </a:pPr>
            <a:r>
              <a:rPr lang="en-US" sz="1150" b="1" dirty="0">
                <a:solidFill>
                  <a:srgbClr val="5B4BC4"/>
                </a:solidFill>
                <a:latin typeface="Calibri" pitchFamily="34" charset="0"/>
                <a:ea typeface="Calibri" pitchFamily="34" charset="-122"/>
                <a:cs typeface="Calibri" pitchFamily="34" charset="-120"/>
              </a:rPr>
              <a:t>wants a tool</a:t>
            </a:r>
            <a:endParaRPr lang="en-US" sz="1150" dirty="0"/>
          </a:p>
        </p:txBody>
      </p:sp>
      <p:sp>
        <p:nvSpPr>
          <p:cNvPr id="15" name="Shape 13"/>
          <p:cNvSpPr/>
          <p:nvPr/>
        </p:nvSpPr>
        <p:spPr>
          <a:xfrm>
            <a:off x="4846320" y="4572000"/>
            <a:ext cx="0" cy="0"/>
          </a:xfrm>
          <a:prstGeom prst="line">
            <a:avLst/>
          </a:prstGeom>
          <a:noFill/>
          <a:ln w="28575">
            <a:solidFill>
              <a:srgbClr val="FF9F1C"/>
            </a:solidFill>
            <a:prstDash val="solid"/>
          </a:ln>
        </p:spPr>
      </p:sp>
      <p:sp>
        <p:nvSpPr>
          <p:cNvPr id="16" name="Shape 14"/>
          <p:cNvSpPr/>
          <p:nvPr/>
        </p:nvSpPr>
        <p:spPr>
          <a:xfrm>
            <a:off x="3931920" y="4572000"/>
            <a:ext cx="0" cy="0"/>
          </a:xfrm>
          <a:prstGeom prst="line">
            <a:avLst/>
          </a:prstGeom>
          <a:noFill/>
          <a:ln w="28575">
            <a:solidFill>
              <a:srgbClr val="FF9F1C"/>
            </a:solidFill>
            <a:prstDash val="solid"/>
          </a:ln>
        </p:spPr>
      </p:sp>
      <p:sp>
        <p:nvSpPr>
          <p:cNvPr id="17" name="Shape 15"/>
          <p:cNvSpPr/>
          <p:nvPr/>
        </p:nvSpPr>
        <p:spPr>
          <a:xfrm>
            <a:off x="3931920" y="3154680"/>
            <a:ext cx="868680" cy="0"/>
          </a:xfrm>
          <a:prstGeom prst="line">
            <a:avLst/>
          </a:prstGeom>
          <a:noFill/>
          <a:ln w="28575">
            <a:solidFill>
              <a:srgbClr val="FF9F1C"/>
            </a:solidFill>
            <a:prstDash val="solid"/>
            <a:tailEnd type="triangle"/>
          </a:ln>
        </p:spPr>
      </p:sp>
      <p:sp>
        <p:nvSpPr>
          <p:cNvPr id="18" name="Text 16"/>
          <p:cNvSpPr/>
          <p:nvPr/>
        </p:nvSpPr>
        <p:spPr>
          <a:xfrm>
            <a:off x="2971800" y="2761488"/>
            <a:ext cx="1737360" cy="274320"/>
          </a:xfrm>
          <a:prstGeom prst="rect">
            <a:avLst/>
          </a:prstGeom>
          <a:noFill/>
          <a:ln/>
        </p:spPr>
        <p:txBody>
          <a:bodyPr wrap="square" lIns="0" tIns="0" rIns="0" bIns="0" rtlCol="0" anchor="ctr"/>
          <a:lstStyle/>
          <a:p>
            <a:pPr marL="0" indent="0" algn="r">
              <a:buNone/>
            </a:pPr>
            <a:r>
              <a:rPr lang="en-US" sz="1150" b="1" dirty="0">
                <a:solidFill>
                  <a:srgbClr val="FF9F1C"/>
                </a:solidFill>
                <a:latin typeface="Calibri" pitchFamily="34" charset="0"/>
                <a:ea typeface="Calibri" pitchFamily="34" charset="-122"/>
                <a:cs typeface="Calibri" pitchFamily="34" charset="-120"/>
              </a:rPr>
              <a:t>observation</a:t>
            </a:r>
            <a:endParaRPr lang="en-US" sz="1150" dirty="0"/>
          </a:p>
        </p:txBody>
      </p:sp>
      <p:sp>
        <p:nvSpPr>
          <p:cNvPr id="22" name="Text 20"/>
          <p:cNvSpPr/>
          <p:nvPr/>
        </p:nvSpPr>
        <p:spPr>
          <a:xfrm>
            <a:off x="8549640" y="4206240"/>
            <a:ext cx="1828800" cy="274320"/>
          </a:xfrm>
          <a:prstGeom prst="rect">
            <a:avLst/>
          </a:prstGeom>
          <a:noFill/>
          <a:ln/>
        </p:spPr>
        <p:txBody>
          <a:bodyPr wrap="square" lIns="0" tIns="0" rIns="0" bIns="0" rtlCol="0" anchor="ctr"/>
          <a:lstStyle/>
          <a:p>
            <a:pPr marL="0" indent="0">
              <a:buNone/>
            </a:pPr>
            <a:r>
              <a:rPr lang="en-US" sz="1150" b="1" dirty="0">
                <a:solidFill>
                  <a:srgbClr val="2E7D5B"/>
                </a:solidFill>
                <a:latin typeface="Calibri" pitchFamily="34" charset="0"/>
                <a:ea typeface="Calibri" pitchFamily="34" charset="-122"/>
                <a:cs typeface="Calibri" pitchFamily="34" charset="-120"/>
              </a:rPr>
              <a:t>no tool wanted</a:t>
            </a:r>
            <a:endParaRPr lang="en-US" sz="1150" dirty="0"/>
          </a:p>
        </p:txBody>
      </p:sp>
      <p:sp>
        <p:nvSpPr>
          <p:cNvPr id="23" name="Shape 21"/>
          <p:cNvSpPr/>
          <p:nvPr/>
        </p:nvSpPr>
        <p:spPr>
          <a:xfrm>
            <a:off x="640080" y="1463040"/>
            <a:ext cx="3063240" cy="1920240"/>
          </a:xfrm>
          <a:prstGeom prst="roundRect">
            <a:avLst>
              <a:gd name="adj" fmla="val 4762"/>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4" name="Text 22"/>
          <p:cNvSpPr/>
          <p:nvPr/>
        </p:nvSpPr>
        <p:spPr>
          <a:xfrm>
            <a:off x="914400" y="1691640"/>
            <a:ext cx="2560320" cy="1463040"/>
          </a:xfrm>
          <a:prstGeom prst="rect">
            <a:avLst/>
          </a:prstGeom>
          <a:noFill/>
          <a:ln/>
        </p:spPr>
        <p:txBody>
          <a:bodyPr wrap="square" lIns="0" tIns="0" rIns="0" bIns="0" rtlCol="0" anchor="t"/>
          <a:lstStyle/>
          <a:p>
            <a:pPr marL="0" indent="0">
              <a:lnSpc>
                <a:spcPts val="2600"/>
              </a:lnSpc>
              <a:buNone/>
            </a:pPr>
            <a:r>
              <a:rPr lang="en-US" sz="1900" b="1" dirty="0">
                <a:solidFill>
                  <a:srgbClr val="3B2E8F"/>
                </a:solidFill>
                <a:latin typeface="Cambria" pitchFamily="34" charset="0"/>
                <a:ea typeface="Cambria" pitchFamily="34" charset="-122"/>
                <a:cs typeface="Cambria" pitchFamily="34" charset="-120"/>
              </a:rPr>
              <a:t>Two arrows.</a:t>
            </a:r>
            <a:endParaRPr lang="en-US" sz="1900" dirty="0"/>
          </a:p>
          <a:p>
            <a:pPr marL="0" indent="0">
              <a:lnSpc>
                <a:spcPts val="2600"/>
              </a:lnSpc>
              <a:buNone/>
            </a:pPr>
            <a:r>
              <a:rPr lang="en-US" sz="1900" b="1" dirty="0">
                <a:solidFill>
                  <a:srgbClr val="3B2E8F"/>
                </a:solidFill>
                <a:latin typeface="Cambria" pitchFamily="34" charset="0"/>
                <a:ea typeface="Cambria" pitchFamily="34" charset="-122"/>
                <a:cs typeface="Cambria" pitchFamily="34" charset="-120"/>
              </a:rPr>
              <a:t>That is the whole architecture.</a:t>
            </a:r>
            <a:endParaRPr lang="en-US" sz="1900" dirty="0"/>
          </a:p>
        </p:txBody>
      </p:sp>
      <p:sp>
        <p:nvSpPr>
          <p:cNvPr id="25" name="Text 23"/>
          <p:cNvSpPr/>
          <p:nvPr/>
        </p:nvSpPr>
        <p:spPr>
          <a:xfrm>
            <a:off x="685800" y="3657600"/>
            <a:ext cx="3017520" cy="2286000"/>
          </a:xfrm>
          <a:prstGeom prst="rect">
            <a:avLst/>
          </a:prstGeom>
          <a:noFill/>
          <a:ln/>
        </p:spPr>
        <p:txBody>
          <a:bodyPr wrap="square" lIns="0" tIns="0" rIns="0" bIns="0" rtlCol="0" anchor="t"/>
          <a:lstStyle/>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Orange: it asked for a tool, so run it and go round again.</a:t>
            </a:r>
            <a:endParaRPr lang="en-US" sz="1350" dirty="0"/>
          </a:p>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Green: it did not, so we are finished.</a:t>
            </a:r>
            <a:endParaRPr lang="en-US" sz="1350" dirty="0"/>
          </a:p>
          <a:p>
            <a:pPr marL="342900" indent="-342900">
              <a:lnSpc>
                <a:spcPts val="1823"/>
              </a:lnSpc>
              <a:spcAft>
                <a:spcPts val="800"/>
              </a:spcAft>
              <a:buSzPct val="100000"/>
              <a:buChar char="•"/>
            </a:pPr>
            <a:r>
              <a:rPr lang="en-US" sz="1350" dirty="0">
                <a:solidFill>
                  <a:srgbClr val="16163A"/>
                </a:solidFill>
                <a:latin typeface="Calibri" pitchFamily="34" charset="0"/>
                <a:ea typeface="Calibri" pitchFamily="34" charset="-122"/>
                <a:cs typeface="Calibri" pitchFamily="34" charset="-120"/>
              </a:rPr>
              <a:t>Nobody decides how many times the orange arrow is taken.</a:t>
            </a:r>
            <a:endParaRPr lang="en-US" sz="1350" dirty="0"/>
          </a:p>
        </p:txBody>
      </p:sp>
      <p:sp>
        <p:nvSpPr>
          <p:cNvPr id="26" name="Text 24"/>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Everything hard about agents is in the two coloured arrows: when do you take the orange one, and when do you take the green one?</a:t>
            </a:r>
            <a:endParaRPr lang="en-US" sz="1100" dirty="0"/>
          </a:p>
        </p:txBody>
      </p:sp>
      <p:cxnSp>
        <p:nvCxnSpPr>
          <p:cNvPr id="28" name="Connector: Elbow 27">
            <a:extLst>
              <a:ext uri="{FF2B5EF4-FFF2-40B4-BE49-F238E27FC236}">
                <a16:creationId xmlns:a16="http://schemas.microsoft.com/office/drawing/2014/main" id="{ECA1CD46-AD48-96A1-35B8-0F0EC908B6DA}"/>
              </a:ext>
            </a:extLst>
          </p:cNvPr>
          <p:cNvCxnSpPr>
            <a:stCxn id="6" idx="3"/>
            <a:endCxn id="10" idx="3"/>
          </p:cNvCxnSpPr>
          <p:nvPr/>
        </p:nvCxnSpPr>
        <p:spPr>
          <a:xfrm>
            <a:off x="7498080" y="3154680"/>
            <a:ext cx="12700" cy="2720340"/>
          </a:xfrm>
          <a:prstGeom prst="bentConnector3">
            <a:avLst>
              <a:gd name="adj1" fmla="val 730188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Shape 11">
            <a:extLst>
              <a:ext uri="{FF2B5EF4-FFF2-40B4-BE49-F238E27FC236}">
                <a16:creationId xmlns:a16="http://schemas.microsoft.com/office/drawing/2014/main" id="{EE7E3CAC-9082-5CA1-7C85-2D956FF0AFEE}"/>
              </a:ext>
            </a:extLst>
          </p:cNvPr>
          <p:cNvSpPr/>
          <p:nvPr/>
        </p:nvSpPr>
        <p:spPr>
          <a:xfrm>
            <a:off x="6172200" y="5029200"/>
            <a:ext cx="0" cy="411480"/>
          </a:xfrm>
          <a:prstGeom prst="line">
            <a:avLst/>
          </a:prstGeom>
          <a:noFill/>
          <a:ln w="28575">
            <a:solidFill>
              <a:srgbClr val="5B4BC4"/>
            </a:solidFill>
            <a:prstDash val="solid"/>
            <a:tailEnd type="triangle"/>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THE HARD PART, PART 1</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How does it know when to stop?</a:t>
            </a:r>
            <a:endParaRPr lang="en-US" sz="3200" dirty="0"/>
          </a:p>
        </p:txBody>
      </p:sp>
      <p:sp>
        <p:nvSpPr>
          <p:cNvPr id="4" name="Shape 2"/>
          <p:cNvSpPr/>
          <p:nvPr/>
        </p:nvSpPr>
        <p:spPr>
          <a:xfrm>
            <a:off x="640080" y="1600200"/>
            <a:ext cx="10881360" cy="1005840"/>
          </a:xfrm>
          <a:prstGeom prst="roundRect">
            <a:avLst>
              <a:gd name="adj" fmla="val 9091"/>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Shape 3"/>
          <p:cNvSpPr/>
          <p:nvPr/>
        </p:nvSpPr>
        <p:spPr>
          <a:xfrm>
            <a:off x="960120" y="1874520"/>
            <a:ext cx="457200" cy="457200"/>
          </a:xfrm>
          <a:prstGeom prst="ellipse">
            <a:avLst/>
          </a:prstGeom>
          <a:solidFill>
            <a:srgbClr val="2E7D5B"/>
          </a:solidFill>
          <a:ln w="12700">
            <a:solidFill>
              <a:srgbClr val="FFFFFF"/>
            </a:solidFill>
            <a:prstDash val="solid"/>
          </a:ln>
        </p:spPr>
      </p:sp>
      <p:sp>
        <p:nvSpPr>
          <p:cNvPr id="6" name="Text 4"/>
          <p:cNvSpPr/>
          <p:nvPr/>
        </p:nvSpPr>
        <p:spPr>
          <a:xfrm>
            <a:off x="1691640" y="1897380"/>
            <a:ext cx="3931920" cy="411480"/>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The model stops asking</a:t>
            </a:r>
            <a:endParaRPr lang="en-US" sz="1800" dirty="0"/>
          </a:p>
        </p:txBody>
      </p:sp>
      <p:sp>
        <p:nvSpPr>
          <p:cNvPr id="7" name="Text 5"/>
          <p:cNvSpPr/>
          <p:nvPr/>
        </p:nvSpPr>
        <p:spPr>
          <a:xfrm>
            <a:off x="5669280" y="1600200"/>
            <a:ext cx="5577840" cy="1005840"/>
          </a:xfrm>
          <a:prstGeom prst="rect">
            <a:avLst/>
          </a:prstGeom>
          <a:noFill/>
          <a:ln/>
        </p:spPr>
        <p:txBody>
          <a:bodyPr wrap="square" lIns="0" tIns="0" rIns="0" bIns="0" rtlCol="0" anchor="ctr"/>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It returns text instead of a tool call. This is the normal, healthy exit.</a:t>
            </a:r>
            <a:endParaRPr lang="en-US" sz="1450" dirty="0"/>
          </a:p>
        </p:txBody>
      </p:sp>
      <p:sp>
        <p:nvSpPr>
          <p:cNvPr id="8" name="Shape 6"/>
          <p:cNvSpPr/>
          <p:nvPr/>
        </p:nvSpPr>
        <p:spPr>
          <a:xfrm>
            <a:off x="640080" y="2770632"/>
            <a:ext cx="10881360" cy="1005840"/>
          </a:xfrm>
          <a:prstGeom prst="roundRect">
            <a:avLst>
              <a:gd name="adj" fmla="val 909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9" name="Shape 7"/>
          <p:cNvSpPr/>
          <p:nvPr/>
        </p:nvSpPr>
        <p:spPr>
          <a:xfrm>
            <a:off x="960120" y="3044952"/>
            <a:ext cx="457200" cy="457200"/>
          </a:xfrm>
          <a:prstGeom prst="ellipse">
            <a:avLst/>
          </a:prstGeom>
          <a:solidFill>
            <a:srgbClr val="5B4BC4"/>
          </a:solidFill>
          <a:ln w="12700">
            <a:solidFill>
              <a:srgbClr val="FFFFFF"/>
            </a:solidFill>
            <a:prstDash val="solid"/>
          </a:ln>
        </p:spPr>
      </p:sp>
      <p:sp>
        <p:nvSpPr>
          <p:cNvPr id="10" name="Text 8"/>
          <p:cNvSpPr/>
          <p:nvPr/>
        </p:nvSpPr>
        <p:spPr>
          <a:xfrm>
            <a:off x="1691640" y="3067812"/>
            <a:ext cx="3931920" cy="411480"/>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A step budget</a:t>
            </a:r>
            <a:endParaRPr lang="en-US" sz="1800" dirty="0"/>
          </a:p>
        </p:txBody>
      </p:sp>
      <p:sp>
        <p:nvSpPr>
          <p:cNvPr id="11" name="Text 9"/>
          <p:cNvSpPr/>
          <p:nvPr/>
        </p:nvSpPr>
        <p:spPr>
          <a:xfrm>
            <a:off x="5669280" y="2770632"/>
            <a:ext cx="5577840" cy="1005840"/>
          </a:xfrm>
          <a:prstGeom prst="rect">
            <a:avLst/>
          </a:prstGeom>
          <a:noFill/>
          <a:ln/>
        </p:spPr>
        <p:txBody>
          <a:bodyPr wrap="square" lIns="0" tIns="0" rIns="0" bIns="0" rtlCol="0" anchor="ctr"/>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“never more than N iterations.” Crude, and absolutely essential.</a:t>
            </a:r>
            <a:endParaRPr lang="en-US" sz="1450" dirty="0"/>
          </a:p>
        </p:txBody>
      </p:sp>
      <p:sp>
        <p:nvSpPr>
          <p:cNvPr id="12" name="Shape 10"/>
          <p:cNvSpPr/>
          <p:nvPr/>
        </p:nvSpPr>
        <p:spPr>
          <a:xfrm>
            <a:off x="640080" y="3941064"/>
            <a:ext cx="10881360" cy="1005840"/>
          </a:xfrm>
          <a:prstGeom prst="roundRect">
            <a:avLst>
              <a:gd name="adj" fmla="val 909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3" name="Shape 11"/>
          <p:cNvSpPr/>
          <p:nvPr/>
        </p:nvSpPr>
        <p:spPr>
          <a:xfrm>
            <a:off x="960120" y="4215384"/>
            <a:ext cx="457200" cy="457200"/>
          </a:xfrm>
          <a:prstGeom prst="ellipse">
            <a:avLst/>
          </a:prstGeom>
          <a:solidFill>
            <a:srgbClr val="5B4BC4"/>
          </a:solidFill>
          <a:ln w="12700">
            <a:solidFill>
              <a:srgbClr val="FFFFFF"/>
            </a:solidFill>
            <a:prstDash val="solid"/>
          </a:ln>
        </p:spPr>
      </p:sp>
      <p:sp>
        <p:nvSpPr>
          <p:cNvPr id="14" name="Text 12"/>
          <p:cNvSpPr/>
          <p:nvPr/>
        </p:nvSpPr>
        <p:spPr>
          <a:xfrm>
            <a:off x="1691640" y="4238244"/>
            <a:ext cx="3931920" cy="411480"/>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A checker says done</a:t>
            </a:r>
            <a:endParaRPr lang="en-US" sz="1800" dirty="0"/>
          </a:p>
        </p:txBody>
      </p:sp>
      <p:sp>
        <p:nvSpPr>
          <p:cNvPr id="15" name="Text 13"/>
          <p:cNvSpPr/>
          <p:nvPr/>
        </p:nvSpPr>
        <p:spPr>
          <a:xfrm>
            <a:off x="5669280" y="3941064"/>
            <a:ext cx="5577840" cy="1005840"/>
          </a:xfrm>
          <a:prstGeom prst="rect">
            <a:avLst/>
          </a:prstGeom>
          <a:noFill/>
          <a:ln/>
        </p:spPr>
        <p:txBody>
          <a:bodyPr wrap="square" lIns="0" tIns="0" rIns="0" bIns="0" rtlCol="0" anchor="ctr"/>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A separate test — a validator, a grader, a schema check.</a:t>
            </a:r>
            <a:endParaRPr lang="en-US" sz="1450" dirty="0"/>
          </a:p>
        </p:txBody>
      </p:sp>
      <p:sp>
        <p:nvSpPr>
          <p:cNvPr id="16" name="Shape 14"/>
          <p:cNvSpPr/>
          <p:nvPr/>
        </p:nvSpPr>
        <p:spPr>
          <a:xfrm>
            <a:off x="640080" y="5111496"/>
            <a:ext cx="10881360" cy="1005840"/>
          </a:xfrm>
          <a:prstGeom prst="roundRect">
            <a:avLst>
              <a:gd name="adj" fmla="val 9091"/>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7" name="Shape 15"/>
          <p:cNvSpPr/>
          <p:nvPr/>
        </p:nvSpPr>
        <p:spPr>
          <a:xfrm>
            <a:off x="960120" y="5385816"/>
            <a:ext cx="457200" cy="457200"/>
          </a:xfrm>
          <a:prstGeom prst="ellipse">
            <a:avLst/>
          </a:prstGeom>
          <a:solidFill>
            <a:srgbClr val="FF9F1C"/>
          </a:solidFill>
          <a:ln w="12700">
            <a:solidFill>
              <a:srgbClr val="FFFFFF"/>
            </a:solidFill>
            <a:prstDash val="solid"/>
          </a:ln>
        </p:spPr>
      </p:sp>
      <p:sp>
        <p:nvSpPr>
          <p:cNvPr id="18" name="Text 16"/>
          <p:cNvSpPr/>
          <p:nvPr/>
        </p:nvSpPr>
        <p:spPr>
          <a:xfrm>
            <a:off x="1691640" y="5408676"/>
            <a:ext cx="3931920" cy="411480"/>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A human says done</a:t>
            </a:r>
            <a:endParaRPr lang="en-US" sz="1800" dirty="0"/>
          </a:p>
        </p:txBody>
      </p:sp>
      <p:sp>
        <p:nvSpPr>
          <p:cNvPr id="19" name="Text 17"/>
          <p:cNvSpPr/>
          <p:nvPr/>
        </p:nvSpPr>
        <p:spPr>
          <a:xfrm>
            <a:off x="5669280" y="5111496"/>
            <a:ext cx="5577840" cy="1005840"/>
          </a:xfrm>
          <a:prstGeom prst="rect">
            <a:avLst/>
          </a:prstGeom>
          <a:noFill/>
          <a:ln/>
        </p:spPr>
        <p:txBody>
          <a:bodyPr wrap="square" lIns="0" tIns="0" rIns="0" bIns="0" rtlCol="0" anchor="ctr"/>
          <a:lstStyle/>
          <a:p>
            <a:pPr marL="0" indent="0">
              <a:lnSpc>
                <a:spcPts val="2000"/>
              </a:lnSpc>
              <a:buNone/>
            </a:pPr>
            <a:r>
              <a:rPr lang="en-US" sz="1450" dirty="0">
                <a:solidFill>
                  <a:srgbClr val="6B6B8A"/>
                </a:solidFill>
                <a:latin typeface="Calibri" pitchFamily="34" charset="0"/>
                <a:ea typeface="Calibri" pitchFamily="34" charset="-122"/>
                <a:cs typeface="Calibri" pitchFamily="34" charset="-120"/>
              </a:rPr>
              <a:t>Someone approves or rejects. Slow, and sometimes the only acceptable option.</a:t>
            </a:r>
            <a:endParaRPr lang="en-US" sz="1450" dirty="0"/>
          </a:p>
        </p:txBody>
      </p:sp>
      <p:sp>
        <p:nvSpPr>
          <p:cNvPr id="20" name="Text 18"/>
          <p:cNvSpPr/>
          <p:nvPr/>
        </p:nvSpPr>
        <p:spPr>
          <a:xfrm>
            <a:off x="640080" y="6172200"/>
            <a:ext cx="10881360" cy="365760"/>
          </a:xfrm>
          <a:prstGeom prst="rect">
            <a:avLst/>
          </a:prstGeom>
          <a:noFill/>
          <a:ln/>
        </p:spPr>
        <p:txBody>
          <a:bodyPr wrap="square" lIns="0" tIns="0" rIns="0" bIns="0" rtlCol="0" anchor="ctr"/>
          <a:lstStyle/>
          <a:p>
            <a:pPr marL="0" indent="0">
              <a:buNone/>
            </a:pPr>
            <a:r>
              <a:rPr lang="en-US" sz="1500" b="1" i="1" dirty="0">
                <a:solidFill>
                  <a:srgbClr val="3B2E8F"/>
                </a:solidFill>
                <a:latin typeface="Calibri" pitchFamily="34" charset="0"/>
                <a:ea typeface="Calibri" pitchFamily="34" charset="-122"/>
                <a:cs typeface="Calibri" pitchFamily="34" charset="-120"/>
              </a:rPr>
              <a:t>You will use the first two together. Always.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THE HARD PART, PART 2</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Four ways this goes wrong</a:t>
            </a:r>
            <a:endParaRPr lang="en-US" sz="3200" dirty="0"/>
          </a:p>
        </p:txBody>
      </p:sp>
      <p:sp>
        <p:nvSpPr>
          <p:cNvPr id="4" name="Shape 2"/>
          <p:cNvSpPr/>
          <p:nvPr/>
        </p:nvSpPr>
        <p:spPr>
          <a:xfrm>
            <a:off x="640080" y="155448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Shape 3"/>
          <p:cNvSpPr/>
          <p:nvPr/>
        </p:nvSpPr>
        <p:spPr>
          <a:xfrm>
            <a:off x="914400" y="1828800"/>
            <a:ext cx="475488" cy="475488"/>
          </a:xfrm>
          <a:prstGeom prst="roundRect">
            <a:avLst>
              <a:gd name="adj" fmla="val 19231"/>
            </a:avLst>
          </a:prstGeom>
          <a:solidFill>
            <a:srgbClr val="B23A48"/>
          </a:solidFill>
          <a:ln w="12700">
            <a:solidFill>
              <a:srgbClr val="FFFFFF"/>
            </a:solidFill>
            <a:prstDash val="solid"/>
          </a:ln>
        </p:spPr>
      </p:sp>
      <p:sp>
        <p:nvSpPr>
          <p:cNvPr id="6" name="Text 4"/>
          <p:cNvSpPr/>
          <p:nvPr/>
        </p:nvSpPr>
        <p:spPr>
          <a:xfrm>
            <a:off x="914400" y="182880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600200" y="1810512"/>
            <a:ext cx="4114800" cy="384048"/>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Infinite loops</a:t>
            </a:r>
            <a:endParaRPr lang="en-US" sz="1800" dirty="0"/>
          </a:p>
        </p:txBody>
      </p:sp>
      <p:sp>
        <p:nvSpPr>
          <p:cNvPr id="8" name="Text 6"/>
          <p:cNvSpPr/>
          <p:nvPr/>
        </p:nvSpPr>
        <p:spPr>
          <a:xfrm>
            <a:off x="1600200" y="2267712"/>
            <a:ext cx="4114800" cy="105156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It calls the same tool with the same arguments, forever. Usually because the observation didn't help and nothing forces it to change tack.</a:t>
            </a:r>
            <a:endParaRPr lang="en-US" sz="1350" dirty="0"/>
          </a:p>
        </p:txBody>
      </p:sp>
      <p:sp>
        <p:nvSpPr>
          <p:cNvPr id="9" name="Shape 7"/>
          <p:cNvSpPr/>
          <p:nvPr/>
        </p:nvSpPr>
        <p:spPr>
          <a:xfrm>
            <a:off x="6263640" y="155448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0" name="Shape 8"/>
          <p:cNvSpPr/>
          <p:nvPr/>
        </p:nvSpPr>
        <p:spPr>
          <a:xfrm>
            <a:off x="6537960" y="1828800"/>
            <a:ext cx="475488" cy="475488"/>
          </a:xfrm>
          <a:prstGeom prst="roundRect">
            <a:avLst>
              <a:gd name="adj" fmla="val 19231"/>
            </a:avLst>
          </a:prstGeom>
          <a:solidFill>
            <a:srgbClr val="B23A48"/>
          </a:solidFill>
          <a:ln w="12700">
            <a:solidFill>
              <a:srgbClr val="FFFFFF"/>
            </a:solidFill>
            <a:prstDash val="solid"/>
          </a:ln>
        </p:spPr>
      </p:sp>
      <p:sp>
        <p:nvSpPr>
          <p:cNvPr id="11" name="Text 9"/>
          <p:cNvSpPr/>
          <p:nvPr/>
        </p:nvSpPr>
        <p:spPr>
          <a:xfrm>
            <a:off x="6537960" y="182880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7223760" y="1810512"/>
            <a:ext cx="4114800" cy="384048"/>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Wrong tool</a:t>
            </a:r>
            <a:endParaRPr lang="en-US" sz="1800" dirty="0"/>
          </a:p>
        </p:txBody>
      </p:sp>
      <p:sp>
        <p:nvSpPr>
          <p:cNvPr id="13" name="Text 11"/>
          <p:cNvSpPr/>
          <p:nvPr/>
        </p:nvSpPr>
        <p:spPr>
          <a:xfrm>
            <a:off x="7223760" y="2267712"/>
            <a:ext cx="4114800" cy="105156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It picks a plausible-sounding tool that can't do the job. Almost always a description problem, not a model problem.</a:t>
            </a:r>
            <a:endParaRPr lang="en-US" sz="1350" dirty="0"/>
          </a:p>
        </p:txBody>
      </p:sp>
      <p:sp>
        <p:nvSpPr>
          <p:cNvPr id="14" name="Shape 12"/>
          <p:cNvSpPr/>
          <p:nvPr/>
        </p:nvSpPr>
        <p:spPr>
          <a:xfrm>
            <a:off x="640080" y="374904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5" name="Shape 13"/>
          <p:cNvSpPr/>
          <p:nvPr/>
        </p:nvSpPr>
        <p:spPr>
          <a:xfrm>
            <a:off x="914400" y="4023360"/>
            <a:ext cx="475488" cy="475488"/>
          </a:xfrm>
          <a:prstGeom prst="roundRect">
            <a:avLst>
              <a:gd name="adj" fmla="val 19231"/>
            </a:avLst>
          </a:prstGeom>
          <a:solidFill>
            <a:srgbClr val="B23A48"/>
          </a:solidFill>
          <a:ln w="12700">
            <a:solidFill>
              <a:srgbClr val="FFFFFF"/>
            </a:solidFill>
            <a:prstDash val="solid"/>
          </a:ln>
        </p:spPr>
      </p:sp>
      <p:sp>
        <p:nvSpPr>
          <p:cNvPr id="16" name="Text 14"/>
          <p:cNvSpPr/>
          <p:nvPr/>
        </p:nvSpPr>
        <p:spPr>
          <a:xfrm>
            <a:off x="914400" y="402336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600200" y="4005072"/>
            <a:ext cx="4114800" cy="384048"/>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Hallucinated arguments</a:t>
            </a:r>
            <a:endParaRPr lang="en-US" sz="1800" dirty="0"/>
          </a:p>
        </p:txBody>
      </p:sp>
      <p:sp>
        <p:nvSpPr>
          <p:cNvPr id="18" name="Text 16"/>
          <p:cNvSpPr/>
          <p:nvPr/>
        </p:nvSpPr>
        <p:spPr>
          <a:xfrm>
            <a:off x="1600200" y="4462272"/>
            <a:ext cx="4114800" cy="105156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Right tool, invented inputs — a column that doesn't exist, an ID it made up. Validate at the boundary.</a:t>
            </a:r>
            <a:endParaRPr lang="en-US" sz="1350" dirty="0"/>
          </a:p>
        </p:txBody>
      </p:sp>
      <p:sp>
        <p:nvSpPr>
          <p:cNvPr id="19" name="Shape 17"/>
          <p:cNvSpPr/>
          <p:nvPr/>
        </p:nvSpPr>
        <p:spPr>
          <a:xfrm>
            <a:off x="6263640" y="374904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0" name="Shape 18"/>
          <p:cNvSpPr/>
          <p:nvPr/>
        </p:nvSpPr>
        <p:spPr>
          <a:xfrm>
            <a:off x="6537960" y="4023360"/>
            <a:ext cx="475488" cy="475488"/>
          </a:xfrm>
          <a:prstGeom prst="roundRect">
            <a:avLst>
              <a:gd name="adj" fmla="val 19231"/>
            </a:avLst>
          </a:prstGeom>
          <a:solidFill>
            <a:srgbClr val="B23A48"/>
          </a:solidFill>
          <a:ln w="12700">
            <a:solidFill>
              <a:srgbClr val="FFFFFF"/>
            </a:solidFill>
            <a:prstDash val="solid"/>
          </a:ln>
        </p:spPr>
      </p:sp>
      <p:sp>
        <p:nvSpPr>
          <p:cNvPr id="21" name="Text 19"/>
          <p:cNvSpPr/>
          <p:nvPr/>
        </p:nvSpPr>
        <p:spPr>
          <a:xfrm>
            <a:off x="6537960" y="4023360"/>
            <a:ext cx="475488" cy="47548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223760" y="4005072"/>
            <a:ext cx="4114800" cy="384048"/>
          </a:xfrm>
          <a:prstGeom prst="rect">
            <a:avLst/>
          </a:prstGeom>
          <a:noFill/>
          <a:ln/>
        </p:spPr>
        <p:txBody>
          <a:bodyPr wrap="square" lIns="0" tIns="0" rIns="0" bIns="0" rtlCol="0" anchor="ctr"/>
          <a:lstStyle/>
          <a:p>
            <a:pPr marL="0" indent="0">
              <a:buNone/>
            </a:pPr>
            <a:r>
              <a:rPr lang="en-US" sz="1800" b="1" dirty="0">
                <a:solidFill>
                  <a:srgbClr val="16163A"/>
                </a:solidFill>
                <a:latin typeface="Calibri" pitchFamily="34" charset="0"/>
                <a:ea typeface="Calibri" pitchFamily="34" charset="-122"/>
                <a:cs typeface="Calibri" pitchFamily="34" charset="-120"/>
              </a:rPr>
              <a:t>Silent failure</a:t>
            </a:r>
            <a:endParaRPr lang="en-US" sz="1800" dirty="0"/>
          </a:p>
        </p:txBody>
      </p:sp>
      <p:sp>
        <p:nvSpPr>
          <p:cNvPr id="23" name="Text 21"/>
          <p:cNvSpPr/>
          <p:nvPr/>
        </p:nvSpPr>
        <p:spPr>
          <a:xfrm>
            <a:off x="7223760" y="4462272"/>
            <a:ext cx="4114800" cy="1051560"/>
          </a:xfrm>
          <a:prstGeom prst="rect">
            <a:avLst/>
          </a:prstGeom>
          <a:noFill/>
          <a:ln/>
        </p:spPr>
        <p:txBody>
          <a:bodyPr wrap="square" lIns="0" tIns="0" rIns="0" bIns="0" rtlCol="0" anchor="t"/>
          <a:lstStyle/>
          <a:p>
            <a:pPr marL="0" indent="0">
              <a:lnSpc>
                <a:spcPts val="1900"/>
              </a:lnSpc>
              <a:buNone/>
            </a:pPr>
            <a:r>
              <a:rPr lang="en-US" sz="1350" dirty="0">
                <a:solidFill>
                  <a:srgbClr val="6B6B8A"/>
                </a:solidFill>
                <a:latin typeface="Calibri" pitchFamily="34" charset="0"/>
                <a:ea typeface="Calibri" pitchFamily="34" charset="-122"/>
                <a:cs typeface="Calibri" pitchFamily="34" charset="-120"/>
              </a:rPr>
              <a:t>A tool errors, the error goes back as a string, and the model cheerfully reasons on top of it.</a:t>
            </a:r>
            <a:endParaRPr lang="en-US" sz="1350" dirty="0"/>
          </a:p>
        </p:txBody>
      </p:sp>
      <p:sp>
        <p:nvSpPr>
          <p:cNvPr id="24" name="Shape 22"/>
          <p:cNvSpPr/>
          <p:nvPr/>
        </p:nvSpPr>
        <p:spPr>
          <a:xfrm>
            <a:off x="640080" y="5806440"/>
            <a:ext cx="10881360" cy="731520"/>
          </a:xfrm>
          <a:prstGeom prst="roundRect">
            <a:avLst>
              <a:gd name="adj" fmla="val 12500"/>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5" name="Text 23"/>
          <p:cNvSpPr/>
          <p:nvPr/>
        </p:nvSpPr>
        <p:spPr>
          <a:xfrm>
            <a:off x="1005840" y="5806440"/>
            <a:ext cx="10149840" cy="73152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Notice what all four have in common: to fix any of them, you have to see what happened step by step.</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63A"/>
        </a:solidFill>
        <a:effectLst/>
      </p:bgPr>
    </p:bg>
    <p:spTree>
      <p:nvGrpSpPr>
        <p:cNvPr id="1" name=""/>
        <p:cNvGrpSpPr/>
        <p:nvPr/>
      </p:nvGrpSpPr>
      <p:grpSpPr>
        <a:xfrm>
          <a:off x="0" y="0"/>
          <a:ext cx="0" cy="0"/>
          <a:chOff x="0" y="0"/>
          <a:chExt cx="0" cy="0"/>
        </a:xfrm>
      </p:grpSpPr>
      <p:sp>
        <p:nvSpPr>
          <p:cNvPr id="2" name="Text 0"/>
          <p:cNvSpPr/>
          <p:nvPr/>
        </p:nvSpPr>
        <p:spPr>
          <a:xfrm>
            <a:off x="685800" y="502920"/>
            <a:ext cx="10881360" cy="320040"/>
          </a:xfrm>
          <a:prstGeom prst="rect">
            <a:avLst/>
          </a:prstGeom>
          <a:noFill/>
          <a:ln/>
        </p:spPr>
        <p:txBody>
          <a:bodyPr wrap="square" lIns="0" tIns="0" rIns="0" bIns="0" rtlCol="0" anchor="ctr"/>
          <a:lstStyle/>
          <a:p>
            <a:pPr marL="0" indent="0">
              <a:buNone/>
            </a:pPr>
            <a:r>
              <a:rPr lang="en-US" sz="1300" b="1" kern="0" spc="200" dirty="0">
                <a:solidFill>
                  <a:srgbClr val="FF9F1C"/>
                </a:solidFill>
                <a:latin typeface="Calibri" pitchFamily="34" charset="0"/>
                <a:ea typeface="Calibri" pitchFamily="34" charset="-122"/>
                <a:cs typeface="Calibri" pitchFamily="34" charset="-120"/>
              </a:rPr>
              <a:t>WHY A FRAMEWORK</a:t>
            </a:r>
            <a:endParaRPr lang="en-US" sz="1300" dirty="0"/>
          </a:p>
        </p:txBody>
      </p:sp>
      <p:sp>
        <p:nvSpPr>
          <p:cNvPr id="3" name="Text 1"/>
          <p:cNvSpPr/>
          <p:nvPr/>
        </p:nvSpPr>
        <p:spPr>
          <a:xfrm>
            <a:off x="685800" y="868680"/>
            <a:ext cx="10881360" cy="54864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You can write this loop yourself. In about twenty lines.</a:t>
            </a:r>
            <a:endParaRPr lang="en-US" sz="3100" dirty="0"/>
          </a:p>
        </p:txBody>
      </p:sp>
      <p:sp>
        <p:nvSpPr>
          <p:cNvPr id="4" name="Shape 2"/>
          <p:cNvSpPr/>
          <p:nvPr/>
        </p:nvSpPr>
        <p:spPr>
          <a:xfrm>
            <a:off x="685800" y="1691640"/>
            <a:ext cx="5394960" cy="2377440"/>
          </a:xfrm>
          <a:prstGeom prst="roundRect">
            <a:avLst>
              <a:gd name="adj" fmla="val 3077"/>
            </a:avLst>
          </a:prstGeom>
          <a:solidFill>
            <a:srgbClr val="0E0E28"/>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886968" y="1837944"/>
            <a:ext cx="4992624" cy="2084832"/>
          </a:xfrm>
          <a:prstGeom prst="rect">
            <a:avLst/>
          </a:prstGeom>
          <a:noFill/>
          <a:ln/>
        </p:spPr>
        <p:txBody>
          <a:bodyPr wrap="square" lIns="0" tIns="0" rIns="0" bIns="0" rtlCol="0" anchor="t"/>
          <a:lstStyle/>
          <a:p>
            <a:pPr marL="0" indent="0">
              <a:lnSpc>
                <a:spcPts val="2170"/>
              </a:lnSpc>
              <a:buNone/>
            </a:pPr>
            <a:r>
              <a:rPr lang="en-US" sz="1400" dirty="0">
                <a:solidFill>
                  <a:srgbClr val="FFB86C"/>
                </a:solidFill>
                <a:latin typeface="Courier New" pitchFamily="34" charset="0"/>
                <a:ea typeface="Courier New" pitchFamily="34" charset="-122"/>
                <a:cs typeface="Courier New" pitchFamily="34" charset="-120"/>
              </a:rPr>
              <a:t>while True:</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    msg = model.invoke(history)</a:t>
            </a:r>
            <a:endParaRPr lang="en-US" sz="1400" dirty="0"/>
          </a:p>
          <a:p>
            <a:pPr marL="0" indent="0">
              <a:lnSpc>
                <a:spcPts val="2170"/>
              </a:lnSpc>
              <a:buNone/>
            </a:pPr>
            <a:r>
              <a:rPr lang="en-US" sz="1400" dirty="0">
                <a:solidFill>
                  <a:srgbClr val="FFB86C"/>
                </a:solidFill>
                <a:latin typeface="Courier New" pitchFamily="34" charset="0"/>
                <a:ea typeface="Courier New" pitchFamily="34" charset="-122"/>
                <a:cs typeface="Courier New" pitchFamily="34" charset="-120"/>
              </a:rPr>
              <a:t>    if not msg.tool_calls:</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        return msg.content</a:t>
            </a:r>
            <a:endParaRPr lang="en-US" sz="1400" dirty="0"/>
          </a:p>
          <a:p>
            <a:pPr marL="0" indent="0">
              <a:lnSpc>
                <a:spcPts val="2170"/>
              </a:lnSpc>
              <a:buNone/>
            </a:pPr>
            <a:r>
              <a:rPr lang="en-US" sz="1400" dirty="0">
                <a:solidFill>
                  <a:srgbClr val="FFB86C"/>
                </a:solidFill>
                <a:latin typeface="Courier New" pitchFamily="34" charset="0"/>
                <a:ea typeface="Courier New" pitchFamily="34" charset="-122"/>
                <a:cs typeface="Courier New" pitchFamily="34" charset="-120"/>
              </a:rPr>
              <a:t>    for tc in msg.tool_calls:</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        history.append(run(tc))</a:t>
            </a:r>
            <a:endParaRPr lang="en-US" sz="1400" dirty="0"/>
          </a:p>
        </p:txBody>
      </p:sp>
      <p:sp>
        <p:nvSpPr>
          <p:cNvPr id="6" name="Text 4"/>
          <p:cNvSpPr/>
          <p:nvPr/>
        </p:nvSpPr>
        <p:spPr>
          <a:xfrm>
            <a:off x="685800" y="4251960"/>
            <a:ext cx="5394960" cy="822960"/>
          </a:xfrm>
          <a:prstGeom prst="rect">
            <a:avLst/>
          </a:prstGeom>
          <a:noFill/>
          <a:ln/>
        </p:spPr>
        <p:txBody>
          <a:bodyPr wrap="square" lIns="0" tIns="0" rIns="0" bIns="0" rtlCol="0" anchor="t"/>
          <a:lstStyle/>
          <a:p>
            <a:pPr marL="0" indent="0">
              <a:lnSpc>
                <a:spcPts val="2300"/>
              </a:lnSpc>
              <a:buNone/>
            </a:pPr>
            <a:r>
              <a:rPr lang="en-US" sz="1600" i="1" dirty="0">
                <a:solidFill>
                  <a:srgbClr val="C9C4EE"/>
                </a:solidFill>
                <a:latin typeface="Calibri" pitchFamily="34" charset="0"/>
                <a:ea typeface="Calibri" pitchFamily="34" charset="-122"/>
                <a:cs typeface="Calibri" pitchFamily="34" charset="-120"/>
              </a:rPr>
              <a:t>It works. Genuinely. And then you try to ship it.</a:t>
            </a:r>
            <a:endParaRPr lang="en-US" sz="1600" dirty="0"/>
          </a:p>
        </p:txBody>
      </p:sp>
      <p:sp>
        <p:nvSpPr>
          <p:cNvPr id="7" name="Shape 5"/>
          <p:cNvSpPr/>
          <p:nvPr/>
        </p:nvSpPr>
        <p:spPr>
          <a:xfrm>
            <a:off x="6400800" y="1691640"/>
            <a:ext cx="5120640" cy="960120"/>
          </a:xfrm>
          <a:prstGeom prst="roundRect">
            <a:avLst>
              <a:gd name="adj" fmla="val 9524"/>
            </a:avLst>
          </a:prstGeom>
          <a:solidFill>
            <a:srgbClr val="242450"/>
          </a:solidFill>
          <a:ln w="12700">
            <a:solidFill>
              <a:srgbClr val="FFFFFF"/>
            </a:solidFill>
            <a:prstDash val="solid"/>
          </a:ln>
        </p:spPr>
      </p:sp>
      <p:sp>
        <p:nvSpPr>
          <p:cNvPr id="8" name="Text 6"/>
          <p:cNvSpPr/>
          <p:nvPr/>
        </p:nvSpPr>
        <p:spPr>
          <a:xfrm>
            <a:off x="6675120" y="1801368"/>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It crashes on step 9</a:t>
            </a:r>
            <a:endParaRPr lang="en-US" sz="1600" dirty="0"/>
          </a:p>
        </p:txBody>
      </p:sp>
      <p:sp>
        <p:nvSpPr>
          <p:cNvPr id="9" name="Text 7"/>
          <p:cNvSpPr/>
          <p:nvPr/>
        </p:nvSpPr>
        <p:spPr>
          <a:xfrm>
            <a:off x="6675120" y="2194560"/>
            <a:ext cx="4572000" cy="365760"/>
          </a:xfrm>
          <a:prstGeom prst="rect">
            <a:avLst/>
          </a:prstGeom>
          <a:noFill/>
          <a:ln/>
        </p:spPr>
        <p:txBody>
          <a:bodyPr wrap="square" lIns="0" tIns="0" rIns="0" bIns="0" rtlCol="0" anchor="ctr"/>
          <a:lstStyle/>
          <a:p>
            <a:pPr marL="0" indent="0">
              <a:buNone/>
            </a:pPr>
            <a:r>
              <a:rPr lang="en-US" sz="1350" dirty="0">
                <a:solidFill>
                  <a:srgbClr val="9E99CC"/>
                </a:solidFill>
                <a:latin typeface="Calibri" pitchFamily="34" charset="0"/>
                <a:ea typeface="Calibri" pitchFamily="34" charset="-122"/>
                <a:cs typeface="Calibri" pitchFamily="34" charset="-120"/>
              </a:rPr>
              <a:t>and you start again from step 1</a:t>
            </a:r>
            <a:endParaRPr lang="en-US" sz="1350" dirty="0"/>
          </a:p>
        </p:txBody>
      </p:sp>
      <p:sp>
        <p:nvSpPr>
          <p:cNvPr id="10" name="Shape 8"/>
          <p:cNvSpPr/>
          <p:nvPr/>
        </p:nvSpPr>
        <p:spPr>
          <a:xfrm>
            <a:off x="6400800" y="2825496"/>
            <a:ext cx="5120640" cy="960120"/>
          </a:xfrm>
          <a:prstGeom prst="roundRect">
            <a:avLst>
              <a:gd name="adj" fmla="val 9524"/>
            </a:avLst>
          </a:prstGeom>
          <a:solidFill>
            <a:srgbClr val="242450"/>
          </a:solidFill>
          <a:ln w="12700">
            <a:solidFill>
              <a:srgbClr val="FFFFFF"/>
            </a:solidFill>
            <a:prstDash val="solid"/>
          </a:ln>
        </p:spPr>
      </p:sp>
      <p:sp>
        <p:nvSpPr>
          <p:cNvPr id="11" name="Text 9"/>
          <p:cNvSpPr/>
          <p:nvPr/>
        </p:nvSpPr>
        <p:spPr>
          <a:xfrm>
            <a:off x="6675120" y="2935224"/>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user asks a follow-up</a:t>
            </a:r>
            <a:endParaRPr lang="en-US" sz="1600" dirty="0"/>
          </a:p>
        </p:txBody>
      </p:sp>
      <p:sp>
        <p:nvSpPr>
          <p:cNvPr id="12" name="Text 10"/>
          <p:cNvSpPr/>
          <p:nvPr/>
        </p:nvSpPr>
        <p:spPr>
          <a:xfrm>
            <a:off x="6675120" y="3328416"/>
            <a:ext cx="4572000" cy="365760"/>
          </a:xfrm>
          <a:prstGeom prst="rect">
            <a:avLst/>
          </a:prstGeom>
          <a:noFill/>
          <a:ln/>
        </p:spPr>
        <p:txBody>
          <a:bodyPr wrap="square" lIns="0" tIns="0" rIns="0" bIns="0" rtlCol="0" anchor="ctr"/>
          <a:lstStyle/>
          <a:p>
            <a:pPr marL="0" indent="0">
              <a:buNone/>
            </a:pPr>
            <a:r>
              <a:rPr lang="en-US" sz="1350" dirty="0">
                <a:solidFill>
                  <a:srgbClr val="9E99CC"/>
                </a:solidFill>
                <a:latin typeface="Calibri" pitchFamily="34" charset="0"/>
                <a:ea typeface="Calibri" pitchFamily="34" charset="-122"/>
                <a:cs typeface="Calibri" pitchFamily="34" charset="-120"/>
              </a:rPr>
              <a:t>and there is nothing to follow up on</a:t>
            </a:r>
            <a:endParaRPr lang="en-US" sz="1350" dirty="0"/>
          </a:p>
        </p:txBody>
      </p:sp>
      <p:sp>
        <p:nvSpPr>
          <p:cNvPr id="13" name="Shape 11"/>
          <p:cNvSpPr/>
          <p:nvPr/>
        </p:nvSpPr>
        <p:spPr>
          <a:xfrm>
            <a:off x="6400800" y="3959352"/>
            <a:ext cx="5120640" cy="960120"/>
          </a:xfrm>
          <a:prstGeom prst="roundRect">
            <a:avLst>
              <a:gd name="adj" fmla="val 9524"/>
            </a:avLst>
          </a:prstGeom>
          <a:solidFill>
            <a:srgbClr val="242450"/>
          </a:solidFill>
          <a:ln w="12700">
            <a:solidFill>
              <a:srgbClr val="FFFFFF"/>
            </a:solidFill>
            <a:prstDash val="solid"/>
          </a:ln>
        </p:spPr>
      </p:sp>
      <p:sp>
        <p:nvSpPr>
          <p:cNvPr id="14" name="Text 12"/>
          <p:cNvSpPr/>
          <p:nvPr/>
        </p:nvSpPr>
        <p:spPr>
          <a:xfrm>
            <a:off x="6675120" y="4069080"/>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It picks the wrong tool</a:t>
            </a:r>
            <a:endParaRPr lang="en-US" sz="1600" dirty="0"/>
          </a:p>
        </p:txBody>
      </p:sp>
      <p:sp>
        <p:nvSpPr>
          <p:cNvPr id="15" name="Text 13"/>
          <p:cNvSpPr/>
          <p:nvPr/>
        </p:nvSpPr>
        <p:spPr>
          <a:xfrm>
            <a:off x="6675120" y="4462272"/>
            <a:ext cx="4572000" cy="365760"/>
          </a:xfrm>
          <a:prstGeom prst="rect">
            <a:avLst/>
          </a:prstGeom>
          <a:noFill/>
          <a:ln/>
        </p:spPr>
        <p:txBody>
          <a:bodyPr wrap="square" lIns="0" tIns="0" rIns="0" bIns="0" rtlCol="0" anchor="ctr"/>
          <a:lstStyle/>
          <a:p>
            <a:pPr marL="0" indent="0">
              <a:buNone/>
            </a:pPr>
            <a:r>
              <a:rPr lang="en-US" sz="1350" dirty="0">
                <a:solidFill>
                  <a:srgbClr val="9E99CC"/>
                </a:solidFill>
                <a:latin typeface="Calibri" pitchFamily="34" charset="0"/>
                <a:ea typeface="Calibri" pitchFamily="34" charset="-122"/>
                <a:cs typeface="Calibri" pitchFamily="34" charset="-120"/>
              </a:rPr>
              <a:t>and you have no record of why</a:t>
            </a:r>
            <a:endParaRPr lang="en-US" sz="1350" dirty="0"/>
          </a:p>
        </p:txBody>
      </p:sp>
      <p:sp>
        <p:nvSpPr>
          <p:cNvPr id="16" name="Shape 14"/>
          <p:cNvSpPr/>
          <p:nvPr/>
        </p:nvSpPr>
        <p:spPr>
          <a:xfrm>
            <a:off x="6400800" y="5093208"/>
            <a:ext cx="5120640" cy="960120"/>
          </a:xfrm>
          <a:prstGeom prst="roundRect">
            <a:avLst>
              <a:gd name="adj" fmla="val 9524"/>
            </a:avLst>
          </a:prstGeom>
          <a:solidFill>
            <a:srgbClr val="242450"/>
          </a:solidFill>
          <a:ln w="12700">
            <a:solidFill>
              <a:srgbClr val="FFFFFF"/>
            </a:solidFill>
            <a:prstDash val="solid"/>
          </a:ln>
        </p:spPr>
      </p:sp>
      <p:sp>
        <p:nvSpPr>
          <p:cNvPr id="17" name="Text 15"/>
          <p:cNvSpPr/>
          <p:nvPr/>
        </p:nvSpPr>
        <p:spPr>
          <a:xfrm>
            <a:off x="6675120" y="5202936"/>
            <a:ext cx="45720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Someone must approve step 3</a:t>
            </a:r>
            <a:endParaRPr lang="en-US" sz="1600" dirty="0"/>
          </a:p>
        </p:txBody>
      </p:sp>
      <p:sp>
        <p:nvSpPr>
          <p:cNvPr id="18" name="Text 16"/>
          <p:cNvSpPr/>
          <p:nvPr/>
        </p:nvSpPr>
        <p:spPr>
          <a:xfrm>
            <a:off x="6675120" y="5596128"/>
            <a:ext cx="4572000" cy="365760"/>
          </a:xfrm>
          <a:prstGeom prst="rect">
            <a:avLst/>
          </a:prstGeom>
          <a:noFill/>
          <a:ln/>
        </p:spPr>
        <p:txBody>
          <a:bodyPr wrap="square" lIns="0" tIns="0" rIns="0" bIns="0" rtlCol="0" anchor="ctr"/>
          <a:lstStyle/>
          <a:p>
            <a:pPr marL="0" indent="0">
              <a:buNone/>
            </a:pPr>
            <a:r>
              <a:rPr lang="en-US" sz="1350" dirty="0">
                <a:solidFill>
                  <a:srgbClr val="9E99CC"/>
                </a:solidFill>
                <a:latin typeface="Calibri" pitchFamily="34" charset="0"/>
                <a:ea typeface="Calibri" pitchFamily="34" charset="-122"/>
                <a:cs typeface="Calibri" pitchFamily="34" charset="-120"/>
              </a:rPr>
              <a:t>and there is nowhere to pause</a:t>
            </a:r>
            <a:endParaRPr lang="en-US" sz="1350" dirty="0"/>
          </a:p>
        </p:txBody>
      </p:sp>
      <p:sp>
        <p:nvSpPr>
          <p:cNvPr id="19" name="Text 17"/>
          <p:cNvSpPr/>
          <p:nvPr/>
        </p:nvSpPr>
        <p:spPr>
          <a:xfrm>
            <a:off x="685800" y="5989320"/>
            <a:ext cx="10881360" cy="457200"/>
          </a:xfrm>
          <a:prstGeom prst="rect">
            <a:avLst/>
          </a:prstGeom>
          <a:noFill/>
          <a:ln/>
        </p:spPr>
        <p:txBody>
          <a:bodyPr wrap="square" lIns="0" tIns="0" rIns="0" bIns="0" rtlCol="0" anchor="ctr"/>
          <a:lstStyle/>
          <a:p>
            <a:pPr marL="0" indent="0">
              <a:buNone/>
            </a:pPr>
            <a:r>
              <a:rPr lang="en-US" sz="1600" b="1" dirty="0">
                <a:solidFill>
                  <a:srgbClr val="FF9F1C"/>
                </a:solidFill>
                <a:latin typeface="Calibri" pitchFamily="34" charset="0"/>
                <a:ea typeface="Calibri" pitchFamily="34" charset="-122"/>
                <a:cs typeface="Calibri" pitchFamily="34" charset="-120"/>
              </a:rPr>
              <a:t>LangGraph exists to take the loop off your hands — and give you all four of those back.</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3A"/>
        </a:solidFill>
        <a:effectLst/>
      </p:bgPr>
    </p:bg>
    <p:spTree>
      <p:nvGrpSpPr>
        <p:cNvPr id="1" name=""/>
        <p:cNvGrpSpPr/>
        <p:nvPr/>
      </p:nvGrpSpPr>
      <p:grpSpPr>
        <a:xfrm>
          <a:off x="0" y="0"/>
          <a:ext cx="0" cy="0"/>
          <a:chOff x="0" y="0"/>
          <a:chExt cx="0" cy="0"/>
        </a:xfrm>
      </p:grpSpPr>
      <p:sp>
        <p:nvSpPr>
          <p:cNvPr id="2" name="Text 0"/>
          <p:cNvSpPr/>
          <p:nvPr/>
        </p:nvSpPr>
        <p:spPr>
          <a:xfrm>
            <a:off x="822960" y="1965960"/>
            <a:ext cx="10515600" cy="320040"/>
          </a:xfrm>
          <a:prstGeom prst="rect">
            <a:avLst/>
          </a:prstGeom>
          <a:noFill/>
          <a:ln/>
        </p:spPr>
        <p:txBody>
          <a:bodyPr wrap="square" lIns="0" tIns="0" rIns="0" bIns="0" rtlCol="0" anchor="ctr"/>
          <a:lstStyle/>
          <a:p>
            <a:pPr marL="0" indent="0">
              <a:buNone/>
            </a:pPr>
            <a:r>
              <a:rPr lang="en-US" sz="1400" b="1" kern="0" spc="200" dirty="0">
                <a:solidFill>
                  <a:srgbClr val="FF9F1C"/>
                </a:solidFill>
                <a:latin typeface="Calibri" pitchFamily="34" charset="0"/>
                <a:ea typeface="Calibri" pitchFamily="34" charset="-122"/>
                <a:cs typeface="Calibri" pitchFamily="34" charset="-120"/>
              </a:rPr>
              <a:t>PART TWO  ·  9 MINUTES THEORY, 12 MINUTES CODE</a:t>
            </a:r>
            <a:endParaRPr lang="en-US" sz="1400" dirty="0"/>
          </a:p>
        </p:txBody>
      </p:sp>
      <p:sp>
        <p:nvSpPr>
          <p:cNvPr id="3" name="Text 1"/>
          <p:cNvSpPr/>
          <p:nvPr/>
        </p:nvSpPr>
        <p:spPr>
          <a:xfrm>
            <a:off x="822960" y="2331720"/>
            <a:ext cx="10515600" cy="13716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LangGraph</a:t>
            </a:r>
            <a:endParaRPr lang="en-US" sz="4400" dirty="0"/>
          </a:p>
        </p:txBody>
      </p:sp>
      <p:sp>
        <p:nvSpPr>
          <p:cNvPr id="4" name="Text 2"/>
          <p:cNvSpPr/>
          <p:nvPr/>
        </p:nvSpPr>
        <p:spPr>
          <a:xfrm>
            <a:off x="822960" y="3794760"/>
            <a:ext cx="9601200" cy="1097280"/>
          </a:xfrm>
          <a:prstGeom prst="rect">
            <a:avLst/>
          </a:prstGeom>
          <a:noFill/>
          <a:ln/>
        </p:spPr>
        <p:txBody>
          <a:bodyPr wrap="square" lIns="0" tIns="0" rIns="0" bIns="0" rtlCol="0" anchor="t"/>
          <a:lstStyle/>
          <a:p>
            <a:pPr marL="0" indent="0">
              <a:buNone/>
            </a:pPr>
            <a:r>
              <a:rPr lang="en-US" sz="1800" dirty="0">
                <a:solidFill>
                  <a:srgbClr val="C9C4EE"/>
                </a:solidFill>
                <a:latin typeface="Calibri" pitchFamily="34" charset="0"/>
                <a:ea typeface="Calibri" pitchFamily="34" charset="-122"/>
                <a:cs typeface="Calibri" pitchFamily="34" charset="-120"/>
              </a:rPr>
              <a:t>State, nodes, edges, and the one feature that makes the rest possible.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WHAT LANGGRAPH IS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A runtime for things that loop</a:t>
            </a:r>
            <a:endParaRPr lang="en-US" sz="3200" dirty="0"/>
          </a:p>
        </p:txBody>
      </p:sp>
      <p:sp>
        <p:nvSpPr>
          <p:cNvPr id="4" name="Shape 2"/>
          <p:cNvSpPr/>
          <p:nvPr/>
        </p:nvSpPr>
        <p:spPr>
          <a:xfrm>
            <a:off x="640080" y="1508760"/>
            <a:ext cx="5257800" cy="2148840"/>
          </a:xfrm>
          <a:prstGeom prst="roundRect">
            <a:avLst>
              <a:gd name="adj" fmla="val 4255"/>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960120" y="1691640"/>
            <a:ext cx="4663440" cy="365760"/>
          </a:xfrm>
          <a:prstGeom prst="rect">
            <a:avLst/>
          </a:prstGeom>
          <a:noFill/>
          <a:ln/>
        </p:spPr>
        <p:txBody>
          <a:bodyPr wrap="square" lIns="0" tIns="0" rIns="0" bIns="0" rtlCol="0" anchor="ctr"/>
          <a:lstStyle/>
          <a:p>
            <a:pPr marL="0" indent="0">
              <a:buNone/>
            </a:pPr>
            <a:r>
              <a:rPr lang="en-US" sz="1900" b="1" dirty="0">
                <a:solidFill>
                  <a:srgbClr val="3B2E8F"/>
                </a:solidFill>
                <a:latin typeface="Calibri" pitchFamily="34" charset="0"/>
                <a:ea typeface="Calibri" pitchFamily="34" charset="-122"/>
                <a:cs typeface="Calibri" pitchFamily="34" charset="-120"/>
              </a:rPr>
              <a:t>What it is</a:t>
            </a:r>
            <a:endParaRPr lang="en-US" sz="1900" dirty="0"/>
          </a:p>
        </p:txBody>
      </p:sp>
      <p:sp>
        <p:nvSpPr>
          <p:cNvPr id="6" name="Text 4"/>
          <p:cNvSpPr/>
          <p:nvPr/>
        </p:nvSpPr>
        <p:spPr>
          <a:xfrm>
            <a:off x="960120" y="2103120"/>
            <a:ext cx="4663440" cy="1371600"/>
          </a:xfrm>
          <a:prstGeom prst="rect">
            <a:avLst/>
          </a:prstGeom>
          <a:noFill/>
          <a:ln/>
        </p:spPr>
        <p:txBody>
          <a:bodyPr wrap="square" lIns="0" tIns="0" rIns="0" bIns="0" rtlCol="0" anchor="t"/>
          <a:lstStyle/>
          <a:p>
            <a:pPr marL="0" indent="0">
              <a:lnSpc>
                <a:spcPts val="2200"/>
              </a:lnSpc>
              <a:buNone/>
            </a:pPr>
            <a:r>
              <a:rPr lang="en-US" sz="1500" dirty="0">
                <a:solidFill>
                  <a:srgbClr val="16163A"/>
                </a:solidFill>
                <a:latin typeface="Calibri" pitchFamily="34" charset="0"/>
                <a:ea typeface="Calibri" pitchFamily="34" charset="-122"/>
                <a:cs typeface="Calibri" pitchFamily="34" charset="-120"/>
              </a:rPr>
              <a:t>A low-level library for describing an application as a graph — and a runtime that executes it, one step at a time, saving state as it goes.</a:t>
            </a:r>
            <a:endParaRPr lang="en-US" sz="1500" dirty="0"/>
          </a:p>
        </p:txBody>
      </p:sp>
      <p:sp>
        <p:nvSpPr>
          <p:cNvPr id="7" name="Shape 5"/>
          <p:cNvSpPr/>
          <p:nvPr/>
        </p:nvSpPr>
        <p:spPr>
          <a:xfrm>
            <a:off x="6263640" y="1508760"/>
            <a:ext cx="5257800" cy="2148840"/>
          </a:xfrm>
          <a:prstGeom prst="roundRect">
            <a:avLst>
              <a:gd name="adj" fmla="val 4255"/>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8" name="Text 6"/>
          <p:cNvSpPr/>
          <p:nvPr/>
        </p:nvSpPr>
        <p:spPr>
          <a:xfrm>
            <a:off x="6583680" y="1691640"/>
            <a:ext cx="4663440" cy="365760"/>
          </a:xfrm>
          <a:prstGeom prst="rect">
            <a:avLst/>
          </a:prstGeom>
          <a:noFill/>
          <a:ln/>
        </p:spPr>
        <p:txBody>
          <a:bodyPr wrap="square" lIns="0" tIns="0" rIns="0" bIns="0" rtlCol="0" anchor="ctr"/>
          <a:lstStyle/>
          <a:p>
            <a:pPr marL="0" indent="0">
              <a:buNone/>
            </a:pPr>
            <a:r>
              <a:rPr lang="en-US" sz="1900" b="1" dirty="0">
                <a:solidFill>
                  <a:srgbClr val="6B6B8A"/>
                </a:solidFill>
                <a:latin typeface="Calibri" pitchFamily="34" charset="0"/>
                <a:ea typeface="Calibri" pitchFamily="34" charset="-122"/>
                <a:cs typeface="Calibri" pitchFamily="34" charset="-120"/>
              </a:rPr>
              <a:t>What it is not</a:t>
            </a:r>
            <a:endParaRPr lang="en-US" sz="1900" dirty="0"/>
          </a:p>
        </p:txBody>
      </p:sp>
      <p:sp>
        <p:nvSpPr>
          <p:cNvPr id="9" name="Text 7"/>
          <p:cNvSpPr/>
          <p:nvPr/>
        </p:nvSpPr>
        <p:spPr>
          <a:xfrm>
            <a:off x="6583680" y="2103120"/>
            <a:ext cx="4663440" cy="1371600"/>
          </a:xfrm>
          <a:prstGeom prst="rect">
            <a:avLst/>
          </a:prstGeom>
          <a:noFill/>
          <a:ln/>
        </p:spPr>
        <p:txBody>
          <a:bodyPr wrap="square" lIns="0" tIns="0" rIns="0" bIns="0" rtlCol="0" anchor="t"/>
          <a:lstStyle/>
          <a:p>
            <a:pPr marL="0" indent="0">
              <a:lnSpc>
                <a:spcPts val="2200"/>
              </a:lnSpc>
              <a:buNone/>
            </a:pPr>
            <a:r>
              <a:rPr lang="en-US" sz="1500" dirty="0">
                <a:solidFill>
                  <a:srgbClr val="16163A"/>
                </a:solidFill>
                <a:latin typeface="Calibri" pitchFamily="34" charset="0"/>
                <a:ea typeface="Calibri" pitchFamily="34" charset="-122"/>
                <a:cs typeface="Calibri" pitchFamily="34" charset="-120"/>
              </a:rPr>
              <a:t>Not a model. Not a prompt library. Not a replacement for LangChain — it sits underneath it. LangChain's own agents run on LangGraph.</a:t>
            </a:r>
            <a:endParaRPr lang="en-US" sz="1500" dirty="0"/>
          </a:p>
        </p:txBody>
      </p:sp>
      <p:sp>
        <p:nvSpPr>
          <p:cNvPr id="10" name="Text 8"/>
          <p:cNvSpPr/>
          <p:nvPr/>
        </p:nvSpPr>
        <p:spPr>
          <a:xfrm>
            <a:off x="640080" y="3931920"/>
            <a:ext cx="10881360" cy="411480"/>
          </a:xfrm>
          <a:prstGeom prst="rect">
            <a:avLst/>
          </a:prstGeom>
          <a:noFill/>
          <a:ln/>
        </p:spPr>
        <p:txBody>
          <a:bodyPr wrap="square" lIns="0" tIns="0" rIns="0" bIns="0" rtlCol="0" anchor="ctr"/>
          <a:lstStyle/>
          <a:p>
            <a:pPr marL="0" indent="0">
              <a:buNone/>
            </a:pPr>
            <a:r>
              <a:rPr lang="en-US" sz="2000" b="1" dirty="0">
                <a:solidFill>
                  <a:srgbClr val="16163A"/>
                </a:solidFill>
                <a:latin typeface="Calibri" pitchFamily="34" charset="0"/>
                <a:ea typeface="Calibri" pitchFamily="34" charset="-122"/>
                <a:cs typeface="Calibri" pitchFamily="34" charset="-120"/>
              </a:rPr>
              <a:t>Why a graph, of all things</a:t>
            </a:r>
            <a:endParaRPr lang="en-US" sz="2000" dirty="0"/>
          </a:p>
        </p:txBody>
      </p:sp>
      <p:sp>
        <p:nvSpPr>
          <p:cNvPr id="11" name="Shape 9"/>
          <p:cNvSpPr/>
          <p:nvPr/>
        </p:nvSpPr>
        <p:spPr>
          <a:xfrm>
            <a:off x="640080" y="443484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2" name="Text 10"/>
          <p:cNvSpPr/>
          <p:nvPr/>
        </p:nvSpPr>
        <p:spPr>
          <a:xfrm>
            <a:off x="896112" y="4617720"/>
            <a:ext cx="2971800" cy="685800"/>
          </a:xfrm>
          <a:prstGeom prst="rect">
            <a:avLst/>
          </a:prstGeom>
          <a:noFill/>
          <a:ln/>
        </p:spPr>
        <p:txBody>
          <a:bodyPr wrap="square" lIns="0" tIns="0" rIns="0" bIns="0" rtlCol="0" anchor="t"/>
          <a:lstStyle/>
          <a:p>
            <a:pPr marL="0" indent="0">
              <a:lnSpc>
                <a:spcPts val="2000"/>
              </a:lnSpc>
              <a:buNone/>
            </a:pPr>
            <a:r>
              <a:rPr lang="en-US" sz="1600" b="1" dirty="0">
                <a:solidFill>
                  <a:srgbClr val="3B2E8F"/>
                </a:solidFill>
                <a:latin typeface="Calibri" pitchFamily="34" charset="0"/>
                <a:ea typeface="Calibri" pitchFamily="34" charset="-122"/>
                <a:cs typeface="Calibri" pitchFamily="34" charset="-120"/>
              </a:rPr>
              <a:t>Loops become visible</a:t>
            </a:r>
            <a:endParaRPr lang="en-US" sz="1600" dirty="0"/>
          </a:p>
        </p:txBody>
      </p:sp>
      <p:sp>
        <p:nvSpPr>
          <p:cNvPr id="13" name="Text 11"/>
          <p:cNvSpPr/>
          <p:nvPr/>
        </p:nvSpPr>
        <p:spPr>
          <a:xfrm>
            <a:off x="896112" y="5257800"/>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6B6B8A"/>
                </a:solidFill>
                <a:latin typeface="Calibri" pitchFamily="34" charset="0"/>
                <a:ea typeface="Calibri" pitchFamily="34" charset="-122"/>
                <a:cs typeface="Calibri" pitchFamily="34" charset="-120"/>
              </a:rPr>
              <a:t>A cycle in a graph is a thing you can see and draw. A cycle in a while-loop is a thing you have to trace.</a:t>
            </a:r>
            <a:endParaRPr lang="en-US" sz="1250" dirty="0"/>
          </a:p>
        </p:txBody>
      </p:sp>
      <p:sp>
        <p:nvSpPr>
          <p:cNvPr id="14" name="Shape 12"/>
          <p:cNvSpPr/>
          <p:nvPr/>
        </p:nvSpPr>
        <p:spPr>
          <a:xfrm>
            <a:off x="4343400" y="443484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5" name="Text 13"/>
          <p:cNvSpPr/>
          <p:nvPr/>
        </p:nvSpPr>
        <p:spPr>
          <a:xfrm>
            <a:off x="4599432" y="4617720"/>
            <a:ext cx="2971800" cy="685800"/>
          </a:xfrm>
          <a:prstGeom prst="rect">
            <a:avLst/>
          </a:prstGeom>
          <a:noFill/>
          <a:ln/>
        </p:spPr>
        <p:txBody>
          <a:bodyPr wrap="square" lIns="0" tIns="0" rIns="0" bIns="0" rtlCol="0" anchor="t"/>
          <a:lstStyle/>
          <a:p>
            <a:pPr marL="0" indent="0">
              <a:lnSpc>
                <a:spcPts val="2000"/>
              </a:lnSpc>
              <a:buNone/>
            </a:pPr>
            <a:r>
              <a:rPr lang="en-US" sz="1600" b="1" dirty="0">
                <a:solidFill>
                  <a:srgbClr val="3B2E8F"/>
                </a:solidFill>
                <a:latin typeface="Calibri" pitchFamily="34" charset="0"/>
                <a:ea typeface="Calibri" pitchFamily="34" charset="-122"/>
                <a:cs typeface="Calibri" pitchFamily="34" charset="-120"/>
              </a:rPr>
              <a:t>The runtime owns the steps</a:t>
            </a:r>
            <a:endParaRPr lang="en-US" sz="1600" dirty="0"/>
          </a:p>
        </p:txBody>
      </p:sp>
      <p:sp>
        <p:nvSpPr>
          <p:cNvPr id="16" name="Text 14"/>
          <p:cNvSpPr/>
          <p:nvPr/>
        </p:nvSpPr>
        <p:spPr>
          <a:xfrm>
            <a:off x="4599432" y="5257800"/>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6B6B8A"/>
                </a:solidFill>
                <a:latin typeface="Calibri" pitchFamily="34" charset="0"/>
                <a:ea typeface="Calibri" pitchFamily="34" charset="-122"/>
                <a:cs typeface="Calibri" pitchFamily="34" charset="-120"/>
              </a:rPr>
              <a:t>Because it moves you node by node, it can snapshot between them — that is where checkpointing comes from.</a:t>
            </a:r>
            <a:endParaRPr lang="en-US" sz="1250" dirty="0"/>
          </a:p>
        </p:txBody>
      </p:sp>
      <p:sp>
        <p:nvSpPr>
          <p:cNvPr id="17" name="Shape 15"/>
          <p:cNvSpPr/>
          <p:nvPr/>
        </p:nvSpPr>
        <p:spPr>
          <a:xfrm>
            <a:off x="8046720" y="4434840"/>
            <a:ext cx="3474720" cy="1783080"/>
          </a:xfrm>
          <a:prstGeom prst="roundRect">
            <a:avLst>
              <a:gd name="adj" fmla="val 512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8" name="Text 16"/>
          <p:cNvSpPr/>
          <p:nvPr/>
        </p:nvSpPr>
        <p:spPr>
          <a:xfrm>
            <a:off x="8302752" y="4617720"/>
            <a:ext cx="2971800" cy="685800"/>
          </a:xfrm>
          <a:prstGeom prst="rect">
            <a:avLst/>
          </a:prstGeom>
          <a:noFill/>
          <a:ln/>
        </p:spPr>
        <p:txBody>
          <a:bodyPr wrap="square" lIns="0" tIns="0" rIns="0" bIns="0" rtlCol="0" anchor="t"/>
          <a:lstStyle/>
          <a:p>
            <a:pPr marL="0" indent="0">
              <a:lnSpc>
                <a:spcPts val="2000"/>
              </a:lnSpc>
              <a:buNone/>
            </a:pPr>
            <a:r>
              <a:rPr lang="en-US" sz="1600" b="1" dirty="0">
                <a:solidFill>
                  <a:srgbClr val="3B2E8F"/>
                </a:solidFill>
                <a:latin typeface="Calibri" pitchFamily="34" charset="0"/>
                <a:ea typeface="Calibri" pitchFamily="34" charset="-122"/>
                <a:cs typeface="Calibri" pitchFamily="34" charset="-120"/>
              </a:rPr>
              <a:t>Workflow and agent are the same shape</a:t>
            </a:r>
            <a:endParaRPr lang="en-US" sz="1600" dirty="0"/>
          </a:p>
        </p:txBody>
      </p:sp>
      <p:sp>
        <p:nvSpPr>
          <p:cNvPr id="19" name="Text 17"/>
          <p:cNvSpPr/>
          <p:nvPr/>
        </p:nvSpPr>
        <p:spPr>
          <a:xfrm>
            <a:off x="8302752" y="5257800"/>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6B6B8A"/>
                </a:solidFill>
                <a:latin typeface="Calibri" pitchFamily="34" charset="0"/>
                <a:ea typeface="Calibri" pitchFamily="34" charset="-122"/>
                <a:cs typeface="Calibri" pitchFamily="34" charset="-120"/>
              </a:rPr>
              <a:t>Fixed pipeline or free-roaming agent, it is nodes and edges either way. Only the routing differs.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STATE · NODES · EDGES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Three things. That is the entire mental model.</a:t>
            </a:r>
            <a:endParaRPr lang="en-US" sz="3200" dirty="0"/>
          </a:p>
        </p:txBody>
      </p:sp>
      <p:sp>
        <p:nvSpPr>
          <p:cNvPr id="4" name="Shape 2"/>
          <p:cNvSpPr/>
          <p:nvPr/>
        </p:nvSpPr>
        <p:spPr>
          <a:xfrm>
            <a:off x="640080" y="1463040"/>
            <a:ext cx="10881360" cy="1051560"/>
          </a:xfrm>
          <a:prstGeom prst="roundRect">
            <a:avLst>
              <a:gd name="adj" fmla="val 8696"/>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960120" y="1627632"/>
            <a:ext cx="1463040" cy="365760"/>
          </a:xfrm>
          <a:prstGeom prst="rect">
            <a:avLst/>
          </a:prstGeom>
          <a:noFill/>
          <a:ln/>
        </p:spPr>
        <p:txBody>
          <a:bodyPr wrap="square" lIns="0" tIns="0" rIns="0" bIns="0" rtlCol="0" anchor="ctr"/>
          <a:lstStyle/>
          <a:p>
            <a:pPr marL="0" indent="0">
              <a:buNone/>
            </a:pPr>
            <a:r>
              <a:rPr lang="en-US" sz="1600" b="1" kern="0" spc="150" dirty="0">
                <a:solidFill>
                  <a:srgbClr val="3B2E8F"/>
                </a:solidFill>
                <a:latin typeface="Calibri" pitchFamily="34" charset="0"/>
                <a:ea typeface="Calibri" pitchFamily="34" charset="-122"/>
                <a:cs typeface="Calibri" pitchFamily="34" charset="-120"/>
              </a:rPr>
              <a:t>STATE</a:t>
            </a:r>
            <a:endParaRPr lang="en-US" sz="1600" dirty="0"/>
          </a:p>
        </p:txBody>
      </p:sp>
      <p:sp>
        <p:nvSpPr>
          <p:cNvPr id="6" name="Text 4"/>
          <p:cNvSpPr/>
          <p:nvPr/>
        </p:nvSpPr>
        <p:spPr>
          <a:xfrm>
            <a:off x="2468880" y="1463040"/>
            <a:ext cx="8686800" cy="1051560"/>
          </a:xfrm>
          <a:prstGeom prst="rect">
            <a:avLst/>
          </a:prstGeom>
          <a:noFill/>
          <a:ln/>
        </p:spPr>
        <p:txBody>
          <a:bodyPr wrap="square" lIns="0" tIns="0" rIns="0" bIns="0" rtlCol="0" anchor="ctr"/>
          <a:lstStyle/>
          <a:p>
            <a:pPr marL="0" indent="0">
              <a:buNone/>
            </a:pPr>
            <a:r>
              <a:rPr lang="en-US" sz="1600" dirty="0">
                <a:solidFill>
                  <a:srgbClr val="16163A"/>
                </a:solidFill>
                <a:latin typeface="Calibri" pitchFamily="34" charset="0"/>
                <a:ea typeface="Calibri" pitchFamily="34" charset="-122"/>
                <a:cs typeface="Calibri" pitchFamily="34" charset="-120"/>
              </a:rPr>
              <a:t>one shared dictionary that every node reads from and writes to</a:t>
            </a:r>
            <a:endParaRPr lang="en-US" sz="1600" dirty="0"/>
          </a:p>
        </p:txBody>
      </p:sp>
      <p:sp>
        <p:nvSpPr>
          <p:cNvPr id="7" name="Shape 5"/>
          <p:cNvSpPr/>
          <p:nvPr/>
        </p:nvSpPr>
        <p:spPr>
          <a:xfrm>
            <a:off x="1828800" y="2971800"/>
            <a:ext cx="2377440" cy="960120"/>
          </a:xfrm>
          <a:prstGeom prst="roundRect">
            <a:avLst>
              <a:gd name="adj" fmla="val 9524"/>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8" name="Text 6"/>
          <p:cNvSpPr/>
          <p:nvPr/>
        </p:nvSpPr>
        <p:spPr>
          <a:xfrm>
            <a:off x="1828800" y="2971800"/>
            <a:ext cx="237744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node A</a:t>
            </a:r>
            <a:endParaRPr lang="en-US" sz="1800" dirty="0"/>
          </a:p>
        </p:txBody>
      </p:sp>
      <p:sp>
        <p:nvSpPr>
          <p:cNvPr id="9" name="Shape 7"/>
          <p:cNvSpPr/>
          <p:nvPr/>
        </p:nvSpPr>
        <p:spPr>
          <a:xfrm>
            <a:off x="5486400" y="2971800"/>
            <a:ext cx="2377440" cy="960120"/>
          </a:xfrm>
          <a:prstGeom prst="roundRect">
            <a:avLst>
              <a:gd name="adj" fmla="val 9524"/>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10" name="Text 8"/>
          <p:cNvSpPr/>
          <p:nvPr/>
        </p:nvSpPr>
        <p:spPr>
          <a:xfrm>
            <a:off x="5486400" y="2971800"/>
            <a:ext cx="237744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node B</a:t>
            </a:r>
            <a:endParaRPr lang="en-US" sz="1800" dirty="0"/>
          </a:p>
        </p:txBody>
      </p:sp>
      <p:sp>
        <p:nvSpPr>
          <p:cNvPr id="11" name="Shape 9"/>
          <p:cNvSpPr/>
          <p:nvPr/>
        </p:nvSpPr>
        <p:spPr>
          <a:xfrm>
            <a:off x="9144000" y="2971800"/>
            <a:ext cx="1828800" cy="960120"/>
          </a:xfrm>
          <a:prstGeom prst="roundRect">
            <a:avLst>
              <a:gd name="adj" fmla="val 9524"/>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12" name="Text 10"/>
          <p:cNvSpPr/>
          <p:nvPr/>
        </p:nvSpPr>
        <p:spPr>
          <a:xfrm>
            <a:off x="9144000" y="2971800"/>
            <a:ext cx="1828800" cy="9601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END</a:t>
            </a:r>
            <a:endParaRPr lang="en-US" sz="1600" dirty="0"/>
          </a:p>
        </p:txBody>
      </p:sp>
      <p:sp>
        <p:nvSpPr>
          <p:cNvPr id="13" name="Shape 11"/>
          <p:cNvSpPr/>
          <p:nvPr/>
        </p:nvSpPr>
        <p:spPr>
          <a:xfrm>
            <a:off x="4297680" y="3447288"/>
            <a:ext cx="1097280" cy="0"/>
          </a:xfrm>
          <a:prstGeom prst="line">
            <a:avLst/>
          </a:prstGeom>
          <a:noFill/>
          <a:ln w="28575">
            <a:solidFill>
              <a:srgbClr val="5B4BC4"/>
            </a:solidFill>
            <a:prstDash val="solid"/>
            <a:tailEnd type="triangle"/>
          </a:ln>
        </p:spPr>
      </p:sp>
      <p:sp>
        <p:nvSpPr>
          <p:cNvPr id="14" name="Text 12"/>
          <p:cNvSpPr/>
          <p:nvPr/>
        </p:nvSpPr>
        <p:spPr>
          <a:xfrm>
            <a:off x="4297680" y="3063240"/>
            <a:ext cx="1097280" cy="320040"/>
          </a:xfrm>
          <a:prstGeom prst="rect">
            <a:avLst/>
          </a:prstGeom>
          <a:noFill/>
          <a:ln/>
        </p:spPr>
        <p:txBody>
          <a:bodyPr wrap="square" lIns="0" tIns="0" rIns="0" bIns="0" rtlCol="0" anchor="ctr"/>
          <a:lstStyle/>
          <a:p>
            <a:pPr marL="0" indent="0" algn="ctr">
              <a:buNone/>
            </a:pPr>
            <a:r>
              <a:rPr lang="en-US" sz="1100" b="1" dirty="0">
                <a:solidFill>
                  <a:srgbClr val="5B4BC4"/>
                </a:solidFill>
                <a:latin typeface="Calibri" pitchFamily="34" charset="0"/>
                <a:ea typeface="Calibri" pitchFamily="34" charset="-122"/>
                <a:cs typeface="Calibri" pitchFamily="34" charset="-120"/>
              </a:rPr>
              <a:t>edge</a:t>
            </a:r>
            <a:endParaRPr lang="en-US" sz="1100" dirty="0"/>
          </a:p>
        </p:txBody>
      </p:sp>
      <p:sp>
        <p:nvSpPr>
          <p:cNvPr id="15" name="Shape 13"/>
          <p:cNvSpPr/>
          <p:nvPr/>
        </p:nvSpPr>
        <p:spPr>
          <a:xfrm>
            <a:off x="7955280" y="3447288"/>
            <a:ext cx="1097280" cy="0"/>
          </a:xfrm>
          <a:prstGeom prst="line">
            <a:avLst/>
          </a:prstGeom>
          <a:noFill/>
          <a:ln w="28575">
            <a:solidFill>
              <a:srgbClr val="5B4BC4"/>
            </a:solidFill>
            <a:prstDash val="solid"/>
            <a:tailEnd type="triangle"/>
          </a:ln>
        </p:spPr>
      </p:sp>
      <p:sp>
        <p:nvSpPr>
          <p:cNvPr id="16" name="Text 14"/>
          <p:cNvSpPr/>
          <p:nvPr/>
        </p:nvSpPr>
        <p:spPr>
          <a:xfrm>
            <a:off x="7955280" y="3063240"/>
            <a:ext cx="1097280" cy="320040"/>
          </a:xfrm>
          <a:prstGeom prst="rect">
            <a:avLst/>
          </a:prstGeom>
          <a:noFill/>
          <a:ln/>
        </p:spPr>
        <p:txBody>
          <a:bodyPr wrap="square" lIns="0" tIns="0" rIns="0" bIns="0" rtlCol="0" anchor="ctr"/>
          <a:lstStyle/>
          <a:p>
            <a:pPr marL="0" indent="0" algn="ctr">
              <a:buNone/>
            </a:pPr>
            <a:r>
              <a:rPr lang="en-US" sz="1100" b="1" dirty="0">
                <a:solidFill>
                  <a:srgbClr val="5B4BC4"/>
                </a:solidFill>
                <a:latin typeface="Calibri" pitchFamily="34" charset="0"/>
                <a:ea typeface="Calibri" pitchFamily="34" charset="-122"/>
                <a:cs typeface="Calibri" pitchFamily="34" charset="-120"/>
              </a:rPr>
              <a:t>edge</a:t>
            </a:r>
            <a:endParaRPr lang="en-US" sz="1100" dirty="0"/>
          </a:p>
        </p:txBody>
      </p:sp>
      <p:sp>
        <p:nvSpPr>
          <p:cNvPr id="17" name="Shape 15"/>
          <p:cNvSpPr/>
          <p:nvPr/>
        </p:nvSpPr>
        <p:spPr>
          <a:xfrm>
            <a:off x="822960" y="3447288"/>
            <a:ext cx="914400" cy="0"/>
          </a:xfrm>
          <a:prstGeom prst="line">
            <a:avLst/>
          </a:prstGeom>
          <a:noFill/>
          <a:ln w="28575">
            <a:solidFill>
              <a:srgbClr val="5B4BC4"/>
            </a:solidFill>
            <a:prstDash val="solid"/>
            <a:tailEnd type="triangle"/>
          </a:ln>
        </p:spPr>
      </p:sp>
      <p:sp>
        <p:nvSpPr>
          <p:cNvPr id="18" name="Text 16"/>
          <p:cNvSpPr/>
          <p:nvPr/>
        </p:nvSpPr>
        <p:spPr>
          <a:xfrm>
            <a:off x="502920" y="3063240"/>
            <a:ext cx="1280160" cy="320040"/>
          </a:xfrm>
          <a:prstGeom prst="rect">
            <a:avLst/>
          </a:prstGeom>
          <a:noFill/>
          <a:ln/>
        </p:spPr>
        <p:txBody>
          <a:bodyPr wrap="square" lIns="0" tIns="0" rIns="0" bIns="0" rtlCol="0" anchor="ctr"/>
          <a:lstStyle/>
          <a:p>
            <a:pPr marL="0" indent="0" algn="ctr">
              <a:buNone/>
            </a:pPr>
            <a:r>
              <a:rPr lang="en-US" sz="1300" b="1" dirty="0">
                <a:solidFill>
                  <a:srgbClr val="6B6B8A"/>
                </a:solidFill>
                <a:latin typeface="Calibri" pitchFamily="34" charset="0"/>
                <a:ea typeface="Calibri" pitchFamily="34" charset="-122"/>
                <a:cs typeface="Calibri" pitchFamily="34" charset="-120"/>
              </a:rPr>
              <a:t>START</a:t>
            </a:r>
            <a:endParaRPr lang="en-US" sz="1300" dirty="0"/>
          </a:p>
        </p:txBody>
      </p:sp>
      <p:sp>
        <p:nvSpPr>
          <p:cNvPr id="19" name="Shape 17"/>
          <p:cNvSpPr/>
          <p:nvPr/>
        </p:nvSpPr>
        <p:spPr>
          <a:xfrm>
            <a:off x="640080" y="4343400"/>
            <a:ext cx="5349240" cy="1463040"/>
          </a:xfrm>
          <a:prstGeom prst="roundRect">
            <a:avLst>
              <a:gd name="adj" fmla="val 6250"/>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0" name="Text 18"/>
          <p:cNvSpPr/>
          <p:nvPr/>
        </p:nvSpPr>
        <p:spPr>
          <a:xfrm>
            <a:off x="960120" y="4553712"/>
            <a:ext cx="4754880" cy="365760"/>
          </a:xfrm>
          <a:prstGeom prst="rect">
            <a:avLst/>
          </a:prstGeom>
          <a:noFill/>
          <a:ln/>
        </p:spPr>
        <p:txBody>
          <a:bodyPr wrap="square" lIns="0" tIns="0" rIns="0" bIns="0" rtlCol="0" anchor="ctr"/>
          <a:lstStyle/>
          <a:p>
            <a:pPr marL="0" indent="0">
              <a:buNone/>
            </a:pPr>
            <a:r>
              <a:rPr lang="en-US" sz="1600" b="1" dirty="0">
                <a:solidFill>
                  <a:srgbClr val="3B2E8F"/>
                </a:solidFill>
                <a:latin typeface="Calibri" pitchFamily="34" charset="0"/>
                <a:ea typeface="Calibri" pitchFamily="34" charset="-122"/>
                <a:cs typeface="Calibri" pitchFamily="34" charset="-120"/>
              </a:rPr>
              <a:t>NODES  ·  do the work</a:t>
            </a:r>
            <a:endParaRPr lang="en-US" sz="1600" dirty="0"/>
          </a:p>
        </p:txBody>
      </p:sp>
      <p:sp>
        <p:nvSpPr>
          <p:cNvPr id="21" name="Text 19"/>
          <p:cNvSpPr/>
          <p:nvPr/>
        </p:nvSpPr>
        <p:spPr>
          <a:xfrm>
            <a:off x="960120" y="4956048"/>
            <a:ext cx="4754880" cy="6858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plain Python functions: take the state, return what changed</a:t>
            </a:r>
            <a:endParaRPr lang="en-US" sz="1400" dirty="0"/>
          </a:p>
        </p:txBody>
      </p:sp>
      <p:sp>
        <p:nvSpPr>
          <p:cNvPr id="22" name="Shape 20"/>
          <p:cNvSpPr/>
          <p:nvPr/>
        </p:nvSpPr>
        <p:spPr>
          <a:xfrm>
            <a:off x="6172200" y="4343400"/>
            <a:ext cx="5349240" cy="1463040"/>
          </a:xfrm>
          <a:prstGeom prst="roundRect">
            <a:avLst>
              <a:gd name="adj" fmla="val 6250"/>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23" name="Text 21"/>
          <p:cNvSpPr/>
          <p:nvPr/>
        </p:nvSpPr>
        <p:spPr>
          <a:xfrm>
            <a:off x="6492240" y="4553712"/>
            <a:ext cx="4754880" cy="365760"/>
          </a:xfrm>
          <a:prstGeom prst="rect">
            <a:avLst/>
          </a:prstGeom>
          <a:noFill/>
          <a:ln/>
        </p:spPr>
        <p:txBody>
          <a:bodyPr wrap="square" lIns="0" tIns="0" rIns="0" bIns="0" rtlCol="0" anchor="ctr"/>
          <a:lstStyle/>
          <a:p>
            <a:pPr marL="0" indent="0">
              <a:buNone/>
            </a:pPr>
            <a:r>
              <a:rPr lang="en-US" sz="1600" b="1" dirty="0">
                <a:solidFill>
                  <a:srgbClr val="FF9F1C"/>
                </a:solidFill>
                <a:latin typeface="Calibri" pitchFamily="34" charset="0"/>
                <a:ea typeface="Calibri" pitchFamily="34" charset="-122"/>
                <a:cs typeface="Calibri" pitchFamily="34" charset="-120"/>
              </a:rPr>
              <a:t>EDGES  ·  say what runs next</a:t>
            </a:r>
            <a:endParaRPr lang="en-US" sz="1600" dirty="0"/>
          </a:p>
        </p:txBody>
      </p:sp>
      <p:sp>
        <p:nvSpPr>
          <p:cNvPr id="24" name="Text 22"/>
          <p:cNvSpPr/>
          <p:nvPr/>
        </p:nvSpPr>
        <p:spPr>
          <a:xfrm>
            <a:off x="6492240" y="4956048"/>
            <a:ext cx="4754880" cy="6858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fixed, or chosen at runtime by a small router function</a:t>
            </a:r>
            <a:endParaRPr lang="en-US" sz="1400" dirty="0"/>
          </a:p>
        </p:txBody>
      </p:sp>
      <p:sp>
        <p:nvSpPr>
          <p:cNvPr id="25" name="Text 23"/>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From the docs, and worth memorising: “nodes do the work, edges tell what to do next.”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STATE</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State is the memory of the run</a:t>
            </a:r>
            <a:endParaRPr lang="en-US" sz="3200" dirty="0"/>
          </a:p>
        </p:txBody>
      </p:sp>
      <p:sp>
        <p:nvSpPr>
          <p:cNvPr id="4" name="Shape 2"/>
          <p:cNvSpPr/>
          <p:nvPr/>
        </p:nvSpPr>
        <p:spPr>
          <a:xfrm>
            <a:off x="640080" y="1508760"/>
            <a:ext cx="5943600" cy="3063240"/>
          </a:xfrm>
          <a:prstGeom prst="roundRect">
            <a:avLst>
              <a:gd name="adj" fmla="val 2388"/>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841248" y="1655064"/>
            <a:ext cx="5541264" cy="2770632"/>
          </a:xfrm>
          <a:prstGeom prst="rect">
            <a:avLst/>
          </a:prstGeom>
          <a:noFill/>
          <a:ln/>
        </p:spPr>
        <p:txBody>
          <a:bodyPr wrap="square" lIns="0" tIns="0" rIns="0" bIns="0" rtlCol="0" anchor="t"/>
          <a:lstStyle/>
          <a:p>
            <a:pPr marL="0" indent="0">
              <a:lnSpc>
                <a:spcPts val="2248"/>
              </a:lnSpc>
              <a:buNone/>
            </a:pPr>
            <a:r>
              <a:rPr lang="en-US" sz="1450" dirty="0">
                <a:solidFill>
                  <a:srgbClr val="9E99CC"/>
                </a:solidFill>
                <a:latin typeface="Courier New" pitchFamily="34" charset="0"/>
                <a:ea typeface="Courier New" pitchFamily="34" charset="-122"/>
                <a:cs typeface="Courier New" pitchFamily="34" charset="-120"/>
              </a:rPr>
              <a:t>from typing import Annotated, TypedDict</a:t>
            </a:r>
            <a:endParaRPr lang="en-US" sz="1450" dirty="0"/>
          </a:p>
          <a:p>
            <a:pPr marL="0" indent="0">
              <a:lnSpc>
                <a:spcPts val="2248"/>
              </a:lnSpc>
              <a:buNone/>
            </a:pPr>
            <a:r>
              <a:rPr lang="en-US" sz="1450" dirty="0">
                <a:solidFill>
                  <a:srgbClr val="9E99CC"/>
                </a:solidFill>
                <a:latin typeface="Courier New" pitchFamily="34" charset="0"/>
                <a:ea typeface="Courier New" pitchFamily="34" charset="-122"/>
                <a:cs typeface="Courier New" pitchFamily="34" charset="-120"/>
              </a:rPr>
              <a:t>from operator import add</a:t>
            </a:r>
            <a:endParaRPr lang="en-US" sz="1450" dirty="0"/>
          </a:p>
          <a:p>
            <a:pPr marL="0" indent="0">
              <a:lnSpc>
                <a:spcPts val="2248"/>
              </a:lnSpc>
              <a:buNone/>
            </a:pPr>
            <a:endParaRPr lang="en-US" sz="1450" dirty="0"/>
          </a:p>
          <a:p>
            <a:pPr marL="0" indent="0">
              <a:lnSpc>
                <a:spcPts val="2248"/>
              </a:lnSpc>
              <a:buNone/>
            </a:pPr>
            <a:r>
              <a:rPr lang="en-US" sz="1450" dirty="0">
                <a:solidFill>
                  <a:srgbClr val="FFB86C"/>
                </a:solidFill>
                <a:latin typeface="Courier New" pitchFamily="34" charset="0"/>
                <a:ea typeface="Courier New" pitchFamily="34" charset="-122"/>
                <a:cs typeface="Courier New" pitchFamily="34" charset="-120"/>
              </a:rPr>
              <a:t>class State(TypedDict):</a:t>
            </a:r>
            <a:endParaRPr lang="en-US" sz="1450" dirty="0"/>
          </a:p>
          <a:p>
            <a:pPr marL="0" indent="0">
              <a:lnSpc>
                <a:spcPts val="2248"/>
              </a:lnSpc>
              <a:buNone/>
            </a:pPr>
            <a:r>
              <a:rPr lang="en-US" sz="1450" dirty="0">
                <a:solidFill>
                  <a:srgbClr val="E6E3FA"/>
                </a:solidFill>
                <a:latin typeface="Courier New" pitchFamily="34" charset="0"/>
                <a:ea typeface="Courier New" pitchFamily="34" charset="-122"/>
                <a:cs typeface="Courier New" pitchFamily="34" charset="-120"/>
              </a:rPr>
              <a:t>    topic:    str</a:t>
            </a:r>
            <a:endParaRPr lang="en-US" sz="1450" dirty="0"/>
          </a:p>
          <a:p>
            <a:pPr marL="0" indent="0">
              <a:lnSpc>
                <a:spcPts val="2248"/>
              </a:lnSpc>
              <a:buNone/>
            </a:pPr>
            <a:r>
              <a:rPr lang="en-US" sz="1450" dirty="0">
                <a:solidFill>
                  <a:srgbClr val="E6E3FA"/>
                </a:solidFill>
                <a:latin typeface="Courier New" pitchFamily="34" charset="0"/>
                <a:ea typeface="Courier New" pitchFamily="34" charset="-122"/>
                <a:cs typeface="Courier New" pitchFamily="34" charset="-120"/>
              </a:rPr>
              <a:t>    draft:    str</a:t>
            </a:r>
            <a:endParaRPr lang="en-US" sz="1450" dirty="0"/>
          </a:p>
          <a:p>
            <a:pPr marL="0" indent="0">
              <a:lnSpc>
                <a:spcPts val="2248"/>
              </a:lnSpc>
              <a:buNone/>
            </a:pPr>
            <a:r>
              <a:rPr lang="en-US" sz="1450" dirty="0">
                <a:solidFill>
                  <a:srgbClr val="E6E3FA"/>
                </a:solidFill>
                <a:latin typeface="Courier New" pitchFamily="34" charset="0"/>
                <a:ea typeface="Courier New" pitchFamily="34" charset="-122"/>
                <a:cs typeface="Courier New" pitchFamily="34" charset="-120"/>
              </a:rPr>
              <a:t>    attempts: int</a:t>
            </a:r>
            <a:endParaRPr lang="en-US" sz="1450" dirty="0"/>
          </a:p>
          <a:p>
            <a:pPr marL="0" indent="0">
              <a:lnSpc>
                <a:spcPts val="2248"/>
              </a:lnSpc>
              <a:buNone/>
            </a:pPr>
            <a:r>
              <a:rPr lang="en-US" sz="1450" dirty="0">
                <a:solidFill>
                  <a:srgbClr val="9AE6B4"/>
                </a:solidFill>
                <a:latin typeface="Courier New" pitchFamily="34" charset="0"/>
                <a:ea typeface="Courier New" pitchFamily="34" charset="-122"/>
                <a:cs typeface="Courier New" pitchFamily="34" charset="-120"/>
              </a:rPr>
              <a:t>    log: Annotated[list[str], add]</a:t>
            </a:r>
            <a:endParaRPr lang="en-US" sz="1450" dirty="0"/>
          </a:p>
        </p:txBody>
      </p:sp>
      <p:sp>
        <p:nvSpPr>
          <p:cNvPr id="6" name="Text 4"/>
          <p:cNvSpPr/>
          <p:nvPr/>
        </p:nvSpPr>
        <p:spPr>
          <a:xfrm>
            <a:off x="6949440" y="1600200"/>
            <a:ext cx="4572000" cy="3108960"/>
          </a:xfrm>
          <a:prstGeom prst="rect">
            <a:avLst/>
          </a:prstGeom>
          <a:noFill/>
          <a:ln/>
        </p:spPr>
        <p:txBody>
          <a:bodyPr wrap="square" lIns="0" tIns="0" rIns="0" bIns="0" rtlCol="0" anchor="t"/>
          <a:lstStyle/>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TypedDict — nothing exotic, just a declared shape.</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Every node reads it. Every node writes to it.</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A node returns only the keys it changed, not the whole thing.</a:t>
            </a:r>
            <a:endParaRPr lang="en-US" sz="1550" dirty="0"/>
          </a:p>
          <a:p>
            <a:pPr marL="342900" indent="-342900">
              <a:lnSpc>
                <a:spcPts val="2093"/>
              </a:lnSpc>
              <a:spcAft>
                <a:spcPts val="1000"/>
              </a:spcAft>
              <a:buSzPct val="100000"/>
              <a:buChar char="•"/>
            </a:pPr>
            <a:r>
              <a:rPr lang="en-US" sz="1550" dirty="0">
                <a:solidFill>
                  <a:srgbClr val="16163A"/>
                </a:solidFill>
                <a:latin typeface="Calibri" pitchFamily="34" charset="0"/>
                <a:ea typeface="Calibri" pitchFamily="34" charset="-122"/>
                <a:cs typeface="Calibri" pitchFamily="34" charset="-120"/>
              </a:rPr>
              <a:t>The green line is a reducer. Next slide.</a:t>
            </a:r>
            <a:endParaRPr lang="en-US" sz="1550" dirty="0"/>
          </a:p>
        </p:txBody>
      </p:sp>
      <p:sp>
        <p:nvSpPr>
          <p:cNvPr id="7" name="Shape 5"/>
          <p:cNvSpPr/>
          <p:nvPr/>
        </p:nvSpPr>
        <p:spPr>
          <a:xfrm>
            <a:off x="640080" y="4892040"/>
            <a:ext cx="10881360" cy="1371600"/>
          </a:xfrm>
          <a:prstGeom prst="roundRect">
            <a:avLst>
              <a:gd name="adj" fmla="val 6667"/>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8" name="Text 6"/>
          <p:cNvSpPr/>
          <p:nvPr/>
        </p:nvSpPr>
        <p:spPr>
          <a:xfrm>
            <a:off x="1005840" y="5029200"/>
            <a:ext cx="10149840" cy="365760"/>
          </a:xfrm>
          <a:prstGeom prst="rect">
            <a:avLst/>
          </a:prstGeom>
          <a:noFill/>
          <a:ln/>
        </p:spPr>
        <p:txBody>
          <a:bodyPr wrap="square" lIns="0" tIns="0" rIns="0" bIns="0" rtlCol="0" anchor="ctr"/>
          <a:lstStyle/>
          <a:p>
            <a:pPr marL="0" indent="0">
              <a:buNone/>
            </a:pPr>
            <a:r>
              <a:rPr lang="en-US" sz="1700" b="1" dirty="0">
                <a:solidFill>
                  <a:srgbClr val="3B2E8F"/>
                </a:solidFill>
                <a:latin typeface="Calibri" pitchFamily="34" charset="0"/>
                <a:ea typeface="Calibri" pitchFamily="34" charset="-122"/>
                <a:cs typeface="Calibri" pitchFamily="34" charset="-120"/>
              </a:rPr>
              <a:t>Why declare the shape at all?</a:t>
            </a:r>
            <a:endParaRPr lang="en-US" sz="1700" dirty="0"/>
          </a:p>
        </p:txBody>
      </p:sp>
      <p:sp>
        <p:nvSpPr>
          <p:cNvPr id="9" name="Text 7"/>
          <p:cNvSpPr/>
          <p:nvPr/>
        </p:nvSpPr>
        <p:spPr>
          <a:xfrm>
            <a:off x="1005840" y="5413248"/>
            <a:ext cx="10149840" cy="731520"/>
          </a:xfrm>
          <a:prstGeom prst="rect">
            <a:avLst/>
          </a:prstGeom>
          <a:noFill/>
          <a:ln/>
        </p:spPr>
        <p:txBody>
          <a:bodyPr wrap="square" lIns="0" tIns="0" rIns="0" bIns="0" rtlCol="0" anchor="t"/>
          <a:lstStyle/>
          <a:p>
            <a:pPr marL="0" indent="0">
              <a:lnSpc>
                <a:spcPts val="2100"/>
              </a:lnSpc>
              <a:buNone/>
            </a:pPr>
            <a:r>
              <a:rPr lang="en-US" sz="1500" dirty="0">
                <a:solidFill>
                  <a:srgbClr val="16163A"/>
                </a:solidFill>
                <a:latin typeface="Calibri" pitchFamily="34" charset="0"/>
                <a:ea typeface="Calibri" pitchFamily="34" charset="-122"/>
                <a:cs typeface="Calibri" pitchFamily="34" charset="-120"/>
              </a:rPr>
              <a:t>Because the graph is assembled from independent pieces. The schema is the contract between them — it is how you know a node written last month still fits.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REDUCERS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The one thing everybody gets wrong</a:t>
            </a:r>
            <a:endParaRPr lang="en-US" sz="3200" dirty="0"/>
          </a:p>
        </p:txBody>
      </p:sp>
      <p:sp>
        <p:nvSpPr>
          <p:cNvPr id="4" name="Shape 2"/>
          <p:cNvSpPr/>
          <p:nvPr/>
        </p:nvSpPr>
        <p:spPr>
          <a:xfrm>
            <a:off x="640080" y="1508760"/>
            <a:ext cx="5257800" cy="2651760"/>
          </a:xfrm>
          <a:prstGeom prst="roundRect">
            <a:avLst>
              <a:gd name="adj" fmla="val 3448"/>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Text 3"/>
          <p:cNvSpPr/>
          <p:nvPr/>
        </p:nvSpPr>
        <p:spPr>
          <a:xfrm>
            <a:off x="960120" y="1691640"/>
            <a:ext cx="4663440" cy="365760"/>
          </a:xfrm>
          <a:prstGeom prst="rect">
            <a:avLst/>
          </a:prstGeom>
          <a:noFill/>
          <a:ln/>
        </p:spPr>
        <p:txBody>
          <a:bodyPr wrap="square" lIns="0" tIns="0" rIns="0" bIns="0" rtlCol="0" anchor="ctr"/>
          <a:lstStyle/>
          <a:p>
            <a:pPr marL="0" indent="0">
              <a:buNone/>
            </a:pPr>
            <a:r>
              <a:rPr lang="en-US" sz="1900" b="1" dirty="0">
                <a:solidFill>
                  <a:srgbClr val="6B6B8A"/>
                </a:solidFill>
                <a:latin typeface="Calibri" pitchFamily="34" charset="0"/>
                <a:ea typeface="Calibri" pitchFamily="34" charset="-122"/>
                <a:cs typeface="Calibri" pitchFamily="34" charset="-120"/>
              </a:rPr>
              <a:t>Default: overwrite</a:t>
            </a:r>
            <a:endParaRPr lang="en-US" sz="1900" dirty="0"/>
          </a:p>
        </p:txBody>
      </p:sp>
      <p:sp>
        <p:nvSpPr>
          <p:cNvPr id="6" name="Text 4"/>
          <p:cNvSpPr/>
          <p:nvPr/>
        </p:nvSpPr>
        <p:spPr>
          <a:xfrm>
            <a:off x="960120" y="2194560"/>
            <a:ext cx="4663440" cy="1280160"/>
          </a:xfrm>
          <a:prstGeom prst="rect">
            <a:avLst/>
          </a:prstGeom>
          <a:solidFill>
            <a:srgbClr val="16163A"/>
          </a:solidFill>
          <a:ln/>
        </p:spPr>
        <p:txBody>
          <a:bodyPr wrap="square" lIns="0" tIns="0" rIns="0" bIns="0" rtlCol="0" anchor="t"/>
          <a:lstStyle/>
          <a:p>
            <a:pPr marL="0" indent="0">
              <a:lnSpc>
                <a:spcPts val="2400"/>
              </a:lnSpc>
              <a:buNone/>
            </a:pPr>
            <a:r>
              <a:rPr lang="en-US" sz="1400" dirty="0">
                <a:solidFill>
                  <a:srgbClr val="E6E3FA"/>
                </a:solidFill>
                <a:latin typeface="Courier New" pitchFamily="34" charset="0"/>
                <a:ea typeface="Courier New" pitchFamily="34" charset="-122"/>
                <a:cs typeface="Courier New" pitchFamily="34" charset="-120"/>
              </a:rPr>
              <a:t>return {"attempts": 1}</a:t>
            </a:r>
            <a:endParaRPr lang="en-US" sz="1400" dirty="0"/>
          </a:p>
          <a:p>
            <a:pPr marL="0" indent="0">
              <a:lnSpc>
                <a:spcPts val="2400"/>
              </a:lnSpc>
              <a:buNone/>
            </a:pPr>
            <a:r>
              <a:rPr lang="en-US" sz="1400" dirty="0">
                <a:solidFill>
                  <a:srgbClr val="E6E3FA"/>
                </a:solidFill>
                <a:latin typeface="Courier New" pitchFamily="34" charset="0"/>
                <a:ea typeface="Courier New" pitchFamily="34" charset="-122"/>
                <a:cs typeface="Courier New" pitchFamily="34" charset="-120"/>
              </a:rPr>
              <a:t>return {"attempts": 2}</a:t>
            </a:r>
            <a:endParaRPr lang="en-US" sz="1400" dirty="0"/>
          </a:p>
          <a:p>
            <a:pPr marL="0" indent="0">
              <a:lnSpc>
                <a:spcPts val="2400"/>
              </a:lnSpc>
              <a:buNone/>
            </a:pPr>
            <a:endParaRPr lang="en-US" sz="1400" dirty="0"/>
          </a:p>
          <a:p>
            <a:pPr marL="0" indent="0">
              <a:lnSpc>
                <a:spcPts val="2400"/>
              </a:lnSpc>
              <a:buNone/>
            </a:pPr>
            <a:r>
              <a:rPr lang="en-US" sz="1400" b="1" dirty="0">
                <a:solidFill>
                  <a:srgbClr val="FFB86C"/>
                </a:solidFill>
                <a:latin typeface="Courier New" pitchFamily="34" charset="0"/>
                <a:ea typeface="Courier New" pitchFamily="34" charset="-122"/>
                <a:cs typeface="Courier New" pitchFamily="34" charset="-120"/>
              </a:rPr>
              <a:t>state["attempts"]  -&gt;  2</a:t>
            </a:r>
            <a:endParaRPr lang="en-US" sz="1400" dirty="0"/>
          </a:p>
        </p:txBody>
      </p:sp>
      <p:sp>
        <p:nvSpPr>
          <p:cNvPr id="7" name="Text 5"/>
          <p:cNvSpPr/>
          <p:nvPr/>
        </p:nvSpPr>
        <p:spPr>
          <a:xfrm>
            <a:off x="960120" y="3611880"/>
            <a:ext cx="4663440" cy="411480"/>
          </a:xfrm>
          <a:prstGeom prst="rect">
            <a:avLst/>
          </a:prstGeom>
          <a:noFill/>
          <a:ln/>
        </p:spPr>
        <p:txBody>
          <a:bodyPr wrap="square" lIns="0" tIns="0" rIns="0" bIns="0" rtlCol="0" anchor="t"/>
          <a:lstStyle/>
          <a:p>
            <a:pPr marL="0" indent="0">
              <a:buNone/>
            </a:pPr>
            <a:r>
              <a:rPr lang="en-US" sz="1400" dirty="0">
                <a:solidFill>
                  <a:srgbClr val="6B6B8A"/>
                </a:solidFill>
                <a:latin typeface="Calibri" pitchFamily="34" charset="0"/>
                <a:ea typeface="Calibri" pitchFamily="34" charset="-122"/>
                <a:cs typeface="Calibri" pitchFamily="34" charset="-120"/>
              </a:rPr>
              <a:t>The new value replaces the old one. Usually what you want.</a:t>
            </a:r>
            <a:endParaRPr lang="en-US" sz="1400" dirty="0"/>
          </a:p>
        </p:txBody>
      </p:sp>
      <p:sp>
        <p:nvSpPr>
          <p:cNvPr id="8" name="Shape 6"/>
          <p:cNvSpPr/>
          <p:nvPr/>
        </p:nvSpPr>
        <p:spPr>
          <a:xfrm>
            <a:off x="6263640" y="1508760"/>
            <a:ext cx="5257800" cy="2651760"/>
          </a:xfrm>
          <a:prstGeom prst="roundRect">
            <a:avLst>
              <a:gd name="adj" fmla="val 3448"/>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6583680" y="1691640"/>
            <a:ext cx="4663440" cy="365760"/>
          </a:xfrm>
          <a:prstGeom prst="rect">
            <a:avLst/>
          </a:prstGeom>
          <a:noFill/>
          <a:ln/>
        </p:spPr>
        <p:txBody>
          <a:bodyPr wrap="square" lIns="0" tIns="0" rIns="0" bIns="0" rtlCol="0" anchor="ctr"/>
          <a:lstStyle/>
          <a:p>
            <a:pPr marL="0" indent="0">
              <a:buNone/>
            </a:pPr>
            <a:r>
              <a:rPr lang="en-US" sz="1900" b="1" dirty="0">
                <a:solidFill>
                  <a:srgbClr val="3B2E8F"/>
                </a:solidFill>
                <a:latin typeface="Calibri" pitchFamily="34" charset="0"/>
                <a:ea typeface="Calibri" pitchFamily="34" charset="-122"/>
                <a:cs typeface="Calibri" pitchFamily="34" charset="-120"/>
              </a:rPr>
              <a:t>With a reducer: combine</a:t>
            </a:r>
            <a:endParaRPr lang="en-US" sz="1900" dirty="0"/>
          </a:p>
        </p:txBody>
      </p:sp>
      <p:sp>
        <p:nvSpPr>
          <p:cNvPr id="10" name="Text 8"/>
          <p:cNvSpPr/>
          <p:nvPr/>
        </p:nvSpPr>
        <p:spPr>
          <a:xfrm>
            <a:off x="6583680" y="2194560"/>
            <a:ext cx="4663440" cy="1280160"/>
          </a:xfrm>
          <a:prstGeom prst="rect">
            <a:avLst/>
          </a:prstGeom>
          <a:solidFill>
            <a:srgbClr val="16163A"/>
          </a:solidFill>
          <a:ln/>
        </p:spPr>
        <p:txBody>
          <a:bodyPr wrap="square" lIns="0" tIns="0" rIns="0" bIns="0" rtlCol="0" anchor="t"/>
          <a:lstStyle/>
          <a:p>
            <a:pPr marL="0" indent="0">
              <a:lnSpc>
                <a:spcPts val="2400"/>
              </a:lnSpc>
              <a:buNone/>
            </a:pPr>
            <a:r>
              <a:rPr lang="en-US" sz="1400" dirty="0">
                <a:solidFill>
                  <a:srgbClr val="E6E3FA"/>
                </a:solidFill>
                <a:latin typeface="Courier New" pitchFamily="34" charset="0"/>
                <a:ea typeface="Courier New" pitchFamily="34" charset="-122"/>
                <a:cs typeface="Courier New" pitchFamily="34" charset="-120"/>
              </a:rPr>
              <a:t>return {"log": ["a"]}</a:t>
            </a:r>
            <a:endParaRPr lang="en-US" sz="1400" dirty="0"/>
          </a:p>
          <a:p>
            <a:pPr marL="0" indent="0">
              <a:lnSpc>
                <a:spcPts val="2400"/>
              </a:lnSpc>
              <a:buNone/>
            </a:pPr>
            <a:r>
              <a:rPr lang="en-US" sz="1400" dirty="0">
                <a:solidFill>
                  <a:srgbClr val="E6E3FA"/>
                </a:solidFill>
                <a:latin typeface="Courier New" pitchFamily="34" charset="0"/>
                <a:ea typeface="Courier New" pitchFamily="34" charset="-122"/>
                <a:cs typeface="Courier New" pitchFamily="34" charset="-120"/>
              </a:rPr>
              <a:t>return {"log": ["b"]}</a:t>
            </a:r>
            <a:endParaRPr lang="en-US" sz="1400" dirty="0"/>
          </a:p>
          <a:p>
            <a:pPr marL="0" indent="0">
              <a:lnSpc>
                <a:spcPts val="2400"/>
              </a:lnSpc>
              <a:buNone/>
            </a:pPr>
            <a:endParaRPr lang="en-US" sz="1400" dirty="0"/>
          </a:p>
          <a:p>
            <a:pPr marL="0" indent="0">
              <a:lnSpc>
                <a:spcPts val="2400"/>
              </a:lnSpc>
              <a:buNone/>
            </a:pPr>
            <a:r>
              <a:rPr lang="en-US" sz="1400" b="1" dirty="0">
                <a:solidFill>
                  <a:srgbClr val="9AE6B4"/>
                </a:solidFill>
                <a:latin typeface="Courier New" pitchFamily="34" charset="0"/>
                <a:ea typeface="Courier New" pitchFamily="34" charset="-122"/>
                <a:cs typeface="Courier New" pitchFamily="34" charset="-120"/>
              </a:rPr>
              <a:t>state["log"]  -&gt;  ["a", "b"]</a:t>
            </a:r>
            <a:endParaRPr lang="en-US" sz="1400" dirty="0"/>
          </a:p>
        </p:txBody>
      </p:sp>
      <p:sp>
        <p:nvSpPr>
          <p:cNvPr id="11" name="Text 9"/>
          <p:cNvSpPr/>
          <p:nvPr/>
        </p:nvSpPr>
        <p:spPr>
          <a:xfrm>
            <a:off x="6583680" y="3611880"/>
            <a:ext cx="4663440" cy="411480"/>
          </a:xfrm>
          <a:prstGeom prst="rect">
            <a:avLst/>
          </a:prstGeom>
          <a:noFill/>
          <a:ln/>
        </p:spPr>
        <p:txBody>
          <a:bodyPr wrap="square" lIns="0" tIns="0" rIns="0" bIns="0" rtlCol="0" anchor="t"/>
          <a:lstStyle/>
          <a:p>
            <a:pPr marL="0" indent="0">
              <a:buNone/>
            </a:pPr>
            <a:r>
              <a:rPr lang="en-US" sz="1400" b="1" dirty="0">
                <a:solidFill>
                  <a:srgbClr val="3B2E8F"/>
                </a:solidFill>
                <a:latin typeface="Calibri" pitchFamily="34" charset="0"/>
                <a:ea typeface="Calibri" pitchFamily="34" charset="-122"/>
                <a:cs typeface="Calibri" pitchFamily="34" charset="-120"/>
              </a:rPr>
              <a:t>Annotated[list[str], add] means “append, don't replace”.</a:t>
            </a:r>
            <a:endParaRPr lang="en-US" sz="1400" dirty="0"/>
          </a:p>
        </p:txBody>
      </p:sp>
      <p:sp>
        <p:nvSpPr>
          <p:cNvPr id="12" name="Shape 10"/>
          <p:cNvSpPr/>
          <p:nvPr/>
        </p:nvSpPr>
        <p:spPr>
          <a:xfrm>
            <a:off x="640080" y="4480560"/>
            <a:ext cx="10881360" cy="1783080"/>
          </a:xfrm>
          <a:prstGeom prst="roundRect">
            <a:avLst>
              <a:gd name="adj" fmla="val 5128"/>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13" name="Text 11"/>
          <p:cNvSpPr/>
          <p:nvPr/>
        </p:nvSpPr>
        <p:spPr>
          <a:xfrm>
            <a:off x="1005840" y="4663440"/>
            <a:ext cx="10149840" cy="4114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 reducer takes the old value and the new one, and returns the combination.</a:t>
            </a:r>
            <a:endParaRPr lang="en-US" sz="1800" dirty="0"/>
          </a:p>
        </p:txBody>
      </p:sp>
      <p:sp>
        <p:nvSpPr>
          <p:cNvPr id="14" name="Text 12"/>
          <p:cNvSpPr/>
          <p:nvPr/>
        </p:nvSpPr>
        <p:spPr>
          <a:xfrm>
            <a:off x="1005840" y="5120640"/>
            <a:ext cx="10149840" cy="1005840"/>
          </a:xfrm>
          <a:prstGeom prst="rect">
            <a:avLst/>
          </a:prstGeom>
          <a:noFill/>
          <a:ln/>
        </p:spPr>
        <p:txBody>
          <a:bodyPr wrap="square" lIns="0" tIns="0" rIns="0" bIns="0" rtlCol="0" anchor="t"/>
          <a:lstStyle/>
          <a:p>
            <a:pPr marL="0" indent="0">
              <a:lnSpc>
                <a:spcPts val="2200"/>
              </a:lnSpc>
              <a:buNone/>
            </a:pPr>
            <a:r>
              <a:rPr lang="en-US" sz="1500" dirty="0">
                <a:solidFill>
                  <a:srgbClr val="C9C4EE"/>
                </a:solidFill>
                <a:latin typeface="Calibri" pitchFamily="34" charset="0"/>
                <a:ea typeface="Calibri" pitchFamily="34" charset="-122"/>
                <a:cs typeface="Calibri" pitchFamily="34" charset="-120"/>
              </a:rPr>
              <a:t>That is the whole idea — operator.add on a list is just concatenation. If your chat history keeps getting wiped, or your list of steps only ever has one entry in it, this slide is the reason why.</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NODES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A node is a function. That is the whole definition.</a:t>
            </a:r>
            <a:endParaRPr lang="en-US" sz="3200" dirty="0"/>
          </a:p>
        </p:txBody>
      </p:sp>
      <p:sp>
        <p:nvSpPr>
          <p:cNvPr id="4" name="Text 2"/>
          <p:cNvSpPr/>
          <p:nvPr/>
        </p:nvSpPr>
        <p:spPr>
          <a:xfrm>
            <a:off x="640080" y="1463040"/>
            <a:ext cx="5394960" cy="365760"/>
          </a:xfrm>
          <a:prstGeom prst="rect">
            <a:avLst/>
          </a:prstGeom>
          <a:noFill/>
          <a:ln/>
        </p:spPr>
        <p:txBody>
          <a:bodyPr wrap="square" lIns="0" tIns="0" rIns="0" bIns="0" rtlCol="0" anchor="ctr"/>
          <a:lstStyle/>
          <a:p>
            <a:pPr marL="0" indent="0">
              <a:buNone/>
            </a:pPr>
            <a:r>
              <a:rPr lang="en-US" sz="1700" b="1" dirty="0">
                <a:solidFill>
                  <a:srgbClr val="3B2E8F"/>
                </a:solidFill>
                <a:latin typeface="Calibri" pitchFamily="34" charset="0"/>
                <a:ea typeface="Calibri" pitchFamily="34" charset="-122"/>
                <a:cs typeface="Calibri" pitchFamily="34" charset="-120"/>
              </a:rPr>
              <a:t>Some nodes call a model</a:t>
            </a:r>
            <a:endParaRPr lang="en-US" sz="1700" dirty="0"/>
          </a:p>
        </p:txBody>
      </p:sp>
      <p:sp>
        <p:nvSpPr>
          <p:cNvPr id="5" name="Shape 3"/>
          <p:cNvSpPr/>
          <p:nvPr/>
        </p:nvSpPr>
        <p:spPr>
          <a:xfrm>
            <a:off x="640080" y="1874520"/>
            <a:ext cx="5394960" cy="1965960"/>
          </a:xfrm>
          <a:prstGeom prst="roundRect">
            <a:avLst>
              <a:gd name="adj" fmla="val 3721"/>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6" name="Text 4"/>
          <p:cNvSpPr/>
          <p:nvPr/>
        </p:nvSpPr>
        <p:spPr>
          <a:xfrm>
            <a:off x="841248" y="2020824"/>
            <a:ext cx="4992624" cy="1673352"/>
          </a:xfrm>
          <a:prstGeom prst="rect">
            <a:avLst/>
          </a:prstGeom>
          <a:noFill/>
          <a:ln/>
        </p:spPr>
        <p:txBody>
          <a:bodyPr wrap="square" lIns="0" tIns="0" rIns="0" bIns="0" rtlCol="0" anchor="t"/>
          <a:lstStyle/>
          <a:p>
            <a:pPr marL="0" indent="0">
              <a:lnSpc>
                <a:spcPts val="2093"/>
              </a:lnSpc>
              <a:buNone/>
            </a:pPr>
            <a:r>
              <a:rPr lang="en-US" sz="1350" dirty="0">
                <a:solidFill>
                  <a:srgbClr val="FFB86C"/>
                </a:solidFill>
                <a:latin typeface="Courier New" pitchFamily="34" charset="0"/>
                <a:ea typeface="Courier New" pitchFamily="34" charset="-122"/>
                <a:cs typeface="Courier New" pitchFamily="34" charset="-120"/>
              </a:rPr>
              <a:t>def write(state: State) -&gt; dict:</a:t>
            </a:r>
            <a:endParaRPr lang="en-US" sz="1350" dirty="0"/>
          </a:p>
          <a:p>
            <a:pPr marL="0" indent="0">
              <a:lnSpc>
                <a:spcPts val="2093"/>
              </a:lnSpc>
              <a:buNone/>
            </a:pPr>
            <a:r>
              <a:rPr lang="en-US" sz="1350" dirty="0">
                <a:solidFill>
                  <a:srgbClr val="E6E3FA"/>
                </a:solidFill>
                <a:latin typeface="Courier New" pitchFamily="34" charset="0"/>
                <a:ea typeface="Courier New" pitchFamily="34" charset="-122"/>
                <a:cs typeface="Courier New" pitchFamily="34" charset="-120"/>
              </a:rPr>
              <a:t>    reply = llm.invoke(</a:t>
            </a:r>
            <a:endParaRPr lang="en-US" sz="1350" dirty="0"/>
          </a:p>
          <a:p>
            <a:pPr marL="0" indent="0">
              <a:lnSpc>
                <a:spcPts val="2093"/>
              </a:lnSpc>
              <a:buNone/>
            </a:pPr>
            <a:r>
              <a:rPr lang="en-US" sz="1350" dirty="0">
                <a:solidFill>
                  <a:srgbClr val="E6E3FA"/>
                </a:solidFill>
                <a:latin typeface="Courier New" pitchFamily="34" charset="0"/>
                <a:ea typeface="Courier New" pitchFamily="34" charset="-122"/>
                <a:cs typeface="Courier New" pitchFamily="34" charset="-120"/>
              </a:rPr>
              <a:t>        f"Explain {state['topic']}")</a:t>
            </a:r>
            <a:endParaRPr lang="en-US" sz="1350" dirty="0"/>
          </a:p>
          <a:p>
            <a:pPr marL="0" indent="0">
              <a:lnSpc>
                <a:spcPts val="2093"/>
              </a:lnSpc>
              <a:buNone/>
            </a:pPr>
            <a:r>
              <a:rPr lang="en-US" sz="1350" dirty="0">
                <a:solidFill>
                  <a:srgbClr val="9AE6B4"/>
                </a:solidFill>
                <a:latin typeface="Courier New" pitchFamily="34" charset="0"/>
                <a:ea typeface="Courier New" pitchFamily="34" charset="-122"/>
                <a:cs typeface="Courier New" pitchFamily="34" charset="-120"/>
              </a:rPr>
              <a:t>    return {"draft": reply.content,</a:t>
            </a:r>
            <a:endParaRPr lang="en-US" sz="1350" dirty="0"/>
          </a:p>
          <a:p>
            <a:pPr marL="0" indent="0">
              <a:lnSpc>
                <a:spcPts val="2093"/>
              </a:lnSpc>
              <a:buNone/>
            </a:pPr>
            <a:r>
              <a:rPr lang="en-US" sz="1350" dirty="0">
                <a:solidFill>
                  <a:srgbClr val="9AE6B4"/>
                </a:solidFill>
                <a:latin typeface="Courier New" pitchFamily="34" charset="0"/>
                <a:ea typeface="Courier New" pitchFamily="34" charset="-122"/>
                <a:cs typeface="Courier New" pitchFamily="34" charset="-120"/>
              </a:rPr>
              <a:t>            "log": ["wrote"]}</a:t>
            </a:r>
            <a:endParaRPr lang="en-US" sz="1350" dirty="0"/>
          </a:p>
        </p:txBody>
      </p:sp>
      <p:sp>
        <p:nvSpPr>
          <p:cNvPr id="7" name="Text 5"/>
          <p:cNvSpPr/>
          <p:nvPr/>
        </p:nvSpPr>
        <p:spPr>
          <a:xfrm>
            <a:off x="6309360" y="1463040"/>
            <a:ext cx="5212080" cy="365760"/>
          </a:xfrm>
          <a:prstGeom prst="rect">
            <a:avLst/>
          </a:prstGeom>
          <a:noFill/>
          <a:ln/>
        </p:spPr>
        <p:txBody>
          <a:bodyPr wrap="square" lIns="0" tIns="0" rIns="0" bIns="0" rtlCol="0" anchor="ctr"/>
          <a:lstStyle/>
          <a:p>
            <a:pPr marL="0" indent="0">
              <a:buNone/>
            </a:pPr>
            <a:r>
              <a:rPr lang="en-US" sz="1700" b="1" dirty="0">
                <a:solidFill>
                  <a:srgbClr val="3B2E8F"/>
                </a:solidFill>
                <a:latin typeface="Calibri" pitchFamily="34" charset="0"/>
                <a:ea typeface="Calibri" pitchFamily="34" charset="-122"/>
                <a:cs typeface="Calibri" pitchFamily="34" charset="-120"/>
              </a:rPr>
              <a:t>Some nodes are just code</a:t>
            </a:r>
            <a:endParaRPr lang="en-US" sz="1700" dirty="0"/>
          </a:p>
        </p:txBody>
      </p:sp>
      <p:sp>
        <p:nvSpPr>
          <p:cNvPr id="8" name="Shape 6"/>
          <p:cNvSpPr/>
          <p:nvPr/>
        </p:nvSpPr>
        <p:spPr>
          <a:xfrm>
            <a:off x="6309360" y="1874520"/>
            <a:ext cx="5212080" cy="1965960"/>
          </a:xfrm>
          <a:prstGeom prst="roundRect">
            <a:avLst>
              <a:gd name="adj" fmla="val 3721"/>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6510528" y="2020824"/>
            <a:ext cx="4809744" cy="1673352"/>
          </a:xfrm>
          <a:prstGeom prst="rect">
            <a:avLst/>
          </a:prstGeom>
          <a:noFill/>
          <a:ln/>
        </p:spPr>
        <p:txBody>
          <a:bodyPr wrap="square" lIns="0" tIns="0" rIns="0" bIns="0" rtlCol="0" anchor="t"/>
          <a:lstStyle/>
          <a:p>
            <a:pPr marL="0" indent="0">
              <a:lnSpc>
                <a:spcPts val="2093"/>
              </a:lnSpc>
              <a:buNone/>
            </a:pPr>
            <a:r>
              <a:rPr lang="en-US" sz="1350" dirty="0">
                <a:solidFill>
                  <a:srgbClr val="FFB86C"/>
                </a:solidFill>
                <a:latin typeface="Courier New" pitchFamily="34" charset="0"/>
                <a:ea typeface="Courier New" pitchFamily="34" charset="-122"/>
                <a:cs typeface="Courier New" pitchFamily="34" charset="-120"/>
              </a:rPr>
              <a:t>def review(state: State) -&gt; dict:</a:t>
            </a:r>
            <a:endParaRPr lang="en-US" sz="1350" dirty="0"/>
          </a:p>
          <a:p>
            <a:pPr marL="0" indent="0">
              <a:lnSpc>
                <a:spcPts val="2093"/>
              </a:lnSpc>
              <a:buNone/>
            </a:pPr>
            <a:r>
              <a:rPr lang="en-US" sz="1350" dirty="0">
                <a:solidFill>
                  <a:srgbClr val="E6E3FA"/>
                </a:solidFill>
                <a:latin typeface="Courier New" pitchFamily="34" charset="0"/>
                <a:ea typeface="Courier New" pitchFamily="34" charset="-122"/>
                <a:cs typeface="Courier New" pitchFamily="34" charset="-120"/>
              </a:rPr>
              <a:t>    n = len(state["draft"].split())</a:t>
            </a:r>
            <a:endParaRPr lang="en-US" sz="1350" dirty="0"/>
          </a:p>
          <a:p>
            <a:pPr marL="0" indent="0">
              <a:lnSpc>
                <a:spcPts val="2093"/>
              </a:lnSpc>
              <a:buNone/>
            </a:pPr>
            <a:r>
              <a:rPr lang="en-US" sz="1350" dirty="0">
                <a:solidFill>
                  <a:srgbClr val="E6E3FA"/>
                </a:solidFill>
                <a:latin typeface="Courier New" pitchFamily="34" charset="0"/>
                <a:ea typeface="Courier New" pitchFamily="34" charset="-122"/>
                <a:cs typeface="Courier New" pitchFamily="34" charset="-120"/>
              </a:rPr>
              <a:t>    ok = n &lt;= 25</a:t>
            </a:r>
            <a:endParaRPr lang="en-US" sz="1350" dirty="0"/>
          </a:p>
          <a:p>
            <a:pPr marL="0" indent="0">
              <a:lnSpc>
                <a:spcPts val="2093"/>
              </a:lnSpc>
              <a:buNone/>
            </a:pPr>
            <a:r>
              <a:rPr lang="en-US" sz="1350" dirty="0">
                <a:solidFill>
                  <a:srgbClr val="9AE6B4"/>
                </a:solidFill>
                <a:latin typeface="Courier New" pitchFamily="34" charset="0"/>
                <a:ea typeface="Courier New" pitchFamily="34" charset="-122"/>
                <a:cs typeface="Courier New" pitchFamily="34" charset="-120"/>
              </a:rPr>
              <a:t>    return {"verdict":</a:t>
            </a:r>
            <a:endParaRPr lang="en-US" sz="1350" dirty="0"/>
          </a:p>
          <a:p>
            <a:pPr marL="0" indent="0">
              <a:lnSpc>
                <a:spcPts val="2093"/>
              </a:lnSpc>
              <a:buNone/>
            </a:pPr>
            <a:r>
              <a:rPr lang="en-US" sz="1350" dirty="0">
                <a:solidFill>
                  <a:srgbClr val="9AE6B4"/>
                </a:solidFill>
                <a:latin typeface="Courier New" pitchFamily="34" charset="0"/>
                <a:ea typeface="Courier New" pitchFamily="34" charset="-122"/>
                <a:cs typeface="Courier New" pitchFamily="34" charset="-120"/>
              </a:rPr>
              <a:t>        "PASS" if ok else "REVISE"}</a:t>
            </a:r>
            <a:endParaRPr lang="en-US" sz="1350" dirty="0"/>
          </a:p>
        </p:txBody>
      </p:sp>
      <p:sp>
        <p:nvSpPr>
          <p:cNvPr id="10" name="Shape 8"/>
          <p:cNvSpPr/>
          <p:nvPr/>
        </p:nvSpPr>
        <p:spPr>
          <a:xfrm>
            <a:off x="640080" y="4160520"/>
            <a:ext cx="10881360" cy="914400"/>
          </a:xfrm>
          <a:prstGeom prst="roundRect">
            <a:avLst>
              <a:gd name="adj" fmla="val 100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1005840" y="4160520"/>
            <a:ext cx="10149840" cy="914400"/>
          </a:xfrm>
          <a:prstGeom prst="rect">
            <a:avLst/>
          </a:prstGeom>
          <a:noFill/>
          <a:ln/>
        </p:spPr>
        <p:txBody>
          <a:bodyPr wrap="square" lIns="0" tIns="0" rIns="0" bIns="0" rtlCol="0" anchor="ctr"/>
          <a:lstStyle/>
          <a:p>
            <a:pPr marL="0" indent="0">
              <a:buNone/>
            </a:pPr>
            <a:r>
              <a:rPr lang="en-US" sz="1600" b="1" dirty="0">
                <a:solidFill>
                  <a:srgbClr val="3B2E8F"/>
                </a:solidFill>
                <a:latin typeface="Calibri" pitchFamily="34" charset="0"/>
                <a:ea typeface="Calibri" pitchFamily="34" charset="-122"/>
                <a:cs typeface="Calibri" pitchFamily="34" charset="-120"/>
              </a:rPr>
              <a:t>LangGraph cannot tell the difference, and does not care. Both take state, both return a partial update.</a:t>
            </a:r>
            <a:endParaRPr lang="en-US" sz="1600" dirty="0"/>
          </a:p>
        </p:txBody>
      </p:sp>
      <p:sp>
        <p:nvSpPr>
          <p:cNvPr id="12" name="Text 10"/>
          <p:cNvSpPr/>
          <p:nvPr/>
        </p:nvSpPr>
        <p:spPr>
          <a:xfrm>
            <a:off x="640080" y="5257800"/>
            <a:ext cx="10881360" cy="1005840"/>
          </a:xfrm>
          <a:prstGeom prst="rect">
            <a:avLst/>
          </a:prstGeom>
          <a:noFill/>
          <a:ln/>
        </p:spPr>
        <p:txBody>
          <a:bodyPr wrap="square" lIns="0" tIns="0" rIns="0" bIns="0" rtlCol="0" anchor="t"/>
          <a:lstStyle/>
          <a:p>
            <a:pPr marL="342900" indent="-342900">
              <a:lnSpc>
                <a:spcPts val="2025"/>
              </a:lnSpc>
              <a:spcAft>
                <a:spcPts val="1000"/>
              </a:spcAft>
              <a:buSzPct val="100000"/>
              <a:buChar char="•"/>
            </a:pPr>
            <a:r>
              <a:rPr lang="en-US" sz="1500" dirty="0">
                <a:solidFill>
                  <a:srgbClr val="16163A"/>
                </a:solidFill>
                <a:latin typeface="Calibri" pitchFamily="34" charset="0"/>
                <a:ea typeface="Calibri" pitchFamily="34" charset="-122"/>
                <a:cs typeface="Calibri" pitchFamily="34" charset="-120"/>
              </a:rPr>
              <a:t>In a real system, most nodes have no model in them at all — validators, parsers, database reads, formatters.</a:t>
            </a:r>
            <a:endParaRPr lang="en-US" sz="1500" dirty="0"/>
          </a:p>
          <a:p>
            <a:pPr marL="342900" indent="-342900">
              <a:lnSpc>
                <a:spcPts val="2025"/>
              </a:lnSpc>
              <a:spcAft>
                <a:spcPts val="1000"/>
              </a:spcAft>
              <a:buSzPct val="100000"/>
              <a:buChar char="•"/>
            </a:pPr>
            <a:r>
              <a:rPr lang="en-US" sz="1500" dirty="0">
                <a:solidFill>
                  <a:srgbClr val="16163A"/>
                </a:solidFill>
                <a:latin typeface="Calibri" pitchFamily="34" charset="0"/>
                <a:ea typeface="Calibri" pitchFamily="34" charset="-122"/>
                <a:cs typeface="Calibri" pitchFamily="34" charset="-120"/>
              </a:rPr>
              <a:t>Which means most of a graph is testable with ordinary unit tests. No mocking an LLM.</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EDGES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Static edges and the one that makes loops</a:t>
            </a:r>
            <a:endParaRPr lang="en-US" sz="3200" dirty="0"/>
          </a:p>
        </p:txBody>
      </p:sp>
      <p:sp>
        <p:nvSpPr>
          <p:cNvPr id="4" name="Text 2"/>
          <p:cNvSpPr/>
          <p:nvPr/>
        </p:nvSpPr>
        <p:spPr>
          <a:xfrm>
            <a:off x="640080" y="1417320"/>
            <a:ext cx="10881360" cy="365760"/>
          </a:xfrm>
          <a:prstGeom prst="rect">
            <a:avLst/>
          </a:prstGeom>
          <a:noFill/>
          <a:ln/>
        </p:spPr>
        <p:txBody>
          <a:bodyPr wrap="square" lIns="0" tIns="0" rIns="0" bIns="0" rtlCol="0" anchor="ctr"/>
          <a:lstStyle/>
          <a:p>
            <a:pPr marL="0" indent="0">
              <a:buNone/>
            </a:pPr>
            <a:r>
              <a:rPr lang="en-US" sz="1700" b="1" dirty="0">
                <a:solidFill>
                  <a:srgbClr val="6B6B8A"/>
                </a:solidFill>
                <a:latin typeface="Calibri" pitchFamily="34" charset="0"/>
                <a:ea typeface="Calibri" pitchFamily="34" charset="-122"/>
                <a:cs typeface="Calibri" pitchFamily="34" charset="-120"/>
              </a:rPr>
              <a:t>Static — always the same next step</a:t>
            </a:r>
            <a:endParaRPr lang="en-US" sz="1700" dirty="0"/>
          </a:p>
        </p:txBody>
      </p:sp>
      <p:sp>
        <p:nvSpPr>
          <p:cNvPr id="5" name="Shape 3"/>
          <p:cNvSpPr/>
          <p:nvPr/>
        </p:nvSpPr>
        <p:spPr>
          <a:xfrm>
            <a:off x="822960" y="1874520"/>
            <a:ext cx="201168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6" name="Text 4"/>
          <p:cNvSpPr/>
          <p:nvPr/>
        </p:nvSpPr>
        <p:spPr>
          <a:xfrm>
            <a:off x="822960" y="1874520"/>
            <a:ext cx="2011680" cy="731520"/>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write</a:t>
            </a:r>
            <a:endParaRPr lang="en-US" sz="1600" dirty="0"/>
          </a:p>
        </p:txBody>
      </p:sp>
      <p:sp>
        <p:nvSpPr>
          <p:cNvPr id="7" name="Shape 5"/>
          <p:cNvSpPr/>
          <p:nvPr/>
        </p:nvSpPr>
        <p:spPr>
          <a:xfrm>
            <a:off x="2926080" y="2240280"/>
            <a:ext cx="731520" cy="0"/>
          </a:xfrm>
          <a:prstGeom prst="line">
            <a:avLst/>
          </a:prstGeom>
          <a:noFill/>
          <a:ln w="28575">
            <a:solidFill>
              <a:srgbClr val="5B4BC4"/>
            </a:solidFill>
            <a:prstDash val="solid"/>
            <a:tailEnd type="triangle"/>
          </a:ln>
        </p:spPr>
      </p:sp>
      <p:sp>
        <p:nvSpPr>
          <p:cNvPr id="8" name="Shape 6"/>
          <p:cNvSpPr/>
          <p:nvPr/>
        </p:nvSpPr>
        <p:spPr>
          <a:xfrm>
            <a:off x="3749040" y="1874520"/>
            <a:ext cx="201168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9" name="Text 7"/>
          <p:cNvSpPr/>
          <p:nvPr/>
        </p:nvSpPr>
        <p:spPr>
          <a:xfrm>
            <a:off x="3749040" y="1874520"/>
            <a:ext cx="2011680" cy="731520"/>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review</a:t>
            </a:r>
            <a:endParaRPr lang="en-US" sz="1600" dirty="0"/>
          </a:p>
        </p:txBody>
      </p:sp>
      <p:sp>
        <p:nvSpPr>
          <p:cNvPr id="10" name="Text 8"/>
          <p:cNvSpPr/>
          <p:nvPr/>
        </p:nvSpPr>
        <p:spPr>
          <a:xfrm>
            <a:off x="6400800" y="1874520"/>
            <a:ext cx="5120640" cy="731520"/>
          </a:xfrm>
          <a:prstGeom prst="rect">
            <a:avLst/>
          </a:prstGeom>
          <a:noFill/>
          <a:ln/>
        </p:spPr>
        <p:txBody>
          <a:bodyPr wrap="square" lIns="0" tIns="0" rIns="0" bIns="0" rtlCol="0" anchor="ctr"/>
          <a:lstStyle/>
          <a:p>
            <a:pPr marL="0" indent="0">
              <a:buNone/>
            </a:pPr>
            <a:r>
              <a:rPr lang="en-US" sz="1400" dirty="0">
                <a:solidFill>
                  <a:srgbClr val="16163A"/>
                </a:solidFill>
                <a:latin typeface="Courier New" pitchFamily="34" charset="0"/>
                <a:ea typeface="Courier New" pitchFamily="34" charset="-122"/>
                <a:cs typeface="Courier New" pitchFamily="34" charset="-120"/>
              </a:rPr>
              <a:t>builder.add_edge("write", "review")</a:t>
            </a:r>
            <a:endParaRPr lang="en-US" sz="1400" dirty="0"/>
          </a:p>
        </p:txBody>
      </p:sp>
      <p:sp>
        <p:nvSpPr>
          <p:cNvPr id="11" name="Shape 9"/>
          <p:cNvSpPr/>
          <p:nvPr/>
        </p:nvSpPr>
        <p:spPr>
          <a:xfrm>
            <a:off x="640080" y="2880360"/>
            <a:ext cx="10881360" cy="0"/>
          </a:xfrm>
          <a:prstGeom prst="line">
            <a:avLst/>
          </a:prstGeom>
          <a:noFill/>
          <a:ln w="19050">
            <a:solidFill>
              <a:srgbClr val="D9D5F2"/>
            </a:solidFill>
            <a:prstDash val="solid"/>
          </a:ln>
        </p:spPr>
      </p:sp>
      <p:sp>
        <p:nvSpPr>
          <p:cNvPr id="12" name="Text 10"/>
          <p:cNvSpPr/>
          <p:nvPr/>
        </p:nvSpPr>
        <p:spPr>
          <a:xfrm>
            <a:off x="640080" y="3063240"/>
            <a:ext cx="10881360" cy="365760"/>
          </a:xfrm>
          <a:prstGeom prst="rect">
            <a:avLst/>
          </a:prstGeom>
          <a:noFill/>
          <a:ln/>
        </p:spPr>
        <p:txBody>
          <a:bodyPr wrap="square" lIns="0" tIns="0" rIns="0" bIns="0" rtlCol="0" anchor="ctr"/>
          <a:lstStyle/>
          <a:p>
            <a:pPr marL="0" indent="0">
              <a:buNone/>
            </a:pPr>
            <a:r>
              <a:rPr lang="en-US" sz="1700" b="1" dirty="0">
                <a:solidFill>
                  <a:srgbClr val="3B2E8F"/>
                </a:solidFill>
                <a:latin typeface="Calibri" pitchFamily="34" charset="0"/>
                <a:ea typeface="Calibri" pitchFamily="34" charset="-122"/>
                <a:cs typeface="Calibri" pitchFamily="34" charset="-120"/>
              </a:rPr>
              <a:t>Conditional — a function looks at state and picks</a:t>
            </a:r>
            <a:endParaRPr lang="en-US" sz="1700" dirty="0"/>
          </a:p>
        </p:txBody>
      </p:sp>
      <p:sp>
        <p:nvSpPr>
          <p:cNvPr id="13" name="Shape 11"/>
          <p:cNvSpPr/>
          <p:nvPr/>
        </p:nvSpPr>
        <p:spPr>
          <a:xfrm>
            <a:off x="822960" y="3977640"/>
            <a:ext cx="201168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4" name="Text 12"/>
          <p:cNvSpPr/>
          <p:nvPr/>
        </p:nvSpPr>
        <p:spPr>
          <a:xfrm>
            <a:off x="822960" y="3977640"/>
            <a:ext cx="2011680" cy="731520"/>
          </a:xfrm>
          <a:prstGeom prst="rect">
            <a:avLst/>
          </a:prstGeom>
          <a:noFill/>
          <a:ln/>
        </p:spPr>
        <p:txBody>
          <a:bodyPr wrap="square" lIns="0" tIns="0" rIns="0" bIns="0" rtlCol="0" anchor="ctr"/>
          <a:lstStyle/>
          <a:p>
            <a:pPr marL="0" indent="0" algn="ctr">
              <a:buNone/>
            </a:pPr>
            <a:r>
              <a:rPr lang="en-US" sz="1600" b="1" dirty="0">
                <a:solidFill>
                  <a:srgbClr val="16163A"/>
                </a:solidFill>
                <a:latin typeface="Calibri" pitchFamily="34" charset="0"/>
                <a:ea typeface="Calibri" pitchFamily="34" charset="-122"/>
                <a:cs typeface="Calibri" pitchFamily="34" charset="-120"/>
              </a:rPr>
              <a:t>review</a:t>
            </a:r>
            <a:endParaRPr lang="en-US" sz="1600" dirty="0"/>
          </a:p>
        </p:txBody>
      </p:sp>
      <p:sp>
        <p:nvSpPr>
          <p:cNvPr id="15" name="Shape 13"/>
          <p:cNvSpPr/>
          <p:nvPr/>
        </p:nvSpPr>
        <p:spPr>
          <a:xfrm>
            <a:off x="3154680" y="3749040"/>
            <a:ext cx="1188720" cy="1188720"/>
          </a:xfrm>
          <a:prstGeom prst="diamond">
            <a:avLst/>
          </a:prstGeom>
          <a:solidFill>
            <a:srgbClr val="FF9F1C"/>
          </a:solidFill>
          <a:ln w="12700">
            <a:solidFill>
              <a:srgbClr val="FFFFFF"/>
            </a:solidFill>
            <a:prstDash val="solid"/>
          </a:ln>
        </p:spPr>
      </p:sp>
      <p:sp>
        <p:nvSpPr>
          <p:cNvPr id="16" name="Text 14"/>
          <p:cNvSpPr/>
          <p:nvPr/>
        </p:nvSpPr>
        <p:spPr>
          <a:xfrm>
            <a:off x="3154680" y="3749040"/>
            <a:ext cx="1188720" cy="11887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2880360" y="4343400"/>
            <a:ext cx="228600" cy="0"/>
          </a:xfrm>
          <a:prstGeom prst="line">
            <a:avLst/>
          </a:prstGeom>
          <a:noFill/>
          <a:ln w="28575">
            <a:solidFill>
              <a:srgbClr val="5B4BC4"/>
            </a:solidFill>
            <a:prstDash val="solid"/>
            <a:tailEnd type="triangle"/>
          </a:ln>
        </p:spPr>
      </p:sp>
      <p:sp>
        <p:nvSpPr>
          <p:cNvPr id="18" name="Shape 16"/>
          <p:cNvSpPr/>
          <p:nvPr/>
        </p:nvSpPr>
        <p:spPr>
          <a:xfrm>
            <a:off x="4389120" y="4343400"/>
            <a:ext cx="502920" cy="0"/>
          </a:xfrm>
          <a:prstGeom prst="line">
            <a:avLst/>
          </a:prstGeom>
          <a:noFill/>
          <a:ln w="28575">
            <a:solidFill>
              <a:srgbClr val="5B4BC4"/>
            </a:solidFill>
            <a:prstDash val="solid"/>
            <a:tailEnd type="triangle"/>
          </a:ln>
        </p:spPr>
      </p:sp>
      <p:sp>
        <p:nvSpPr>
          <p:cNvPr id="19" name="Shape 17"/>
          <p:cNvSpPr/>
          <p:nvPr/>
        </p:nvSpPr>
        <p:spPr>
          <a:xfrm>
            <a:off x="4389120" y="4343400"/>
            <a:ext cx="502920" cy="685800"/>
          </a:xfrm>
          <a:prstGeom prst="line">
            <a:avLst/>
          </a:prstGeom>
          <a:noFill/>
          <a:ln w="28575">
            <a:solidFill>
              <a:srgbClr val="5B4BC4"/>
            </a:solidFill>
            <a:prstDash val="solid"/>
            <a:tailEnd type="triangle"/>
          </a:ln>
        </p:spPr>
      </p:sp>
      <p:sp>
        <p:nvSpPr>
          <p:cNvPr id="20" name="Shape 18"/>
          <p:cNvSpPr/>
          <p:nvPr/>
        </p:nvSpPr>
        <p:spPr>
          <a:xfrm>
            <a:off x="4983480" y="3337560"/>
            <a:ext cx="1371600" cy="640080"/>
          </a:xfrm>
          <a:prstGeom prst="roundRect">
            <a:avLst>
              <a:gd name="adj" fmla="val 14286"/>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1" name="Text 19"/>
          <p:cNvSpPr/>
          <p:nvPr/>
        </p:nvSpPr>
        <p:spPr>
          <a:xfrm>
            <a:off x="4983480" y="3337560"/>
            <a:ext cx="137160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END</a:t>
            </a:r>
            <a:endParaRPr lang="en-US" sz="1400" dirty="0"/>
          </a:p>
        </p:txBody>
      </p:sp>
      <p:sp>
        <p:nvSpPr>
          <p:cNvPr id="22" name="Shape 20"/>
          <p:cNvSpPr/>
          <p:nvPr/>
        </p:nvSpPr>
        <p:spPr>
          <a:xfrm>
            <a:off x="4983480" y="4709160"/>
            <a:ext cx="1371600" cy="640080"/>
          </a:xfrm>
          <a:prstGeom prst="roundRect">
            <a:avLst>
              <a:gd name="adj" fmla="val 14286"/>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23" name="Text 21"/>
          <p:cNvSpPr/>
          <p:nvPr/>
        </p:nvSpPr>
        <p:spPr>
          <a:xfrm>
            <a:off x="4983480" y="4709160"/>
            <a:ext cx="137160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write</a:t>
            </a:r>
            <a:endParaRPr lang="en-US" sz="1400" dirty="0"/>
          </a:p>
        </p:txBody>
      </p:sp>
      <p:sp>
        <p:nvSpPr>
          <p:cNvPr id="24" name="Text 22"/>
          <p:cNvSpPr/>
          <p:nvPr/>
        </p:nvSpPr>
        <p:spPr>
          <a:xfrm>
            <a:off x="4434840" y="3401568"/>
            <a:ext cx="640080" cy="274320"/>
          </a:xfrm>
          <a:prstGeom prst="rect">
            <a:avLst/>
          </a:prstGeom>
          <a:noFill/>
          <a:ln/>
        </p:spPr>
        <p:txBody>
          <a:bodyPr wrap="square" lIns="0" tIns="0" rIns="0" bIns="0" rtlCol="0" anchor="ctr"/>
          <a:lstStyle/>
          <a:p>
            <a:pPr marL="0" indent="0">
              <a:buNone/>
            </a:pPr>
            <a:r>
              <a:rPr lang="en-US" sz="1050" b="1" dirty="0">
                <a:solidFill>
                  <a:srgbClr val="6B6B8A"/>
                </a:solidFill>
                <a:latin typeface="Calibri" pitchFamily="34" charset="0"/>
                <a:ea typeface="Calibri" pitchFamily="34" charset="-122"/>
                <a:cs typeface="Calibri" pitchFamily="34" charset="-120"/>
              </a:rPr>
              <a:t>done</a:t>
            </a:r>
            <a:endParaRPr lang="en-US" sz="1050" dirty="0"/>
          </a:p>
        </p:txBody>
      </p:sp>
      <p:sp>
        <p:nvSpPr>
          <p:cNvPr id="25" name="Text 23"/>
          <p:cNvSpPr/>
          <p:nvPr/>
        </p:nvSpPr>
        <p:spPr>
          <a:xfrm>
            <a:off x="4434840" y="5029200"/>
            <a:ext cx="731520" cy="274320"/>
          </a:xfrm>
          <a:prstGeom prst="rect">
            <a:avLst/>
          </a:prstGeom>
          <a:noFill/>
          <a:ln/>
        </p:spPr>
        <p:txBody>
          <a:bodyPr wrap="square" lIns="0" tIns="0" rIns="0" bIns="0" rtlCol="0" anchor="ctr"/>
          <a:lstStyle/>
          <a:p>
            <a:pPr marL="0" indent="0">
              <a:buNone/>
            </a:pPr>
            <a:r>
              <a:rPr lang="en-US" sz="1050" b="1" dirty="0">
                <a:solidFill>
                  <a:srgbClr val="6B6B8A"/>
                </a:solidFill>
                <a:latin typeface="Calibri" pitchFamily="34" charset="0"/>
                <a:ea typeface="Calibri" pitchFamily="34" charset="-122"/>
                <a:cs typeface="Calibri" pitchFamily="34" charset="-120"/>
              </a:rPr>
              <a:t>revise</a:t>
            </a:r>
            <a:endParaRPr lang="en-US" sz="1050" dirty="0"/>
          </a:p>
        </p:txBody>
      </p:sp>
      <p:sp>
        <p:nvSpPr>
          <p:cNvPr id="26" name="Shape 24"/>
          <p:cNvSpPr/>
          <p:nvPr/>
        </p:nvSpPr>
        <p:spPr>
          <a:xfrm>
            <a:off x="6720840" y="3566160"/>
            <a:ext cx="4800600" cy="1691640"/>
          </a:xfrm>
          <a:prstGeom prst="roundRect">
            <a:avLst>
              <a:gd name="adj" fmla="val 4324"/>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27" name="Text 25"/>
          <p:cNvSpPr/>
          <p:nvPr/>
        </p:nvSpPr>
        <p:spPr>
          <a:xfrm>
            <a:off x="6922008" y="3712464"/>
            <a:ext cx="4398264" cy="1399032"/>
          </a:xfrm>
          <a:prstGeom prst="rect">
            <a:avLst/>
          </a:prstGeom>
          <a:noFill/>
          <a:ln/>
        </p:spPr>
        <p:txBody>
          <a:bodyPr wrap="square" lIns="0" tIns="0" rIns="0" bIns="0" rtlCol="0" anchor="t"/>
          <a:lstStyle/>
          <a:p>
            <a:pPr marL="0" indent="0">
              <a:lnSpc>
                <a:spcPts val="2015"/>
              </a:lnSpc>
              <a:buNone/>
            </a:pPr>
            <a:r>
              <a:rPr lang="en-US" sz="1300" dirty="0">
                <a:solidFill>
                  <a:srgbClr val="FFB86C"/>
                </a:solidFill>
                <a:latin typeface="Courier New" pitchFamily="34" charset="0"/>
                <a:ea typeface="Courier New" pitchFamily="34" charset="-122"/>
                <a:cs typeface="Courier New" pitchFamily="34" charset="-120"/>
              </a:rPr>
              <a:t>builder.add_conditional_edges(</a:t>
            </a:r>
            <a:endParaRPr lang="en-US" sz="1300" dirty="0"/>
          </a:p>
          <a:p>
            <a:pPr marL="0" indent="0">
              <a:lnSpc>
                <a:spcPts val="2015"/>
              </a:lnSpc>
              <a:buNone/>
            </a:pPr>
            <a:r>
              <a:rPr lang="en-US" sz="1300" dirty="0">
                <a:solidFill>
                  <a:srgbClr val="E6E3FA"/>
                </a:solidFill>
                <a:latin typeface="Courier New" pitchFamily="34" charset="0"/>
                <a:ea typeface="Courier New" pitchFamily="34" charset="-122"/>
                <a:cs typeface="Courier New" pitchFamily="34" charset="-120"/>
              </a:rPr>
              <a:t>    "review",</a:t>
            </a:r>
            <a:endParaRPr lang="en-US" sz="1300" dirty="0"/>
          </a:p>
          <a:p>
            <a:pPr marL="0" indent="0">
              <a:lnSpc>
                <a:spcPts val="2015"/>
              </a:lnSpc>
              <a:buNone/>
            </a:pPr>
            <a:r>
              <a:rPr lang="en-US" sz="1300" dirty="0">
                <a:solidFill>
                  <a:srgbClr val="9E99CC"/>
                </a:solidFill>
                <a:latin typeface="Courier New" pitchFamily="34" charset="0"/>
                <a:ea typeface="Courier New" pitchFamily="34" charset="-122"/>
                <a:cs typeface="Courier New" pitchFamily="34" charset="-120"/>
              </a:rPr>
              <a:t>    route,          # -&gt; a label</a:t>
            </a:r>
            <a:endParaRPr lang="en-US" sz="1300" dirty="0"/>
          </a:p>
          <a:p>
            <a:pPr marL="0" indent="0">
              <a:lnSpc>
                <a:spcPts val="2015"/>
              </a:lnSpc>
              <a:buNone/>
            </a:pPr>
            <a:r>
              <a:rPr lang="en-US" sz="1300" dirty="0">
                <a:solidFill>
                  <a:srgbClr val="9AE6B4"/>
                </a:solidFill>
                <a:latin typeface="Courier New" pitchFamily="34" charset="0"/>
                <a:ea typeface="Courier New" pitchFamily="34" charset="-122"/>
                <a:cs typeface="Courier New" pitchFamily="34" charset="-120"/>
              </a:rPr>
              <a:t>    {"revise": "write",</a:t>
            </a:r>
            <a:endParaRPr lang="en-US" sz="1300" dirty="0"/>
          </a:p>
          <a:p>
            <a:pPr marL="0" indent="0">
              <a:lnSpc>
                <a:spcPts val="2015"/>
              </a:lnSpc>
              <a:buNone/>
            </a:pPr>
            <a:r>
              <a:rPr lang="en-US" sz="1300" dirty="0">
                <a:solidFill>
                  <a:srgbClr val="9AE6B4"/>
                </a:solidFill>
                <a:latin typeface="Courier New" pitchFamily="34" charset="0"/>
                <a:ea typeface="Courier New" pitchFamily="34" charset="-122"/>
                <a:cs typeface="Courier New" pitchFamily="34" charset="-120"/>
              </a:rPr>
              <a:t>     "done":   END})</a:t>
            </a:r>
            <a:endParaRPr lang="en-US" sz="1300" dirty="0"/>
          </a:p>
        </p:txBody>
      </p:sp>
      <p:sp>
        <p:nvSpPr>
          <p:cNvPr id="28" name="Shape 26"/>
          <p:cNvSpPr/>
          <p:nvPr/>
        </p:nvSpPr>
        <p:spPr>
          <a:xfrm>
            <a:off x="640080" y="5577840"/>
            <a:ext cx="10881360" cy="777240"/>
          </a:xfrm>
          <a:prstGeom prst="roundRect">
            <a:avLst>
              <a:gd name="adj" fmla="val 11765"/>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9" name="Text 27"/>
          <p:cNvSpPr/>
          <p:nvPr/>
        </p:nvSpPr>
        <p:spPr>
          <a:xfrm>
            <a:off x="1005840" y="5577840"/>
            <a:ext cx="10149840" cy="777240"/>
          </a:xfrm>
          <a:prstGeom prst="rect">
            <a:avLst/>
          </a:prstGeom>
          <a:noFill/>
          <a:ln/>
        </p:spPr>
        <p:txBody>
          <a:bodyPr wrap="square" lIns="0" tIns="0" rIns="0" bIns="0" rtlCol="0" anchor="ctr"/>
          <a:lstStyle/>
          <a:p>
            <a:pPr marL="0" indent="0">
              <a:buNone/>
            </a:pPr>
            <a:r>
              <a:rPr lang="en-US" sz="1550" b="1" dirty="0">
                <a:solidFill>
                  <a:srgbClr val="3B2E8F"/>
                </a:solidFill>
                <a:latin typeface="Calibri" pitchFamily="34" charset="0"/>
                <a:ea typeface="Calibri" pitchFamily="34" charset="-122"/>
                <a:cs typeface="Calibri" pitchFamily="34" charset="-120"/>
              </a:rPr>
              <a:t>“revise” points back at a node we have already run. That is a loop — and it is the only thing that makes one.</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STATEGRAPH</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Six lines and you have a runnable graph</a:t>
            </a:r>
            <a:endParaRPr lang="en-US" sz="3200" dirty="0"/>
          </a:p>
        </p:txBody>
      </p:sp>
      <p:sp>
        <p:nvSpPr>
          <p:cNvPr id="4" name="Shape 2"/>
          <p:cNvSpPr/>
          <p:nvPr/>
        </p:nvSpPr>
        <p:spPr>
          <a:xfrm>
            <a:off x="640080" y="1463040"/>
            <a:ext cx="6492240" cy="3931920"/>
          </a:xfrm>
          <a:prstGeom prst="roundRect">
            <a:avLst>
              <a:gd name="adj" fmla="val 1860"/>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841248" y="1609344"/>
            <a:ext cx="6089904" cy="3639312"/>
          </a:xfrm>
          <a:prstGeom prst="rect">
            <a:avLst/>
          </a:prstGeom>
          <a:noFill/>
          <a:ln/>
        </p:spPr>
        <p:txBody>
          <a:bodyPr wrap="square" lIns="0" tIns="0" rIns="0" bIns="0" rtlCol="0" anchor="t"/>
          <a:lstStyle/>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builder = StateGraph(State)</a:t>
            </a:r>
            <a:endParaRPr lang="en-US" sz="1400" dirty="0"/>
          </a:p>
          <a:p>
            <a:pPr marL="0" indent="0">
              <a:lnSpc>
                <a:spcPts val="2170"/>
              </a:lnSpc>
              <a:buNone/>
            </a:pP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builder.add_node("write",  write)</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builder.add_node("review", review)</a:t>
            </a:r>
            <a:endParaRPr lang="en-US" sz="1400" dirty="0"/>
          </a:p>
          <a:p>
            <a:pPr marL="0" indent="0">
              <a:lnSpc>
                <a:spcPts val="2170"/>
              </a:lnSpc>
              <a:buNone/>
            </a:pPr>
            <a:endParaRPr lang="en-US" sz="1400" dirty="0"/>
          </a:p>
          <a:p>
            <a:pPr marL="0" indent="0">
              <a:lnSpc>
                <a:spcPts val="2170"/>
              </a:lnSpc>
              <a:buNone/>
            </a:pPr>
            <a:r>
              <a:rPr lang="en-US" sz="1400" dirty="0">
                <a:solidFill>
                  <a:srgbClr val="FFB86C"/>
                </a:solidFill>
                <a:latin typeface="Courier New" pitchFamily="34" charset="0"/>
                <a:ea typeface="Courier New" pitchFamily="34" charset="-122"/>
                <a:cs typeface="Courier New" pitchFamily="34" charset="-120"/>
              </a:rPr>
              <a:t>builder.add_edge(START, "write")</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builder.add_edge("write", "review")</a:t>
            </a:r>
            <a:endParaRPr lang="en-US" sz="1400" dirty="0"/>
          </a:p>
          <a:p>
            <a:pPr marL="0" indent="0">
              <a:lnSpc>
                <a:spcPts val="2170"/>
              </a:lnSpc>
              <a:buNone/>
            </a:pP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builder.add_conditional_edges(</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    "review", route,</a:t>
            </a: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    {"revise": "write", "done": END})</a:t>
            </a:r>
            <a:endParaRPr lang="en-US" sz="1400" dirty="0"/>
          </a:p>
          <a:p>
            <a:pPr marL="0" indent="0">
              <a:lnSpc>
                <a:spcPts val="2170"/>
              </a:lnSpc>
              <a:buNone/>
            </a:pPr>
            <a:endParaRPr lang="en-US" sz="1400" dirty="0"/>
          </a:p>
          <a:p>
            <a:pPr marL="0" indent="0">
              <a:lnSpc>
                <a:spcPts val="2170"/>
              </a:lnSpc>
              <a:buNone/>
            </a:pPr>
            <a:r>
              <a:rPr lang="en-US" sz="1400" dirty="0">
                <a:solidFill>
                  <a:srgbClr val="9AE6B4"/>
                </a:solidFill>
                <a:latin typeface="Courier New" pitchFamily="34" charset="0"/>
                <a:ea typeface="Courier New" pitchFamily="34" charset="-122"/>
                <a:cs typeface="Courier New" pitchFamily="34" charset="-120"/>
              </a:rPr>
              <a:t>graph = builder.compile()</a:t>
            </a:r>
            <a:endParaRPr lang="en-US" sz="1400" dirty="0"/>
          </a:p>
        </p:txBody>
      </p:sp>
      <p:sp>
        <p:nvSpPr>
          <p:cNvPr id="6" name="Shape 4"/>
          <p:cNvSpPr/>
          <p:nvPr/>
        </p:nvSpPr>
        <p:spPr>
          <a:xfrm>
            <a:off x="7498080" y="1554480"/>
            <a:ext cx="384048" cy="384048"/>
          </a:xfrm>
          <a:prstGeom prst="ellipse">
            <a:avLst/>
          </a:prstGeom>
          <a:solidFill>
            <a:srgbClr val="5B4BC4"/>
          </a:solidFill>
          <a:ln w="12700">
            <a:solidFill>
              <a:srgbClr val="FFFFFF"/>
            </a:solidFill>
            <a:prstDash val="solid"/>
          </a:ln>
        </p:spPr>
      </p:sp>
      <p:sp>
        <p:nvSpPr>
          <p:cNvPr id="7" name="Text 5"/>
          <p:cNvSpPr/>
          <p:nvPr/>
        </p:nvSpPr>
        <p:spPr>
          <a:xfrm>
            <a:off x="7498080" y="15544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046720" y="1508760"/>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the state schema</a:t>
            </a:r>
            <a:endParaRPr lang="en-US" sz="1450" dirty="0"/>
          </a:p>
        </p:txBody>
      </p:sp>
      <p:sp>
        <p:nvSpPr>
          <p:cNvPr id="9" name="Shape 7"/>
          <p:cNvSpPr/>
          <p:nvPr/>
        </p:nvSpPr>
        <p:spPr>
          <a:xfrm>
            <a:off x="7498080" y="2212848"/>
            <a:ext cx="384048" cy="384048"/>
          </a:xfrm>
          <a:prstGeom prst="ellipse">
            <a:avLst/>
          </a:prstGeom>
          <a:solidFill>
            <a:srgbClr val="5B4BC4"/>
          </a:solidFill>
          <a:ln w="12700">
            <a:solidFill>
              <a:srgbClr val="FFFFFF"/>
            </a:solidFill>
            <a:prstDash val="solid"/>
          </a:ln>
        </p:spPr>
      </p:sp>
      <p:sp>
        <p:nvSpPr>
          <p:cNvPr id="10" name="Text 8"/>
          <p:cNvSpPr/>
          <p:nvPr/>
        </p:nvSpPr>
        <p:spPr>
          <a:xfrm>
            <a:off x="7498080" y="22128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8046720" y="2167128"/>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the nodes</a:t>
            </a:r>
            <a:endParaRPr lang="en-US" sz="1450" dirty="0"/>
          </a:p>
        </p:txBody>
      </p:sp>
      <p:sp>
        <p:nvSpPr>
          <p:cNvPr id="12" name="Shape 10"/>
          <p:cNvSpPr/>
          <p:nvPr/>
        </p:nvSpPr>
        <p:spPr>
          <a:xfrm>
            <a:off x="7498080" y="2871216"/>
            <a:ext cx="384048" cy="384048"/>
          </a:xfrm>
          <a:prstGeom prst="ellipse">
            <a:avLst/>
          </a:prstGeom>
          <a:solidFill>
            <a:srgbClr val="5B4BC4"/>
          </a:solidFill>
          <a:ln w="12700">
            <a:solidFill>
              <a:srgbClr val="FFFFFF"/>
            </a:solidFill>
            <a:prstDash val="solid"/>
          </a:ln>
        </p:spPr>
      </p:sp>
      <p:sp>
        <p:nvSpPr>
          <p:cNvPr id="13" name="Text 11"/>
          <p:cNvSpPr/>
          <p:nvPr/>
        </p:nvSpPr>
        <p:spPr>
          <a:xfrm>
            <a:off x="7498080" y="287121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8046720" y="2825496"/>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where execution starts</a:t>
            </a:r>
            <a:endParaRPr lang="en-US" sz="1450" dirty="0"/>
          </a:p>
        </p:txBody>
      </p:sp>
      <p:sp>
        <p:nvSpPr>
          <p:cNvPr id="15" name="Shape 13"/>
          <p:cNvSpPr/>
          <p:nvPr/>
        </p:nvSpPr>
        <p:spPr>
          <a:xfrm>
            <a:off x="7498080" y="3529584"/>
            <a:ext cx="384048" cy="384048"/>
          </a:xfrm>
          <a:prstGeom prst="ellipse">
            <a:avLst/>
          </a:prstGeom>
          <a:solidFill>
            <a:srgbClr val="5B4BC4"/>
          </a:solidFill>
          <a:ln w="12700">
            <a:solidFill>
              <a:srgbClr val="FFFFFF"/>
            </a:solidFill>
            <a:prstDash val="solid"/>
          </a:ln>
        </p:spPr>
      </p:sp>
      <p:sp>
        <p:nvSpPr>
          <p:cNvPr id="16" name="Text 14"/>
          <p:cNvSpPr/>
          <p:nvPr/>
        </p:nvSpPr>
        <p:spPr>
          <a:xfrm>
            <a:off x="7498080" y="35295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8046720" y="3483864"/>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the fixed hop</a:t>
            </a:r>
            <a:endParaRPr lang="en-US" sz="1450" dirty="0"/>
          </a:p>
        </p:txBody>
      </p:sp>
      <p:sp>
        <p:nvSpPr>
          <p:cNvPr id="18" name="Shape 16"/>
          <p:cNvSpPr/>
          <p:nvPr/>
        </p:nvSpPr>
        <p:spPr>
          <a:xfrm>
            <a:off x="7498080" y="4187952"/>
            <a:ext cx="384048" cy="384048"/>
          </a:xfrm>
          <a:prstGeom prst="ellipse">
            <a:avLst/>
          </a:prstGeom>
          <a:solidFill>
            <a:srgbClr val="5B4BC4"/>
          </a:solidFill>
          <a:ln w="12700">
            <a:solidFill>
              <a:srgbClr val="FFFFFF"/>
            </a:solidFill>
            <a:prstDash val="solid"/>
          </a:ln>
        </p:spPr>
      </p:sp>
      <p:sp>
        <p:nvSpPr>
          <p:cNvPr id="19" name="Text 17"/>
          <p:cNvSpPr/>
          <p:nvPr/>
        </p:nvSpPr>
        <p:spPr>
          <a:xfrm>
            <a:off x="7498080" y="41879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8046720" y="4142232"/>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the branch</a:t>
            </a:r>
            <a:endParaRPr lang="en-US" sz="1450" dirty="0"/>
          </a:p>
        </p:txBody>
      </p:sp>
      <p:sp>
        <p:nvSpPr>
          <p:cNvPr id="21" name="Shape 19"/>
          <p:cNvSpPr/>
          <p:nvPr/>
        </p:nvSpPr>
        <p:spPr>
          <a:xfrm>
            <a:off x="7498080" y="4846320"/>
            <a:ext cx="384048" cy="384048"/>
          </a:xfrm>
          <a:prstGeom prst="ellipse">
            <a:avLst/>
          </a:prstGeom>
          <a:solidFill>
            <a:srgbClr val="FF9F1C"/>
          </a:solidFill>
          <a:ln w="12700">
            <a:solidFill>
              <a:srgbClr val="FFFFFF"/>
            </a:solidFill>
            <a:prstDash val="solid"/>
          </a:ln>
        </p:spPr>
      </p:sp>
      <p:sp>
        <p:nvSpPr>
          <p:cNvPr id="22" name="Text 20"/>
          <p:cNvSpPr/>
          <p:nvPr/>
        </p:nvSpPr>
        <p:spPr>
          <a:xfrm>
            <a:off x="7498080" y="48463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8046720" y="4800600"/>
            <a:ext cx="3474720" cy="475488"/>
          </a:xfrm>
          <a:prstGeom prst="rect">
            <a:avLst/>
          </a:prstGeom>
          <a:noFill/>
          <a:ln/>
        </p:spPr>
        <p:txBody>
          <a:bodyPr wrap="square" lIns="0" tIns="0" rIns="0" bIns="0" rtlCol="0" anchor="ctr"/>
          <a:lstStyle/>
          <a:p>
            <a:pPr marL="0" indent="0">
              <a:buNone/>
            </a:pPr>
            <a:r>
              <a:rPr lang="en-US" sz="1450" dirty="0">
                <a:solidFill>
                  <a:srgbClr val="16163A"/>
                </a:solidFill>
                <a:latin typeface="Calibri" pitchFamily="34" charset="0"/>
                <a:ea typeface="Calibri" pitchFamily="34" charset="-122"/>
                <a:cs typeface="Calibri" pitchFamily="34" charset="-120"/>
              </a:rPr>
              <a:t>compile → runnable</a:t>
            </a:r>
            <a:endParaRPr lang="en-US" sz="1450" dirty="0"/>
          </a:p>
        </p:txBody>
      </p:sp>
      <p:sp>
        <p:nvSpPr>
          <p:cNvPr id="24" name="Shape 22"/>
          <p:cNvSpPr/>
          <p:nvPr/>
        </p:nvSpPr>
        <p:spPr>
          <a:xfrm>
            <a:off x="640080" y="5577840"/>
            <a:ext cx="10881360" cy="777240"/>
          </a:xfrm>
          <a:prstGeom prst="roundRect">
            <a:avLst>
              <a:gd name="adj" fmla="val 11765"/>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5" name="Text 23"/>
          <p:cNvSpPr/>
          <p:nvPr/>
        </p:nvSpPr>
        <p:spPr>
          <a:xfrm>
            <a:off x="1005840" y="5577840"/>
            <a:ext cx="10149840" cy="7772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START and END are built in. And a StateGraph cannot be run — only a compiled graph can.</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LANGGRAPH  ·  CHECKPOINTING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Save the state after every single step</a:t>
            </a:r>
            <a:endParaRPr lang="en-US" sz="3200" dirty="0"/>
          </a:p>
        </p:txBody>
      </p:sp>
      <p:sp>
        <p:nvSpPr>
          <p:cNvPr id="4" name="Shape 2"/>
          <p:cNvSpPr/>
          <p:nvPr/>
        </p:nvSpPr>
        <p:spPr>
          <a:xfrm>
            <a:off x="822960" y="1737360"/>
            <a:ext cx="1920240" cy="731520"/>
          </a:xfrm>
          <a:prstGeom prst="roundRect">
            <a:avLst>
              <a:gd name="adj" fmla="val 12500"/>
            </a:avLst>
          </a:prstGeom>
          <a:solidFill>
            <a:srgbClr val="EFEFF4"/>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822960" y="1737360"/>
            <a:ext cx="1920240" cy="731520"/>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START</a:t>
            </a:r>
            <a:endParaRPr lang="en-US" sz="1500" dirty="0"/>
          </a:p>
        </p:txBody>
      </p:sp>
      <p:sp>
        <p:nvSpPr>
          <p:cNvPr id="6" name="Shape 4"/>
          <p:cNvSpPr/>
          <p:nvPr/>
        </p:nvSpPr>
        <p:spPr>
          <a:xfrm>
            <a:off x="2788920" y="2103120"/>
            <a:ext cx="292608" cy="0"/>
          </a:xfrm>
          <a:prstGeom prst="line">
            <a:avLst/>
          </a:prstGeom>
          <a:noFill/>
          <a:ln w="28575">
            <a:solidFill>
              <a:srgbClr val="5B4BC4"/>
            </a:solidFill>
            <a:prstDash val="solid"/>
            <a:tailEnd type="triangle"/>
          </a:ln>
        </p:spPr>
      </p:sp>
      <p:sp>
        <p:nvSpPr>
          <p:cNvPr id="7" name="Shape 5"/>
          <p:cNvSpPr/>
          <p:nvPr/>
        </p:nvSpPr>
        <p:spPr>
          <a:xfrm>
            <a:off x="3246120" y="1737360"/>
            <a:ext cx="192024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8" name="Text 6"/>
          <p:cNvSpPr/>
          <p:nvPr/>
        </p:nvSpPr>
        <p:spPr>
          <a:xfrm>
            <a:off x="3246120" y="1737360"/>
            <a:ext cx="1920240" cy="731520"/>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write</a:t>
            </a:r>
            <a:endParaRPr lang="en-US" sz="1500" dirty="0"/>
          </a:p>
        </p:txBody>
      </p:sp>
      <p:sp>
        <p:nvSpPr>
          <p:cNvPr id="9" name="Shape 7"/>
          <p:cNvSpPr/>
          <p:nvPr/>
        </p:nvSpPr>
        <p:spPr>
          <a:xfrm>
            <a:off x="5212080" y="2103120"/>
            <a:ext cx="292608" cy="0"/>
          </a:xfrm>
          <a:prstGeom prst="line">
            <a:avLst/>
          </a:prstGeom>
          <a:noFill/>
          <a:ln w="28575">
            <a:solidFill>
              <a:srgbClr val="5B4BC4"/>
            </a:solidFill>
            <a:prstDash val="solid"/>
            <a:tailEnd type="triangle"/>
          </a:ln>
        </p:spPr>
      </p:sp>
      <p:sp>
        <p:nvSpPr>
          <p:cNvPr id="10" name="Shape 8"/>
          <p:cNvSpPr/>
          <p:nvPr/>
        </p:nvSpPr>
        <p:spPr>
          <a:xfrm>
            <a:off x="5669280" y="1737360"/>
            <a:ext cx="192024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5669280" y="1737360"/>
            <a:ext cx="1920240" cy="731520"/>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review</a:t>
            </a:r>
            <a:endParaRPr lang="en-US" sz="1500" dirty="0"/>
          </a:p>
        </p:txBody>
      </p:sp>
      <p:sp>
        <p:nvSpPr>
          <p:cNvPr id="12" name="Shape 10"/>
          <p:cNvSpPr/>
          <p:nvPr/>
        </p:nvSpPr>
        <p:spPr>
          <a:xfrm>
            <a:off x="7635240" y="2103120"/>
            <a:ext cx="292608" cy="0"/>
          </a:xfrm>
          <a:prstGeom prst="line">
            <a:avLst/>
          </a:prstGeom>
          <a:noFill/>
          <a:ln w="28575">
            <a:solidFill>
              <a:srgbClr val="5B4BC4"/>
            </a:solidFill>
            <a:prstDash val="solid"/>
            <a:tailEnd type="triangle"/>
          </a:ln>
        </p:spPr>
      </p:sp>
      <p:sp>
        <p:nvSpPr>
          <p:cNvPr id="13" name="Shape 11"/>
          <p:cNvSpPr/>
          <p:nvPr/>
        </p:nvSpPr>
        <p:spPr>
          <a:xfrm>
            <a:off x="8092440" y="1737360"/>
            <a:ext cx="1920240" cy="731520"/>
          </a:xfrm>
          <a:prstGeom prst="roundRect">
            <a:avLst>
              <a:gd name="adj" fmla="val 12500"/>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4" name="Text 12"/>
          <p:cNvSpPr/>
          <p:nvPr/>
        </p:nvSpPr>
        <p:spPr>
          <a:xfrm>
            <a:off x="8092440" y="1737360"/>
            <a:ext cx="1920240" cy="731520"/>
          </a:xfrm>
          <a:prstGeom prst="rect">
            <a:avLst/>
          </a:prstGeom>
          <a:noFill/>
          <a:ln/>
        </p:spPr>
        <p:txBody>
          <a:bodyPr wrap="square" lIns="0" tIns="0" rIns="0" bIns="0" rtlCol="0" anchor="ctr"/>
          <a:lstStyle/>
          <a:p>
            <a:pPr marL="0" indent="0" algn="ctr">
              <a:buNone/>
            </a:pPr>
            <a:r>
              <a:rPr lang="en-US" sz="1500" b="1" dirty="0">
                <a:solidFill>
                  <a:srgbClr val="16163A"/>
                </a:solidFill>
                <a:latin typeface="Calibri" pitchFamily="34" charset="0"/>
                <a:ea typeface="Calibri" pitchFamily="34" charset="-122"/>
                <a:cs typeface="Calibri" pitchFamily="34" charset="-120"/>
              </a:rPr>
              <a:t>write</a:t>
            </a:r>
            <a:endParaRPr lang="en-US" sz="1500" dirty="0"/>
          </a:p>
        </p:txBody>
      </p:sp>
      <p:sp>
        <p:nvSpPr>
          <p:cNvPr id="15" name="Text 13"/>
          <p:cNvSpPr/>
          <p:nvPr/>
        </p:nvSpPr>
        <p:spPr>
          <a:xfrm>
            <a:off x="10149840" y="1737360"/>
            <a:ext cx="731520" cy="731520"/>
          </a:xfrm>
          <a:prstGeom prst="rect">
            <a:avLst/>
          </a:prstGeom>
          <a:noFill/>
          <a:ln/>
        </p:spPr>
        <p:txBody>
          <a:bodyPr wrap="square" lIns="0" tIns="0" rIns="0" bIns="0" rtlCol="0" anchor="ctr"/>
          <a:lstStyle/>
          <a:p>
            <a:pPr marL="0" indent="0" algn="ctr">
              <a:buNone/>
            </a:pPr>
            <a:r>
              <a:rPr lang="en-US" sz="2600" dirty="0">
                <a:solidFill>
                  <a:srgbClr val="6B6B8A"/>
                </a:solidFill>
                <a:latin typeface="Calibri" pitchFamily="34" charset="0"/>
                <a:ea typeface="Calibri" pitchFamily="34" charset="-122"/>
                <a:cs typeface="Calibri" pitchFamily="34" charset="-120"/>
              </a:rPr>
              <a:t>…</a:t>
            </a:r>
            <a:endParaRPr lang="en-US" sz="2600" dirty="0"/>
          </a:p>
        </p:txBody>
      </p:sp>
      <p:sp>
        <p:nvSpPr>
          <p:cNvPr id="16" name="Shape 14"/>
          <p:cNvSpPr/>
          <p:nvPr/>
        </p:nvSpPr>
        <p:spPr>
          <a:xfrm>
            <a:off x="1783080" y="2487168"/>
            <a:ext cx="0" cy="457200"/>
          </a:xfrm>
          <a:prstGeom prst="line">
            <a:avLst/>
          </a:prstGeom>
          <a:noFill/>
          <a:ln w="25400">
            <a:solidFill>
              <a:srgbClr val="FF9F1C"/>
            </a:solidFill>
            <a:prstDash val="solid"/>
            <a:tailEnd type="triangle"/>
          </a:ln>
        </p:spPr>
      </p:sp>
      <p:sp>
        <p:nvSpPr>
          <p:cNvPr id="17" name="Shape 15"/>
          <p:cNvSpPr/>
          <p:nvPr/>
        </p:nvSpPr>
        <p:spPr>
          <a:xfrm>
            <a:off x="1051560" y="2971800"/>
            <a:ext cx="1463040" cy="566928"/>
          </a:xfrm>
          <a:prstGeom prst="roundRect">
            <a:avLst>
              <a:gd name="adj" fmla="val 12903"/>
            </a:avLst>
          </a:prstGeom>
          <a:solidFill>
            <a:srgbClr val="FF9F1C"/>
          </a:solidFill>
          <a:ln w="12700">
            <a:solidFill>
              <a:srgbClr val="FFFFFF"/>
            </a:solidFill>
            <a:prstDash val="solid"/>
          </a:ln>
        </p:spPr>
      </p:sp>
      <p:sp>
        <p:nvSpPr>
          <p:cNvPr id="18" name="Text 16"/>
          <p:cNvSpPr/>
          <p:nvPr/>
        </p:nvSpPr>
        <p:spPr>
          <a:xfrm>
            <a:off x="1051560" y="2971800"/>
            <a:ext cx="1463040" cy="566928"/>
          </a:xfrm>
          <a:prstGeom prst="rect">
            <a:avLst/>
          </a:prstGeom>
          <a:noFill/>
          <a:ln/>
        </p:spPr>
        <p:txBody>
          <a:bodyPr wrap="square" lIns="0" tIns="0" rIns="0" bIns="0" rtlCol="0" anchor="ctr"/>
          <a:lstStyle/>
          <a:p>
            <a:pPr marL="0" indent="0" algn="ctr">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19" name="Shape 17"/>
          <p:cNvSpPr/>
          <p:nvPr/>
        </p:nvSpPr>
        <p:spPr>
          <a:xfrm>
            <a:off x="4206240" y="2487168"/>
            <a:ext cx="0" cy="457200"/>
          </a:xfrm>
          <a:prstGeom prst="line">
            <a:avLst/>
          </a:prstGeom>
          <a:noFill/>
          <a:ln w="25400">
            <a:solidFill>
              <a:srgbClr val="FF9F1C"/>
            </a:solidFill>
            <a:prstDash val="solid"/>
            <a:tailEnd type="triangle"/>
          </a:ln>
        </p:spPr>
      </p:sp>
      <p:sp>
        <p:nvSpPr>
          <p:cNvPr id="20" name="Shape 18"/>
          <p:cNvSpPr/>
          <p:nvPr/>
        </p:nvSpPr>
        <p:spPr>
          <a:xfrm>
            <a:off x="3474720" y="2971800"/>
            <a:ext cx="1463040" cy="566928"/>
          </a:xfrm>
          <a:prstGeom prst="roundRect">
            <a:avLst>
              <a:gd name="adj" fmla="val 12903"/>
            </a:avLst>
          </a:prstGeom>
          <a:solidFill>
            <a:srgbClr val="FF9F1C"/>
          </a:solidFill>
          <a:ln w="12700">
            <a:solidFill>
              <a:srgbClr val="FFFFFF"/>
            </a:solidFill>
            <a:prstDash val="solid"/>
          </a:ln>
        </p:spPr>
      </p:sp>
      <p:sp>
        <p:nvSpPr>
          <p:cNvPr id="21" name="Text 19"/>
          <p:cNvSpPr/>
          <p:nvPr/>
        </p:nvSpPr>
        <p:spPr>
          <a:xfrm>
            <a:off x="3474720" y="2971800"/>
            <a:ext cx="1463040" cy="566928"/>
          </a:xfrm>
          <a:prstGeom prst="rect">
            <a:avLst/>
          </a:prstGeom>
          <a:noFill/>
          <a:ln/>
        </p:spPr>
        <p:txBody>
          <a:bodyPr wrap="square" lIns="0" tIns="0" rIns="0" bIns="0" rtlCol="0" anchor="ctr"/>
          <a:lstStyle/>
          <a:p>
            <a:pPr marL="0" indent="0" algn="ctr">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2" name="Shape 20"/>
          <p:cNvSpPr/>
          <p:nvPr/>
        </p:nvSpPr>
        <p:spPr>
          <a:xfrm>
            <a:off x="6629400" y="2487168"/>
            <a:ext cx="0" cy="457200"/>
          </a:xfrm>
          <a:prstGeom prst="line">
            <a:avLst/>
          </a:prstGeom>
          <a:noFill/>
          <a:ln w="25400">
            <a:solidFill>
              <a:srgbClr val="FF9F1C"/>
            </a:solidFill>
            <a:prstDash val="solid"/>
            <a:tailEnd type="triangle"/>
          </a:ln>
        </p:spPr>
      </p:sp>
      <p:sp>
        <p:nvSpPr>
          <p:cNvPr id="23" name="Shape 21"/>
          <p:cNvSpPr/>
          <p:nvPr/>
        </p:nvSpPr>
        <p:spPr>
          <a:xfrm>
            <a:off x="5897880" y="2971800"/>
            <a:ext cx="1463040" cy="566928"/>
          </a:xfrm>
          <a:prstGeom prst="roundRect">
            <a:avLst>
              <a:gd name="adj" fmla="val 12903"/>
            </a:avLst>
          </a:prstGeom>
          <a:solidFill>
            <a:srgbClr val="FF9F1C"/>
          </a:solidFill>
          <a:ln w="12700">
            <a:solidFill>
              <a:srgbClr val="FFFFFF"/>
            </a:solidFill>
            <a:prstDash val="solid"/>
          </a:ln>
        </p:spPr>
      </p:sp>
      <p:sp>
        <p:nvSpPr>
          <p:cNvPr id="24" name="Text 22"/>
          <p:cNvSpPr/>
          <p:nvPr/>
        </p:nvSpPr>
        <p:spPr>
          <a:xfrm>
            <a:off x="5897880" y="2971800"/>
            <a:ext cx="1463040" cy="566928"/>
          </a:xfrm>
          <a:prstGeom prst="rect">
            <a:avLst/>
          </a:prstGeom>
          <a:noFill/>
          <a:ln/>
        </p:spPr>
        <p:txBody>
          <a:bodyPr wrap="square" lIns="0" tIns="0" rIns="0" bIns="0" rtlCol="0" anchor="ctr"/>
          <a:lstStyle/>
          <a:p>
            <a:pPr marL="0" indent="0" algn="ctr">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5" name="Shape 23"/>
          <p:cNvSpPr/>
          <p:nvPr/>
        </p:nvSpPr>
        <p:spPr>
          <a:xfrm>
            <a:off x="9052560" y="2487168"/>
            <a:ext cx="0" cy="457200"/>
          </a:xfrm>
          <a:prstGeom prst="line">
            <a:avLst/>
          </a:prstGeom>
          <a:noFill/>
          <a:ln w="25400">
            <a:solidFill>
              <a:srgbClr val="FF9F1C"/>
            </a:solidFill>
            <a:prstDash val="solid"/>
            <a:tailEnd type="triangle"/>
          </a:ln>
        </p:spPr>
      </p:sp>
      <p:sp>
        <p:nvSpPr>
          <p:cNvPr id="26" name="Shape 24"/>
          <p:cNvSpPr/>
          <p:nvPr/>
        </p:nvSpPr>
        <p:spPr>
          <a:xfrm>
            <a:off x="8321040" y="2971800"/>
            <a:ext cx="1463040" cy="566928"/>
          </a:xfrm>
          <a:prstGeom prst="roundRect">
            <a:avLst>
              <a:gd name="adj" fmla="val 12903"/>
            </a:avLst>
          </a:prstGeom>
          <a:solidFill>
            <a:srgbClr val="FF9F1C"/>
          </a:solidFill>
          <a:ln w="12700">
            <a:solidFill>
              <a:srgbClr val="FFFFFF"/>
            </a:solidFill>
            <a:prstDash val="solid"/>
          </a:ln>
        </p:spPr>
      </p:sp>
      <p:sp>
        <p:nvSpPr>
          <p:cNvPr id="27" name="Text 25"/>
          <p:cNvSpPr/>
          <p:nvPr/>
        </p:nvSpPr>
        <p:spPr>
          <a:xfrm>
            <a:off x="8321040" y="2971800"/>
            <a:ext cx="1463040" cy="566928"/>
          </a:xfrm>
          <a:prstGeom prst="rect">
            <a:avLst/>
          </a:prstGeom>
          <a:noFill/>
          <a:ln/>
        </p:spPr>
        <p:txBody>
          <a:bodyPr wrap="square" lIns="0" tIns="0" rIns="0" bIns="0" rtlCol="0" anchor="ctr"/>
          <a:lstStyle/>
          <a:p>
            <a:pPr marL="0" indent="0" algn="ctr">
              <a:buNone/>
            </a:pPr>
            <a:r>
              <a:rPr lang="en-US" sz="1150" b="1" dirty="0">
                <a:solidFill>
                  <a:srgbClr val="3A2400"/>
                </a:solidFill>
                <a:latin typeface="Calibri" pitchFamily="34" charset="0"/>
                <a:ea typeface="Calibri" pitchFamily="34" charset="-122"/>
                <a:cs typeface="Calibri" pitchFamily="34" charset="-120"/>
              </a:rPr>
              <a:t>snapshot</a:t>
            </a:r>
            <a:endParaRPr lang="en-US" sz="1150" dirty="0"/>
          </a:p>
        </p:txBody>
      </p:sp>
      <p:sp>
        <p:nvSpPr>
          <p:cNvPr id="28" name="Shape 26"/>
          <p:cNvSpPr/>
          <p:nvPr/>
        </p:nvSpPr>
        <p:spPr>
          <a:xfrm>
            <a:off x="640080" y="3794760"/>
            <a:ext cx="10881360" cy="457200"/>
          </a:xfrm>
          <a:prstGeom prst="roundRect">
            <a:avLst>
              <a:gd name="adj" fmla="val 20000"/>
            </a:avLst>
          </a:prstGeom>
          <a:solidFill>
            <a:srgbClr val="16163A"/>
          </a:solidFill>
          <a:ln w="12700">
            <a:solidFill>
              <a:srgbClr val="FFFFFF"/>
            </a:solidFill>
            <a:prstDash val="solid"/>
          </a:ln>
        </p:spPr>
      </p:sp>
      <p:sp>
        <p:nvSpPr>
          <p:cNvPr id="29" name="Text 27"/>
          <p:cNvSpPr/>
          <p:nvPr/>
        </p:nvSpPr>
        <p:spPr>
          <a:xfrm>
            <a:off x="640080" y="3794760"/>
            <a:ext cx="1088136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one thread   ·   {"configurable": {"thread_id": "user-42"}}</a:t>
            </a:r>
            <a:endParaRPr lang="en-US" sz="1400" dirty="0"/>
          </a:p>
        </p:txBody>
      </p:sp>
      <p:sp>
        <p:nvSpPr>
          <p:cNvPr id="30" name="Shape 28"/>
          <p:cNvSpPr/>
          <p:nvPr/>
        </p:nvSpPr>
        <p:spPr>
          <a:xfrm>
            <a:off x="640080" y="4526280"/>
            <a:ext cx="6035040" cy="1691640"/>
          </a:xfrm>
          <a:prstGeom prst="roundRect">
            <a:avLst>
              <a:gd name="adj" fmla="val 4324"/>
            </a:avLst>
          </a:prstGeom>
          <a:solidFill>
            <a:srgbClr val="1B1B3A"/>
          </a:solidFill>
          <a:ln w="12700">
            <a:solidFill>
              <a:srgbClr val="FFFFFF"/>
            </a:solidFill>
            <a:prstDash val="solid"/>
          </a:ln>
          <a:effectLst>
            <a:outerShdw blurRad="127000" dist="25400" dir="5400000" algn="bl" rotWithShape="0">
              <a:srgbClr val="1A1A3A">
                <a:alpha val="10000"/>
              </a:srgbClr>
            </a:outerShdw>
          </a:effectLst>
        </p:spPr>
      </p:sp>
      <p:sp>
        <p:nvSpPr>
          <p:cNvPr id="31" name="Text 29"/>
          <p:cNvSpPr/>
          <p:nvPr/>
        </p:nvSpPr>
        <p:spPr>
          <a:xfrm>
            <a:off x="841248" y="4672584"/>
            <a:ext cx="5632704" cy="1399032"/>
          </a:xfrm>
          <a:prstGeom prst="rect">
            <a:avLst/>
          </a:prstGeom>
          <a:noFill/>
          <a:ln/>
        </p:spPr>
        <p:txBody>
          <a:bodyPr wrap="square" lIns="0" tIns="0" rIns="0" bIns="0" rtlCol="0" anchor="t"/>
          <a:lstStyle/>
          <a:p>
            <a:pPr marL="0" indent="0">
              <a:lnSpc>
                <a:spcPts val="2170"/>
              </a:lnSpc>
              <a:buNone/>
            </a:pPr>
            <a:r>
              <a:rPr lang="en-US" sz="1400" dirty="0">
                <a:solidFill>
                  <a:srgbClr val="9E99CC"/>
                </a:solidFill>
                <a:latin typeface="Courier New" pitchFamily="34" charset="0"/>
                <a:ea typeface="Courier New" pitchFamily="34" charset="-122"/>
                <a:cs typeface="Courier New" pitchFamily="34" charset="-120"/>
              </a:rPr>
              <a:t>from langgraph.checkpoint.memory \</a:t>
            </a:r>
            <a:endParaRPr lang="en-US" sz="1400" dirty="0"/>
          </a:p>
          <a:p>
            <a:pPr marL="0" indent="0">
              <a:lnSpc>
                <a:spcPts val="2170"/>
              </a:lnSpc>
              <a:buNone/>
            </a:pPr>
            <a:r>
              <a:rPr lang="en-US" sz="1400" dirty="0">
                <a:solidFill>
                  <a:srgbClr val="9E99CC"/>
                </a:solidFill>
                <a:latin typeface="Courier New" pitchFamily="34" charset="0"/>
                <a:ea typeface="Courier New" pitchFamily="34" charset="-122"/>
                <a:cs typeface="Courier New" pitchFamily="34" charset="-120"/>
              </a:rPr>
              <a:t>     import InMemorySaver</a:t>
            </a:r>
            <a:endParaRPr lang="en-US" sz="1400" dirty="0"/>
          </a:p>
          <a:p>
            <a:pPr marL="0" indent="0">
              <a:lnSpc>
                <a:spcPts val="2170"/>
              </a:lnSpc>
              <a:buNone/>
            </a:pPr>
            <a:endParaRPr lang="en-US" sz="1400" dirty="0"/>
          </a:p>
          <a:p>
            <a:pPr marL="0" indent="0">
              <a:lnSpc>
                <a:spcPts val="2170"/>
              </a:lnSpc>
              <a:buNone/>
            </a:pPr>
            <a:r>
              <a:rPr lang="en-US" sz="1400" dirty="0">
                <a:solidFill>
                  <a:srgbClr val="E6E3FA"/>
                </a:solidFill>
                <a:latin typeface="Courier New" pitchFamily="34" charset="0"/>
                <a:ea typeface="Courier New" pitchFamily="34" charset="-122"/>
                <a:cs typeface="Courier New" pitchFamily="34" charset="-120"/>
              </a:rPr>
              <a:t>graph = builder.compile(</a:t>
            </a:r>
            <a:endParaRPr lang="en-US" sz="1400" dirty="0"/>
          </a:p>
          <a:p>
            <a:pPr marL="0" indent="0">
              <a:lnSpc>
                <a:spcPts val="2170"/>
              </a:lnSpc>
              <a:buNone/>
            </a:pPr>
            <a:r>
              <a:rPr lang="en-US" sz="1400" dirty="0">
                <a:solidFill>
                  <a:srgbClr val="9AE6B4"/>
                </a:solidFill>
                <a:latin typeface="Courier New" pitchFamily="34" charset="0"/>
                <a:ea typeface="Courier New" pitchFamily="34" charset="-122"/>
                <a:cs typeface="Courier New" pitchFamily="34" charset="-120"/>
              </a:rPr>
              <a:t>    checkpointer=InMemorySaver())</a:t>
            </a:r>
            <a:endParaRPr lang="en-US" sz="1400" dirty="0"/>
          </a:p>
        </p:txBody>
      </p:sp>
      <p:sp>
        <p:nvSpPr>
          <p:cNvPr id="32" name="Text 30"/>
          <p:cNvSpPr/>
          <p:nvPr/>
        </p:nvSpPr>
        <p:spPr>
          <a:xfrm>
            <a:off x="7040880" y="4572000"/>
            <a:ext cx="4480560" cy="1737360"/>
          </a:xfrm>
          <a:prstGeom prst="rect">
            <a:avLst/>
          </a:prstGeom>
          <a:noFill/>
          <a:ln/>
        </p:spPr>
        <p:txBody>
          <a:bodyPr wrap="square" lIns="0" tIns="0" rIns="0" bIns="0" rtlCol="0" anchor="t"/>
          <a:lstStyle/>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A checkpoint is one snapshot of state.</a:t>
            </a:r>
            <a:endParaRPr lang="en-US" sz="1450" dirty="0"/>
          </a:p>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A thread groups them. Same thread_id, same history.</a:t>
            </a:r>
            <a:endParaRPr lang="en-US" sz="1450" dirty="0"/>
          </a:p>
          <a:p>
            <a:pPr marL="342900" indent="-342900">
              <a:lnSpc>
                <a:spcPts val="1958"/>
              </a:lnSpc>
              <a:spcAft>
                <a:spcPts val="1000"/>
              </a:spcAft>
              <a:buSzPct val="100000"/>
              <a:buChar char="•"/>
            </a:pPr>
            <a:r>
              <a:rPr lang="en-US" sz="1450" dirty="0">
                <a:solidFill>
                  <a:srgbClr val="16163A"/>
                </a:solidFill>
                <a:latin typeface="Calibri" pitchFamily="34" charset="0"/>
                <a:ea typeface="Calibri" pitchFamily="34" charset="-122"/>
                <a:cs typeface="Calibri" pitchFamily="34" charset="-120"/>
              </a:rPr>
              <a:t>Swap in SqliteSaver or PostgresSaver for real systems.</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CHECKPOINTING  ·  WHY IT MATTERS</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Four things you could not do before</a:t>
            </a:r>
            <a:endParaRPr lang="en-US" sz="3200" dirty="0"/>
          </a:p>
        </p:txBody>
      </p:sp>
      <p:sp>
        <p:nvSpPr>
          <p:cNvPr id="4" name="Shape 2"/>
          <p:cNvSpPr/>
          <p:nvPr/>
        </p:nvSpPr>
        <p:spPr>
          <a:xfrm>
            <a:off x="640080" y="155448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5" name="Text 3"/>
          <p:cNvSpPr/>
          <p:nvPr/>
        </p:nvSpPr>
        <p:spPr>
          <a:xfrm>
            <a:off x="914400" y="1783080"/>
            <a:ext cx="731520" cy="822960"/>
          </a:xfrm>
          <a:prstGeom prst="rect">
            <a:avLst/>
          </a:prstGeom>
          <a:noFill/>
          <a:ln/>
        </p:spPr>
        <p:txBody>
          <a:bodyPr wrap="square" lIns="0" tIns="0" rIns="0" bIns="0" rtlCol="0" anchor="ctr"/>
          <a:lstStyle/>
          <a:p>
            <a:pPr marL="0" indent="0">
              <a:buNone/>
            </a:pPr>
            <a:r>
              <a:rPr lang="en-US" sz="4000" b="1" dirty="0">
                <a:solidFill>
                  <a:srgbClr val="D9D5F2"/>
                </a:solidFill>
                <a:latin typeface="Cambria" pitchFamily="34" charset="0"/>
                <a:ea typeface="Cambria" pitchFamily="34" charset="-122"/>
                <a:cs typeface="Cambria" pitchFamily="34" charset="-120"/>
              </a:rPr>
              <a:t>1</a:t>
            </a:r>
            <a:endParaRPr lang="en-US" sz="4000" dirty="0"/>
          </a:p>
        </p:txBody>
      </p:sp>
      <p:sp>
        <p:nvSpPr>
          <p:cNvPr id="6" name="Text 4"/>
          <p:cNvSpPr/>
          <p:nvPr/>
        </p:nvSpPr>
        <p:spPr>
          <a:xfrm>
            <a:off x="1783080" y="1847088"/>
            <a:ext cx="3931920" cy="411480"/>
          </a:xfrm>
          <a:prstGeom prst="rect">
            <a:avLst/>
          </a:prstGeom>
          <a:noFill/>
          <a:ln/>
        </p:spPr>
        <p:txBody>
          <a:bodyPr wrap="square" lIns="0" tIns="0" rIns="0" bIns="0" rtlCol="0" anchor="ctr"/>
          <a:lstStyle/>
          <a:p>
            <a:pPr marL="0" indent="0">
              <a:buNone/>
            </a:pPr>
            <a:r>
              <a:rPr lang="en-US" sz="1900" b="1" dirty="0">
                <a:solidFill>
                  <a:srgbClr val="16163A"/>
                </a:solidFill>
                <a:latin typeface="Calibri" pitchFamily="34" charset="0"/>
                <a:ea typeface="Calibri" pitchFamily="34" charset="-122"/>
                <a:cs typeface="Calibri" pitchFamily="34" charset="-120"/>
              </a:rPr>
              <a:t>Resume</a:t>
            </a:r>
            <a:endParaRPr lang="en-US" sz="1900" dirty="0"/>
          </a:p>
        </p:txBody>
      </p:sp>
      <p:sp>
        <p:nvSpPr>
          <p:cNvPr id="7" name="Text 5"/>
          <p:cNvSpPr/>
          <p:nvPr/>
        </p:nvSpPr>
        <p:spPr>
          <a:xfrm>
            <a:off x="1783080" y="2331720"/>
            <a:ext cx="3931920" cy="9144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It died on step nine? Restart from checkpoint eight. Not from the beginning.</a:t>
            </a:r>
            <a:endParaRPr lang="en-US" sz="1400" dirty="0"/>
          </a:p>
        </p:txBody>
      </p:sp>
      <p:sp>
        <p:nvSpPr>
          <p:cNvPr id="8" name="Shape 6"/>
          <p:cNvSpPr/>
          <p:nvPr/>
        </p:nvSpPr>
        <p:spPr>
          <a:xfrm>
            <a:off x="6263640" y="155448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9" name="Text 7"/>
          <p:cNvSpPr/>
          <p:nvPr/>
        </p:nvSpPr>
        <p:spPr>
          <a:xfrm>
            <a:off x="6537960" y="1783080"/>
            <a:ext cx="731520" cy="822960"/>
          </a:xfrm>
          <a:prstGeom prst="rect">
            <a:avLst/>
          </a:prstGeom>
          <a:noFill/>
          <a:ln/>
        </p:spPr>
        <p:txBody>
          <a:bodyPr wrap="square" lIns="0" tIns="0" rIns="0" bIns="0" rtlCol="0" anchor="ctr"/>
          <a:lstStyle/>
          <a:p>
            <a:pPr marL="0" indent="0">
              <a:buNone/>
            </a:pPr>
            <a:r>
              <a:rPr lang="en-US" sz="4000" b="1" dirty="0">
                <a:solidFill>
                  <a:srgbClr val="D9D5F2"/>
                </a:solidFill>
                <a:latin typeface="Cambria" pitchFamily="34" charset="0"/>
                <a:ea typeface="Cambria" pitchFamily="34" charset="-122"/>
                <a:cs typeface="Cambria" pitchFamily="34" charset="-120"/>
              </a:rPr>
              <a:t>2</a:t>
            </a:r>
            <a:endParaRPr lang="en-US" sz="4000" dirty="0"/>
          </a:p>
        </p:txBody>
      </p:sp>
      <p:sp>
        <p:nvSpPr>
          <p:cNvPr id="10" name="Text 8"/>
          <p:cNvSpPr/>
          <p:nvPr/>
        </p:nvSpPr>
        <p:spPr>
          <a:xfrm>
            <a:off x="7406640" y="1847088"/>
            <a:ext cx="3931920" cy="411480"/>
          </a:xfrm>
          <a:prstGeom prst="rect">
            <a:avLst/>
          </a:prstGeom>
          <a:noFill/>
          <a:ln/>
        </p:spPr>
        <p:txBody>
          <a:bodyPr wrap="square" lIns="0" tIns="0" rIns="0" bIns="0" rtlCol="0" anchor="ctr"/>
          <a:lstStyle/>
          <a:p>
            <a:pPr marL="0" indent="0">
              <a:buNone/>
            </a:pPr>
            <a:r>
              <a:rPr lang="en-US" sz="1900" b="1" dirty="0">
                <a:solidFill>
                  <a:srgbClr val="16163A"/>
                </a:solidFill>
                <a:latin typeface="Calibri" pitchFamily="34" charset="0"/>
                <a:ea typeface="Calibri" pitchFamily="34" charset="-122"/>
                <a:cs typeface="Calibri" pitchFamily="34" charset="-120"/>
              </a:rPr>
              <a:t>Memory</a:t>
            </a:r>
            <a:endParaRPr lang="en-US" sz="1900" dirty="0"/>
          </a:p>
        </p:txBody>
      </p:sp>
      <p:sp>
        <p:nvSpPr>
          <p:cNvPr id="11" name="Text 9"/>
          <p:cNvSpPr/>
          <p:nvPr/>
        </p:nvSpPr>
        <p:spPr>
          <a:xfrm>
            <a:off x="7406640" y="2331720"/>
            <a:ext cx="3931920" cy="9144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A follow-up on the same thread_id already has the whole history behind it.</a:t>
            </a:r>
            <a:endParaRPr lang="en-US" sz="1400" dirty="0"/>
          </a:p>
        </p:txBody>
      </p:sp>
      <p:sp>
        <p:nvSpPr>
          <p:cNvPr id="12" name="Shape 10"/>
          <p:cNvSpPr/>
          <p:nvPr/>
        </p:nvSpPr>
        <p:spPr>
          <a:xfrm>
            <a:off x="640080" y="3749040"/>
            <a:ext cx="5349240" cy="1920240"/>
          </a:xfrm>
          <a:prstGeom prst="roundRect">
            <a:avLst>
              <a:gd name="adj" fmla="val 4762"/>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3" name="Text 11"/>
          <p:cNvSpPr/>
          <p:nvPr/>
        </p:nvSpPr>
        <p:spPr>
          <a:xfrm>
            <a:off x="914400" y="3977640"/>
            <a:ext cx="731520" cy="822960"/>
          </a:xfrm>
          <a:prstGeom prst="rect">
            <a:avLst/>
          </a:prstGeom>
          <a:noFill/>
          <a:ln/>
        </p:spPr>
        <p:txBody>
          <a:bodyPr wrap="square" lIns="0" tIns="0" rIns="0" bIns="0" rtlCol="0" anchor="ctr"/>
          <a:lstStyle/>
          <a:p>
            <a:pPr marL="0" indent="0">
              <a:buNone/>
            </a:pPr>
            <a:r>
              <a:rPr lang="en-US" sz="4000" b="1" dirty="0">
                <a:solidFill>
                  <a:srgbClr val="D9D5F2"/>
                </a:solidFill>
                <a:latin typeface="Cambria" pitchFamily="34" charset="0"/>
                <a:ea typeface="Cambria" pitchFamily="34" charset="-122"/>
                <a:cs typeface="Cambria" pitchFamily="34" charset="-120"/>
              </a:rPr>
              <a:t>3</a:t>
            </a:r>
            <a:endParaRPr lang="en-US" sz="4000" dirty="0"/>
          </a:p>
        </p:txBody>
      </p:sp>
      <p:sp>
        <p:nvSpPr>
          <p:cNvPr id="14" name="Text 12"/>
          <p:cNvSpPr/>
          <p:nvPr/>
        </p:nvSpPr>
        <p:spPr>
          <a:xfrm>
            <a:off x="1783080" y="4041648"/>
            <a:ext cx="3931920" cy="411480"/>
          </a:xfrm>
          <a:prstGeom prst="rect">
            <a:avLst/>
          </a:prstGeom>
          <a:noFill/>
          <a:ln/>
        </p:spPr>
        <p:txBody>
          <a:bodyPr wrap="square" lIns="0" tIns="0" rIns="0" bIns="0" rtlCol="0" anchor="ctr"/>
          <a:lstStyle/>
          <a:p>
            <a:pPr marL="0" indent="0">
              <a:buNone/>
            </a:pPr>
            <a:r>
              <a:rPr lang="en-US" sz="1900" b="1" dirty="0">
                <a:solidFill>
                  <a:srgbClr val="16163A"/>
                </a:solidFill>
                <a:latin typeface="Calibri" pitchFamily="34" charset="0"/>
                <a:ea typeface="Calibri" pitchFamily="34" charset="-122"/>
                <a:cs typeface="Calibri" pitchFamily="34" charset="-120"/>
              </a:rPr>
              <a:t>Time travel</a:t>
            </a:r>
            <a:endParaRPr lang="en-US" sz="1900" dirty="0"/>
          </a:p>
        </p:txBody>
      </p:sp>
      <p:sp>
        <p:nvSpPr>
          <p:cNvPr id="15" name="Text 13"/>
          <p:cNvSpPr/>
          <p:nvPr/>
        </p:nvSpPr>
        <p:spPr>
          <a:xfrm>
            <a:off x="1783080" y="4526280"/>
            <a:ext cx="3931920" cy="9144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Replay from any checkpoint. Change one value and see what would have happened.</a:t>
            </a:r>
            <a:endParaRPr lang="en-US" sz="1400" dirty="0"/>
          </a:p>
        </p:txBody>
      </p:sp>
      <p:sp>
        <p:nvSpPr>
          <p:cNvPr id="16" name="Shape 14"/>
          <p:cNvSpPr/>
          <p:nvPr/>
        </p:nvSpPr>
        <p:spPr>
          <a:xfrm>
            <a:off x="6263640" y="3749040"/>
            <a:ext cx="5349240" cy="1920240"/>
          </a:xfrm>
          <a:prstGeom prst="roundRect">
            <a:avLst>
              <a:gd name="adj" fmla="val 4762"/>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7" name="Text 15"/>
          <p:cNvSpPr/>
          <p:nvPr/>
        </p:nvSpPr>
        <p:spPr>
          <a:xfrm>
            <a:off x="6537960" y="3977640"/>
            <a:ext cx="731520" cy="822960"/>
          </a:xfrm>
          <a:prstGeom prst="rect">
            <a:avLst/>
          </a:prstGeom>
          <a:noFill/>
          <a:ln/>
        </p:spPr>
        <p:txBody>
          <a:bodyPr wrap="square" lIns="0" tIns="0" rIns="0" bIns="0" rtlCol="0" anchor="ctr"/>
          <a:lstStyle/>
          <a:p>
            <a:pPr marL="0" indent="0">
              <a:buNone/>
            </a:pPr>
            <a:r>
              <a:rPr lang="en-US" sz="4000" b="1" dirty="0">
                <a:solidFill>
                  <a:srgbClr val="FF9F1C"/>
                </a:solidFill>
                <a:latin typeface="Cambria" pitchFamily="34" charset="0"/>
                <a:ea typeface="Cambria" pitchFamily="34" charset="-122"/>
                <a:cs typeface="Cambria" pitchFamily="34" charset="-120"/>
              </a:rPr>
              <a:t>4</a:t>
            </a:r>
            <a:endParaRPr lang="en-US" sz="4000" dirty="0"/>
          </a:p>
        </p:txBody>
      </p:sp>
      <p:sp>
        <p:nvSpPr>
          <p:cNvPr id="18" name="Text 16"/>
          <p:cNvSpPr/>
          <p:nvPr/>
        </p:nvSpPr>
        <p:spPr>
          <a:xfrm>
            <a:off x="7406640" y="4041648"/>
            <a:ext cx="3931920" cy="411480"/>
          </a:xfrm>
          <a:prstGeom prst="rect">
            <a:avLst/>
          </a:prstGeom>
          <a:noFill/>
          <a:ln/>
        </p:spPr>
        <p:txBody>
          <a:bodyPr wrap="square" lIns="0" tIns="0" rIns="0" bIns="0" rtlCol="0" anchor="ctr"/>
          <a:lstStyle/>
          <a:p>
            <a:pPr marL="0" indent="0">
              <a:buNone/>
            </a:pPr>
            <a:r>
              <a:rPr lang="en-US" sz="1900" b="1" dirty="0">
                <a:solidFill>
                  <a:srgbClr val="16163A"/>
                </a:solidFill>
                <a:latin typeface="Calibri" pitchFamily="34" charset="0"/>
                <a:ea typeface="Calibri" pitchFamily="34" charset="-122"/>
                <a:cs typeface="Calibri" pitchFamily="34" charset="-120"/>
              </a:rPr>
              <a:t>Human in the loop</a:t>
            </a:r>
            <a:endParaRPr lang="en-US" sz="1900" dirty="0"/>
          </a:p>
        </p:txBody>
      </p:sp>
      <p:sp>
        <p:nvSpPr>
          <p:cNvPr id="19" name="Text 17"/>
          <p:cNvSpPr/>
          <p:nvPr/>
        </p:nvSpPr>
        <p:spPr>
          <a:xfrm>
            <a:off x="7406640" y="4526280"/>
            <a:ext cx="3931920" cy="914400"/>
          </a:xfrm>
          <a:prstGeom prst="rect">
            <a:avLst/>
          </a:prstGeom>
          <a:noFill/>
          <a:ln/>
        </p:spPr>
        <p:txBody>
          <a:bodyPr wrap="square" lIns="0" tIns="0" rIns="0" bIns="0" rtlCol="0" anchor="t"/>
          <a:lstStyle/>
          <a:p>
            <a:pPr marL="0" indent="0">
              <a:lnSpc>
                <a:spcPts val="1900"/>
              </a:lnSpc>
              <a:buNone/>
            </a:pPr>
            <a:r>
              <a:rPr lang="en-US" sz="1400" dirty="0">
                <a:solidFill>
                  <a:srgbClr val="6B6B8A"/>
                </a:solidFill>
                <a:latin typeface="Calibri" pitchFamily="34" charset="0"/>
                <a:ea typeface="Calibri" pitchFamily="34" charset="-122"/>
                <a:cs typeface="Calibri" pitchFamily="34" charset="-120"/>
              </a:rPr>
              <a:t>Pause before a step, let a person read and edit state, then continue.</a:t>
            </a:r>
            <a:endParaRPr lang="en-US" sz="1400" dirty="0"/>
          </a:p>
        </p:txBody>
      </p:sp>
      <p:sp>
        <p:nvSpPr>
          <p:cNvPr id="20" name="Shape 18"/>
          <p:cNvSpPr/>
          <p:nvPr/>
        </p:nvSpPr>
        <p:spPr>
          <a:xfrm>
            <a:off x="640080" y="5806440"/>
            <a:ext cx="10881360" cy="731520"/>
          </a:xfrm>
          <a:prstGeom prst="roundRect">
            <a:avLst>
              <a:gd name="adj" fmla="val 12500"/>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1" name="Text 19"/>
          <p:cNvSpPr/>
          <p:nvPr/>
        </p:nvSpPr>
        <p:spPr>
          <a:xfrm>
            <a:off x="1005840" y="5806440"/>
            <a:ext cx="10149840" cy="73152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Go back four slides. Crash, follow-up, no record, nowhere to pause — that was the list. This is the answer to all four.</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63A"/>
        </a:solidFill>
        <a:effectLst/>
      </p:bgPr>
    </p:bg>
    <p:spTree>
      <p:nvGrpSpPr>
        <p:cNvPr id="1" name=""/>
        <p:cNvGrpSpPr/>
        <p:nvPr/>
      </p:nvGrpSpPr>
      <p:grpSpPr>
        <a:xfrm>
          <a:off x="0" y="0"/>
          <a:ext cx="0" cy="0"/>
          <a:chOff x="0" y="0"/>
          <a:chExt cx="0" cy="0"/>
        </a:xfrm>
      </p:grpSpPr>
      <p:sp>
        <p:nvSpPr>
          <p:cNvPr id="2" name="Text 0"/>
          <p:cNvSpPr/>
          <p:nvPr/>
        </p:nvSpPr>
        <p:spPr>
          <a:xfrm>
            <a:off x="685800" y="548640"/>
            <a:ext cx="10881360" cy="320040"/>
          </a:xfrm>
          <a:prstGeom prst="rect">
            <a:avLst/>
          </a:prstGeom>
          <a:noFill/>
          <a:ln/>
        </p:spPr>
        <p:txBody>
          <a:bodyPr wrap="square" lIns="0" tIns="0" rIns="0" bIns="0" rtlCol="0" anchor="ctr"/>
          <a:lstStyle/>
          <a:p>
            <a:pPr marL="0" indent="0">
              <a:buNone/>
            </a:pPr>
            <a:r>
              <a:rPr lang="en-US" sz="1300" b="1" kern="0" spc="200" dirty="0">
                <a:solidFill>
                  <a:srgbClr val="FF9F1C"/>
                </a:solidFill>
                <a:latin typeface="Calibri" pitchFamily="34" charset="0"/>
                <a:ea typeface="Calibri" pitchFamily="34" charset="-122"/>
                <a:cs typeface="Calibri" pitchFamily="34" charset="-120"/>
              </a:rPr>
              <a:t>LIVE  ·  12 MINUTES</a:t>
            </a:r>
            <a:endParaRPr lang="en-US" sz="1300" dirty="0"/>
          </a:p>
        </p:txBody>
      </p:sp>
      <p:sp>
        <p:nvSpPr>
          <p:cNvPr id="3" name="Text 1"/>
          <p:cNvSpPr/>
          <p:nvPr/>
        </p:nvSpPr>
        <p:spPr>
          <a:xfrm>
            <a:off x="685800" y="914400"/>
            <a:ext cx="10881360" cy="594360"/>
          </a:xfrm>
          <a:prstGeom prst="rect">
            <a:avLst/>
          </a:prstGeom>
          <a:noFill/>
          <a:ln/>
        </p:spPr>
        <p:txBody>
          <a:bodyPr wrap="square" lIns="0" tIns="0" rIns="0" bIns="0" rtlCol="0" anchor="ctr"/>
          <a:lstStyle/>
          <a:p>
            <a:pPr marL="0" indent="0">
              <a:buNone/>
            </a:pPr>
            <a:r>
              <a:rPr lang="en-US" sz="3300" b="1" dirty="0">
                <a:solidFill>
                  <a:srgbClr val="FFFFFF"/>
                </a:solidFill>
                <a:latin typeface="Cambria" pitchFamily="34" charset="0"/>
                <a:ea typeface="Cambria" pitchFamily="34" charset="-122"/>
                <a:cs typeface="Cambria" pitchFamily="34" charset="-120"/>
              </a:rPr>
              <a:t>A graph that criticises itself and tries again</a:t>
            </a:r>
            <a:endParaRPr lang="en-US" sz="3300" dirty="0"/>
          </a:p>
        </p:txBody>
      </p:sp>
      <p:sp>
        <p:nvSpPr>
          <p:cNvPr id="4" name="Shape 2"/>
          <p:cNvSpPr/>
          <p:nvPr/>
        </p:nvSpPr>
        <p:spPr>
          <a:xfrm>
            <a:off x="2194560" y="2148840"/>
            <a:ext cx="2560320" cy="1325880"/>
          </a:xfrm>
          <a:prstGeom prst="roundRect">
            <a:avLst>
              <a:gd name="adj" fmla="val 6897"/>
            </a:avLst>
          </a:prstGeom>
          <a:solidFill>
            <a:srgbClr val="5B4BC4"/>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2194560" y="2286000"/>
            <a:ext cx="2560320" cy="4114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write</a:t>
            </a:r>
            <a:endParaRPr lang="en-US" sz="1900" dirty="0"/>
          </a:p>
        </p:txBody>
      </p:sp>
      <p:sp>
        <p:nvSpPr>
          <p:cNvPr id="6" name="Text 4"/>
          <p:cNvSpPr/>
          <p:nvPr/>
        </p:nvSpPr>
        <p:spPr>
          <a:xfrm>
            <a:off x="2194560" y="2761488"/>
            <a:ext cx="2560320" cy="320040"/>
          </a:xfrm>
          <a:prstGeom prst="rect">
            <a:avLst/>
          </a:prstGeom>
          <a:noFill/>
          <a:ln/>
        </p:spPr>
        <p:txBody>
          <a:bodyPr wrap="square" lIns="0" tIns="0" rIns="0" bIns="0" rtlCol="0" anchor="ctr"/>
          <a:lstStyle/>
          <a:p>
            <a:pPr marL="0" indent="0" algn="ctr">
              <a:buNone/>
            </a:pPr>
            <a:r>
              <a:rPr lang="en-US" sz="1150" dirty="0">
                <a:solidFill>
                  <a:srgbClr val="9E99CC"/>
                </a:solidFill>
                <a:latin typeface="Calibri" pitchFamily="34" charset="0"/>
                <a:ea typeface="Calibri" pitchFamily="34" charset="-122"/>
                <a:cs typeface="Calibri" pitchFamily="34" charset="-120"/>
              </a:rPr>
              <a:t>LLM call</a:t>
            </a:r>
            <a:endParaRPr lang="en-US" sz="1150" dirty="0"/>
          </a:p>
        </p:txBody>
      </p:sp>
      <p:sp>
        <p:nvSpPr>
          <p:cNvPr id="7" name="Shape 5"/>
          <p:cNvSpPr/>
          <p:nvPr/>
        </p:nvSpPr>
        <p:spPr>
          <a:xfrm>
            <a:off x="6035040" y="2148840"/>
            <a:ext cx="2560320" cy="1325880"/>
          </a:xfrm>
          <a:prstGeom prst="roundRect">
            <a:avLst>
              <a:gd name="adj" fmla="val 6897"/>
            </a:avLst>
          </a:prstGeom>
          <a:solidFill>
            <a:srgbClr val="242450"/>
          </a:solidFill>
          <a:ln w="12700">
            <a:solidFill>
              <a:srgbClr val="FFFFFF"/>
            </a:solidFill>
            <a:prstDash val="solid"/>
          </a:ln>
          <a:effectLst>
            <a:outerShdw blurRad="127000" dist="25400" dir="5400000" algn="bl" rotWithShape="0">
              <a:srgbClr val="1A1A3A">
                <a:alpha val="10000"/>
              </a:srgbClr>
            </a:outerShdw>
          </a:effectLst>
        </p:spPr>
      </p:sp>
      <p:sp>
        <p:nvSpPr>
          <p:cNvPr id="8" name="Text 6"/>
          <p:cNvSpPr/>
          <p:nvPr/>
        </p:nvSpPr>
        <p:spPr>
          <a:xfrm>
            <a:off x="6035040" y="2286000"/>
            <a:ext cx="2560320" cy="4114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review</a:t>
            </a:r>
            <a:endParaRPr lang="en-US" sz="1900" dirty="0"/>
          </a:p>
        </p:txBody>
      </p:sp>
      <p:sp>
        <p:nvSpPr>
          <p:cNvPr id="9" name="Text 7"/>
          <p:cNvSpPr/>
          <p:nvPr/>
        </p:nvSpPr>
        <p:spPr>
          <a:xfrm>
            <a:off x="6035040" y="2761488"/>
            <a:ext cx="2560320" cy="320040"/>
          </a:xfrm>
          <a:prstGeom prst="rect">
            <a:avLst/>
          </a:prstGeom>
          <a:noFill/>
          <a:ln/>
        </p:spPr>
        <p:txBody>
          <a:bodyPr wrap="square" lIns="0" tIns="0" rIns="0" bIns="0" rtlCol="0" anchor="ctr"/>
          <a:lstStyle/>
          <a:p>
            <a:pPr marL="0" indent="0" algn="ctr">
              <a:buNone/>
            </a:pPr>
            <a:r>
              <a:rPr lang="en-US" sz="1150" dirty="0">
                <a:solidFill>
                  <a:srgbClr val="9E99CC"/>
                </a:solidFill>
                <a:latin typeface="Calibri" pitchFamily="34" charset="0"/>
                <a:ea typeface="Calibri" pitchFamily="34" charset="-122"/>
                <a:cs typeface="Calibri" pitchFamily="34" charset="-120"/>
              </a:rPr>
              <a:t>plain Python</a:t>
            </a:r>
            <a:endParaRPr lang="en-US" sz="1150" dirty="0"/>
          </a:p>
        </p:txBody>
      </p:sp>
      <p:sp>
        <p:nvSpPr>
          <p:cNvPr id="10" name="Shape 8"/>
          <p:cNvSpPr/>
          <p:nvPr/>
        </p:nvSpPr>
        <p:spPr>
          <a:xfrm>
            <a:off x="9692640" y="2240280"/>
            <a:ext cx="1645920" cy="731520"/>
          </a:xfrm>
          <a:prstGeom prst="roundRect">
            <a:avLst>
              <a:gd name="adj" fmla="val 12500"/>
            </a:avLst>
          </a:prstGeom>
          <a:solidFill>
            <a:srgbClr val="FF9F1C"/>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9692640" y="2240280"/>
            <a:ext cx="1645920" cy="731520"/>
          </a:xfrm>
          <a:prstGeom prst="rect">
            <a:avLst/>
          </a:prstGeom>
          <a:noFill/>
          <a:ln/>
        </p:spPr>
        <p:txBody>
          <a:bodyPr wrap="square" lIns="0" tIns="0" rIns="0" bIns="0" rtlCol="0" anchor="ctr"/>
          <a:lstStyle/>
          <a:p>
            <a:pPr marL="0" indent="0" algn="ctr">
              <a:buNone/>
            </a:pPr>
            <a:r>
              <a:rPr lang="en-US" sz="1600" b="1" dirty="0">
                <a:solidFill>
                  <a:srgbClr val="3A2400"/>
                </a:solidFill>
                <a:latin typeface="Calibri" pitchFamily="34" charset="0"/>
                <a:ea typeface="Calibri" pitchFamily="34" charset="-122"/>
                <a:cs typeface="Calibri" pitchFamily="34" charset="-120"/>
              </a:rPr>
              <a:t>END</a:t>
            </a:r>
            <a:endParaRPr lang="en-US" sz="1600" dirty="0"/>
          </a:p>
        </p:txBody>
      </p:sp>
      <p:sp>
        <p:nvSpPr>
          <p:cNvPr id="12" name="Shape 10"/>
          <p:cNvSpPr/>
          <p:nvPr/>
        </p:nvSpPr>
        <p:spPr>
          <a:xfrm>
            <a:off x="1234440" y="2606040"/>
            <a:ext cx="868680" cy="0"/>
          </a:xfrm>
          <a:prstGeom prst="line">
            <a:avLst/>
          </a:prstGeom>
          <a:noFill/>
          <a:ln w="28575">
            <a:solidFill>
              <a:srgbClr val="FFFFFF"/>
            </a:solidFill>
            <a:prstDash val="solid"/>
            <a:tailEnd type="triangle"/>
          </a:ln>
        </p:spPr>
      </p:sp>
      <p:sp>
        <p:nvSpPr>
          <p:cNvPr id="13" name="Text 11"/>
          <p:cNvSpPr/>
          <p:nvPr/>
        </p:nvSpPr>
        <p:spPr>
          <a:xfrm>
            <a:off x="457200" y="2468880"/>
            <a:ext cx="822960" cy="274320"/>
          </a:xfrm>
          <a:prstGeom prst="rect">
            <a:avLst/>
          </a:prstGeom>
          <a:noFill/>
          <a:ln/>
        </p:spPr>
        <p:txBody>
          <a:bodyPr wrap="square" lIns="0" tIns="0" rIns="0" bIns="0" rtlCol="0" anchor="ctr"/>
          <a:lstStyle/>
          <a:p>
            <a:pPr marL="0" indent="0">
              <a:buNone/>
            </a:pPr>
            <a:r>
              <a:rPr lang="en-US" sz="1150" b="1" dirty="0">
                <a:solidFill>
                  <a:srgbClr val="6B6B8A"/>
                </a:solidFill>
                <a:latin typeface="Calibri" pitchFamily="34" charset="0"/>
                <a:ea typeface="Calibri" pitchFamily="34" charset="-122"/>
                <a:cs typeface="Calibri" pitchFamily="34" charset="-120"/>
              </a:rPr>
              <a:t>START</a:t>
            </a:r>
            <a:endParaRPr lang="en-US" sz="1150" dirty="0"/>
          </a:p>
        </p:txBody>
      </p:sp>
      <p:sp>
        <p:nvSpPr>
          <p:cNvPr id="14" name="Shape 12"/>
          <p:cNvSpPr/>
          <p:nvPr/>
        </p:nvSpPr>
        <p:spPr>
          <a:xfrm>
            <a:off x="4846320" y="2606040"/>
            <a:ext cx="1097280" cy="0"/>
          </a:xfrm>
          <a:prstGeom prst="line">
            <a:avLst/>
          </a:prstGeom>
          <a:noFill/>
          <a:ln w="28575">
            <a:solidFill>
              <a:srgbClr val="FFFFFF"/>
            </a:solidFill>
            <a:prstDash val="solid"/>
            <a:tailEnd type="triangle"/>
          </a:ln>
        </p:spPr>
      </p:sp>
      <p:sp>
        <p:nvSpPr>
          <p:cNvPr id="15" name="Shape 13"/>
          <p:cNvSpPr/>
          <p:nvPr/>
        </p:nvSpPr>
        <p:spPr>
          <a:xfrm>
            <a:off x="8686800" y="2606040"/>
            <a:ext cx="914400" cy="0"/>
          </a:xfrm>
          <a:prstGeom prst="line">
            <a:avLst/>
          </a:prstGeom>
          <a:noFill/>
          <a:ln w="28575">
            <a:solidFill>
              <a:srgbClr val="FF9F1C"/>
            </a:solidFill>
            <a:prstDash val="solid"/>
            <a:tailEnd type="triangle"/>
          </a:ln>
        </p:spPr>
      </p:sp>
      <p:sp>
        <p:nvSpPr>
          <p:cNvPr id="16" name="Text 14"/>
          <p:cNvSpPr/>
          <p:nvPr/>
        </p:nvSpPr>
        <p:spPr>
          <a:xfrm>
            <a:off x="8686800" y="2221992"/>
            <a:ext cx="914400" cy="320040"/>
          </a:xfrm>
          <a:prstGeom prst="rect">
            <a:avLst/>
          </a:prstGeom>
          <a:noFill/>
          <a:ln/>
        </p:spPr>
        <p:txBody>
          <a:bodyPr wrap="square" lIns="0" tIns="0" rIns="0" bIns="0" rtlCol="0" anchor="ctr"/>
          <a:lstStyle/>
          <a:p>
            <a:pPr marL="0" indent="0" algn="ctr">
              <a:buNone/>
            </a:pPr>
            <a:r>
              <a:rPr lang="en-US" sz="1100" b="1" dirty="0">
                <a:solidFill>
                  <a:srgbClr val="FF9F1C"/>
                </a:solidFill>
                <a:latin typeface="Calibri" pitchFamily="34" charset="0"/>
                <a:ea typeface="Calibri" pitchFamily="34" charset="-122"/>
                <a:cs typeface="Calibri" pitchFamily="34" charset="-120"/>
              </a:rPr>
              <a:t>pass</a:t>
            </a:r>
            <a:endParaRPr lang="en-US" sz="1100" dirty="0"/>
          </a:p>
        </p:txBody>
      </p:sp>
      <p:sp>
        <p:nvSpPr>
          <p:cNvPr id="17" name="Shape 15"/>
          <p:cNvSpPr/>
          <p:nvPr/>
        </p:nvSpPr>
        <p:spPr>
          <a:xfrm>
            <a:off x="7315200" y="3474720"/>
            <a:ext cx="0" cy="502920"/>
          </a:xfrm>
          <a:prstGeom prst="line">
            <a:avLst/>
          </a:prstGeom>
          <a:noFill/>
          <a:ln w="28575">
            <a:solidFill>
              <a:srgbClr val="FF9F1C"/>
            </a:solidFill>
            <a:prstDash val="solid"/>
          </a:ln>
        </p:spPr>
      </p:sp>
      <p:sp>
        <p:nvSpPr>
          <p:cNvPr id="18" name="Shape 16"/>
          <p:cNvSpPr/>
          <p:nvPr/>
        </p:nvSpPr>
        <p:spPr>
          <a:xfrm>
            <a:off x="7315200" y="3977640"/>
            <a:ext cx="0" cy="0"/>
          </a:xfrm>
          <a:prstGeom prst="line">
            <a:avLst/>
          </a:prstGeom>
          <a:noFill/>
          <a:ln w="28575">
            <a:solidFill>
              <a:srgbClr val="FF9F1C"/>
            </a:solidFill>
            <a:prstDash val="solid"/>
          </a:ln>
        </p:spPr>
      </p:sp>
      <p:sp>
        <p:nvSpPr>
          <p:cNvPr id="19" name="Shape 17"/>
          <p:cNvSpPr/>
          <p:nvPr/>
        </p:nvSpPr>
        <p:spPr>
          <a:xfrm>
            <a:off x="3474720" y="3977640"/>
            <a:ext cx="0" cy="0"/>
          </a:xfrm>
          <a:prstGeom prst="line">
            <a:avLst/>
          </a:prstGeom>
          <a:noFill/>
          <a:ln w="28575">
            <a:solidFill>
              <a:srgbClr val="FF9F1C"/>
            </a:solidFill>
            <a:prstDash val="solid"/>
            <a:tailEnd type="triangle"/>
          </a:ln>
        </p:spPr>
      </p:sp>
      <p:sp>
        <p:nvSpPr>
          <p:cNvPr id="20" name="Text 18"/>
          <p:cNvSpPr/>
          <p:nvPr/>
        </p:nvSpPr>
        <p:spPr>
          <a:xfrm>
            <a:off x="4754880" y="4041648"/>
            <a:ext cx="1371600" cy="27432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revise</a:t>
            </a:r>
            <a:endParaRPr lang="en-US" sz="1200" dirty="0"/>
          </a:p>
        </p:txBody>
      </p:sp>
      <p:sp>
        <p:nvSpPr>
          <p:cNvPr id="21" name="Shape 19"/>
          <p:cNvSpPr/>
          <p:nvPr/>
        </p:nvSpPr>
        <p:spPr>
          <a:xfrm>
            <a:off x="685800" y="4709160"/>
            <a:ext cx="1691640" cy="914400"/>
          </a:xfrm>
          <a:prstGeom prst="roundRect">
            <a:avLst>
              <a:gd name="adj" fmla="val 10000"/>
            </a:avLst>
          </a:prstGeom>
          <a:solidFill>
            <a:srgbClr val="242450"/>
          </a:solidFill>
          <a:ln w="12700">
            <a:solidFill>
              <a:srgbClr val="FFFFFF"/>
            </a:solidFill>
            <a:prstDash val="solid"/>
          </a:ln>
        </p:spPr>
      </p:sp>
      <p:sp>
        <p:nvSpPr>
          <p:cNvPr id="22" name="Text 20"/>
          <p:cNvSpPr/>
          <p:nvPr/>
        </p:nvSpPr>
        <p:spPr>
          <a:xfrm>
            <a:off x="685800"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1</a:t>
            </a:r>
            <a:endParaRPr lang="en-US" sz="1200" dirty="0"/>
          </a:p>
        </p:txBody>
      </p:sp>
      <p:sp>
        <p:nvSpPr>
          <p:cNvPr id="23" name="Text 21"/>
          <p:cNvSpPr/>
          <p:nvPr/>
        </p:nvSpPr>
        <p:spPr>
          <a:xfrm>
            <a:off x="795528"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state + reducers</a:t>
            </a:r>
            <a:endParaRPr lang="en-US" sz="1150" dirty="0"/>
          </a:p>
        </p:txBody>
      </p:sp>
      <p:sp>
        <p:nvSpPr>
          <p:cNvPr id="24" name="Shape 22"/>
          <p:cNvSpPr/>
          <p:nvPr/>
        </p:nvSpPr>
        <p:spPr>
          <a:xfrm>
            <a:off x="2542032" y="4709160"/>
            <a:ext cx="1691640" cy="914400"/>
          </a:xfrm>
          <a:prstGeom prst="roundRect">
            <a:avLst>
              <a:gd name="adj" fmla="val 10000"/>
            </a:avLst>
          </a:prstGeom>
          <a:solidFill>
            <a:srgbClr val="242450"/>
          </a:solidFill>
          <a:ln w="12700">
            <a:solidFill>
              <a:srgbClr val="FFFFFF"/>
            </a:solidFill>
            <a:prstDash val="solid"/>
          </a:ln>
        </p:spPr>
      </p:sp>
      <p:sp>
        <p:nvSpPr>
          <p:cNvPr id="25" name="Text 23"/>
          <p:cNvSpPr/>
          <p:nvPr/>
        </p:nvSpPr>
        <p:spPr>
          <a:xfrm>
            <a:off x="2542032"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2651760"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two nodes</a:t>
            </a:r>
            <a:endParaRPr lang="en-US" sz="1150" dirty="0"/>
          </a:p>
        </p:txBody>
      </p:sp>
      <p:sp>
        <p:nvSpPr>
          <p:cNvPr id="27" name="Shape 25"/>
          <p:cNvSpPr/>
          <p:nvPr/>
        </p:nvSpPr>
        <p:spPr>
          <a:xfrm>
            <a:off x="4398264" y="4709160"/>
            <a:ext cx="1691640" cy="914400"/>
          </a:xfrm>
          <a:prstGeom prst="roundRect">
            <a:avLst>
              <a:gd name="adj" fmla="val 10000"/>
            </a:avLst>
          </a:prstGeom>
          <a:solidFill>
            <a:srgbClr val="242450"/>
          </a:solidFill>
          <a:ln w="12700">
            <a:solidFill>
              <a:srgbClr val="FFFFFF"/>
            </a:solidFill>
            <a:prstDash val="solid"/>
          </a:ln>
        </p:spPr>
      </p:sp>
      <p:sp>
        <p:nvSpPr>
          <p:cNvPr id="28" name="Text 26"/>
          <p:cNvSpPr/>
          <p:nvPr/>
        </p:nvSpPr>
        <p:spPr>
          <a:xfrm>
            <a:off x="4398264"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3</a:t>
            </a:r>
            <a:endParaRPr lang="en-US" sz="1200" dirty="0"/>
          </a:p>
        </p:txBody>
      </p:sp>
      <p:sp>
        <p:nvSpPr>
          <p:cNvPr id="29" name="Text 27"/>
          <p:cNvSpPr/>
          <p:nvPr/>
        </p:nvSpPr>
        <p:spPr>
          <a:xfrm>
            <a:off x="4507992"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conditional edge</a:t>
            </a:r>
            <a:endParaRPr lang="en-US" sz="1150" dirty="0"/>
          </a:p>
        </p:txBody>
      </p:sp>
      <p:sp>
        <p:nvSpPr>
          <p:cNvPr id="30" name="Shape 28"/>
          <p:cNvSpPr/>
          <p:nvPr/>
        </p:nvSpPr>
        <p:spPr>
          <a:xfrm>
            <a:off x="6254496" y="4709160"/>
            <a:ext cx="1691640" cy="914400"/>
          </a:xfrm>
          <a:prstGeom prst="roundRect">
            <a:avLst>
              <a:gd name="adj" fmla="val 10000"/>
            </a:avLst>
          </a:prstGeom>
          <a:solidFill>
            <a:srgbClr val="242450"/>
          </a:solidFill>
          <a:ln w="12700">
            <a:solidFill>
              <a:srgbClr val="FFFFFF"/>
            </a:solidFill>
            <a:prstDash val="solid"/>
          </a:ln>
        </p:spPr>
      </p:sp>
      <p:sp>
        <p:nvSpPr>
          <p:cNvPr id="31" name="Text 29"/>
          <p:cNvSpPr/>
          <p:nvPr/>
        </p:nvSpPr>
        <p:spPr>
          <a:xfrm>
            <a:off x="6254496"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4</a:t>
            </a:r>
            <a:endParaRPr lang="en-US" sz="1200" dirty="0"/>
          </a:p>
        </p:txBody>
      </p:sp>
      <p:sp>
        <p:nvSpPr>
          <p:cNvPr id="32" name="Text 30"/>
          <p:cNvSpPr/>
          <p:nvPr/>
        </p:nvSpPr>
        <p:spPr>
          <a:xfrm>
            <a:off x="6364224"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compile &amp; invoke</a:t>
            </a:r>
            <a:endParaRPr lang="en-US" sz="1150" dirty="0"/>
          </a:p>
        </p:txBody>
      </p:sp>
      <p:sp>
        <p:nvSpPr>
          <p:cNvPr id="33" name="Shape 31"/>
          <p:cNvSpPr/>
          <p:nvPr/>
        </p:nvSpPr>
        <p:spPr>
          <a:xfrm>
            <a:off x="8110728" y="4709160"/>
            <a:ext cx="1691640" cy="914400"/>
          </a:xfrm>
          <a:prstGeom prst="roundRect">
            <a:avLst>
              <a:gd name="adj" fmla="val 10000"/>
            </a:avLst>
          </a:prstGeom>
          <a:solidFill>
            <a:srgbClr val="242450"/>
          </a:solidFill>
          <a:ln w="12700">
            <a:solidFill>
              <a:srgbClr val="FFFFFF"/>
            </a:solidFill>
            <a:prstDash val="solid"/>
          </a:ln>
        </p:spPr>
      </p:sp>
      <p:sp>
        <p:nvSpPr>
          <p:cNvPr id="34" name="Text 32"/>
          <p:cNvSpPr/>
          <p:nvPr/>
        </p:nvSpPr>
        <p:spPr>
          <a:xfrm>
            <a:off x="8110728"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8220456"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watch it loop</a:t>
            </a:r>
            <a:endParaRPr lang="en-US" sz="1150" dirty="0"/>
          </a:p>
        </p:txBody>
      </p:sp>
      <p:sp>
        <p:nvSpPr>
          <p:cNvPr id="36" name="Shape 34"/>
          <p:cNvSpPr/>
          <p:nvPr/>
        </p:nvSpPr>
        <p:spPr>
          <a:xfrm>
            <a:off x="9966960" y="4709160"/>
            <a:ext cx="1691640" cy="914400"/>
          </a:xfrm>
          <a:prstGeom prst="roundRect">
            <a:avLst>
              <a:gd name="adj" fmla="val 10000"/>
            </a:avLst>
          </a:prstGeom>
          <a:solidFill>
            <a:srgbClr val="242450"/>
          </a:solidFill>
          <a:ln w="12700">
            <a:solidFill>
              <a:srgbClr val="FFFFFF"/>
            </a:solidFill>
            <a:prstDash val="solid"/>
          </a:ln>
        </p:spPr>
      </p:sp>
      <p:sp>
        <p:nvSpPr>
          <p:cNvPr id="37" name="Text 35"/>
          <p:cNvSpPr/>
          <p:nvPr/>
        </p:nvSpPr>
        <p:spPr>
          <a:xfrm>
            <a:off x="9966960" y="4800600"/>
            <a:ext cx="1691640" cy="320040"/>
          </a:xfrm>
          <a:prstGeom prst="rect">
            <a:avLst/>
          </a:prstGeom>
          <a:noFill/>
          <a:ln/>
        </p:spPr>
        <p:txBody>
          <a:bodyPr wrap="square" lIns="0" tIns="0" rIns="0" bIns="0" rtlCol="0" anchor="ctr"/>
          <a:lstStyle/>
          <a:p>
            <a:pPr marL="0" indent="0" algn="ctr">
              <a:buNone/>
            </a:pPr>
            <a:r>
              <a:rPr lang="en-US" sz="1200" b="1" dirty="0">
                <a:solidFill>
                  <a:srgbClr val="FF9F1C"/>
                </a:solidFill>
                <a:latin typeface="Calibri" pitchFamily="34" charset="0"/>
                <a:ea typeface="Calibri" pitchFamily="34" charset="-122"/>
                <a:cs typeface="Calibri" pitchFamily="34" charset="-120"/>
              </a:rPr>
              <a:t>6</a:t>
            </a:r>
            <a:endParaRPr lang="en-US" sz="1200" dirty="0"/>
          </a:p>
        </p:txBody>
      </p:sp>
      <p:sp>
        <p:nvSpPr>
          <p:cNvPr id="38" name="Text 36"/>
          <p:cNvSpPr/>
          <p:nvPr/>
        </p:nvSpPr>
        <p:spPr>
          <a:xfrm>
            <a:off x="10076688" y="5102352"/>
            <a:ext cx="1472184" cy="457200"/>
          </a:xfrm>
          <a:prstGeom prst="rect">
            <a:avLst/>
          </a:prstGeom>
          <a:noFill/>
          <a:ln/>
        </p:spPr>
        <p:txBody>
          <a:bodyPr wrap="square" lIns="0" tIns="0" rIns="0" bIns="0" rtlCol="0" anchor="t"/>
          <a:lstStyle/>
          <a:p>
            <a:pPr marL="0" indent="0" algn="ctr">
              <a:lnSpc>
                <a:spcPts val="1400"/>
              </a:lnSpc>
              <a:buNone/>
            </a:pPr>
            <a:r>
              <a:rPr lang="en-US" sz="1150" dirty="0">
                <a:solidFill>
                  <a:srgbClr val="FFFFFF"/>
                </a:solidFill>
                <a:latin typeface="Calibri" pitchFamily="34" charset="0"/>
                <a:ea typeface="Calibri" pitchFamily="34" charset="-122"/>
                <a:cs typeface="Calibri" pitchFamily="34" charset="-120"/>
              </a:rPr>
              <a:t>checkpoints &amp; history</a:t>
            </a:r>
            <a:endParaRPr lang="en-US" sz="1150" dirty="0"/>
          </a:p>
        </p:txBody>
      </p:sp>
      <p:sp>
        <p:nvSpPr>
          <p:cNvPr id="39" name="Text 37"/>
          <p:cNvSpPr/>
          <p:nvPr/>
        </p:nvSpPr>
        <p:spPr>
          <a:xfrm>
            <a:off x="685800" y="5897880"/>
            <a:ext cx="10881360" cy="365760"/>
          </a:xfrm>
          <a:prstGeom prst="rect">
            <a:avLst/>
          </a:prstGeom>
          <a:noFill/>
          <a:ln/>
        </p:spPr>
        <p:txBody>
          <a:bodyPr wrap="square" lIns="0" tIns="0" rIns="0" bIns="0" rtlCol="0" anchor="ctr"/>
          <a:lstStyle/>
          <a:p>
            <a:pPr marL="0" indent="0">
              <a:buNone/>
            </a:pPr>
            <a:r>
              <a:rPr lang="en-US" sz="1400" i="1" dirty="0">
                <a:solidFill>
                  <a:srgbClr val="9E99CC"/>
                </a:solidFill>
                <a:latin typeface="Calibri" pitchFamily="34" charset="0"/>
                <a:ea typeface="Calibri" pitchFamily="34" charset="-122"/>
                <a:cs typeface="Calibri" pitchFamily="34" charset="-120"/>
              </a:rPr>
              <a:t>Everything on this slide is a concept from the last thirty minutes. Nothing new.</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RECAP</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What to take away</a:t>
            </a:r>
            <a:endParaRPr lang="en-US" sz="3200" dirty="0"/>
          </a:p>
        </p:txBody>
      </p:sp>
      <p:sp>
        <p:nvSpPr>
          <p:cNvPr id="4" name="Text 2"/>
          <p:cNvSpPr/>
          <p:nvPr/>
        </p:nvSpPr>
        <p:spPr>
          <a:xfrm>
            <a:off x="640080" y="1371600"/>
            <a:ext cx="5257800" cy="365760"/>
          </a:xfrm>
          <a:prstGeom prst="rect">
            <a:avLst/>
          </a:prstGeom>
          <a:noFill/>
          <a:ln/>
        </p:spPr>
        <p:txBody>
          <a:bodyPr wrap="square" lIns="0" tIns="0" rIns="0" bIns="0" rtlCol="0" anchor="ctr"/>
          <a:lstStyle/>
          <a:p>
            <a:pPr marL="0" indent="0">
              <a:buNone/>
            </a:pPr>
            <a:r>
              <a:rPr lang="en-US" sz="1800" b="1" dirty="0">
                <a:solidFill>
                  <a:srgbClr val="6B6B8A"/>
                </a:solidFill>
                <a:latin typeface="Calibri" pitchFamily="34" charset="0"/>
                <a:ea typeface="Calibri" pitchFamily="34" charset="-122"/>
                <a:cs typeface="Calibri" pitchFamily="34" charset="-120"/>
              </a:rPr>
              <a:t>Agents</a:t>
            </a:r>
            <a:endParaRPr lang="en-US" sz="1800" dirty="0"/>
          </a:p>
        </p:txBody>
      </p:sp>
      <p:sp>
        <p:nvSpPr>
          <p:cNvPr id="5" name="Text 3"/>
          <p:cNvSpPr/>
          <p:nvPr/>
        </p:nvSpPr>
        <p:spPr>
          <a:xfrm>
            <a:off x="6263640" y="1371600"/>
            <a:ext cx="5257800" cy="365760"/>
          </a:xfrm>
          <a:prstGeom prst="rect">
            <a:avLst/>
          </a:prstGeom>
          <a:noFill/>
          <a:ln/>
        </p:spPr>
        <p:txBody>
          <a:bodyPr wrap="square" lIns="0" tIns="0" rIns="0" bIns="0" rtlCol="0" anchor="ctr"/>
          <a:lstStyle/>
          <a:p>
            <a:pPr marL="0" indent="0">
              <a:buNone/>
            </a:pPr>
            <a:r>
              <a:rPr lang="en-US" sz="1800" b="1" dirty="0">
                <a:solidFill>
                  <a:srgbClr val="3B2E8F"/>
                </a:solidFill>
                <a:latin typeface="Calibri" pitchFamily="34" charset="0"/>
                <a:ea typeface="Calibri" pitchFamily="34" charset="-122"/>
                <a:cs typeface="Calibri" pitchFamily="34" charset="-120"/>
              </a:rPr>
              <a:t>LangGraph</a:t>
            </a:r>
            <a:endParaRPr lang="en-US" sz="1800" dirty="0"/>
          </a:p>
        </p:txBody>
      </p:sp>
      <p:sp>
        <p:nvSpPr>
          <p:cNvPr id="6" name="Shape 4"/>
          <p:cNvSpPr/>
          <p:nvPr/>
        </p:nvSpPr>
        <p:spPr>
          <a:xfrm>
            <a:off x="640080" y="1828800"/>
            <a:ext cx="5257800" cy="960120"/>
          </a:xfrm>
          <a:prstGeom prst="roundRect">
            <a:avLst>
              <a:gd name="adj" fmla="val 9524"/>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7" name="Text 5"/>
          <p:cNvSpPr/>
          <p:nvPr/>
        </p:nvSpPr>
        <p:spPr>
          <a:xfrm>
            <a:off x="932688" y="1947672"/>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An agent decides its own path</a:t>
            </a:r>
            <a:endParaRPr lang="en-US" sz="1600" dirty="0"/>
          </a:p>
        </p:txBody>
      </p:sp>
      <p:sp>
        <p:nvSpPr>
          <p:cNvPr id="8" name="Text 6"/>
          <p:cNvSpPr/>
          <p:nvPr/>
        </p:nvSpPr>
        <p:spPr>
          <a:xfrm>
            <a:off x="932688" y="2340864"/>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that is the whole difference from a pipeline</a:t>
            </a:r>
            <a:endParaRPr lang="en-US" sz="1300" dirty="0"/>
          </a:p>
        </p:txBody>
      </p:sp>
      <p:sp>
        <p:nvSpPr>
          <p:cNvPr id="9" name="Shape 7"/>
          <p:cNvSpPr/>
          <p:nvPr/>
        </p:nvSpPr>
        <p:spPr>
          <a:xfrm>
            <a:off x="640080" y="2944368"/>
            <a:ext cx="5257800" cy="960120"/>
          </a:xfrm>
          <a:prstGeom prst="roundRect">
            <a:avLst>
              <a:gd name="adj" fmla="val 9524"/>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0" name="Text 8"/>
          <p:cNvSpPr/>
          <p:nvPr/>
        </p:nvSpPr>
        <p:spPr>
          <a:xfrm>
            <a:off x="932688" y="3063240"/>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ReAct = reason, act, repeat</a:t>
            </a:r>
            <a:endParaRPr lang="en-US" sz="1600" dirty="0"/>
          </a:p>
        </p:txBody>
      </p:sp>
      <p:sp>
        <p:nvSpPr>
          <p:cNvPr id="11" name="Text 9"/>
          <p:cNvSpPr/>
          <p:nvPr/>
        </p:nvSpPr>
        <p:spPr>
          <a:xfrm>
            <a:off x="932688" y="3456432"/>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the pattern is current; the string-parsing is not</a:t>
            </a:r>
            <a:endParaRPr lang="en-US" sz="1300" dirty="0"/>
          </a:p>
        </p:txBody>
      </p:sp>
      <p:sp>
        <p:nvSpPr>
          <p:cNvPr id="12" name="Shape 10"/>
          <p:cNvSpPr/>
          <p:nvPr/>
        </p:nvSpPr>
        <p:spPr>
          <a:xfrm>
            <a:off x="640080" y="4059936"/>
            <a:ext cx="5257800" cy="960120"/>
          </a:xfrm>
          <a:prstGeom prst="roundRect">
            <a:avLst>
              <a:gd name="adj" fmla="val 9524"/>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3" name="Text 11"/>
          <p:cNvSpPr/>
          <p:nvPr/>
        </p:nvSpPr>
        <p:spPr>
          <a:xfrm>
            <a:off x="932688" y="4178808"/>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The model asks, your code runs</a:t>
            </a:r>
            <a:endParaRPr lang="en-US" sz="1600" dirty="0"/>
          </a:p>
        </p:txBody>
      </p:sp>
      <p:sp>
        <p:nvSpPr>
          <p:cNvPr id="14" name="Text 12"/>
          <p:cNvSpPr/>
          <p:nvPr/>
        </p:nvSpPr>
        <p:spPr>
          <a:xfrm>
            <a:off x="932688" y="4572000"/>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the gap between them is where safety lives</a:t>
            </a:r>
            <a:endParaRPr lang="en-US" sz="1300" dirty="0"/>
          </a:p>
        </p:txBody>
      </p:sp>
      <p:sp>
        <p:nvSpPr>
          <p:cNvPr id="15" name="Shape 13"/>
          <p:cNvSpPr/>
          <p:nvPr/>
        </p:nvSpPr>
        <p:spPr>
          <a:xfrm>
            <a:off x="640080" y="5175504"/>
            <a:ext cx="5257800" cy="960120"/>
          </a:xfrm>
          <a:prstGeom prst="roundRect">
            <a:avLst>
              <a:gd name="adj" fmla="val 9524"/>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6" name="Text 14"/>
          <p:cNvSpPr/>
          <p:nvPr/>
        </p:nvSpPr>
        <p:spPr>
          <a:xfrm>
            <a:off x="932688" y="5294376"/>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You own the stopping rule</a:t>
            </a:r>
            <a:endParaRPr lang="en-US" sz="1600" dirty="0"/>
          </a:p>
        </p:txBody>
      </p:sp>
      <p:sp>
        <p:nvSpPr>
          <p:cNvPr id="17" name="Text 15"/>
          <p:cNvSpPr/>
          <p:nvPr/>
        </p:nvSpPr>
        <p:spPr>
          <a:xfrm>
            <a:off x="932688" y="5687568"/>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step budgets are not a hack, they are the job</a:t>
            </a:r>
            <a:endParaRPr lang="en-US" sz="1300" dirty="0"/>
          </a:p>
        </p:txBody>
      </p:sp>
      <p:sp>
        <p:nvSpPr>
          <p:cNvPr id="18" name="Shape 16"/>
          <p:cNvSpPr/>
          <p:nvPr/>
        </p:nvSpPr>
        <p:spPr>
          <a:xfrm>
            <a:off x="6263640" y="1828800"/>
            <a:ext cx="5257800" cy="960120"/>
          </a:xfrm>
          <a:prstGeom prst="roundRect">
            <a:avLst>
              <a:gd name="adj" fmla="val 9524"/>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9" name="Text 17"/>
          <p:cNvSpPr/>
          <p:nvPr/>
        </p:nvSpPr>
        <p:spPr>
          <a:xfrm>
            <a:off x="6556248" y="1947672"/>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Nodes do the work</a:t>
            </a:r>
            <a:endParaRPr lang="en-US" sz="1600" dirty="0"/>
          </a:p>
        </p:txBody>
      </p:sp>
      <p:sp>
        <p:nvSpPr>
          <p:cNvPr id="20" name="Text 18"/>
          <p:cNvSpPr/>
          <p:nvPr/>
        </p:nvSpPr>
        <p:spPr>
          <a:xfrm>
            <a:off x="6556248" y="2340864"/>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plain functions; the model is optional</a:t>
            </a:r>
            <a:endParaRPr lang="en-US" sz="1300" dirty="0"/>
          </a:p>
        </p:txBody>
      </p:sp>
      <p:sp>
        <p:nvSpPr>
          <p:cNvPr id="21" name="Shape 19"/>
          <p:cNvSpPr/>
          <p:nvPr/>
        </p:nvSpPr>
        <p:spPr>
          <a:xfrm>
            <a:off x="6263640" y="2944368"/>
            <a:ext cx="5257800" cy="960120"/>
          </a:xfrm>
          <a:prstGeom prst="roundRect">
            <a:avLst>
              <a:gd name="adj" fmla="val 9524"/>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2" name="Text 20"/>
          <p:cNvSpPr/>
          <p:nvPr/>
        </p:nvSpPr>
        <p:spPr>
          <a:xfrm>
            <a:off x="6556248" y="3063240"/>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Edges say what is next</a:t>
            </a:r>
            <a:endParaRPr lang="en-US" sz="1600" dirty="0"/>
          </a:p>
        </p:txBody>
      </p:sp>
      <p:sp>
        <p:nvSpPr>
          <p:cNvPr id="23" name="Text 21"/>
          <p:cNvSpPr/>
          <p:nvPr/>
        </p:nvSpPr>
        <p:spPr>
          <a:xfrm>
            <a:off x="6556248" y="3456432"/>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a backward edge is the only loop there is</a:t>
            </a:r>
            <a:endParaRPr lang="en-US" sz="1300" dirty="0"/>
          </a:p>
        </p:txBody>
      </p:sp>
      <p:sp>
        <p:nvSpPr>
          <p:cNvPr id="24" name="Shape 22"/>
          <p:cNvSpPr/>
          <p:nvPr/>
        </p:nvSpPr>
        <p:spPr>
          <a:xfrm>
            <a:off x="6263640" y="4059936"/>
            <a:ext cx="5257800" cy="960120"/>
          </a:xfrm>
          <a:prstGeom prst="roundRect">
            <a:avLst>
              <a:gd name="adj" fmla="val 9524"/>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5" name="Text 23"/>
          <p:cNvSpPr/>
          <p:nvPr/>
        </p:nvSpPr>
        <p:spPr>
          <a:xfrm>
            <a:off x="6556248" y="4178808"/>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Reducers or you lose data</a:t>
            </a:r>
            <a:endParaRPr lang="en-US" sz="1600" dirty="0"/>
          </a:p>
        </p:txBody>
      </p:sp>
      <p:sp>
        <p:nvSpPr>
          <p:cNvPr id="26" name="Text 24"/>
          <p:cNvSpPr/>
          <p:nvPr/>
        </p:nvSpPr>
        <p:spPr>
          <a:xfrm>
            <a:off x="6556248" y="4572000"/>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Annotated[list, add] to accumulate</a:t>
            </a:r>
            <a:endParaRPr lang="en-US" sz="1300" dirty="0"/>
          </a:p>
        </p:txBody>
      </p:sp>
      <p:sp>
        <p:nvSpPr>
          <p:cNvPr id="27" name="Shape 25"/>
          <p:cNvSpPr/>
          <p:nvPr/>
        </p:nvSpPr>
        <p:spPr>
          <a:xfrm>
            <a:off x="6263640" y="5175504"/>
            <a:ext cx="5257800" cy="960120"/>
          </a:xfrm>
          <a:prstGeom prst="roundRect">
            <a:avLst>
              <a:gd name="adj" fmla="val 9524"/>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8" name="Text 26"/>
          <p:cNvSpPr/>
          <p:nvPr/>
        </p:nvSpPr>
        <p:spPr>
          <a:xfrm>
            <a:off x="6556248" y="5294376"/>
            <a:ext cx="4663440" cy="384048"/>
          </a:xfrm>
          <a:prstGeom prst="rect">
            <a:avLst/>
          </a:prstGeom>
          <a:noFill/>
          <a:ln/>
        </p:spPr>
        <p:txBody>
          <a:bodyPr wrap="square" lIns="0" tIns="0" rIns="0" bIns="0" rtlCol="0" anchor="ctr"/>
          <a:lstStyle/>
          <a:p>
            <a:pPr marL="0" indent="0">
              <a:buNone/>
            </a:pPr>
            <a:r>
              <a:rPr lang="en-US" sz="1600" b="1" dirty="0">
                <a:solidFill>
                  <a:srgbClr val="16163A"/>
                </a:solidFill>
                <a:latin typeface="Calibri" pitchFamily="34" charset="0"/>
                <a:ea typeface="Calibri" pitchFamily="34" charset="-122"/>
                <a:cs typeface="Calibri" pitchFamily="34" charset="-120"/>
              </a:rPr>
              <a:t>Checkpointing is the point</a:t>
            </a:r>
            <a:endParaRPr lang="en-US" sz="1600" dirty="0"/>
          </a:p>
        </p:txBody>
      </p:sp>
      <p:sp>
        <p:nvSpPr>
          <p:cNvPr id="29" name="Text 27"/>
          <p:cNvSpPr/>
          <p:nvPr/>
        </p:nvSpPr>
        <p:spPr>
          <a:xfrm>
            <a:off x="6556248" y="5687568"/>
            <a:ext cx="4663440" cy="365760"/>
          </a:xfrm>
          <a:prstGeom prst="rect">
            <a:avLst/>
          </a:prstGeom>
          <a:noFill/>
          <a:ln/>
        </p:spPr>
        <p:txBody>
          <a:bodyPr wrap="square" lIns="0" tIns="0" rIns="0" bIns="0" rtlCol="0" anchor="ctr"/>
          <a:lstStyle/>
          <a:p>
            <a:pPr marL="0" indent="0">
              <a:buNone/>
            </a:pPr>
            <a:r>
              <a:rPr lang="en-US" sz="1300" dirty="0">
                <a:solidFill>
                  <a:srgbClr val="6B6B8A"/>
                </a:solidFill>
                <a:latin typeface="Calibri" pitchFamily="34" charset="0"/>
                <a:ea typeface="Calibri" pitchFamily="34" charset="-122"/>
                <a:cs typeface="Calibri" pitchFamily="34" charset="-120"/>
              </a:rPr>
              <a:t>resume, memory, replay, and human approval</a:t>
            </a:r>
            <a:endParaRPr lang="en-US" sz="1300" dirty="0"/>
          </a:p>
        </p:txBody>
      </p:sp>
      <p:sp>
        <p:nvSpPr>
          <p:cNvPr id="30" name="Text 28"/>
          <p:cNvSpPr/>
          <p:nvPr/>
        </p:nvSpPr>
        <p:spPr>
          <a:xfrm>
            <a:off x="640080" y="6236208"/>
            <a:ext cx="10881360" cy="320040"/>
          </a:xfrm>
          <a:prstGeom prst="rect">
            <a:avLst/>
          </a:prstGeom>
          <a:noFill/>
          <a:ln/>
        </p:spPr>
        <p:txBody>
          <a:bodyPr wrap="square" lIns="0" tIns="0" rIns="0" bIns="0" rtlCol="0" anchor="ctr"/>
          <a:lstStyle/>
          <a:p>
            <a:pPr marL="0" indent="0">
              <a:buNone/>
            </a:pPr>
            <a:r>
              <a:rPr lang="en-US" sz="1100" i="1" dirty="0">
                <a:solidFill>
                  <a:srgbClr val="6B6B8A"/>
                </a:solidFill>
                <a:latin typeface="Calibri" pitchFamily="34" charset="0"/>
                <a:ea typeface="Calibri" pitchFamily="34" charset="-122"/>
                <a:cs typeface="Calibri" pitchFamily="34" charset="-120"/>
              </a:rPr>
              <a:t>If you remember one sentence: nodes do the work, edges tell what to do next.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10881360" cy="274320"/>
          </a:xfrm>
          <a:prstGeom prst="rect">
            <a:avLst/>
          </a:prstGeom>
          <a:noFill/>
          <a:ln/>
        </p:spPr>
        <p:txBody>
          <a:bodyPr wrap="square" lIns="0" tIns="0" rIns="0" bIns="0" rtlCol="0" anchor="ctr"/>
          <a:lstStyle/>
          <a:p>
            <a:pPr marL="0" indent="0">
              <a:buNone/>
            </a:pPr>
            <a:r>
              <a:rPr lang="en-US" sz="1200" b="1" kern="0" spc="150" dirty="0">
                <a:solidFill>
                  <a:srgbClr val="5B4BC4"/>
                </a:solidFill>
                <a:latin typeface="Calibri" pitchFamily="34" charset="0"/>
                <a:ea typeface="Calibri" pitchFamily="34" charset="-122"/>
                <a:cs typeface="Calibri" pitchFamily="34" charset="-120"/>
              </a:rPr>
              <a:t>NEXT  ·  AND FURTHER READING</a:t>
            </a:r>
            <a:endParaRPr lang="en-US" sz="1200" dirty="0"/>
          </a:p>
        </p:txBody>
      </p:sp>
      <p:sp>
        <p:nvSpPr>
          <p:cNvPr id="3" name="Text 1"/>
          <p:cNvSpPr/>
          <p:nvPr/>
        </p:nvSpPr>
        <p:spPr>
          <a:xfrm>
            <a:off x="640080" y="676656"/>
            <a:ext cx="10881360" cy="640080"/>
          </a:xfrm>
          <a:prstGeom prst="rect">
            <a:avLst/>
          </a:prstGeom>
          <a:noFill/>
          <a:ln/>
        </p:spPr>
        <p:txBody>
          <a:bodyPr wrap="square" lIns="0" tIns="0" rIns="0" bIns="0" rtlCol="0" anchor="t"/>
          <a:lstStyle/>
          <a:p>
            <a:pPr marL="0" indent="0">
              <a:buNone/>
            </a:pPr>
            <a:r>
              <a:rPr lang="en-US" sz="3200" b="1" dirty="0">
                <a:solidFill>
                  <a:srgbClr val="16163A"/>
                </a:solidFill>
                <a:latin typeface="Cambria" pitchFamily="34" charset="0"/>
                <a:ea typeface="Cambria" pitchFamily="34" charset="-122"/>
                <a:cs typeface="Cambria" pitchFamily="34" charset="-120"/>
              </a:rPr>
              <a:t>What we deliberately left out</a:t>
            </a:r>
            <a:endParaRPr lang="en-US" sz="3200" dirty="0"/>
          </a:p>
        </p:txBody>
      </p:sp>
      <p:sp>
        <p:nvSpPr>
          <p:cNvPr id="4" name="Shape 2"/>
          <p:cNvSpPr/>
          <p:nvPr/>
        </p:nvSpPr>
        <p:spPr>
          <a:xfrm>
            <a:off x="640080" y="1463040"/>
            <a:ext cx="6766560" cy="658368"/>
          </a:xfrm>
          <a:prstGeom prst="roundRect">
            <a:avLst>
              <a:gd name="adj" fmla="val 13889"/>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5" name="Text 3"/>
          <p:cNvSpPr/>
          <p:nvPr/>
        </p:nvSpPr>
        <p:spPr>
          <a:xfrm>
            <a:off x="914400" y="1463040"/>
            <a:ext cx="4480560" cy="658368"/>
          </a:xfrm>
          <a:prstGeom prst="rect">
            <a:avLst/>
          </a:prstGeom>
          <a:noFill/>
          <a:ln/>
        </p:spPr>
        <p:txBody>
          <a:bodyPr wrap="square" lIns="0" tIns="0" rIns="0" bIns="0" rtlCol="0" anchor="ctr"/>
          <a:lstStyle/>
          <a:p>
            <a:pPr marL="0" indent="0">
              <a:buNone/>
            </a:pPr>
            <a:r>
              <a:rPr lang="en-US" sz="1500" dirty="0">
                <a:solidFill>
                  <a:srgbClr val="16163A"/>
                </a:solidFill>
                <a:latin typeface="Calibri" pitchFamily="34" charset="0"/>
                <a:ea typeface="Calibri" pitchFamily="34" charset="-122"/>
                <a:cs typeface="Calibri" pitchFamily="34" charset="-120"/>
              </a:rPr>
              <a:t>Tool-calling nodes &amp; ToolNode</a:t>
            </a:r>
            <a:endParaRPr lang="en-US" sz="1500" dirty="0"/>
          </a:p>
        </p:txBody>
      </p:sp>
      <p:sp>
        <p:nvSpPr>
          <p:cNvPr id="6" name="Text 4"/>
          <p:cNvSpPr/>
          <p:nvPr/>
        </p:nvSpPr>
        <p:spPr>
          <a:xfrm>
            <a:off x="5394960" y="1463040"/>
            <a:ext cx="1828800" cy="658368"/>
          </a:xfrm>
          <a:prstGeom prst="rect">
            <a:avLst/>
          </a:prstGeom>
          <a:noFill/>
          <a:ln/>
        </p:spPr>
        <p:txBody>
          <a:bodyPr wrap="square" lIns="0" tIns="0" rIns="0" bIns="0" rtlCol="0" anchor="ctr"/>
          <a:lstStyle/>
          <a:p>
            <a:pPr marL="0" indent="0" algn="r">
              <a:buNone/>
            </a:pPr>
            <a:r>
              <a:rPr lang="en-US" sz="1250" i="1" dirty="0">
                <a:solidFill>
                  <a:srgbClr val="6B6B8A"/>
                </a:solidFill>
                <a:latin typeface="Calibri" pitchFamily="34" charset="0"/>
                <a:ea typeface="Calibri" pitchFamily="34" charset="-122"/>
                <a:cs typeface="Calibri" pitchFamily="34" charset="-120"/>
              </a:rPr>
              <a:t>next session</a:t>
            </a:r>
            <a:endParaRPr lang="en-US" sz="1250" dirty="0"/>
          </a:p>
        </p:txBody>
      </p:sp>
      <p:sp>
        <p:nvSpPr>
          <p:cNvPr id="7" name="Shape 5"/>
          <p:cNvSpPr/>
          <p:nvPr/>
        </p:nvSpPr>
        <p:spPr>
          <a:xfrm>
            <a:off x="640080" y="2267712"/>
            <a:ext cx="6766560" cy="658368"/>
          </a:xfrm>
          <a:prstGeom prst="roundRect">
            <a:avLst>
              <a:gd name="adj" fmla="val 13889"/>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8" name="Text 6"/>
          <p:cNvSpPr/>
          <p:nvPr/>
        </p:nvSpPr>
        <p:spPr>
          <a:xfrm>
            <a:off x="914400" y="2267712"/>
            <a:ext cx="4480560" cy="658368"/>
          </a:xfrm>
          <a:prstGeom prst="rect">
            <a:avLst/>
          </a:prstGeom>
          <a:noFill/>
          <a:ln/>
        </p:spPr>
        <p:txBody>
          <a:bodyPr wrap="square" lIns="0" tIns="0" rIns="0" bIns="0" rtlCol="0" anchor="ctr"/>
          <a:lstStyle/>
          <a:p>
            <a:pPr marL="0" indent="0">
              <a:buNone/>
            </a:pPr>
            <a:r>
              <a:rPr lang="en-US" sz="1500" dirty="0">
                <a:solidFill>
                  <a:srgbClr val="16163A"/>
                </a:solidFill>
                <a:latin typeface="Calibri" pitchFamily="34" charset="0"/>
                <a:ea typeface="Calibri" pitchFamily="34" charset="-122"/>
                <a:cs typeface="Calibri" pitchFamily="34" charset="-120"/>
              </a:rPr>
              <a:t>Multi-agent and supervisor graphs</a:t>
            </a:r>
            <a:endParaRPr lang="en-US" sz="1500" dirty="0"/>
          </a:p>
        </p:txBody>
      </p:sp>
      <p:sp>
        <p:nvSpPr>
          <p:cNvPr id="9" name="Text 7"/>
          <p:cNvSpPr/>
          <p:nvPr/>
        </p:nvSpPr>
        <p:spPr>
          <a:xfrm>
            <a:off x="5394960" y="2267712"/>
            <a:ext cx="1828800" cy="658368"/>
          </a:xfrm>
          <a:prstGeom prst="rect">
            <a:avLst/>
          </a:prstGeom>
          <a:noFill/>
          <a:ln/>
        </p:spPr>
        <p:txBody>
          <a:bodyPr wrap="square" lIns="0" tIns="0" rIns="0" bIns="0" rtlCol="0" anchor="ctr"/>
          <a:lstStyle/>
          <a:p>
            <a:pPr marL="0" indent="0" algn="r">
              <a:buNone/>
            </a:pPr>
            <a:r>
              <a:rPr lang="en-US" sz="1250" i="1" dirty="0">
                <a:solidFill>
                  <a:srgbClr val="6B6B8A"/>
                </a:solidFill>
                <a:latin typeface="Calibri" pitchFamily="34" charset="0"/>
                <a:ea typeface="Calibri" pitchFamily="34" charset="-122"/>
                <a:cs typeface="Calibri" pitchFamily="34" charset="-120"/>
              </a:rPr>
              <a:t>next session</a:t>
            </a:r>
            <a:endParaRPr lang="en-US" sz="1250" dirty="0"/>
          </a:p>
        </p:txBody>
      </p:sp>
      <p:sp>
        <p:nvSpPr>
          <p:cNvPr id="10" name="Shape 8"/>
          <p:cNvSpPr/>
          <p:nvPr/>
        </p:nvSpPr>
        <p:spPr>
          <a:xfrm>
            <a:off x="640080" y="3072384"/>
            <a:ext cx="6766560" cy="658368"/>
          </a:xfrm>
          <a:prstGeom prst="roundRect">
            <a:avLst>
              <a:gd name="adj" fmla="val 13889"/>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1" name="Text 9"/>
          <p:cNvSpPr/>
          <p:nvPr/>
        </p:nvSpPr>
        <p:spPr>
          <a:xfrm>
            <a:off x="914400" y="3072384"/>
            <a:ext cx="4480560" cy="658368"/>
          </a:xfrm>
          <a:prstGeom prst="rect">
            <a:avLst/>
          </a:prstGeom>
          <a:noFill/>
          <a:ln/>
        </p:spPr>
        <p:txBody>
          <a:bodyPr wrap="square" lIns="0" tIns="0" rIns="0" bIns="0" rtlCol="0" anchor="ctr"/>
          <a:lstStyle/>
          <a:p>
            <a:pPr marL="0" indent="0">
              <a:buNone/>
            </a:pPr>
            <a:r>
              <a:rPr lang="en-US" sz="1500" dirty="0">
                <a:solidFill>
                  <a:srgbClr val="16163A"/>
                </a:solidFill>
                <a:latin typeface="Calibri" pitchFamily="34" charset="0"/>
                <a:ea typeface="Calibri" pitchFamily="34" charset="-122"/>
                <a:cs typeface="Calibri" pitchFamily="34" charset="-120"/>
              </a:rPr>
              <a:t>Human-in-the-loop with interrupt()</a:t>
            </a:r>
            <a:endParaRPr lang="en-US" sz="1500" dirty="0"/>
          </a:p>
        </p:txBody>
      </p:sp>
      <p:sp>
        <p:nvSpPr>
          <p:cNvPr id="12" name="Text 10"/>
          <p:cNvSpPr/>
          <p:nvPr/>
        </p:nvSpPr>
        <p:spPr>
          <a:xfrm>
            <a:off x="5394960" y="3072384"/>
            <a:ext cx="1828800" cy="658368"/>
          </a:xfrm>
          <a:prstGeom prst="rect">
            <a:avLst/>
          </a:prstGeom>
          <a:noFill/>
          <a:ln/>
        </p:spPr>
        <p:txBody>
          <a:bodyPr wrap="square" lIns="0" tIns="0" rIns="0" bIns="0" rtlCol="0" anchor="ctr"/>
          <a:lstStyle/>
          <a:p>
            <a:pPr marL="0" indent="0" algn="r">
              <a:buNone/>
            </a:pPr>
            <a:r>
              <a:rPr lang="en-US" sz="1250" i="1" dirty="0">
                <a:solidFill>
                  <a:srgbClr val="6B6B8A"/>
                </a:solidFill>
                <a:latin typeface="Calibri" pitchFamily="34" charset="0"/>
                <a:ea typeface="Calibri" pitchFamily="34" charset="-122"/>
                <a:cs typeface="Calibri" pitchFamily="34" charset="-120"/>
              </a:rPr>
              <a:t>its own session</a:t>
            </a:r>
            <a:endParaRPr lang="en-US" sz="1250" dirty="0"/>
          </a:p>
        </p:txBody>
      </p:sp>
      <p:sp>
        <p:nvSpPr>
          <p:cNvPr id="13" name="Shape 11"/>
          <p:cNvSpPr/>
          <p:nvPr/>
        </p:nvSpPr>
        <p:spPr>
          <a:xfrm>
            <a:off x="640080" y="3877056"/>
            <a:ext cx="6766560" cy="658368"/>
          </a:xfrm>
          <a:prstGeom prst="roundRect">
            <a:avLst>
              <a:gd name="adj" fmla="val 13889"/>
            </a:avLst>
          </a:prstGeom>
          <a:solidFill>
            <a:srgbClr val="FFFFFF"/>
          </a:solidFill>
          <a:ln w="12700">
            <a:solidFill>
              <a:srgbClr val="D9D5F2"/>
            </a:solidFill>
            <a:prstDash val="solid"/>
          </a:ln>
          <a:effectLst>
            <a:outerShdw blurRad="127000" dist="25400" dir="5400000" algn="bl" rotWithShape="0">
              <a:srgbClr val="1A1A3A">
                <a:alpha val="10000"/>
              </a:srgbClr>
            </a:outerShdw>
          </a:effectLst>
        </p:spPr>
      </p:sp>
      <p:sp>
        <p:nvSpPr>
          <p:cNvPr id="14" name="Text 12"/>
          <p:cNvSpPr/>
          <p:nvPr/>
        </p:nvSpPr>
        <p:spPr>
          <a:xfrm>
            <a:off x="914400" y="3877056"/>
            <a:ext cx="4480560" cy="658368"/>
          </a:xfrm>
          <a:prstGeom prst="rect">
            <a:avLst/>
          </a:prstGeom>
          <a:noFill/>
          <a:ln/>
        </p:spPr>
        <p:txBody>
          <a:bodyPr wrap="square" lIns="0" tIns="0" rIns="0" bIns="0" rtlCol="0" anchor="ctr"/>
          <a:lstStyle/>
          <a:p>
            <a:pPr marL="0" indent="0">
              <a:buNone/>
            </a:pPr>
            <a:r>
              <a:rPr lang="en-US" sz="1500" dirty="0">
                <a:solidFill>
                  <a:srgbClr val="16163A"/>
                </a:solidFill>
                <a:latin typeface="Calibri" pitchFamily="34" charset="0"/>
                <a:ea typeface="Calibri" pitchFamily="34" charset="-122"/>
                <a:cs typeface="Calibri" pitchFamily="34" charset="-120"/>
              </a:rPr>
              <a:t>Streaming, subgraphs, parallel fan-out</a:t>
            </a:r>
            <a:endParaRPr lang="en-US" sz="1500" dirty="0"/>
          </a:p>
        </p:txBody>
      </p:sp>
      <p:sp>
        <p:nvSpPr>
          <p:cNvPr id="15" name="Text 13"/>
          <p:cNvSpPr/>
          <p:nvPr/>
        </p:nvSpPr>
        <p:spPr>
          <a:xfrm>
            <a:off x="5394960" y="3877056"/>
            <a:ext cx="1828800" cy="658368"/>
          </a:xfrm>
          <a:prstGeom prst="rect">
            <a:avLst/>
          </a:prstGeom>
          <a:noFill/>
          <a:ln/>
        </p:spPr>
        <p:txBody>
          <a:bodyPr wrap="square" lIns="0" tIns="0" rIns="0" bIns="0" rtlCol="0" anchor="ctr"/>
          <a:lstStyle/>
          <a:p>
            <a:pPr marL="0" indent="0" algn="r">
              <a:buNone/>
            </a:pPr>
            <a:r>
              <a:rPr lang="en-US" sz="1250" i="1" dirty="0">
                <a:solidFill>
                  <a:srgbClr val="6B6B8A"/>
                </a:solidFill>
                <a:latin typeface="Calibri" pitchFamily="34" charset="0"/>
                <a:ea typeface="Calibri" pitchFamily="34" charset="-122"/>
                <a:cs typeface="Calibri" pitchFamily="34" charset="-120"/>
              </a:rPr>
              <a:t>when you need it</a:t>
            </a:r>
            <a:endParaRPr lang="en-US" sz="1250" dirty="0"/>
          </a:p>
        </p:txBody>
      </p:sp>
      <p:sp>
        <p:nvSpPr>
          <p:cNvPr id="16" name="Shape 14"/>
          <p:cNvSpPr/>
          <p:nvPr/>
        </p:nvSpPr>
        <p:spPr>
          <a:xfrm>
            <a:off x="640080" y="4681728"/>
            <a:ext cx="6766560" cy="658368"/>
          </a:xfrm>
          <a:prstGeom prst="roundRect">
            <a:avLst>
              <a:gd name="adj" fmla="val 13889"/>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17" name="Text 15"/>
          <p:cNvSpPr/>
          <p:nvPr/>
        </p:nvSpPr>
        <p:spPr>
          <a:xfrm>
            <a:off x="914400" y="4681728"/>
            <a:ext cx="4480560" cy="658368"/>
          </a:xfrm>
          <a:prstGeom prst="rect">
            <a:avLst/>
          </a:prstGeom>
          <a:noFill/>
          <a:ln/>
        </p:spPr>
        <p:txBody>
          <a:bodyPr wrap="square" lIns="0" tIns="0" rIns="0" bIns="0" rtlCol="0" anchor="ctr"/>
          <a:lstStyle/>
          <a:p>
            <a:pPr marL="0" indent="0">
              <a:buNone/>
            </a:pPr>
            <a:r>
              <a:rPr lang="en-US" sz="1500" dirty="0">
                <a:solidFill>
                  <a:srgbClr val="16163A"/>
                </a:solidFill>
                <a:latin typeface="Calibri" pitchFamily="34" charset="0"/>
                <a:ea typeface="Calibri" pitchFamily="34" charset="-122"/>
                <a:cs typeface="Calibri" pitchFamily="34" charset="-120"/>
              </a:rPr>
              <a:t>create_agent (the prebuilt shortcut)</a:t>
            </a:r>
            <a:endParaRPr lang="en-US" sz="1500" dirty="0"/>
          </a:p>
        </p:txBody>
      </p:sp>
      <p:sp>
        <p:nvSpPr>
          <p:cNvPr id="18" name="Text 16"/>
          <p:cNvSpPr/>
          <p:nvPr/>
        </p:nvSpPr>
        <p:spPr>
          <a:xfrm>
            <a:off x="5394960" y="4681728"/>
            <a:ext cx="1828800" cy="658368"/>
          </a:xfrm>
          <a:prstGeom prst="rect">
            <a:avLst/>
          </a:prstGeom>
          <a:noFill/>
          <a:ln/>
        </p:spPr>
        <p:txBody>
          <a:bodyPr wrap="square" lIns="0" tIns="0" rIns="0" bIns="0" rtlCol="0" anchor="ctr"/>
          <a:lstStyle/>
          <a:p>
            <a:pPr marL="0" indent="0" algn="r">
              <a:buNone/>
            </a:pPr>
            <a:r>
              <a:rPr lang="en-US" sz="1250" i="1" dirty="0">
                <a:solidFill>
                  <a:srgbClr val="6B6B8A"/>
                </a:solidFill>
                <a:latin typeface="Calibri" pitchFamily="34" charset="0"/>
                <a:ea typeface="Calibri" pitchFamily="34" charset="-122"/>
                <a:cs typeface="Calibri" pitchFamily="34" charset="-120"/>
              </a:rPr>
              <a:t>once you know</a:t>
            </a:r>
            <a:endParaRPr lang="en-US" sz="1250" dirty="0"/>
          </a:p>
        </p:txBody>
      </p:sp>
      <p:sp>
        <p:nvSpPr>
          <p:cNvPr id="19" name="Shape 17"/>
          <p:cNvSpPr/>
          <p:nvPr/>
        </p:nvSpPr>
        <p:spPr>
          <a:xfrm>
            <a:off x="7772400" y="1463040"/>
            <a:ext cx="3749040" cy="4023360"/>
          </a:xfrm>
          <a:prstGeom prst="roundRect">
            <a:avLst>
              <a:gd name="adj" fmla="val 2439"/>
            </a:avLst>
          </a:prstGeom>
          <a:solidFill>
            <a:srgbClr val="16163A"/>
          </a:solidFill>
          <a:ln w="12700">
            <a:solidFill>
              <a:srgbClr val="FFFFFF"/>
            </a:solidFill>
            <a:prstDash val="solid"/>
          </a:ln>
          <a:effectLst>
            <a:outerShdw blurRad="127000" dist="25400" dir="5400000" algn="bl" rotWithShape="0">
              <a:srgbClr val="1A1A3A">
                <a:alpha val="10000"/>
              </a:srgbClr>
            </a:outerShdw>
          </a:effectLst>
        </p:spPr>
      </p:sp>
      <p:sp>
        <p:nvSpPr>
          <p:cNvPr id="20" name="Text 18"/>
          <p:cNvSpPr/>
          <p:nvPr/>
        </p:nvSpPr>
        <p:spPr>
          <a:xfrm>
            <a:off x="8092440" y="1691640"/>
            <a:ext cx="3200400" cy="365760"/>
          </a:xfrm>
          <a:prstGeom prst="rect">
            <a:avLst/>
          </a:prstGeom>
          <a:noFill/>
          <a:ln/>
        </p:spPr>
        <p:txBody>
          <a:bodyPr wrap="square" lIns="0" tIns="0" rIns="0" bIns="0" rtlCol="0" anchor="ctr"/>
          <a:lstStyle/>
          <a:p>
            <a:pPr marL="0" indent="0">
              <a:buNone/>
            </a:pPr>
            <a:r>
              <a:rPr lang="en-US" sz="1800" b="1" dirty="0">
                <a:solidFill>
                  <a:srgbClr val="FF9F1C"/>
                </a:solidFill>
                <a:latin typeface="Calibri" pitchFamily="34" charset="0"/>
                <a:ea typeface="Calibri" pitchFamily="34" charset="-122"/>
                <a:cs typeface="Calibri" pitchFamily="34" charset="-120"/>
              </a:rPr>
              <a:t>Read these</a:t>
            </a:r>
            <a:endParaRPr lang="en-US" sz="1800" dirty="0"/>
          </a:p>
        </p:txBody>
      </p:sp>
      <p:sp>
        <p:nvSpPr>
          <p:cNvPr id="21" name="Text 19"/>
          <p:cNvSpPr/>
          <p:nvPr/>
        </p:nvSpPr>
        <p:spPr>
          <a:xfrm>
            <a:off x="8092440" y="2194560"/>
            <a:ext cx="3200400" cy="3108960"/>
          </a:xfrm>
          <a:prstGeom prst="rect">
            <a:avLst/>
          </a:prstGeom>
          <a:noFill/>
          <a:ln/>
        </p:spPr>
        <p:txBody>
          <a:bodyPr wrap="square" lIns="0" tIns="0" rIns="0" bIns="0" rtlCol="0" anchor="t"/>
          <a:lstStyle/>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ReAct (Yao et al., 2022)</a:t>
            </a:r>
            <a:endParaRPr lang="en-US" sz="1150" dirty="0"/>
          </a:p>
          <a:p>
            <a:pPr marL="0" indent="0">
              <a:lnSpc>
                <a:spcPts val="1600"/>
              </a:lnSpc>
              <a:buNone/>
            </a:pPr>
            <a:r>
              <a:rPr lang="en-US" sz="1150" dirty="0">
                <a:solidFill>
                  <a:srgbClr val="9E99CC"/>
                </a:solidFill>
                <a:latin typeface="Calibri" pitchFamily="34" charset="0"/>
                <a:ea typeface="Calibri" pitchFamily="34" charset="-122"/>
                <a:cs typeface="Calibri" pitchFamily="34" charset="-120"/>
              </a:rPr>
              <a:t>arxiv.org/abs/2210.03629</a:t>
            </a:r>
            <a:endParaRPr lang="en-US" sz="1150" dirty="0"/>
          </a:p>
          <a:p>
            <a:pPr marL="0" indent="0">
              <a:lnSpc>
                <a:spcPts val="1600"/>
              </a:lnSpc>
              <a:buNone/>
            </a:pPr>
            <a:endParaRPr lang="en-US" sz="1150" dirty="0"/>
          </a:p>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LangGraph Graph API</a:t>
            </a:r>
            <a:endParaRPr lang="en-US" sz="1150" dirty="0"/>
          </a:p>
          <a:p>
            <a:pPr marL="0" indent="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docs.langchain.com/oss/python/langgraph/graph-api</a:t>
            </a:r>
            <a:endParaRPr lang="en-US" sz="1150" dirty="0"/>
          </a:p>
          <a:p>
            <a:pPr marL="0" indent="0">
              <a:lnSpc>
                <a:spcPts val="1600"/>
              </a:lnSpc>
              <a:buNone/>
            </a:pPr>
            <a:endParaRPr lang="en-US" sz="1150" dirty="0"/>
          </a:p>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Persistence &amp; checkpointers</a:t>
            </a:r>
            <a:endParaRPr lang="en-US" sz="1150" dirty="0"/>
          </a:p>
          <a:p>
            <a:pPr marL="0" indent="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docs.langchain.com/oss/python/langgraph/checkpointers</a:t>
            </a:r>
            <a:endParaRPr lang="en-US" sz="1150" dirty="0"/>
          </a:p>
          <a:p>
            <a:pPr marL="0" indent="0">
              <a:lnSpc>
                <a:spcPts val="1600"/>
              </a:lnSpc>
              <a:buNone/>
            </a:pPr>
            <a:endParaRPr lang="en-US" sz="1150" dirty="0"/>
          </a:p>
          <a:p>
            <a:pPr marL="0" indent="0">
              <a:lnSpc>
                <a:spcPts val="1600"/>
              </a:lnSpc>
              <a:buNone/>
            </a:pPr>
            <a:r>
              <a:rPr lang="en-US" sz="1150" b="1" dirty="0">
                <a:solidFill>
                  <a:srgbClr val="FFFFFF"/>
                </a:solidFill>
                <a:latin typeface="Calibri" pitchFamily="34" charset="0"/>
                <a:ea typeface="Calibri" pitchFamily="34" charset="-122"/>
                <a:cs typeface="Calibri" pitchFamily="34" charset="-120"/>
              </a:rPr>
              <a:t>Workflows and agents</a:t>
            </a:r>
            <a:endParaRPr lang="en-US" sz="1150" dirty="0"/>
          </a:p>
          <a:p>
            <a:pPr marL="0" indent="0">
              <a:lnSpc>
                <a:spcPts val="1600"/>
              </a:lnSpc>
              <a:buNone/>
            </a:pPr>
            <a:r>
              <a:rPr lang="en-US" sz="1150" dirty="0">
                <a:solidFill>
                  <a:srgbClr val="9E99CC"/>
                </a:solidFill>
                <a:latin typeface="Calibri" pitchFamily="34" charset="0"/>
                <a:ea typeface="Calibri" pitchFamily="34" charset="-122"/>
                <a:cs typeface="Calibri" pitchFamily="34" charset="-120"/>
              </a:rPr>
              <a:t>docs.langchain.com/oss/python/langgraph/workflows-agents</a:t>
            </a:r>
            <a:endParaRPr lang="en-US" sz="1150" dirty="0"/>
          </a:p>
        </p:txBody>
      </p:sp>
      <p:sp>
        <p:nvSpPr>
          <p:cNvPr id="22" name="Shape 20"/>
          <p:cNvSpPr/>
          <p:nvPr/>
        </p:nvSpPr>
        <p:spPr>
          <a:xfrm>
            <a:off x="640080" y="5623560"/>
            <a:ext cx="10881360" cy="777240"/>
          </a:xfrm>
          <a:prstGeom prst="roundRect">
            <a:avLst>
              <a:gd name="adj" fmla="val 11765"/>
            </a:avLst>
          </a:prstGeom>
          <a:solidFill>
            <a:srgbClr val="F2F0FF"/>
          </a:solidFill>
          <a:ln w="12700">
            <a:solidFill>
              <a:srgbClr val="FFFFFF"/>
            </a:solidFill>
            <a:prstDash val="solid"/>
          </a:ln>
          <a:effectLst>
            <a:outerShdw blurRad="127000" dist="25400" dir="5400000" algn="bl" rotWithShape="0">
              <a:srgbClr val="1A1A3A">
                <a:alpha val="10000"/>
              </a:srgbClr>
            </a:outerShdw>
          </a:effectLst>
        </p:spPr>
      </p:sp>
      <p:sp>
        <p:nvSpPr>
          <p:cNvPr id="23" name="Text 21"/>
          <p:cNvSpPr/>
          <p:nvPr/>
        </p:nvSpPr>
        <p:spPr>
          <a:xfrm>
            <a:off x="1005840" y="5623560"/>
            <a:ext cx="10149840" cy="777240"/>
          </a:xfrm>
          <a:prstGeom prst="rect">
            <a:avLst/>
          </a:prstGeom>
          <a:noFill/>
          <a:ln/>
        </p:spPr>
        <p:txBody>
          <a:bodyPr wrap="square" lIns="0" tIns="0" rIns="0" bIns="0" rtlCol="0" anchor="ctr"/>
          <a:lstStyle/>
          <a:p>
            <a:pPr marL="0" indent="0">
              <a:buNone/>
            </a:pPr>
            <a:r>
              <a:rPr lang="en-US" sz="1550" b="1" dirty="0">
                <a:solidFill>
                  <a:srgbClr val="3B2E8F"/>
                </a:solidFill>
                <a:latin typeface="Calibri" pitchFamily="34" charset="0"/>
                <a:ea typeface="Calibri" pitchFamily="34" charset="-122"/>
                <a:cs typeface="Calibri" pitchFamily="34" charset="-120"/>
              </a:rPr>
              <a:t>Homework: open the notebook, change WORD_LIMIT to 15, and work out why it behaves the way it does.</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303</TotalTime>
  <Words>6216</Words>
  <Application>Microsoft Office PowerPoint</Application>
  <PresentationFormat>Widescreen</PresentationFormat>
  <Paragraphs>523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35 - AI Agents &amp; LangGraph Fundamentals</dc:title>
  <dc:subject>PptxGenJS Presentation</dc:subject>
  <dc:creator>Shah</dc:creator>
  <cp:lastModifiedBy>Shah Zeb</cp:lastModifiedBy>
  <cp:revision>2</cp:revision>
  <dcterms:created xsi:type="dcterms:W3CDTF">2026-08-12T12:52:30Z</dcterms:created>
  <dcterms:modified xsi:type="dcterms:W3CDTF">2026-08-13T16:20:21Z</dcterms:modified>
</cp:coreProperties>
</file>