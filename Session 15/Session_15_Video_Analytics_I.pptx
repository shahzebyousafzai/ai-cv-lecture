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1463040" cy="34747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Analytics I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3035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</a:t>
            </a:r>
            <a:pPr indent="0" marL="0">
              <a:buNone/>
            </a:pPr>
            <a:r>
              <a:rPr lang="en-US" sz="15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</a:t>
            </a:r>
            <a:pPr indent="0" marL="0">
              <a:buNone/>
            </a:pPr>
            <a:r>
              <a:rPr lang="en-US" sz="15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Theory Session  —  1 Hour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2697480" cy="3520440"/>
          </a:xfrm>
          <a:prstGeom prst="rect">
            <a:avLst/>
          </a:prstGeom>
          <a:solidFill>
            <a:srgbClr val="0D2A42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98448"/>
            <a:ext cx="2697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898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" y="2715768"/>
            <a:ext cx="2377440" cy="0"/>
          </a:xfrm>
          <a:prstGeom prst="line">
            <a:avLst/>
          </a:prstGeom>
          <a:noFill/>
          <a:ln w="63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81635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constancy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Lucas-Kanade (sparse)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Farneback (dense)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298448"/>
            <a:ext cx="2697480" cy="3520440"/>
          </a:xfrm>
          <a:prstGeom prst="rect">
            <a:avLst/>
          </a:prstGeom>
          <a:solidFill>
            <a:srgbClr val="0D2A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298448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3898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28416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Subtraction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28416" y="2715768"/>
            <a:ext cx="2377440" cy="0"/>
          </a:xfrm>
          <a:prstGeom prst="line">
            <a:avLst/>
          </a:prstGeom>
          <a:noFill/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281635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differencing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models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&amp; KNN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17336" y="1298448"/>
            <a:ext cx="2697480" cy="3520440"/>
          </a:xfrm>
          <a:prstGeom prst="rect">
            <a:avLst/>
          </a:prstGeom>
          <a:solidFill>
            <a:srgbClr val="0D2A42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1298448"/>
            <a:ext cx="2697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3898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27064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27064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Detection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7064" y="2715768"/>
            <a:ext cx="2377440" cy="0"/>
          </a:xfrm>
          <a:prstGeom prst="line">
            <a:avLst/>
          </a:prstGeom>
          <a:noFill/>
          <a:ln w="635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281635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extraction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463040"/>
            <a:ext cx="12801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pixels move between video frames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-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Optical Flow?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is the pattern of apparent motion of objects, surfaces, and edges in a visual scene — caused by the relative motion between a camera and the scene.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389120" cy="822960"/>
          </a:xfrm>
          <a:prstGeom prst="rect">
            <a:avLst/>
          </a:prstGeom>
          <a:solidFill>
            <a:srgbClr val="EDF4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03120"/>
            <a:ext cx="42062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pixel, compute a 2D displacement vector (u, v) showing how it moved from frame t to frame t+1.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vector field over the image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vector = direction + speed of that point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(tracked points) or Dense (all pixels)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moving across 5 frames — arrows = displacement vectors</a:t>
            </a:r>
            <a:endParaRPr lang="en-US" sz="900" dirty="0"/>
          </a:p>
        </p:txBody>
      </p:sp>
      <p:pic>
        <p:nvPicPr>
          <p:cNvPr id="12" name="Image 0" descr="https://docs.opencv.org/4.x/optical_flow_basic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490472"/>
            <a:ext cx="3749040" cy="274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74920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OpenCV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- ASSUMPTIONS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Core Assumptions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39776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61872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298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Brightness Constancy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pixel's intensity does not change between consecutive frames — even if it moves to a new location.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3749040" cy="475488"/>
          </a:xfrm>
          <a:prstGeom prst="rect">
            <a:avLst/>
          </a:prstGeom>
          <a:solidFill>
            <a:srgbClr val="FFF3EC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43200"/>
            <a:ext cx="3749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4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I(x, y, t)  =  I(x+dx, y+dy, t+dt)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Optical Flow Constraint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143000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143000"/>
            <a:ext cx="39776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261872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298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Coherence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18470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pixels belong to the same surface and therefore move in a similar direction.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743200"/>
            <a:ext cx="3749040" cy="475488"/>
          </a:xfrm>
          <a:prstGeom prst="rect">
            <a:avLst/>
          </a:prstGeom>
          <a:solidFill>
            <a:srgbClr val="FFF3EC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43200"/>
            <a:ext cx="3749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4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Nearby pixels share the same velocity (u, v)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310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Lucas-Kanade to overcome the aperture problem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- MATH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Optical Flow Equation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Taylor series expansion to the brightness constancy constraint and dividing by dt gives us the fundamental optical flow equation: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783080"/>
            <a:ext cx="6400800" cy="777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783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 * u  +  Iy * v  +  It  =  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173736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54864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834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Ix, Iy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" y="33101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gradients in x and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(spatial derivatives — computed from the image)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743200"/>
            <a:ext cx="2651760" cy="173736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743200"/>
            <a:ext cx="54864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834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10712" y="33101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gradient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(change in intensity between frames)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743200"/>
            <a:ext cx="2651760" cy="173736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743200"/>
            <a:ext cx="54864" cy="1737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2834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u, v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99632" y="33101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components in x and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 — what we want to find)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solidFill>
            <a:srgbClr val="FFF3EC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equation, two unknowns (u, v)  -&gt;  Under-determined  -&gt;  Requires additional constraints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- APERTURE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Aperture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observing motion through a small window, you can only measure the component of motion perpendicular to the edge — the true direction remains ambiguous.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7548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38528"/>
            <a:ext cx="4572000" cy="7955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vs  2 unknowns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uniquely solve for u and v with only one constraint per pixel.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Method Resolves This: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10128"/>
            <a:ext cx="4754880" cy="347472"/>
          </a:xfrm>
          <a:prstGeom prst="rect">
            <a:avLst/>
          </a:prstGeom>
          <a:solidFill>
            <a:srgbClr val="EDF4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1012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3284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Lucas-Kanade  -&gt;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patch of neighboring pixels (spatial constraint)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754880" cy="347472"/>
          </a:xfrm>
          <a:prstGeom prst="rect">
            <a:avLst/>
          </a:prstGeom>
          <a:solidFill>
            <a:srgbClr val="EDF4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5486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721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Horn-Schunck  -&gt;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smoothness regularization across the whole image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4754880" cy="347472"/>
          </a:xfrm>
          <a:prstGeom prst="rect">
            <a:avLst/>
          </a:prstGeom>
          <a:solidFill>
            <a:srgbClr val="EDF4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96512"/>
            <a:ext cx="54864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114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-&gt;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constraints from large motion datasets (RAFT, FlowNet)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1143000"/>
            <a:ext cx="3401568" cy="374904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APERTURE ANALOGY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59552" y="1572768"/>
            <a:ext cx="315468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664208"/>
            <a:ext cx="3200400" cy="3063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watching a striped bar move through a small circular hole (aperture).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that the bar is moving — but you cannot determine whether it is moving horizontally, vertically, or diagonally.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component perpendicular to the stripe direction is visible through the aperture.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more context (a wider view or more pixels) to resolve the ambiguity.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-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vs Dense Optical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selected set of feature points (e.g. corners) from frame to frame.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efficient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real time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75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coverage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 points tracked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06240"/>
            <a:ext cx="379476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06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cv2.calcOpticalFlowPyrLK()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4114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07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0600" y="17099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motion vector for every single pixel in the frame.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63347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motion field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visualization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675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heavier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compute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4206240"/>
            <a:ext cx="379476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206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cv2.calcOpticalFlowFarneback()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- SPARSE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Lucas-Kanade: Sparse Optical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Lucas-Kanade solves the aperture problem by assuming all pixels in a small 3x3 patch share the same motion (u, v). This gives 9 equations for 2 unknowns — solved by least squares.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84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corners  </a:t>
            </a:r>
            <a:pPr indent="0" marL="0">
              <a:buNone/>
            </a:pPr>
            <a:r>
              <a:rPr lang="en-US" sz="11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Shi-Tomasi / Harris to find good feature points to track.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642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constraint  </a:t>
            </a:r>
            <a:pPr indent="0" marL="0">
              <a:buNone/>
            </a:pPr>
            <a:r>
              <a:rPr lang="en-US" sz="11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3x3 patch: 9 equations, 2 unknowns — over-determined system.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3009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 </a:t>
            </a:r>
            <a:pPr indent="0" marL="0">
              <a:buNone/>
            </a:pPr>
            <a:r>
              <a:rPr lang="en-US" sz="11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the optimal (u, v) that best fits all 9 equations.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593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pyramid  </a:t>
            </a:r>
            <a:pPr indent="0" marL="0">
              <a:buNone/>
            </a:pPr>
            <a:r>
              <a:rPr lang="en-US" sz="11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pyramid handles large displacements between frames.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6636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Lucas-Kanade tracking result — traffic video</a:t>
            </a:r>
            <a:endParaRPr lang="en-US" sz="900" dirty="0"/>
          </a:p>
        </p:txBody>
      </p:sp>
      <p:pic>
        <p:nvPicPr>
          <p:cNvPr id="20" name="Image 0" descr="https://docs.opencv.org/4.x/opticalflow_l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6360" y="1481328"/>
            <a:ext cx="3657600" cy="2651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trails show tracked point trajectories over time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16636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OpenCV Documentation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- DENSE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Farneback: Dense Optical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optical flow computes a motion vector for every pixel. Farneback's algorithm approximates each frame's neighborhood using polynomial expansion, then computes the full displacement field.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4572000" cy="1353312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HSV Color Visualization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50592"/>
            <a:ext cx="4297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(H):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direction of motion
</a:t>
            </a:r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255
</a:t>
            </a:r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(V):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magnitude (speed) of motion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No feature selection — the entire frame is processed.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913632"/>
            <a:ext cx="45720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931920"/>
            <a:ext cx="44805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cv2.calcOpticalFlowFarneback(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prev, next, None, 0.5, 3, 15, 3, 5, 1.2, 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6636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flow — HSV-coded direction and speed</a:t>
            </a:r>
            <a:endParaRPr lang="en-US" sz="900" dirty="0"/>
          </a:p>
        </p:txBody>
      </p:sp>
      <p:pic>
        <p:nvPicPr>
          <p:cNvPr id="14" name="Image 0" descr="https://docs.opencv.org/4.x/opticalf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6360" y="1481328"/>
            <a:ext cx="365760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66360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direction of movement; Brightness = speed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16636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OpenCV Documentation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61872"/>
            <a:ext cx="54864" cy="16642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71600"/>
            <a:ext cx="475488" cy="347472"/>
          </a:xfrm>
          <a:prstGeom prst="rect">
            <a:avLst/>
          </a:prstGeom>
          <a:solidFill>
            <a:srgbClr val="FF6B35">
              <a:alpha val="8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716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7922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Stabilization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19456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camera shake and compensate using the flow field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261872"/>
            <a:ext cx="54864" cy="16642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371600"/>
            <a:ext cx="475488" cy="347472"/>
          </a:xfrm>
          <a:prstGeom prst="rect">
            <a:avLst/>
          </a:prstGeom>
          <a:solidFill>
            <a:srgbClr val="FF6B35">
              <a:alpha val="8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3716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7922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Driving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219456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scene motion to detect moving objects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08192" y="1261872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08192" y="1261872"/>
            <a:ext cx="54864" cy="16642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371600"/>
            <a:ext cx="475488" cy="347472"/>
          </a:xfrm>
          <a:prstGeom prst="rect">
            <a:avLst/>
          </a:prstGeom>
          <a:solidFill>
            <a:srgbClr val="FF6B35">
              <a:alpha val="8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3716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5352" y="17922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Navigation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45352" y="219456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odometry — estimate self-motion from pixel flow patterns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072384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072384"/>
            <a:ext cx="54864" cy="16642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" y="3182112"/>
            <a:ext cx="475488" cy="347472"/>
          </a:xfrm>
          <a:prstGeom prst="rect">
            <a:avLst/>
          </a:prstGeom>
          <a:solidFill>
            <a:srgbClr val="FF6B35">
              <a:alpha val="8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1821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36027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Recognition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" y="4005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Two-stream networks use optical flow as a motion input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27832" y="3072384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3072384"/>
            <a:ext cx="54864" cy="16642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3182112"/>
            <a:ext cx="475488" cy="347472"/>
          </a:xfrm>
          <a:prstGeom prst="rect">
            <a:avLst/>
          </a:prstGeom>
          <a:solidFill>
            <a:srgbClr val="FF6B35">
              <a:alpha val="8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1821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64992" y="36027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Compression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64992" y="4005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MPEG uses motion vectors closely related to optical flow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08192" y="3072384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08192" y="3072384"/>
            <a:ext cx="54864" cy="16642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3182112"/>
            <a:ext cx="475488" cy="347472"/>
          </a:xfrm>
          <a:prstGeom prst="rect">
            <a:avLst/>
          </a:prstGeom>
          <a:solidFill>
            <a:srgbClr val="FF6B35">
              <a:alpha val="8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31821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5352" y="36027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&amp; Object Tracking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45352" y="4005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objects across frames without re-detecting every frame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463040"/>
            <a:ext cx="12801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Subtraction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moving foreground from the static background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- INTRO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Background Subtraction?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isolates moving objects from a scene by building a statistical model of the static background and marking pixels that deviate from it as foreground.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two-step process: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663440" cy="713232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Background Initialization  </a:t>
            </a:r>
            <a:pPr indent="0" marL="0">
              <a:buNone/>
            </a:pPr>
            <a:r>
              <a:rPr lang="en-US" sz="12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initial model of the static background.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663440" cy="713232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Background Update  </a:t>
            </a:r>
            <a:pPr indent="0" marL="0">
              <a:buNone/>
            </a:pPr>
            <a:r>
              <a:rPr lang="en-US" sz="12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adapt the model to slow changes (lighting, shadows).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binary foreground mask — white = moving object, black = background.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pipeline</a:t>
            </a:r>
            <a:endParaRPr lang="en-US" sz="900" dirty="0"/>
          </a:p>
        </p:txBody>
      </p:sp>
      <p:pic>
        <p:nvPicPr>
          <p:cNvPr id="16" name="Image 0" descr="https://docs.opencv.org/4.x/Background_Subtraction_Tutorial_Sche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3566160" cy="2743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03520" y="4251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OpenCV Documentation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- 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Frame Differencing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approach: subtract a reference background image from the current frame. Pixels where the absolute difference exceeds a threshold are classified as foreground.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847088"/>
            <a:ext cx="640080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470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Foreground(x,y,t)  =  |I(x,y,t) - B(x,y)|  &gt;  Threshold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3977640" cy="0"/>
          </a:xfrm>
          <a:prstGeom prst="line">
            <a:avLst/>
          </a:prstGeom>
          <a:noFill/>
          <a:ln w="635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27248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camera with fixed viewpoint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Good, consistent lighting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moving foreground objects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uncluttered background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6700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035808"/>
            <a:ext cx="3977640" cy="0"/>
          </a:xfrm>
          <a:prstGeom prst="line">
            <a:avLst/>
          </a:prstGeom>
          <a:noFill/>
          <a:ln w="63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27248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under lighting changes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artifacts from stationary objects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dynamic backgrounds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shadow handling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- 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Background Modeling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methods model each pixel as a probability distribution — allowing the background to adapt over time rather than using a fixed reference frame.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88696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10512"/>
            <a:ext cx="64008" cy="8869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56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194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B(t) = alpha * I(t) + (1 - alpha) * B(t-1)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74920" y="1874520"/>
            <a:ext cx="3657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is the weighted average of recent frames. Fast to compute but sensitive to sudden changes. Alpha controls learning 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8412480" cy="88696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98064"/>
            <a:ext cx="64008" cy="886968"/>
          </a:xfrm>
          <a:prstGeom prst="rect">
            <a:avLst/>
          </a:prstGeom>
          <a:solidFill>
            <a:srgbClr val="007A9E"/>
          </a:solidFill>
          <a:ln w="12700">
            <a:solidFill>
              <a:srgbClr val="007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437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Gaussian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1821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P(x) = N(mu, sigma^2)  -&gt;  classify if |I - mu| &gt; k * sigma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74920" y="2862072"/>
            <a:ext cx="3657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modeled with mean and variance from recent frames. Adapts to gradual changes but fails for multimodal distributions.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8412480" cy="88696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85616"/>
            <a:ext cx="64008" cy="8869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831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Mixture of Gaussians (MOG)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1696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P(x) = sum_k [ w_k * N(mu_k, sigma_k^2) ],  k = 1..K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74920" y="3849624"/>
            <a:ext cx="3657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Gaussians per pixel handle multi-modal backgrounds (waving trees, reflections). Most widely used in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- MOG2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MOG2: OpenCV's Background Subtractor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(Mixture of Gaussians v2) by Zivkovic (2004) is the most commonly used background subtractor in OpenCV. It automatically selects the number of Gaussian components per pixel and includes built-in shadow detection.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214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adjusts the number of Gaussians per pixel (1 to 5) based on background complexity.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01168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01168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0328" y="21214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210312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48716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marks shadow pixels in gray rather than white — reduces false positives significantly.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73552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73552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36499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Learning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749040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model updates every frame using a configurable history length parameter.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273552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273552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0328" y="33832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336499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Accuracy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749040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illumination changes, gradual scene shifts, and repetitive background motion.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cv2.createBackgroundSubtractorMOG2(history=500, varThreshold=16, detectShadows=True)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-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MOG2 vs KNN: Visual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background subtraction on the same traffic sequence. Gray regions = detected shadows.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Frame</a:t>
            </a:r>
            <a:endParaRPr lang="en-US" sz="1300" dirty="0"/>
          </a:p>
        </p:txBody>
      </p:sp>
      <p:pic>
        <p:nvPicPr>
          <p:cNvPr id="8" name="Image 0" descr="https://docs.opencv.org/4.x/Background_Subtraction_Tutorial_fra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901952"/>
            <a:ext cx="27432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video frame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MOG2 Result</a:t>
            </a:r>
            <a:endParaRPr lang="en-US" sz="1300" dirty="0"/>
          </a:p>
        </p:txBody>
      </p:sp>
      <p:pic>
        <p:nvPicPr>
          <p:cNvPr id="11" name="Image 1" descr="https://docs.opencv.org/4.x/Background_Subtraction_Tutorial_result_MOG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1901952"/>
            <a:ext cx="2743200" cy="2286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= foreground  |  Gray = shadow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2648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Result</a:t>
            </a:r>
            <a:endParaRPr lang="en-US" sz="1300" dirty="0"/>
          </a:p>
        </p:txBody>
      </p:sp>
      <p:pic>
        <p:nvPicPr>
          <p:cNvPr id="14" name="Image 2" descr="https://docs.opencv.org/4.x/Background_Subtraction_Tutorial_result_KN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901952"/>
            <a:ext cx="2743200" cy="2286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 method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OpenCV Background Subtraction Tutorial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- 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Challenges &amp;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in real-world scenes faces several difficult problems every system must address: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2651760" cy="141732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64208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755648"/>
            <a:ext cx="438912" cy="320040"/>
          </a:xfrm>
          <a:prstGeom prst="rect">
            <a:avLst/>
          </a:prstGeom>
          <a:solidFill>
            <a:srgbClr val="00B4D8">
              <a:alpha val="8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7556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1396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Illumination Changes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5054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light changes (cloud cover, light switches) cause entire-frame false detections.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1664208"/>
            <a:ext cx="2651760" cy="141732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664208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755648"/>
            <a:ext cx="438912" cy="320040"/>
          </a:xfrm>
          <a:prstGeom prst="rect">
            <a:avLst/>
          </a:prstGeom>
          <a:solidFill>
            <a:srgbClr val="00B4D8">
              <a:alpha val="8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7556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1396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Backgrounds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5054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Waving trees, water reflections, and flickering displays are incorrectly flagged as moving objects.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08192" y="1664208"/>
            <a:ext cx="2651760" cy="141732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1664208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1755648"/>
            <a:ext cx="438912" cy="320040"/>
          </a:xfrm>
          <a:prstGeom prst="rect">
            <a:avLst/>
          </a:prstGeom>
          <a:solidFill>
            <a:srgbClr val="00B4D8">
              <a:alpha val="8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7556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45352" y="21396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 Objects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45352" y="25054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foreground object stops moving, it gradually blends into the background model and disappears.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3218688"/>
            <a:ext cx="2651760" cy="141732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218688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310128"/>
            <a:ext cx="438912" cy="320040"/>
          </a:xfrm>
          <a:prstGeom prst="rect">
            <a:avLst/>
          </a:prstGeom>
          <a:solidFill>
            <a:srgbClr val="00B4D8">
              <a:alpha val="8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31012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" y="36941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" y="40599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shadows move with the object but have different intensity — often misclassified as foreground.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27832" y="3218688"/>
            <a:ext cx="2651760" cy="141732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27832" y="3218688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2" y="3310128"/>
            <a:ext cx="438912" cy="320040"/>
          </a:xfrm>
          <a:prstGeom prst="rect">
            <a:avLst/>
          </a:prstGeom>
          <a:solidFill>
            <a:srgbClr val="00B4D8">
              <a:alpha val="8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31012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64992" y="36941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Camouflage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64992" y="40599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with similar color or texture to the background become invisible to the subtractor.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08192" y="3218688"/>
            <a:ext cx="2651760" cy="1417320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08192" y="3218688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3310128"/>
            <a:ext cx="438912" cy="320040"/>
          </a:xfrm>
          <a:prstGeom prst="rect">
            <a:avLst/>
          </a:prstGeom>
          <a:solidFill>
            <a:srgbClr val="00B4D8">
              <a:alpha val="8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331012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45352" y="36941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Motion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40599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requires a static camera. Moving cameras need stabilization first.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463040"/>
            <a:ext cx="128016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foreground masks to detect and locate moving objects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 - INTRO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Motion Detection?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 identifies the presence, location, and properties of moving objects in a video. It typically builds on background subtraction to go from raw pixels to meaningful events.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786384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93392"/>
            <a:ext cx="54864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39112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Pixel-Level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produces a foreground mask. Answers: 'Which pixels changed?'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889504"/>
            <a:ext cx="8229600" cy="786384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9504"/>
            <a:ext cx="54864" cy="7863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35224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Region-Level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detection and bounding boxes locate objects. Answers: 'Where are the objects?'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85616"/>
            <a:ext cx="8229600" cy="786384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85616"/>
            <a:ext cx="54864" cy="7863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31336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Semantic-Level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classification and tracking. Answers: 'What are they and where are they going?'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focuses on Levels 1 &amp; 2 — the classical CV pipeline approach.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 -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Classical Motion Detection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005072" cy="116128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54864" cy="1161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2529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12070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Frame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591056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video frame with cv2.VideoCapture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05072" cy="116128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54864" cy="11612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87168"/>
            <a:ext cx="384048" cy="3840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246888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Subtraction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852928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MOG2/KNN to get the foreground mask (fgMask)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4005072" cy="116128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39312"/>
            <a:ext cx="54864" cy="11612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749040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373075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Morphological Cleanup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114800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 then dilate to remove noise and fill holes in the mask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115568"/>
            <a:ext cx="4005072" cy="116128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15568"/>
            <a:ext cx="54864" cy="1161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22529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21808" y="12070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Contour Detection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1591056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cv2.findContours() extracts outlines of white blobs in the mask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377440"/>
            <a:ext cx="4005072" cy="116128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377440"/>
            <a:ext cx="54864" cy="11612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487168"/>
            <a:ext cx="384048" cy="3840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21808" y="246888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Area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21808" y="2852928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very small contours (noise) using contourArea() threshold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639312"/>
            <a:ext cx="4005072" cy="1161288"/>
          </a:xfrm>
          <a:prstGeom prst="rect">
            <a:avLst/>
          </a:prstGeom>
          <a:solidFill>
            <a:srgbClr val="EDF4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639312"/>
            <a:ext cx="54864" cy="11612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749040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321808" y="373075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Bounding Box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21808" y="4114800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cv2.boundingRect() draws a rectangle around each valid contour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 - EXTRACTION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Contours and Bounding Boxes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obtaining a clean foreground mask, contour analysis locates and describes each individual moving object.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40233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Contours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contour is a curve joining all continuous points along a boundary that share the same color or intensity.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971800"/>
            <a:ext cx="3749040" cy="868680"/>
          </a:xfrm>
          <a:prstGeom prst="rect">
            <a:avLst/>
          </a:prstGeom>
          <a:solidFill>
            <a:srgbClr val="0D1B2A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99232"/>
            <a:ext cx="3611880" cy="8138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contours, _ = cv2.findContours(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fgMask, cv2.RETR_EXTERNAL,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cv2.CHAIN_APPROX_SIMPLE)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913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RETR_EXTERNAL returns only outermost contours — avoids nested duplicates.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691640"/>
            <a:ext cx="40233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83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Bounding Rectangles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0600" y="22128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axis-aligned rectangle that fully encloses a contour — gives location and size of the detected object.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971800"/>
            <a:ext cx="3749040" cy="868680"/>
          </a:xfrm>
          <a:prstGeom prst="rect">
            <a:avLst/>
          </a:prstGeom>
          <a:solidFill>
            <a:srgbClr val="0D1B2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999232"/>
            <a:ext cx="3611880" cy="8138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y, w, h = cv2.boundingRect(cnt)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cv2.rectangle(frame,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(x, y), (x+w, y+h), (0,255,0), 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3913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small boxes:  if cv2.contourArea(cnt) &lt; 500: continue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 APPLICATIONS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Techniques Are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61872"/>
            <a:ext cx="54864" cy="1664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53312"/>
            <a:ext cx="457200" cy="320040"/>
          </a:xfrm>
          <a:prstGeom prst="rect">
            <a:avLst/>
          </a:prstGeom>
          <a:solidFill>
            <a:srgbClr val="2ECC71">
              <a:alpha val="80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7465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1488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vehicles, detect speeding, measure flow rates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651760"/>
            <a:ext cx="1097280" cy="201168"/>
          </a:xfrm>
          <a:prstGeom prst="rect">
            <a:avLst/>
          </a:prstGeom>
          <a:solidFill>
            <a:srgbClr val="00B4D8">
              <a:alpha val="7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Sub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91640" y="2651760"/>
            <a:ext cx="1097280" cy="201168"/>
          </a:xfrm>
          <a:prstGeom prst="rect">
            <a:avLst/>
          </a:prstGeom>
          <a:solidFill>
            <a:srgbClr val="2ECC71">
              <a:alpha val="75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27832" y="1261872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261872"/>
            <a:ext cx="54864" cy="1664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1353312"/>
            <a:ext cx="457200" cy="320040"/>
          </a:xfrm>
          <a:prstGeom prst="rect">
            <a:avLst/>
          </a:prstGeom>
          <a:solidFill>
            <a:srgbClr val="2ECC71">
              <a:alpha val="80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17465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Surveillance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64992" y="21488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intrusion alerts, loitering detection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64992" y="2651760"/>
            <a:ext cx="1097280" cy="201168"/>
          </a:xfrm>
          <a:prstGeom prst="rect">
            <a:avLst/>
          </a:prstGeom>
          <a:solidFill>
            <a:srgbClr val="00B4D8">
              <a:alpha val="7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Sub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2651760"/>
            <a:ext cx="1097280" cy="201168"/>
          </a:xfrm>
          <a:prstGeom prst="rect">
            <a:avLst/>
          </a:prstGeom>
          <a:solidFill>
            <a:srgbClr val="2ECC71">
              <a:alpha val="75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08192" y="1261872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08192" y="1261872"/>
            <a:ext cx="54864" cy="1664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45352" y="1353312"/>
            <a:ext cx="457200" cy="320040"/>
          </a:xfrm>
          <a:prstGeom prst="rect">
            <a:avLst/>
          </a:prstGeom>
          <a:solidFill>
            <a:srgbClr val="2ECC71">
              <a:alpha val="80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5352" y="17465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Inspection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45352" y="21488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defects, monitor assembly line motion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45352" y="2651760"/>
            <a:ext cx="1097280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52360" y="2651760"/>
            <a:ext cx="1097280" cy="201168"/>
          </a:xfrm>
          <a:prstGeom prst="rect">
            <a:avLst/>
          </a:prstGeom>
          <a:solidFill>
            <a:srgbClr val="2ECC71">
              <a:alpha val="75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7472" y="3072384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" y="3072384"/>
            <a:ext cx="54864" cy="1664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" y="3163824"/>
            <a:ext cx="457200" cy="320040"/>
          </a:xfrm>
          <a:prstGeom prst="rect">
            <a:avLst/>
          </a:prstGeom>
          <a:solidFill>
            <a:srgbClr val="2ECC71">
              <a:alpha val="80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163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" y="35570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 Analytics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tracking, ball trajectory analysis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4632" y="4462272"/>
            <a:ext cx="1097280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4462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91640" y="4462272"/>
            <a:ext cx="1097280" cy="201168"/>
          </a:xfrm>
          <a:prstGeom prst="rect">
            <a:avLst/>
          </a:prstGeom>
          <a:solidFill>
            <a:srgbClr val="2ECC71">
              <a:alpha val="75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4462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27832" y="3072384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27832" y="3072384"/>
            <a:ext cx="54864" cy="1664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64992" y="3163824"/>
            <a:ext cx="457200" cy="320040"/>
          </a:xfrm>
          <a:prstGeom prst="rect">
            <a:avLst/>
          </a:prstGeom>
          <a:solidFill>
            <a:srgbClr val="2ECC71">
              <a:alpha val="80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3163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64992" y="35570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 Navigation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364992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avoidance, visual odometry from flow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364992" y="4462272"/>
            <a:ext cx="1097280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4462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08192" y="3072384"/>
            <a:ext cx="2651760" cy="1664208"/>
          </a:xfrm>
          <a:prstGeom prst="rect">
            <a:avLst/>
          </a:prstGeom>
          <a:solidFill>
            <a:srgbClr val="0D2A42"/>
          </a:solidFill>
          <a:ln w="12700">
            <a:solidFill>
              <a:srgbClr val="1A3A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08192" y="3072384"/>
            <a:ext cx="54864" cy="1664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45352" y="3163824"/>
            <a:ext cx="457200" cy="320040"/>
          </a:xfrm>
          <a:prstGeom prst="rect">
            <a:avLst/>
          </a:prstGeom>
          <a:solidFill>
            <a:srgbClr val="2ECC71">
              <a:alpha val="80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45352" y="3163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45352" y="35570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/ Elder Care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245352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and daily activity monitoring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245352" y="4462272"/>
            <a:ext cx="1097280" cy="201168"/>
          </a:xfrm>
          <a:prstGeom prst="rect">
            <a:avLst/>
          </a:prstGeom>
          <a:solidFill>
            <a:srgbClr val="00B4D8">
              <a:alpha val="7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45352" y="4462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Sub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52360" y="4462272"/>
            <a:ext cx="1097280" cy="201168"/>
          </a:xfrm>
          <a:prstGeom prst="rect">
            <a:avLst/>
          </a:prstGeom>
          <a:solidFill>
            <a:srgbClr val="2ECC71">
              <a:alpha val="75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52360" y="4462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 - BIG PICTURE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Techniques Connect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techniques are complementary and often used together in a single video analytics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26974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2697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73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242316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95728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Dense/sparse motion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velocity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BG model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Camera-motion aware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664208"/>
            <a:ext cx="26974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664208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773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Sub.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28416" y="2286000"/>
            <a:ext cx="242316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2395728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Static-camera focused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foreground mask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processing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/ KNN algorithms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17336" y="1664208"/>
            <a:ext cx="26974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664208"/>
            <a:ext cx="2697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773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Detection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27064" y="2286000"/>
            <a:ext cx="242316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2395728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BG subtraction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+ bounding boxes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output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alerts / tracking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0" y="1234440"/>
            <a:ext cx="5486400" cy="0"/>
          </a:xfrm>
          <a:prstGeom prst="line">
            <a:avLst/>
          </a:prstGeom>
          <a:noFill/>
          <a:ln w="6350">
            <a:solidFill>
              <a:srgbClr val="7C8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8229600" cy="1005840"/>
          </a:xfrm>
          <a:prstGeom prst="rect">
            <a:avLst/>
          </a:prstGeom>
          <a:solidFill>
            <a:srgbClr val="0D2137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9888"/>
            <a:ext cx="73152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435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18288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constancy constraint -&gt; OF equation (1 eq, 2 unknowns) -&gt; Lucas-Kanade (sparse, patch-based least squares) -&gt; Farneback (dense, HSV visualization).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8229600" cy="1005840"/>
          </a:xfrm>
          <a:prstGeom prst="rect">
            <a:avLst/>
          </a:prstGeom>
          <a:solidFill>
            <a:srgbClr val="0D2137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87168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532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Subtraction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" y="29260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background model, detect deviations as foreground. Frame diff -&gt; Gaussian -&gt; MOG2 (adaptive Gaussians, shadow-aware). Key challenges: lighting, dynamic backgrounds.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8229600" cy="1005840"/>
          </a:xfrm>
          <a:prstGeom prst="rect">
            <a:avLst/>
          </a:prstGeom>
          <a:solidFill>
            <a:srgbClr val="0D2137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84448"/>
            <a:ext cx="73152" cy="1005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630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Detection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" y="4023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hierarchy: pixels -&gt; regions -&gt; semantics. Classical pipeline: BG subtraction -&gt; morphological cleanup -&gt; contour detection -&gt; bounding boxes.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6350">
            <a:solidFill>
              <a:srgbClr val="7C8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Video Analytics II - Object Tracking, DeepSORT, and Action Recognition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Further Reading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Docs - Optical Flow Tutorial  |  docs.opencv.org/4.x/d4/dee/tutorial_optical_flow.html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Lucas, B.D. &amp; Kanade, T. (1981). An Iterative Image Registration Technique with an Application to Stereo Vision. IJCAI.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Farneback, G. (2003). Two-Frame Motion Estimation Based on Polynomial Expansion. SCIA.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Subtraction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Docs - Background Subtraction Tutorial  |  docs.opencv.org/4.x/d1/dc5/tutorial_background_subtraction.html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Stauffer, C. &amp; Grimson, W.E.L. (1999). Adaptive Background Mixture Models for Real-Time Tracking. CVPR.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- Background Subtraction  |  en.wikipedia.org/wiki/Background_subtraction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7856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599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Piccardi, M. (2004). Background Subtraction Techniques: A Review. IEEE Intl. Conference on SMC.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- Optical Flow  |  en.wikipedia.org/wiki/Optical_flow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15 - Video Analytics I</dc:title>
  <dc:subject>PptxGenJS Presentation</dc:subject>
  <dc:creator>AI-CV Lecture</dc:creator>
  <cp:lastModifiedBy>AI-CV Lecture</cp:lastModifiedBy>
  <cp:revision>1</cp:revision>
  <dcterms:created xsi:type="dcterms:W3CDTF">2026-05-28T19:13:26Z</dcterms:created>
  <dcterms:modified xsi:type="dcterms:W3CDTF">2026-05-28T19:13:26Z</dcterms:modified>
</cp:coreProperties>
</file>