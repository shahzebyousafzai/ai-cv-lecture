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206240" cy="4206240"/>
          </a:xfrm>
          <a:prstGeom prst="ellipse">
            <a:avLst/>
          </a:prstGeom>
          <a:solidFill>
            <a:srgbClr val="0F3A38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640080"/>
            <a:ext cx="2468880" cy="2468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937760"/>
            <a:ext cx="3291840" cy="3291840"/>
          </a:xfrm>
          <a:prstGeom prst="ellipse">
            <a:avLst/>
          </a:prstGeom>
          <a:solidFill>
            <a:srgbClr val="0F3A3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30B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 Architecture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C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memory · Multi-turn context · History management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85800" y="3749040"/>
            <a:ext cx="298643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749040"/>
            <a:ext cx="29864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&amp; AI series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900830" y="3749040"/>
            <a:ext cx="1702613" cy="45720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3900830" y="3749040"/>
            <a:ext cx="17026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session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832043" y="3749040"/>
            <a:ext cx="2690165" cy="457200"/>
          </a:xfrm>
          <a:prstGeom prst="roundRect">
            <a:avLst>
              <a:gd name="adj" fmla="val 50000"/>
            </a:avLst>
          </a:prstGeom>
          <a:solidFill>
            <a:srgbClr val="0F3A38"/>
          </a:solidFill>
          <a:ln/>
        </p:spPr>
      </p:sp>
      <p:sp>
        <p:nvSpPr>
          <p:cNvPr id="13" name="Text 11"/>
          <p:cNvSpPr/>
          <p:nvPr/>
        </p:nvSpPr>
        <p:spPr>
          <a:xfrm>
            <a:off x="5832043" y="3749040"/>
            <a:ext cx="26901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~1–1.5 hour live session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85800" y="4617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6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prompts from Session 30a live inside a stateful, remembering conversation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FOR TODAY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11064240" cy="859536"/>
          </a:xfrm>
          <a:prstGeom prst="roundRect">
            <a:avLst>
              <a:gd name="adj" fmla="val 117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47088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47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572768" y="181051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1572768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331720" y="1719072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statelessness problem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331720" y="2066544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LLM forgets everything the moment it replies.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587752"/>
            <a:ext cx="11064240" cy="859536"/>
          </a:xfrm>
          <a:prstGeom prst="roundRect">
            <a:avLst>
              <a:gd name="adj" fmla="val 117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2807208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8072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572768" y="277063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1572768" y="2770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331720" y="2679192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memory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331720" y="3026664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Threads, short-term vs long-term — what “remembering” means.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547872"/>
            <a:ext cx="11064240" cy="859536"/>
          </a:xfrm>
          <a:prstGeom prst="roundRect">
            <a:avLst>
              <a:gd name="adj" fmla="val 117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" y="3767328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7673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572768" y="373075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1572768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331720" y="3639312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Multi-turn context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331720" y="3986784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growing message list and the token budget it must fit in.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507992"/>
            <a:ext cx="11064240" cy="859536"/>
          </a:xfrm>
          <a:prstGeom prst="roundRect">
            <a:avLst>
              <a:gd name="adj" fmla="val 117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8680" y="4727448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4727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1572768" y="469087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1572768" y="4690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2331720" y="4599432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management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331720" y="4946904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Buffer, window, summarize, trim — keeping context affordable.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5468112"/>
            <a:ext cx="11064240" cy="859536"/>
          </a:xfrm>
          <a:prstGeom prst="roundRect">
            <a:avLst>
              <a:gd name="adj" fmla="val 117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68680" y="5687568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4" name="Text 32"/>
          <p:cNvSpPr/>
          <p:nvPr/>
        </p:nvSpPr>
        <p:spPr>
          <a:xfrm>
            <a:off x="868680" y="56875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1572768" y="565099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6" name="Text 34"/>
          <p:cNvSpPr/>
          <p:nvPr/>
        </p:nvSpPr>
        <p:spPr>
          <a:xfrm>
            <a:off x="1572768" y="5650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2331720" y="5559552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Persistence &amp; architecture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2331720" y="5907024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Checkpointers, stores, and a reference chatbot blueprint.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30b · Agenda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LLMs are stateless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720840" cy="1965960"/>
          </a:xfrm>
          <a:prstGeom prst="roundRect">
            <a:avLst>
              <a:gd name="adj" fmla="val 51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38528"/>
            <a:ext cx="6263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language model has no memory between calls. Each API request is answered from scratch — the model does not recall your previous message unless you send it again.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06640" y="1691640"/>
            <a:ext cx="4206240" cy="1965960"/>
          </a:xfrm>
          <a:prstGeom prst="roundRect">
            <a:avLst>
              <a:gd name="adj" fmla="val 5116"/>
            </a:avLst>
          </a:prstGeom>
          <a:solidFill>
            <a:srgbClr val="0B2E2E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3524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Intuition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35240" y="228600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turn is a new hire with amnesia. To feel continuous, you must re-brief them with the whole conversation each time.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5440680" cy="2057400"/>
          </a:xfrm>
          <a:prstGeom prst="roundRect">
            <a:avLst>
              <a:gd name="adj" fmla="val 4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4041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Send only the new message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4434840"/>
            <a:ext cx="4983480" cy="1371600"/>
          </a:xfrm>
          <a:prstGeom prst="roundRect">
            <a:avLst>
              <a:gd name="adj" fmla="val 4000"/>
            </a:avLst>
          </a:prstGeom>
          <a:solidFill>
            <a:srgbClr val="0B2E2E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41832" y="4544568"/>
            <a:ext cx="465429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U: "My name is Sam."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 "Hi Sam!"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U: "What's my name?"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 "I don't know."   ← forgot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3886200"/>
            <a:ext cx="5440680" cy="2057400"/>
          </a:xfrm>
          <a:prstGeom prst="roundRect">
            <a:avLst>
              <a:gd name="adj" fmla="val 4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4041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Resend the whole history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0" y="4434840"/>
            <a:ext cx="4983480" cy="1371600"/>
          </a:xfrm>
          <a:prstGeom prst="roundRect">
            <a:avLst>
              <a:gd name="adj" fmla="val 4000"/>
            </a:avLst>
          </a:prstGeom>
          <a:solidFill>
            <a:srgbClr val="0B2E2E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65392" y="4544568"/>
            <a:ext cx="465429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U: "My name is Sam."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 "Hi Sam!"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U: [history] + "What's my name?"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 "Your name is Sam."  ← remembers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30b · Statelessness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CHATBOT ACTUALLY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turn loop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975104" cy="2286000"/>
          </a:xfrm>
          <a:prstGeom prst="roundRect">
            <a:avLst>
              <a:gd name="adj" fmla="val 50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61872" y="23774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261872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3063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message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21792" y="36576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input arrives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523744" y="2148840"/>
            <a:ext cx="2560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779776" y="2148840"/>
            <a:ext cx="1975104" cy="2286000"/>
          </a:xfrm>
          <a:prstGeom prst="roundRect">
            <a:avLst>
              <a:gd name="adj" fmla="val 50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93008" y="237744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3493008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852928" y="3063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history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852928" y="36576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prior turns for this session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54880" y="2148840"/>
            <a:ext cx="2560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010912" y="2148840"/>
            <a:ext cx="1975104" cy="2286000"/>
          </a:xfrm>
          <a:prstGeom prst="roundRect">
            <a:avLst>
              <a:gd name="adj" fmla="val 50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24144" y="23774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5724144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084064" y="3063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prompt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084064" y="36576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+ history + new message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986016" y="2148840"/>
            <a:ext cx="2560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242048" y="2148840"/>
            <a:ext cx="1975104" cy="2286000"/>
          </a:xfrm>
          <a:prstGeom prst="roundRect">
            <a:avLst>
              <a:gd name="adj" fmla="val 50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955280" y="23774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795528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315200" y="3063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the LLM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315200" y="36576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replies from full context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217152" y="2148840"/>
            <a:ext cx="2560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473184" y="2148840"/>
            <a:ext cx="1975104" cy="2286000"/>
          </a:xfrm>
          <a:prstGeom prst="roundRect">
            <a:avLst>
              <a:gd name="adj" fmla="val 50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186416" y="237744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0" name="Text 28"/>
          <p:cNvSpPr/>
          <p:nvPr/>
        </p:nvSpPr>
        <p:spPr>
          <a:xfrm>
            <a:off x="10186416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546336" y="3063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 turn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546336" y="36576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user + reply to history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4892040"/>
            <a:ext cx="11064240" cy="1005840"/>
          </a:xfrm>
          <a:prstGeom prst="roundRect">
            <a:avLst>
              <a:gd name="adj" fmla="val 10000"/>
            </a:avLst>
          </a:prstGeom>
          <a:solidFill>
            <a:srgbClr val="0B2E2E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22960" y="5029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repeats every turn. Steps 2 &amp; 5 are “memory”; step 3 is where history management decides what actually fits.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30b · The turn loop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memory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444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session (or thread) </a:t>
            </a:r>
            <a:pPr indent="0" marL="0">
              <a:lnSpc>
                <a:spcPct val="116000"/>
              </a:lnSpc>
              <a:buNone/>
            </a:pPr>
            <a:r>
              <a:rPr lang="en-US" sz="15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one continuous conversation, identified by a key like </a:t>
            </a:r>
            <a:pPr indent="0" marL="0">
              <a:lnSpc>
                <a:spcPct val="116000"/>
              </a:lnSpc>
              <a:buNone/>
            </a:pPr>
            <a:r>
              <a:rPr lang="en-US" sz="15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session_id</a:t>
            </a:r>
            <a:pPr indent="0" marL="0">
              <a:lnSpc>
                <a:spcPct val="116000"/>
              </a:lnSpc>
              <a:buNone/>
            </a:pPr>
            <a:r>
              <a:rPr lang="en-US" sz="15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Memory is the store that holds that session's messages so they can be reloaded on the next turn.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3154680"/>
            <a:ext cx="5440680" cy="2743200"/>
          </a:xfrm>
          <a:prstGeom prst="roundRect">
            <a:avLst>
              <a:gd name="adj" fmla="val 3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3154680"/>
            <a:ext cx="5440680" cy="658368"/>
          </a:xfrm>
          <a:prstGeom prst="roundRect">
            <a:avLst>
              <a:gd name="adj" fmla="val 15278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15468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🕐  Short-term memory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97764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one session.
</a:t>
            </a:r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running list of messages for the current chat. Lives in the thread; cleared or archived when the session ends.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3154680"/>
            <a:ext cx="5440680" cy="2743200"/>
          </a:xfrm>
          <a:prstGeom prst="roundRect">
            <a:avLst>
              <a:gd name="adj" fmla="val 3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72200" y="3154680"/>
            <a:ext cx="5440680" cy="658368"/>
          </a:xfrm>
          <a:prstGeom prst="roundRect">
            <a:avLst>
              <a:gd name="adj" fmla="val 15278"/>
            </a:avLst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315468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🗄️  Long-term memory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46520" y="397764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sessions.
</a:t>
            </a:r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facts about the user (name, preferences) saved to a database or vector store and retrieved in future chats.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30b · Session memory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Multi-turn context &amp; the token budget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01952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5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turn, the whole history is packed into the context window — the model's fixed input limit measured in tokens.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grows every turn → tokens grow → cost &amp; latency grow, until it no longer fits.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09360" y="1783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used per turn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09360" y="2194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1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269480" y="2212848"/>
            <a:ext cx="4846320" cy="329184"/>
          </a:xfrm>
          <a:prstGeom prst="roundRect">
            <a:avLst>
              <a:gd name="adj" fmla="val 13889"/>
            </a:avLst>
          </a:prstGeom>
          <a:solidFill>
            <a:srgbClr val="D6E7E4"/>
          </a:solidFill>
          <a:ln/>
        </p:spPr>
      </p:sp>
      <p:sp>
        <p:nvSpPr>
          <p:cNvPr id="10" name="Shape 8"/>
          <p:cNvSpPr/>
          <p:nvPr/>
        </p:nvSpPr>
        <p:spPr>
          <a:xfrm>
            <a:off x="7269480" y="2212848"/>
            <a:ext cx="1188720" cy="329184"/>
          </a:xfrm>
          <a:prstGeom prst="roundRect">
            <a:avLst>
              <a:gd name="adj" fmla="val 13889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8549640" y="2194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1.2k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09360" y="27614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4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269480" y="2779776"/>
            <a:ext cx="4846320" cy="329184"/>
          </a:xfrm>
          <a:prstGeom prst="roundRect">
            <a:avLst>
              <a:gd name="adj" fmla="val 13889"/>
            </a:avLst>
          </a:prstGeom>
          <a:solidFill>
            <a:srgbClr val="D6E7E4"/>
          </a:solidFill>
          <a:ln/>
        </p:spPr>
      </p:sp>
      <p:sp>
        <p:nvSpPr>
          <p:cNvPr id="14" name="Shape 12"/>
          <p:cNvSpPr/>
          <p:nvPr/>
        </p:nvSpPr>
        <p:spPr>
          <a:xfrm>
            <a:off x="7269480" y="2779776"/>
            <a:ext cx="2377440" cy="329184"/>
          </a:xfrm>
          <a:prstGeom prst="roundRect">
            <a:avLst>
              <a:gd name="adj" fmla="val 13889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9738360" y="27614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4.6k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09360" y="332841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8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269480" y="3346704"/>
            <a:ext cx="4846320" cy="329184"/>
          </a:xfrm>
          <a:prstGeom prst="roundRect">
            <a:avLst>
              <a:gd name="adj" fmla="val 13889"/>
            </a:avLst>
          </a:prstGeom>
          <a:solidFill>
            <a:srgbClr val="D6E7E4"/>
          </a:solidFill>
          <a:ln/>
        </p:spPr>
      </p:sp>
      <p:sp>
        <p:nvSpPr>
          <p:cNvPr id="18" name="Shape 16"/>
          <p:cNvSpPr/>
          <p:nvPr/>
        </p:nvSpPr>
        <p:spPr>
          <a:xfrm>
            <a:off x="7269480" y="3346704"/>
            <a:ext cx="3657600" cy="329184"/>
          </a:xfrm>
          <a:prstGeom prst="roundRect">
            <a:avLst>
              <a:gd name="adj" fmla="val 13889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11018520" y="332841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9.1k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09360" y="389534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12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269480" y="3913632"/>
            <a:ext cx="4846320" cy="329184"/>
          </a:xfrm>
          <a:prstGeom prst="roundRect">
            <a:avLst>
              <a:gd name="adj" fmla="val 13889"/>
            </a:avLst>
          </a:prstGeom>
          <a:solidFill>
            <a:srgbClr val="D6E7E4"/>
          </a:solidFill>
          <a:ln/>
        </p:spPr>
      </p:sp>
      <p:sp>
        <p:nvSpPr>
          <p:cNvPr id="22" name="Shape 20"/>
          <p:cNvSpPr/>
          <p:nvPr/>
        </p:nvSpPr>
        <p:spPr>
          <a:xfrm>
            <a:off x="7269480" y="3913632"/>
            <a:ext cx="3794760" cy="329184"/>
          </a:xfrm>
          <a:prstGeom prst="roundRect">
            <a:avLst>
              <a:gd name="adj" fmla="val 13889"/>
            </a:avLst>
          </a:prstGeom>
          <a:solidFill>
            <a:srgbClr val="F4A259"/>
          </a:solidFill>
          <a:ln/>
        </p:spPr>
      </p:sp>
      <p:sp>
        <p:nvSpPr>
          <p:cNvPr id="23" name="Text 21"/>
          <p:cNvSpPr/>
          <p:nvPr/>
        </p:nvSpPr>
        <p:spPr>
          <a:xfrm>
            <a:off x="11155680" y="389534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14k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2115800" y="2148840"/>
            <a:ext cx="0" cy="2148840"/>
          </a:xfrm>
          <a:prstGeom prst="line">
            <a:avLst/>
          </a:prstGeom>
          <a:noFill/>
          <a:ln w="19050">
            <a:solidFill>
              <a:srgbClr val="F4A259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042416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context-window limit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892040"/>
            <a:ext cx="11064240" cy="1005840"/>
          </a:xfrm>
          <a:prstGeom prst="roundRect">
            <a:avLst>
              <a:gd name="adj" fmla="val 10000"/>
            </a:avLst>
          </a:prstGeom>
          <a:solidFill>
            <a:srgbClr val="0B2E2E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2960" y="5029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why we need history management — you can't just keep appending forever.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30b · Multi-turn context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history-management strategies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874520"/>
          </a:xfrm>
          <a:prstGeom prst="roundRect">
            <a:avLst>
              <a:gd name="adj" fmla="val 53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203911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Buffer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4414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everything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fidelity; simple. But tokens &amp; cost grow without bound.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783080"/>
            <a:ext cx="5440680" cy="1874520"/>
          </a:xfrm>
          <a:prstGeom prst="roundRect">
            <a:avLst>
              <a:gd name="adj" fmla="val 53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205740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🪟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78040" y="203911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78040" y="24414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last N turns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46520" y="288036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&amp; bounded. Forgets anything older than the window.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5440680" cy="1874520"/>
          </a:xfrm>
          <a:prstGeom prst="roundRect">
            <a:avLst>
              <a:gd name="adj" fmla="val 53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411480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114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409651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Summarize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54480" y="44988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old turns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" y="493776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memory at low cost. Summary can lose fine detail.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72200" y="3840480"/>
            <a:ext cx="5440680" cy="1874520"/>
          </a:xfrm>
          <a:prstGeom prst="roundRect">
            <a:avLst>
              <a:gd name="adj" fmla="val 53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46520" y="4114800"/>
            <a:ext cx="566928" cy="566928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4114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178040" y="409651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Trim by tokens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178040" y="44988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to a token budget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46520" y="493776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a fit before each call. Drops oldest messages.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30b · History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1 &amp;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Buffer  vs  Windowed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5440680" cy="658368"/>
          </a:xfrm>
          <a:prstGeom prst="roundRect">
            <a:avLst>
              <a:gd name="adj" fmla="val 15278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📥  Buffer (keep all)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560320"/>
            <a:ext cx="4892040" cy="1051560"/>
          </a:xfrm>
          <a:prstGeom prst="roundRect">
            <a:avLst>
              <a:gd name="adj" fmla="val 5217"/>
            </a:avLst>
          </a:prstGeom>
          <a:solidFill>
            <a:srgbClr val="0B2E2E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87552" y="2670048"/>
            <a:ext cx="45628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 = all_messages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 = system + history + new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👍  </a:t>
            </a:r>
            <a:pPr indent="0" marL="0">
              <a:lnSpc>
                <a:spcPct val="116000"/>
              </a:lnSpc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forgotten; trivial to build.
</a:t>
            </a:r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👎  </a:t>
            </a:r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growth — eventually overflows the window and gets expensive.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72200" y="1737360"/>
            <a:ext cx="544068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72200" y="1737360"/>
            <a:ext cx="5440680" cy="658368"/>
          </a:xfrm>
          <a:prstGeom prst="roundRect">
            <a:avLst>
              <a:gd name="adj" fmla="val 15278"/>
            </a:avLst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73736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🪟  Windowed (last N)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46520" y="2560320"/>
            <a:ext cx="4892040" cy="1051560"/>
          </a:xfrm>
          <a:prstGeom prst="roundRect">
            <a:avLst>
              <a:gd name="adj" fmla="val 5217"/>
            </a:avLst>
          </a:prstGeom>
          <a:solidFill>
            <a:srgbClr val="0B2E2E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11112" y="2670048"/>
            <a:ext cx="45628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 = messages[-N:]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e.g. keep the last 6 turns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46520" y="379476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👍  </a:t>
            </a:r>
            <a:pPr indent="0" marL="0">
              <a:lnSpc>
                <a:spcPct val="116000"/>
              </a:lnSpc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Bounded, cheap, predictable latency.
</a:t>
            </a:r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👎  </a:t>
            </a:r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Loses older context — the bot forgets what you said early in the chat.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30b · Buffer &amp; Window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3 &amp;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Summarize  vs  Trim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5440680" cy="658368"/>
          </a:xfrm>
          <a:prstGeom prst="roundRect">
            <a:avLst>
              <a:gd name="adj" fmla="val 15278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📝  Summarize old turns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560320"/>
            <a:ext cx="4892040" cy="1234440"/>
          </a:xfrm>
          <a:prstGeom prst="roundRect">
            <a:avLst>
              <a:gd name="adj" fmla="val 4444"/>
            </a:avLst>
          </a:prstGeom>
          <a:solidFill>
            <a:srgbClr val="0B2E2E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87552" y="2670048"/>
            <a:ext cx="456285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 = LLM.summarize(old)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 = system + summary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+ recent + new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397764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👍  </a:t>
            </a:r>
            <a:pPr indent="0" marL="0">
              <a:lnSpc>
                <a:spcPct val="116000"/>
              </a:lnSpc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gist of a long chat cheaply.
</a:t>
            </a:r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👎  </a:t>
            </a:r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can drop details; costs an extra model call.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72200" y="1737360"/>
            <a:ext cx="544068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72200" y="1737360"/>
            <a:ext cx="5440680" cy="658368"/>
          </a:xfrm>
          <a:prstGeom prst="roundRect">
            <a:avLst>
              <a:gd name="adj" fmla="val 15278"/>
            </a:avLst>
          </a:prstGeom>
          <a:solidFill>
            <a:srgbClr val="F4A259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73736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✂️  Trim to a token budget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46520" y="2560320"/>
            <a:ext cx="4892040" cy="1234440"/>
          </a:xfrm>
          <a:prstGeom prst="roundRect">
            <a:avLst>
              <a:gd name="adj" fmla="val 4444"/>
            </a:avLst>
          </a:prstGeom>
          <a:solidFill>
            <a:srgbClr val="0B2E2E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11112" y="2670048"/>
            <a:ext cx="456285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 = trim_messages(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messages, max_tokens=3000,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strategy="last")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46520" y="397764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👍  </a:t>
            </a:r>
            <a:pPr indent="0" marL="0">
              <a:lnSpc>
                <a:spcPct val="116000"/>
              </a:lnSpc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the prompt fits before every call.
</a:t>
            </a:r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👎  </a:t>
            </a:r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cut — oldest messages simply disappear.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30b · Summarize &amp; Trim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Persistence — surviving restarts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188720"/>
          </a:xfrm>
          <a:prstGeom prst="roundRect">
            <a:avLst>
              <a:gd name="adj" fmla="val 8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5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in a Python variable vanishes when the process restarts. Persistence saves each session's state to durable storage so a user can close the app and resume later.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3602736" cy="2743200"/>
          </a:xfrm>
          <a:prstGeom prst="roundRect">
            <a:avLst>
              <a:gd name="adj" fmla="val 3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3383280"/>
            <a:ext cx="603504" cy="603504"/>
          </a:xfrm>
          <a:prstGeom prst="ellipse">
            <a:avLst/>
          </a:prstGeom>
          <a:solidFill>
            <a:srgbClr val="5A7A8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3832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In-memory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4480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/ list in RAM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48920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zero setup. Lost on restart — demos only.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61104" y="3108960"/>
            <a:ext cx="3602736" cy="2743200"/>
          </a:xfrm>
          <a:prstGeom prst="roundRect">
            <a:avLst>
              <a:gd name="adj" fmla="val 3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35424" y="3383280"/>
            <a:ext cx="603504" cy="6035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4535424" y="33832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🗃️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35424" y="4114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 / file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35424" y="4480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checkpointer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35424" y="48920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restarts on one machine. Great for dev.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73568" y="3108960"/>
            <a:ext cx="3602736" cy="2743200"/>
          </a:xfrm>
          <a:prstGeom prst="roundRect">
            <a:avLst>
              <a:gd name="adj" fmla="val 3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47888" y="3383280"/>
            <a:ext cx="603504" cy="6035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8247888" y="33832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🐘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247888" y="4114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 / cloud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47888" y="4480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store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47888" y="48920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Multi-user, multi-thread, durable and scalable.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frameworks (e.g. LangGraph) provide checkpointers that snapshot each thread automatically after every turn.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30b · Persistence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chatbot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2011680" cy="1280160"/>
          </a:xfrm>
          <a:prstGeom prst="roundRect">
            <a:avLst>
              <a:gd name="adj" fmla="val 7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8529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👤 User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a message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2743200"/>
            <a:ext cx="2286000" cy="1280160"/>
          </a:xfrm>
          <a:prstGeom prst="roundRect">
            <a:avLst>
              <a:gd name="adj" fmla="val 7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28529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App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383280" y="3246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the turn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2468880" cy="123444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8470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prompt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309360" y="2240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+ rules (30a)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3246120"/>
            <a:ext cx="2468880" cy="1234440"/>
          </a:xfrm>
          <a:prstGeom prst="roundRect">
            <a:avLst>
              <a:gd name="adj" fmla="val 8148"/>
            </a:avLst>
          </a:prstGeom>
          <a:solidFill>
            <a:srgbClr val="0B2E2E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33558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store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30936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+ save history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4754880"/>
            <a:ext cx="2468880" cy="123444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9360" y="48646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manager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309360" y="5257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/ window / summarize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326880" y="2743200"/>
            <a:ext cx="2286000" cy="1280160"/>
          </a:xfrm>
          <a:prstGeom prst="roundRect">
            <a:avLst>
              <a:gd name="adj" fmla="val 7857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418320" y="28529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🤖 LLM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418320" y="3246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C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reply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51760" y="3383280"/>
            <a:ext cx="6400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577840" y="3246120"/>
            <a:ext cx="640080" cy="-91440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577840" y="3383280"/>
            <a:ext cx="640080" cy="45720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577840" y="3566160"/>
            <a:ext cx="640080" cy="178308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686800" y="3383280"/>
            <a:ext cx="6400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640080" y="6172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reply flows back to the app, is saved to memory, and shown to the user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30b · Architecture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IT RIGHT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Pitfalls &amp; best practices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20700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93976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939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92938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Isolate sessions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508760" y="2313432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every history by session_id so users never see each other's chat.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440680" cy="120700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28232" y="2093976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20939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32320" y="192938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before you call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132320" y="2313432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or summarize before hitting the model, not after it errors.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5440680" cy="120700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465576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4655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330098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the system prompt pinned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508760" y="3685032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let trimming drop the system message — re-add it each turn.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154680"/>
            <a:ext cx="5440680" cy="120700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28232" y="3465576"/>
            <a:ext cx="548640" cy="548640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21" name="Text 19"/>
          <p:cNvSpPr/>
          <p:nvPr/>
        </p:nvSpPr>
        <p:spPr>
          <a:xfrm>
            <a:off x="6428232" y="34655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32320" y="330098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Summarize + recent hybrid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132320" y="3685032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turns → summary, last few turns verbatim: best cost/quality trade-off.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526280"/>
            <a:ext cx="5440680" cy="120700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4837176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48371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508760" y="467258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 for real users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1508760" y="5056632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in-memory to a database the moment sessions must survive restarts.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172200" y="4526280"/>
            <a:ext cx="5440680" cy="120700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28232" y="4837176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6428232" y="48371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132320" y="467258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Mind privacy &amp; retention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7132320" y="5056632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chats are user data — set expiry and let users clear their history.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30b · Best practices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280160"/>
            <a:ext cx="3840480" cy="3840480"/>
          </a:xfrm>
          <a:prstGeom prst="ellipse">
            <a:avLst/>
          </a:prstGeom>
          <a:solidFill>
            <a:srgbClr val="0F3A3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mental model to keep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0F3A38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03911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39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691640" y="199339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Stateless core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120640" y="1993392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forgets — you resend history to fake continuity.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816352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0F3A38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2935224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9352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691640" y="2889504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= store + key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120640" y="2889504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per session; long-term across sessions.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12464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0F3A38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3831336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8313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691640" y="378561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has a budget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120640" y="3785616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grows; the token window is the hard ceiling.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608576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0F3A38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4727448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727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691640" y="468172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the history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120640" y="4681728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Buffer, window, summarize or trim to stay within budget.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5504688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0F3A38"/>
          </a:solidFill>
          <a:ln/>
        </p:spPr>
      </p:sp>
      <p:sp>
        <p:nvSpPr>
          <p:cNvPr id="26" name="Shape 24"/>
          <p:cNvSpPr/>
          <p:nvPr/>
        </p:nvSpPr>
        <p:spPr>
          <a:xfrm>
            <a:off x="914400" y="56235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5623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1691640" y="55778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 for production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120640" y="55778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each thread to a database so chats survive.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→ Chatbot Lab: build a full chatbot with LangChain + a Streamlit UI.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34440" y="174650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Docs. Short-term memory &amp; message history. docs.langchain.com/oss/python/langchain/short-term-memory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2386584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386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34440" y="23500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Docs. Persistence, checkpointers &amp; threads. langchain-ai.github.io/langgraph (Persistence)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2990088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34440" y="295351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How-to. Manage conversation history / trim_messages.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3593592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593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34440" y="3557016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API. trim_messages — reduce a chat log to a token or message budget.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" y="4197096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34440" y="416052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Pinecone. Conversational memory for LLMs with LangChain. pinecone.io/learn/series/langchain/langchain-conversational-memory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85800" y="480060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234440" y="476402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Anthropic. Effective context engineering for AI agents. anthropic.com/engineering/effective-context-engineering-for-ai-agents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85800" y="5404104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5404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234440" y="536752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Docs. Managing conversation state &amp; the Responses API.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30b · References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30b — Chatbot Architecture</dc:title>
  <dc:subject>PptxGenJS Presentation</dc:subject>
  <dc:creator>PptxGenJS</dc:creator>
  <cp:lastModifiedBy>PptxGenJS</cp:lastModifiedBy>
  <cp:revision>1</cp:revision>
  <dcterms:created xsi:type="dcterms:W3CDTF">2026-07-23T16:18:28Z</dcterms:created>
  <dcterms:modified xsi:type="dcterms:W3CDTF">2026-07-23T16:18:28Z</dcterms:modified>
</cp:coreProperties>
</file>