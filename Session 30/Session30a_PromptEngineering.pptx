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640080"/>
            <a:ext cx="2468880" cy="2468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· Chain-of-Thought · Structured Output · System Prompts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298643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49040"/>
            <a:ext cx="2986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series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00830" y="3749040"/>
            <a:ext cx="2986430" cy="45720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900830" y="3749040"/>
            <a:ext cx="29864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 (50 / 50)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15861" y="3749040"/>
            <a:ext cx="2690165" cy="457200"/>
          </a:xfrm>
          <a:prstGeom prst="roundRect">
            <a:avLst>
              <a:gd name="adj" fmla="val 50000"/>
            </a:avLst>
          </a:prstGeom>
          <a:solidFill>
            <a:srgbClr val="0F3A38"/>
          </a:solidFill>
          <a:ln/>
        </p:spPr>
      </p:sp>
      <p:sp>
        <p:nvSpPr>
          <p:cNvPr id="13" name="Text 11"/>
          <p:cNvSpPr/>
          <p:nvPr/>
        </p:nvSpPr>
        <p:spPr>
          <a:xfrm>
            <a:off x="7115861" y="3749040"/>
            <a:ext cx="26901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~1–1.5 hour live session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OpenAI API via LangChain in the companion notebook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933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00200" y="194767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947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377440" y="18379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377440" y="222199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assistant's role, rules &amp; tone — the frame every reply lives 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16382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00200" y="311810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377440" y="300837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prompting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377440" y="3392424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by example: show the model the pattern instead of describing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1106424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3342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600200" y="428853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4288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377440" y="417880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377440" y="456285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it answers.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11064240" cy="1024128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5046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600200" y="545896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1600200" y="5458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2377440" y="534924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2377440" y="5733288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free text into reliable JSON your code can trust.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engineering?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designing the input to a language model so it reliably produces the output you want — without changing the model's weights.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85292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programming in natural language: same model, very different results depending on how you ask.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1645920"/>
            <a:ext cx="4069080" cy="1828800"/>
          </a:xfrm>
          <a:prstGeom prst="roundRect">
            <a:avLst>
              <a:gd name="adj" fmla="val 55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Intuition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 brilliant new hire with no context. The prompt is the briefing you give before they start the task.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602736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0690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69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accurate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193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framing → fewer wrong or vague answers.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61104" y="3794760"/>
            <a:ext cx="3602736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35424" y="406908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35424" y="4069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35424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reliable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35424" y="5193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gives consistent, repeatable output.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73568" y="3794760"/>
            <a:ext cx="3602736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47888" y="406908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247888" y="4069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47888" y="4800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Cheaper &amp; faster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47888" y="5193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— iterate in seconds, not GPU-hours.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Prompt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CHAT REQUEST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message roles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02736" cy="640080"/>
          </a:xfrm>
          <a:prstGeom prst="roundRect">
            <a:avLst>
              <a:gd name="adj" fmla="val 1571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⚙️ 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 the rules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8803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tone, constraints, format. Sent once, silently steers every reply.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1104" y="1691640"/>
            <a:ext cx="3602736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1104" y="1691640"/>
            <a:ext cx="3602736" cy="640080"/>
          </a:xfrm>
          <a:prstGeom prst="roundRect">
            <a:avLst>
              <a:gd name="adj" fmla="val 15714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🙋  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7136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17136" y="28803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person actually asks on this turn.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73568" y="1691640"/>
            <a:ext cx="3602736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73568" y="1691640"/>
            <a:ext cx="3602736" cy="640080"/>
          </a:xfrm>
          <a:prstGeom prst="roundRect">
            <a:avLst>
              <a:gd name="adj" fmla="val 15714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02168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 assistant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28803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response — and part of history on the next turn.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4453128"/>
            <a:ext cx="1073505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    "content": "You are a concise CV tutor."},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      "content": "What is a convolution?"},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 "content": "A sliding weighted sum over an image..."}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# every technique today is just a smart way of filling these three roles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Prompt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prompts — the frame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 a system prompt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865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860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persona  —  </a:t>
            </a:r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senior radiologist.”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0540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535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scope  —  </a:t>
            </a:r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— and what to refuse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7216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2102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audience  —  </a:t>
            </a:r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formal? beginner-friendly?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3891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28853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constraints  —  </a:t>
            </a:r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language, safety limits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50566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9560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 —  </a:t>
            </a:r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answer in Markdown.”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5669280" cy="2468880"/>
          </a:xfrm>
          <a:prstGeom prst="roundRect">
            <a:avLst>
              <a:gd name="adj" fmla="val 2222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1801368"/>
            <a:ext cx="534009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VisionTutor, a patient computer-vision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teacher. Explain with one concrete image example.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answers under 120 words. If a question is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 CV, say so and redirect. Never invent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citations. Answer in plain Markdown.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4343400"/>
            <a:ext cx="5669280" cy="1463040"/>
          </a:xfrm>
          <a:prstGeom prst="roundRect">
            <a:avLst>
              <a:gd name="adj" fmla="val 6875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practice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480060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and positive. State what TO do, not just what to avoid. Put stable rules here, not in every user message.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System prompts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vs few-shot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5A7A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Zero-shot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instructions — no examples.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4846320" cy="1143000"/>
          </a:xfrm>
          <a:prstGeom prst="roundRect">
            <a:avLst>
              <a:gd name="adj" fmla="val 48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3081528"/>
            <a:ext cx="45171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sentiment as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positive / negative: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film dragged on."  -&gt;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common tasks. Fast to write, nothing to curate.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737360"/>
            <a:ext cx="5394960" cy="685800"/>
          </a:xfrm>
          <a:prstGeom prst="roundRect">
            <a:avLst>
              <a:gd name="adj" fmla="val 1466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737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Few-shot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worked examples first, then the real input.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2971800"/>
            <a:ext cx="4846320" cy="1143000"/>
          </a:xfrm>
          <a:prstGeom prst="roundRect">
            <a:avLst>
              <a:gd name="adj" fmla="val 48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56832" y="3081528"/>
            <a:ext cx="45171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"Loved it!"        -&gt; positive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waste."     -&gt; negative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film dragged." -&gt; 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42519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nuanced tasks, custom formats, tricky edge cases. Costs more tokens.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Few-shot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· GOING DEEPER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In-context learning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828800"/>
          </a:xfrm>
          <a:prstGeom prst="roundRect">
            <a:avLst>
              <a:gd name="adj" fmla="val 5500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retrained. It infers the pattern from the examples in the prompt and continues it — this is called in-context learning (Brown et al., 2020, GPT-3).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1691640"/>
            <a:ext cx="5715000" cy="4160520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722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200" y="2377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20840" y="233172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format identical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uses the same layout &amp; labels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307238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20840" y="3026664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variety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tricky / edge cases you care about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200" y="37673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720840" y="372160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examples is often enough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≠ always better; watch cost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72200" y="446227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20840" y="4416552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the labels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show 4 “positive” then 1 “negative”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72200" y="51572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20840" y="51114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 matter
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examples carry extra weight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5074920" cy="214884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279392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zero-shot. If the output is close but inconsistent, add 2–3 examples. If it's still wrong, the task may need Chain-of-Thought — next.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Few-shot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2084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6263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show its reasoning before the final answer. Generating intermediate steps dramatically improves accuracy on math, logic and multi-step questions (Wei et al., 2022).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4206240" cy="1874520"/>
          </a:xfrm>
          <a:prstGeom prst="roundRect">
            <a:avLst>
              <a:gd name="adj" fmla="val 5366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Intuition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35240" y="22860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showing your work in a math test — thinking out loud catches errors a snap answer would miss.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Straight to answer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434340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1832" y="4453128"/>
            <a:ext cx="465429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23 apples, use 20, buy 6 more.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How many?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3     ← wrong, guessed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Chain-of-Thought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4343400"/>
            <a:ext cx="4983480" cy="1417320"/>
          </a:xfrm>
          <a:prstGeom prst="roundRect">
            <a:avLst>
              <a:gd name="adj" fmla="val 3871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4453128"/>
            <a:ext cx="465429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Start 23. Use 20 -&gt; 3.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Buy 6 -&gt; 3 + 6 = 9.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Final answer: 9   ← correct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Chain-of-Thought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· VARIANTS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trigger reasoning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440680" cy="640080"/>
          </a:xfrm>
          <a:prstGeom prst="roundRect">
            <a:avLst>
              <a:gd name="adj" fmla="val 1571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CoT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add one magic phrase — no examples needed.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2990088"/>
            <a:ext cx="45628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...question...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"Let's think step by step."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Kojima et al., 2022 — one line lifted accuracy from the teens to 70–80% on math benchmarks.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40680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737360"/>
            <a:ext cx="5440680" cy="640080"/>
          </a:xfrm>
          <a:prstGeom prst="roundRect">
            <a:avLst>
              <a:gd name="adj" fmla="val 15714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CoT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worked examples that include the reasoning.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28803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11112" y="2990088"/>
            <a:ext cx="45628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... A: because ... so 9.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&lt;new&gt; A: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on hard tasks — you demonstrate the style of reasoning you want.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097280"/>
          </a:xfrm>
          <a:prstGeom prst="roundRect">
            <a:avLst>
              <a:gd name="adj" fmla="val 9167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When to use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49377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reasoning, math and multi-step logic. Skip it for simple lookups — it costs extra tokens and latency. Modern “reasoning” models do much of this internally.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Chain-of-Thought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— text →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need fields, not paragraphs. Structured output forces the model to answer in a fixed schema (usually JSON) so your code can parse it safely — no fragile string-splitting.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440680" cy="260604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Free 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840480"/>
            <a:ext cx="4983480" cy="1874520"/>
          </a:xfrm>
          <a:prstGeom prst="roundRect">
            <a:avLst>
              <a:gd name="adj" fmla="val 2927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3950208"/>
            <a:ext cx="4654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"Sure! The customer seems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pretty happy, I'd say it's a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positive review overall."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how does code read this?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3291840"/>
            <a:ext cx="5440680" cy="2606040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Structured JSON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3840480"/>
            <a:ext cx="4983480" cy="1874520"/>
          </a:xfrm>
          <a:prstGeom prst="roundRect">
            <a:avLst>
              <a:gd name="adj" fmla="val 2927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65392" y="3950208"/>
            <a:ext cx="465429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"sentiment": "positive",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0.92,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"topics": ["delivery"]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Structured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· HOW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reliability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5A7A8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00200" y="2057400"/>
            <a:ext cx="530352" cy="530352"/>
          </a:xfrm>
          <a:prstGeom prst="ellipse">
            <a:avLst/>
          </a:prstGeom>
          <a:solidFill>
            <a:srgbClr val="5A7A8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377440" y="192024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nicely in the prompt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230428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“Reply ONLY as JSON with keys sentiment, score.” Easy, but the model can still stray or add prose.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1106424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4381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00200" y="3392424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392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377440" y="325526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mode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63931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flag guarantees valid JSON syntax — but not which keys or types you get.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07408"/>
            <a:ext cx="11064240" cy="1170432"/>
          </a:xfrm>
          <a:prstGeom prst="roundRect">
            <a:avLst>
              <a:gd name="adj" fmla="val 85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773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600200" y="47274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4727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377440" y="459028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Schema-enforced / function calling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77440" y="497433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JSON Schema or Pydantic model with strict mode — output is guaranteed to match your fields.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 we use LangChain's .with_structured_output() on the OpenAI model — level 3, the safest.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Structured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prompt, four techniques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01368"/>
            <a:ext cx="6437376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 You are a support-ticket triager.        # system prompt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Think step by step, then output JSON.    # + CoT + format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few-shot examples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"App keeps crashing on upload."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reasoning... -&gt;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{"category":"bug","priority":"high"}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"How do I change my password?"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reasoning... -&gt;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{"category":"how-to","priority":"low"}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request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"I was double charged this month!"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E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0" y="1691640"/>
            <a:ext cx="4114800" cy="4206240"/>
          </a:xfrm>
          <a:prstGeom prst="roundRect">
            <a:avLst>
              <a:gd name="adj" fmla="val 2444"/>
            </a:avLst>
          </a:prstGeom>
          <a:solidFill>
            <a:srgbClr val="0B2E2E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26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26680" y="24231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0" y="2377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
</a:t>
            </a:r>
            <a:pPr indent="0" marL="0">
              <a:buNone/>
            </a:pPr>
            <a:r>
              <a:rPr lang="en-US" sz="1250" i="1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rules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26680" y="32461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0" y="3200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
</a:t>
            </a:r>
            <a:pPr indent="0" marL="0">
              <a:buNone/>
            </a:pPr>
            <a:r>
              <a:rPr lang="en-US" sz="1250" i="1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worked examples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26680" y="40690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40233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
</a:t>
            </a:r>
            <a:pPr indent="0" marL="0">
              <a:buNone/>
            </a:pPr>
            <a:r>
              <a:rPr lang="en-US" sz="1250" i="1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step by step”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726680" y="48920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
</a:t>
            </a:r>
            <a:pPr indent="0" marL="0">
              <a:buNone/>
            </a:pPr>
            <a:r>
              <a:rPr lang="en-US" sz="1250" i="1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Synthesis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in the notebook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 model's persona and watch tone &amp; scope change.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1168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11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classifier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sentiment/label patterns with a handful of examples.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 reasoning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 vs step-by-step answers on word problems.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440680" cy="1828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E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023360"/>
            <a:ext cx="603504" cy="603504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clean JSON with Pydantic + with_structured_output().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OpenAI API via LangChain — set OPENAI_API_KEY, then run top-to-bottom.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Hands-on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0F3A3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levers you now control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F3A3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854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1396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13969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role, rules and format once — the frame for every reply.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F3A3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20954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9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16382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16382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 to teach a pattern; keep format consistent.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59936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F3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2336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33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418795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418795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“Think step by step” for reasoning-heavy tasks.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084064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F3A3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2578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257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91640" y="5212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0" y="52120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C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 schema so text becomes reliable data.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Session 30b: Chatbot Architecture — how these prompts live inside a stateful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7465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et al. (2020). Language Models are Few-Shot Learners (GPT-3). arXiv:2005.14165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8658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(2022). Chain-of-Thought Prompting Elicits Reasoning in LLMs. arXiv:2201.11903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29535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Kojima et al. (2022). Large Language Models are Zero-Shot Reasoners. arXiv:2205.11916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5935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55701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Introducing Structured Outputs in the API (2024). openai.com/index/introducing-structured-outputs-in-the-api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1605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Docs. Structured outputs &amp; Function calling. developers.openai.com/api/docs/guides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006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34440" y="47640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Claude. Prompt engineering best practices. claude.com/blog/best-practices-for-prompt-engineering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" y="540410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04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3444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DAIR.AI. Prompt Engineering Guide. promptingguide.ai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30a · References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30a — Prompt Engineering</dc:title>
  <dc:subject>PptxGenJS Presentation</dc:subject>
  <dc:creator>CV &amp; AI Series</dc:creator>
  <cp:lastModifiedBy>CV &amp; AI Series</cp:lastModifiedBy>
  <cp:revision>1</cp:revision>
  <dcterms:created xsi:type="dcterms:W3CDTF">2026-07-23T16:12:29Z</dcterms:created>
  <dcterms:modified xsi:type="dcterms:W3CDTF">2026-07-23T16:12:29Z</dcterms:modified>
</cp:coreProperties>
</file>