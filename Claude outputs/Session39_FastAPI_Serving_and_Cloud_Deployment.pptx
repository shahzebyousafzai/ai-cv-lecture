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457200" cy="6858000"/>
          </a:xfrm>
          <a:prstGeom prst="rect">
            <a:avLst/>
          </a:prstGeom>
          <a:solidFill>
            <a:srgbClr val="0F3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 name="Rectangle 1"/>
          <p:cNvSpPr/>
          <p:nvPr/>
        </p:nvSpPr>
        <p:spPr>
          <a:xfrm>
            <a:off x="0" y="0"/>
            <a:ext cx="12191695" cy="6858000"/>
          </a:xfrm>
          <a:prstGeom prst="rect">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85800" y="2084831"/>
            <a:ext cx="10820095" cy="365760"/>
          </a:xfrm>
          <a:prstGeom prst="rect">
            <a:avLst/>
          </a:prstGeom>
          <a:noFill/>
        </p:spPr>
        <p:txBody>
          <a:bodyPr wrap="square" lIns="0" rIns="0" tIns="0" bIns="0" anchor="t">
            <a:spAutoFit/>
          </a:bodyPr>
          <a:lstStyle/>
          <a:p>
            <a:pPr algn="l">
              <a:spcBef>
                <a:spcPts val="0"/>
              </a:spcBef>
              <a:spcAft>
                <a:spcPts val="0"/>
              </a:spcAft>
            </a:pPr>
            <a:r>
              <a:rPr sz="1300" b="1" i="0">
                <a:solidFill>
                  <a:srgbClr val="8CE6C9"/>
                </a:solidFill>
                <a:latin typeface="Calibri"/>
              </a:rPr>
              <a:t>PHASE 5  ·  PRODUCTION AND DEPLOYMENT</a:t>
            </a:r>
          </a:p>
        </p:txBody>
      </p:sp>
      <p:sp>
        <p:nvSpPr>
          <p:cNvPr id="5" name="TextBox 4"/>
          <p:cNvSpPr txBox="1"/>
          <p:nvPr/>
        </p:nvSpPr>
        <p:spPr>
          <a:xfrm>
            <a:off x="685800" y="2487168"/>
            <a:ext cx="10424160" cy="1737360"/>
          </a:xfrm>
          <a:prstGeom prst="rect">
            <a:avLst/>
          </a:prstGeom>
          <a:noFill/>
        </p:spPr>
        <p:txBody>
          <a:bodyPr wrap="square" lIns="0" rIns="0" tIns="0" bIns="0" anchor="t">
            <a:spAutoFit/>
          </a:bodyPr>
          <a:lstStyle/>
          <a:p>
            <a:pPr algn="l">
              <a:lnSpc>
                <a:spcPct val="105000"/>
              </a:lnSpc>
              <a:spcBef>
                <a:spcPts val="0"/>
              </a:spcBef>
              <a:spcAft>
                <a:spcPts val="0"/>
              </a:spcAft>
            </a:pPr>
            <a:r>
              <a:rPr sz="5400" b="1" i="0">
                <a:solidFill>
                  <a:srgbClr val="FFFFFF"/>
                </a:solidFill>
                <a:latin typeface="Cambria"/>
              </a:rPr>
              <a:t>FastAPI Model Serving
and Cloud Deployment</a:t>
            </a:r>
          </a:p>
        </p:txBody>
      </p:sp>
      <p:sp>
        <p:nvSpPr>
          <p:cNvPr id="6" name="TextBox 5"/>
          <p:cNvSpPr txBox="1"/>
          <p:nvPr/>
        </p:nvSpPr>
        <p:spPr>
          <a:xfrm>
            <a:off x="685800" y="4315968"/>
            <a:ext cx="8686800" cy="457200"/>
          </a:xfrm>
          <a:prstGeom prst="rect">
            <a:avLst/>
          </a:prstGeom>
          <a:noFill/>
        </p:spPr>
        <p:txBody>
          <a:bodyPr wrap="square" lIns="0" rIns="0" tIns="0" bIns="0" anchor="t">
            <a:spAutoFit/>
          </a:bodyPr>
          <a:lstStyle/>
          <a:p>
            <a:pPr algn="l">
              <a:spcBef>
                <a:spcPts val="0"/>
              </a:spcBef>
              <a:spcAft>
                <a:spcPts val="0"/>
              </a:spcAft>
            </a:pPr>
            <a:r>
              <a:rPr sz="1500" b="0" i="0">
                <a:solidFill>
                  <a:srgbClr val="D6E7E4"/>
                </a:solidFill>
                <a:latin typeface="Calibri"/>
              </a:rPr>
              <a:t>Session 39  ·  Model, REST API, batch and async, Docker, AWS</a:t>
            </a:r>
          </a:p>
        </p:txBody>
      </p:sp>
      <p:sp>
        <p:nvSpPr>
          <p:cNvPr id="7" name="Rounded Rectangle 6"/>
          <p:cNvSpPr/>
          <p:nvPr/>
        </p:nvSpPr>
        <p:spPr>
          <a:xfrm>
            <a:off x="685800" y="5074920"/>
            <a:ext cx="1965960" cy="457200"/>
          </a:xfrm>
          <a:prstGeom prst="roundRect">
            <a:avLst>
              <a:gd name="adj" fmla="val 50000"/>
            </a:avLst>
          </a:prstGeom>
          <a:solidFill>
            <a:srgbClr val="8CE6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200" b="1" i="0">
                <a:solidFill>
                  <a:srgbClr val="12343B"/>
                </a:solidFill>
                <a:latin typeface="Calibri"/>
              </a:rPr>
              <a:t>YOLOv8n</a:t>
            </a:r>
          </a:p>
        </p:txBody>
      </p:sp>
      <p:sp>
        <p:nvSpPr>
          <p:cNvPr id="8" name="Rounded Rectangle 7"/>
          <p:cNvSpPr/>
          <p:nvPr/>
        </p:nvSpPr>
        <p:spPr>
          <a:xfrm>
            <a:off x="2788920" y="5074920"/>
            <a:ext cx="1965960" cy="457200"/>
          </a:xfrm>
          <a:prstGeom prst="roundRect">
            <a:avLst>
              <a:gd name="adj" fmla="val 50000"/>
            </a:avLst>
          </a:prstGeom>
          <a:solidFill>
            <a:srgbClr val="8CE6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200" b="1" i="0">
                <a:solidFill>
                  <a:srgbClr val="12343B"/>
                </a:solidFill>
                <a:latin typeface="Calibri"/>
              </a:rPr>
              <a:t>FastAPI</a:t>
            </a:r>
          </a:p>
        </p:txBody>
      </p:sp>
      <p:sp>
        <p:nvSpPr>
          <p:cNvPr id="9" name="Rounded Rectangle 8"/>
          <p:cNvSpPr/>
          <p:nvPr/>
        </p:nvSpPr>
        <p:spPr>
          <a:xfrm>
            <a:off x="4937760" y="5074920"/>
            <a:ext cx="1965960" cy="457200"/>
          </a:xfrm>
          <a:prstGeom prst="roundRect">
            <a:avLst>
              <a:gd name="adj" fmla="val 50000"/>
            </a:avLst>
          </a:prstGeom>
          <a:solidFill>
            <a:srgbClr val="8CE6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200" b="1" i="0">
                <a:solidFill>
                  <a:srgbClr val="12343B"/>
                </a:solidFill>
                <a:latin typeface="Calibri"/>
              </a:rPr>
              <a:t>Docker</a:t>
            </a:r>
          </a:p>
        </p:txBody>
      </p:sp>
      <p:sp>
        <p:nvSpPr>
          <p:cNvPr id="10" name="Rounded Rectangle 9"/>
          <p:cNvSpPr/>
          <p:nvPr/>
        </p:nvSpPr>
        <p:spPr>
          <a:xfrm>
            <a:off x="7086600" y="5074920"/>
            <a:ext cx="1965960" cy="457200"/>
          </a:xfrm>
          <a:prstGeom prst="roundRect">
            <a:avLst>
              <a:gd name="adj" fmla="val 50000"/>
            </a:avLst>
          </a:prstGeom>
          <a:solidFill>
            <a:srgbClr val="8CE6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200" b="1" i="0">
                <a:solidFill>
                  <a:srgbClr val="12343B"/>
                </a:solidFill>
                <a:latin typeface="Calibri"/>
              </a:rPr>
              <a:t>ECR and EC2</a:t>
            </a:r>
          </a:p>
        </p:txBody>
      </p:sp>
      <p:sp>
        <p:nvSpPr>
          <p:cNvPr id="11" name="TextBox 10"/>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9AB4B8"/>
                </a:solidFill>
                <a:latin typeface="Calibri"/>
              </a:rPr>
              <a:t>One hour of theory and practice  ·  every command in the repository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RECAP</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Three sessions, one arc</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1920240"/>
            <a:ext cx="3429000" cy="18288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41832" y="2104583"/>
            <a:ext cx="2916936"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Session 36  ·  Optimisation</a:t>
            </a:r>
          </a:p>
        </p:txBody>
      </p:sp>
      <p:sp>
        <p:nvSpPr>
          <p:cNvPr id="7" name="TextBox 6"/>
          <p:cNvSpPr txBox="1"/>
          <p:nvPr/>
        </p:nvSpPr>
        <p:spPr>
          <a:xfrm>
            <a:off x="941832" y="2470343"/>
            <a:ext cx="2916936" cy="11250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ONNX, TensorRT and quantisation.</a:t>
            </a:r>
          </a:p>
          <a:p>
            <a:pPr algn="l">
              <a:lnSpc>
                <a:spcPct val="115000"/>
              </a:lnSpc>
              <a:spcBef>
                <a:spcPts val="0"/>
              </a:spcBef>
              <a:spcAft>
                <a:spcPts val="500"/>
              </a:spcAft>
            </a:pPr>
            <a:r>
              <a:rPr sz="1200" b="0" i="0">
                <a:solidFill>
                  <a:srgbClr val="5A7A80"/>
                </a:solidFill>
                <a:latin typeface="Calibri"/>
              </a:rPr>
              <a:t>You made the model small and fast.</a:t>
            </a:r>
          </a:p>
        </p:txBody>
      </p:sp>
      <p:sp>
        <p:nvSpPr>
          <p:cNvPr id="8" name="Rounded Rectangle 7"/>
          <p:cNvSpPr/>
          <p:nvPr/>
        </p:nvSpPr>
        <p:spPr>
          <a:xfrm>
            <a:off x="4379976" y="1920240"/>
            <a:ext cx="3429000" cy="18288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636008" y="2104583"/>
            <a:ext cx="2916936"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Session 37  ·  Edge</a:t>
            </a:r>
          </a:p>
        </p:txBody>
      </p:sp>
      <p:sp>
        <p:nvSpPr>
          <p:cNvPr id="10" name="TextBox 9"/>
          <p:cNvSpPr txBox="1"/>
          <p:nvPr/>
        </p:nvSpPr>
        <p:spPr>
          <a:xfrm>
            <a:off x="4636008" y="2470343"/>
            <a:ext cx="2916936" cy="11250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Running that model on hardware you can hold. One device, one process.</a:t>
            </a:r>
          </a:p>
        </p:txBody>
      </p:sp>
      <p:sp>
        <p:nvSpPr>
          <p:cNvPr id="11" name="Rounded Rectangle 10"/>
          <p:cNvSpPr/>
          <p:nvPr/>
        </p:nvSpPr>
        <p:spPr>
          <a:xfrm>
            <a:off x="8074152" y="1920240"/>
            <a:ext cx="3429000" cy="182880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330183" y="2104583"/>
            <a:ext cx="2916936" cy="310896"/>
          </a:xfrm>
          <a:prstGeom prst="rect">
            <a:avLst/>
          </a:prstGeom>
          <a:noFill/>
        </p:spPr>
        <p:txBody>
          <a:bodyPr wrap="square" lIns="0" rIns="0" tIns="0" bIns="0" anchor="t">
            <a:spAutoFit/>
          </a:bodyPr>
          <a:lstStyle/>
          <a:p>
            <a:pPr algn="l">
              <a:spcBef>
                <a:spcPts val="0"/>
              </a:spcBef>
              <a:spcAft>
                <a:spcPts val="0"/>
              </a:spcAft>
            </a:pPr>
            <a:r>
              <a:rPr sz="1350" b="1" i="0">
                <a:solidFill>
                  <a:srgbClr val="8CE6C9"/>
                </a:solidFill>
                <a:latin typeface="Calibri"/>
              </a:rPr>
              <a:t>Session 39  ·  Today</a:t>
            </a:r>
          </a:p>
        </p:txBody>
      </p:sp>
      <p:sp>
        <p:nvSpPr>
          <p:cNvPr id="13" name="TextBox 12"/>
          <p:cNvSpPr txBox="1"/>
          <p:nvPr/>
        </p:nvSpPr>
        <p:spPr>
          <a:xfrm>
            <a:off x="8330183" y="2470343"/>
            <a:ext cx="2916936" cy="11250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D6E7E4"/>
                </a:solidFill>
                <a:latin typeface="Calibri"/>
              </a:rPr>
              <a:t>The same model behind an HTTP address that a hundred clients can call.</a:t>
            </a:r>
          </a:p>
        </p:txBody>
      </p:sp>
      <p:sp>
        <p:nvSpPr>
          <p:cNvPr id="14" name="TextBox 13"/>
          <p:cNvSpPr txBox="1"/>
          <p:nvPr/>
        </p:nvSpPr>
        <p:spPr>
          <a:xfrm>
            <a:off x="685800" y="4160520"/>
            <a:ext cx="10820095" cy="822960"/>
          </a:xfrm>
          <a:prstGeom prst="rect">
            <a:avLst/>
          </a:prstGeom>
          <a:noFill/>
        </p:spPr>
        <p:txBody>
          <a:bodyPr wrap="square" lIns="0" rIns="0" tIns="0" bIns="0" anchor="t">
            <a:spAutoFit/>
          </a:bodyPr>
          <a:lstStyle/>
          <a:p>
            <a:pPr algn="l">
              <a:lnSpc>
                <a:spcPct val="130000"/>
              </a:lnSpc>
              <a:spcBef>
                <a:spcPts val="0"/>
              </a:spcBef>
              <a:spcAft>
                <a:spcPts val="0"/>
              </a:spcAft>
            </a:pPr>
            <a:r>
              <a:rPr sz="1400" b="0" i="0">
                <a:solidFill>
                  <a:srgbClr val="12343B"/>
                </a:solidFill>
                <a:latin typeface="Calibri"/>
              </a:rPr>
              <a:t>The model has not changed since Session 36. Everything today is about what surrounds it: the process that holds it, the contract it answers on, the image it ships in, and the machine it runs on.</a:t>
            </a:r>
          </a:p>
        </p:txBody>
      </p:sp>
      <p:sp>
        <p:nvSpPr>
          <p:cNvPr id="15" name="Rounded Rectangle 14"/>
          <p:cNvSpPr/>
          <p:nvPr/>
        </p:nvSpPr>
        <p:spPr>
          <a:xfrm>
            <a:off x="685800" y="5074920"/>
            <a:ext cx="10820095" cy="10058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41832" y="5259263"/>
            <a:ext cx="10308031" cy="310896"/>
          </a:xfrm>
          <a:prstGeom prst="rect">
            <a:avLst/>
          </a:prstGeom>
          <a:noFill/>
        </p:spPr>
        <p:txBody>
          <a:bodyPr wrap="square" lIns="0" rIns="0" tIns="0" bIns="0" anchor="t">
            <a:spAutoFit/>
          </a:bodyPr>
          <a:lstStyle/>
          <a:p>
            <a:pPr algn="l">
              <a:spcBef>
                <a:spcPts val="0"/>
              </a:spcBef>
              <a:spcAft>
                <a:spcPts val="0"/>
              </a:spcAft>
            </a:pPr>
            <a:r>
              <a:rPr sz="1350" b="1" i="0">
                <a:solidFill>
                  <a:srgbClr val="C15B4E"/>
                </a:solidFill>
                <a:latin typeface="Calibri"/>
              </a:rPr>
              <a:t>The one sentence version</a:t>
            </a:r>
          </a:p>
        </p:txBody>
      </p:sp>
      <p:sp>
        <p:nvSpPr>
          <p:cNvPr id="17" name="TextBox 16"/>
          <p:cNvSpPr txBox="1"/>
          <p:nvPr/>
        </p:nvSpPr>
        <p:spPr>
          <a:xfrm>
            <a:off x="941832" y="5625023"/>
            <a:ext cx="10308031" cy="302117"/>
          </a:xfrm>
          <a:prstGeom prst="rect">
            <a:avLst/>
          </a:prstGeom>
          <a:noFill/>
        </p:spPr>
        <p:txBody>
          <a:bodyPr wrap="square" lIns="0" rIns="0" tIns="0" bIns="0" anchor="t">
            <a:spAutoFit/>
          </a:bodyPr>
          <a:lstStyle/>
          <a:p>
            <a:pPr algn="l">
              <a:lnSpc>
                <a:spcPct val="115000"/>
              </a:lnSpc>
              <a:spcBef>
                <a:spcPts val="0"/>
              </a:spcBef>
              <a:spcAft>
                <a:spcPts val="500"/>
              </a:spcAft>
            </a:pPr>
            <a:r>
              <a:rPr sz="1300" b="0" i="0">
                <a:solidFill>
                  <a:srgbClr val="5A7A80"/>
                </a:solidFill>
                <a:latin typeface="Calibri"/>
              </a:rPr>
              <a:t>A model that only you can run is a demo. A model anyone can call over HTTP, that restarts on its own and can be redeployed in a minute, is a product.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THE PLAN</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Model to REST API to Docker to AWS</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2240280"/>
            <a:ext cx="1883664" cy="14630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32104" y="2432304"/>
            <a:ext cx="1591056" cy="365760"/>
          </a:xfrm>
          <a:prstGeom prst="rect">
            <a:avLst/>
          </a:prstGeom>
          <a:noFill/>
        </p:spPr>
        <p:txBody>
          <a:bodyPr wrap="square" lIns="0" rIns="0" tIns="0" bIns="0" anchor="t">
            <a:spAutoFit/>
          </a:bodyPr>
          <a:lstStyle/>
          <a:p>
            <a:pPr algn="ctr">
              <a:spcBef>
                <a:spcPts val="0"/>
              </a:spcBef>
              <a:spcAft>
                <a:spcPts val="0"/>
              </a:spcAft>
            </a:pPr>
            <a:r>
              <a:rPr sz="1500" b="1" i="0">
                <a:solidFill>
                  <a:srgbClr val="028090"/>
                </a:solidFill>
                <a:latin typeface="Calibri"/>
              </a:rPr>
              <a:t>Model</a:t>
            </a:r>
          </a:p>
        </p:txBody>
      </p:sp>
      <p:sp>
        <p:nvSpPr>
          <p:cNvPr id="7" name="TextBox 6"/>
          <p:cNvSpPr txBox="1"/>
          <p:nvPr/>
        </p:nvSpPr>
        <p:spPr>
          <a:xfrm>
            <a:off x="795528" y="2862072"/>
            <a:ext cx="1664208" cy="731520"/>
          </a:xfrm>
          <a:prstGeom prst="rect">
            <a:avLst/>
          </a:prstGeom>
          <a:noFill/>
        </p:spPr>
        <p:txBody>
          <a:bodyPr wrap="square" lIns="0" rIns="0" tIns="0" bIns="0" anchor="t">
            <a:spAutoFit/>
          </a:bodyPr>
          <a:lstStyle/>
          <a:p>
            <a:pPr algn="ctr">
              <a:lnSpc>
                <a:spcPct val="115000"/>
              </a:lnSpc>
              <a:spcBef>
                <a:spcPts val="0"/>
              </a:spcBef>
              <a:spcAft>
                <a:spcPts val="0"/>
              </a:spcAft>
            </a:pPr>
            <a:r>
              <a:rPr sz="1050" b="0" i="0">
                <a:solidFill>
                  <a:srgbClr val="5A7A80"/>
                </a:solidFill>
                <a:latin typeface="Calibri"/>
              </a:rPr>
              <a:t>yolov8n.pt
6.5 MB, 80 classes</a:t>
            </a:r>
          </a:p>
        </p:txBody>
      </p:sp>
      <p:sp>
        <p:nvSpPr>
          <p:cNvPr id="8" name="Right Arrow 7"/>
          <p:cNvSpPr/>
          <p:nvPr/>
        </p:nvSpPr>
        <p:spPr>
          <a:xfrm>
            <a:off x="2651760" y="2798064"/>
            <a:ext cx="329184" cy="347472"/>
          </a:xfrm>
          <a:prstGeom prst="rightArrow">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063240" y="2240280"/>
            <a:ext cx="1883664" cy="14630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209544" y="2432304"/>
            <a:ext cx="1591056" cy="365760"/>
          </a:xfrm>
          <a:prstGeom prst="rect">
            <a:avLst/>
          </a:prstGeom>
          <a:noFill/>
        </p:spPr>
        <p:txBody>
          <a:bodyPr wrap="square" lIns="0" rIns="0" tIns="0" bIns="0" anchor="t">
            <a:spAutoFit/>
          </a:bodyPr>
          <a:lstStyle/>
          <a:p>
            <a:pPr algn="ctr">
              <a:spcBef>
                <a:spcPts val="0"/>
              </a:spcBef>
              <a:spcAft>
                <a:spcPts val="0"/>
              </a:spcAft>
            </a:pPr>
            <a:r>
              <a:rPr sz="1500" b="1" i="0">
                <a:solidFill>
                  <a:srgbClr val="028090"/>
                </a:solidFill>
                <a:latin typeface="Calibri"/>
              </a:rPr>
              <a:t>REST API</a:t>
            </a:r>
          </a:p>
        </p:txBody>
      </p:sp>
      <p:sp>
        <p:nvSpPr>
          <p:cNvPr id="11" name="TextBox 10"/>
          <p:cNvSpPr txBox="1"/>
          <p:nvPr/>
        </p:nvSpPr>
        <p:spPr>
          <a:xfrm>
            <a:off x="3172968" y="2862072"/>
            <a:ext cx="1664208" cy="731520"/>
          </a:xfrm>
          <a:prstGeom prst="rect">
            <a:avLst/>
          </a:prstGeom>
          <a:noFill/>
        </p:spPr>
        <p:txBody>
          <a:bodyPr wrap="square" lIns="0" rIns="0" tIns="0" bIns="0" anchor="t">
            <a:spAutoFit/>
          </a:bodyPr>
          <a:lstStyle/>
          <a:p>
            <a:pPr algn="ctr">
              <a:lnSpc>
                <a:spcPct val="115000"/>
              </a:lnSpc>
              <a:spcBef>
                <a:spcPts val="0"/>
              </a:spcBef>
              <a:spcAft>
                <a:spcPts val="0"/>
              </a:spcAft>
            </a:pPr>
            <a:r>
              <a:rPr sz="1050" b="0" i="0">
                <a:solidFill>
                  <a:srgbClr val="5A7A80"/>
                </a:solidFill>
                <a:latin typeface="Calibri"/>
              </a:rPr>
              <a:t>FastAPI
single and batch</a:t>
            </a:r>
          </a:p>
        </p:txBody>
      </p:sp>
      <p:sp>
        <p:nvSpPr>
          <p:cNvPr id="12" name="Right Arrow 11"/>
          <p:cNvSpPr/>
          <p:nvPr/>
        </p:nvSpPr>
        <p:spPr>
          <a:xfrm>
            <a:off x="5029200" y="2798064"/>
            <a:ext cx="329184" cy="347472"/>
          </a:xfrm>
          <a:prstGeom prst="rightArrow">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40680" y="2240280"/>
            <a:ext cx="1883664" cy="14630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586984" y="2432304"/>
            <a:ext cx="1591056" cy="365760"/>
          </a:xfrm>
          <a:prstGeom prst="rect">
            <a:avLst/>
          </a:prstGeom>
          <a:noFill/>
        </p:spPr>
        <p:txBody>
          <a:bodyPr wrap="square" lIns="0" rIns="0" tIns="0" bIns="0" anchor="t">
            <a:spAutoFit/>
          </a:bodyPr>
          <a:lstStyle/>
          <a:p>
            <a:pPr algn="ctr">
              <a:spcBef>
                <a:spcPts val="0"/>
              </a:spcBef>
              <a:spcAft>
                <a:spcPts val="0"/>
              </a:spcAft>
            </a:pPr>
            <a:r>
              <a:rPr sz="1500" b="1" i="0">
                <a:solidFill>
                  <a:srgbClr val="028090"/>
                </a:solidFill>
                <a:latin typeface="Calibri"/>
              </a:rPr>
              <a:t>Async</a:t>
            </a:r>
          </a:p>
        </p:txBody>
      </p:sp>
      <p:sp>
        <p:nvSpPr>
          <p:cNvPr id="15" name="TextBox 14"/>
          <p:cNvSpPr txBox="1"/>
          <p:nvPr/>
        </p:nvSpPr>
        <p:spPr>
          <a:xfrm>
            <a:off x="5550408" y="2862072"/>
            <a:ext cx="1664208" cy="731520"/>
          </a:xfrm>
          <a:prstGeom prst="rect">
            <a:avLst/>
          </a:prstGeom>
          <a:noFill/>
        </p:spPr>
        <p:txBody>
          <a:bodyPr wrap="square" lIns="0" rIns="0" tIns="0" bIns="0" anchor="t">
            <a:spAutoFit/>
          </a:bodyPr>
          <a:lstStyle/>
          <a:p>
            <a:pPr algn="ctr">
              <a:lnSpc>
                <a:spcPct val="115000"/>
              </a:lnSpc>
              <a:spcBef>
                <a:spcPts val="0"/>
              </a:spcBef>
              <a:spcAft>
                <a:spcPts val="0"/>
              </a:spcAft>
            </a:pPr>
            <a:r>
              <a:rPr sz="1050" b="0" i="0">
                <a:solidFill>
                  <a:srgbClr val="5A7A80"/>
                </a:solidFill>
                <a:latin typeface="Calibri"/>
              </a:rPr>
              <a:t>worker threads
and jobs</a:t>
            </a:r>
          </a:p>
        </p:txBody>
      </p:sp>
      <p:sp>
        <p:nvSpPr>
          <p:cNvPr id="16" name="Right Arrow 15"/>
          <p:cNvSpPr/>
          <p:nvPr/>
        </p:nvSpPr>
        <p:spPr>
          <a:xfrm>
            <a:off x="7406640" y="2798064"/>
            <a:ext cx="329184" cy="347472"/>
          </a:xfrm>
          <a:prstGeom prst="rightArrow">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818120" y="2240280"/>
            <a:ext cx="1883664" cy="14630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964424" y="2432304"/>
            <a:ext cx="1591056" cy="365760"/>
          </a:xfrm>
          <a:prstGeom prst="rect">
            <a:avLst/>
          </a:prstGeom>
          <a:noFill/>
        </p:spPr>
        <p:txBody>
          <a:bodyPr wrap="square" lIns="0" rIns="0" tIns="0" bIns="0" anchor="t">
            <a:spAutoFit/>
          </a:bodyPr>
          <a:lstStyle/>
          <a:p>
            <a:pPr algn="ctr">
              <a:spcBef>
                <a:spcPts val="0"/>
              </a:spcBef>
              <a:spcAft>
                <a:spcPts val="0"/>
              </a:spcAft>
            </a:pPr>
            <a:r>
              <a:rPr sz="1500" b="1" i="0">
                <a:solidFill>
                  <a:srgbClr val="028090"/>
                </a:solidFill>
                <a:latin typeface="Calibri"/>
              </a:rPr>
              <a:t>Docker</a:t>
            </a:r>
          </a:p>
        </p:txBody>
      </p:sp>
      <p:sp>
        <p:nvSpPr>
          <p:cNvPr id="19" name="TextBox 18"/>
          <p:cNvSpPr txBox="1"/>
          <p:nvPr/>
        </p:nvSpPr>
        <p:spPr>
          <a:xfrm>
            <a:off x="7927848" y="2862072"/>
            <a:ext cx="1664208" cy="731520"/>
          </a:xfrm>
          <a:prstGeom prst="rect">
            <a:avLst/>
          </a:prstGeom>
          <a:noFill/>
        </p:spPr>
        <p:txBody>
          <a:bodyPr wrap="square" lIns="0" rIns="0" tIns="0" bIns="0" anchor="t">
            <a:spAutoFit/>
          </a:bodyPr>
          <a:lstStyle/>
          <a:p>
            <a:pPr algn="ctr">
              <a:lnSpc>
                <a:spcPct val="115000"/>
              </a:lnSpc>
              <a:spcBef>
                <a:spcPts val="0"/>
              </a:spcBef>
              <a:spcAft>
                <a:spcPts val="0"/>
              </a:spcAft>
            </a:pPr>
            <a:r>
              <a:rPr sz="1050" b="0" i="0">
                <a:solidFill>
                  <a:srgbClr val="5A7A80"/>
                </a:solidFill>
                <a:latin typeface="Calibri"/>
              </a:rPr>
              <a:t>one image
1.77 GB</a:t>
            </a:r>
          </a:p>
        </p:txBody>
      </p:sp>
      <p:sp>
        <p:nvSpPr>
          <p:cNvPr id="20" name="Right Arrow 19"/>
          <p:cNvSpPr/>
          <p:nvPr/>
        </p:nvSpPr>
        <p:spPr>
          <a:xfrm>
            <a:off x="9784080" y="2798064"/>
            <a:ext cx="329184" cy="347472"/>
          </a:xfrm>
          <a:prstGeom prst="rightArrow">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95560" y="2240280"/>
            <a:ext cx="1883664" cy="146304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0341864" y="2432304"/>
            <a:ext cx="1591056" cy="365760"/>
          </a:xfrm>
          <a:prstGeom prst="rect">
            <a:avLst/>
          </a:prstGeom>
          <a:noFill/>
        </p:spPr>
        <p:txBody>
          <a:bodyPr wrap="square" lIns="0" rIns="0" tIns="0" bIns="0" anchor="t">
            <a:spAutoFit/>
          </a:bodyPr>
          <a:lstStyle/>
          <a:p>
            <a:pPr algn="ctr">
              <a:spcBef>
                <a:spcPts val="0"/>
              </a:spcBef>
              <a:spcAft>
                <a:spcPts val="0"/>
              </a:spcAft>
            </a:pPr>
            <a:r>
              <a:rPr sz="1500" b="1" i="0">
                <a:solidFill>
                  <a:srgbClr val="8CE6C9"/>
                </a:solidFill>
                <a:latin typeface="Calibri"/>
              </a:rPr>
              <a:t>AWS</a:t>
            </a:r>
          </a:p>
        </p:txBody>
      </p:sp>
      <p:sp>
        <p:nvSpPr>
          <p:cNvPr id="23" name="TextBox 22"/>
          <p:cNvSpPr txBox="1"/>
          <p:nvPr/>
        </p:nvSpPr>
        <p:spPr>
          <a:xfrm>
            <a:off x="10305288" y="2862072"/>
            <a:ext cx="1664208" cy="731520"/>
          </a:xfrm>
          <a:prstGeom prst="rect">
            <a:avLst/>
          </a:prstGeom>
          <a:noFill/>
        </p:spPr>
        <p:txBody>
          <a:bodyPr wrap="square" lIns="0" rIns="0" tIns="0" bIns="0" anchor="t">
            <a:spAutoFit/>
          </a:bodyPr>
          <a:lstStyle/>
          <a:p>
            <a:pPr algn="ctr">
              <a:lnSpc>
                <a:spcPct val="115000"/>
              </a:lnSpc>
              <a:spcBef>
                <a:spcPts val="0"/>
              </a:spcBef>
              <a:spcAft>
                <a:spcPts val="0"/>
              </a:spcAft>
            </a:pPr>
            <a:r>
              <a:rPr sz="1050" b="0" i="0">
                <a:solidFill>
                  <a:srgbClr val="D6E7E4"/>
                </a:solidFill>
                <a:latin typeface="Calibri"/>
              </a:rPr>
              <a:t>ECR then EC2
under systemd</a:t>
            </a:r>
          </a:p>
        </p:txBody>
      </p:sp>
      <p:sp>
        <p:nvSpPr>
          <p:cNvPr id="24" name="Rounded Rectangle 23"/>
          <p:cNvSpPr/>
          <p:nvPr/>
        </p:nvSpPr>
        <p:spPr>
          <a:xfrm>
            <a:off x="685800" y="4069080"/>
            <a:ext cx="5349240"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41832" y="425342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What you will have at the end</a:t>
            </a:r>
          </a:p>
        </p:txBody>
      </p:sp>
      <p:sp>
        <p:nvSpPr>
          <p:cNvPr id="26" name="TextBox 25"/>
          <p:cNvSpPr txBox="1"/>
          <p:nvPr/>
        </p:nvSpPr>
        <p:spPr>
          <a:xfrm>
            <a:off x="941832" y="4619183"/>
            <a:ext cx="4837175" cy="117079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A public URL that takes an image and returns detections as JSON.</a:t>
            </a:r>
          </a:p>
          <a:p>
            <a:pPr algn="l">
              <a:lnSpc>
                <a:spcPct val="115000"/>
              </a:lnSpc>
              <a:spcBef>
                <a:spcPts val="0"/>
              </a:spcBef>
              <a:spcAft>
                <a:spcPts val="500"/>
              </a:spcAft>
            </a:pPr>
            <a:r>
              <a:rPr sz="1200" b="0" i="0">
                <a:solidFill>
                  <a:srgbClr val="5A7A80"/>
                </a:solidFill>
                <a:latin typeface="Calibri"/>
              </a:rPr>
              <a:t>A repository whose README lets anyone reproduce it.</a:t>
            </a:r>
          </a:p>
          <a:p>
            <a:pPr algn="l">
              <a:lnSpc>
                <a:spcPct val="115000"/>
              </a:lnSpc>
              <a:spcBef>
                <a:spcPts val="0"/>
              </a:spcBef>
              <a:spcAft>
                <a:spcPts val="500"/>
              </a:spcAft>
            </a:pPr>
            <a:r>
              <a:rPr sz="1200" b="0" i="0">
                <a:solidFill>
                  <a:srgbClr val="5A7A80"/>
                </a:solidFill>
                <a:latin typeface="Calibri"/>
              </a:rPr>
              <a:t>A redeploy that takes two commands.</a:t>
            </a:r>
          </a:p>
        </p:txBody>
      </p:sp>
      <p:sp>
        <p:nvSpPr>
          <p:cNvPr id="27" name="Rounded Rectangle 26"/>
          <p:cNvSpPr/>
          <p:nvPr/>
        </p:nvSpPr>
        <p:spPr>
          <a:xfrm>
            <a:off x="6153912" y="4069080"/>
            <a:ext cx="5349240"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9944" y="425342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C15B4E"/>
                </a:solidFill>
                <a:latin typeface="Calibri"/>
              </a:rPr>
              <a:t>What we will not pretend</a:t>
            </a:r>
          </a:p>
        </p:txBody>
      </p:sp>
      <p:sp>
        <p:nvSpPr>
          <p:cNvPr id="29" name="TextBox 28"/>
          <p:cNvSpPr txBox="1"/>
          <p:nvPr/>
        </p:nvSpPr>
        <p:spPr>
          <a:xfrm>
            <a:off x="6409944" y="4619183"/>
            <a:ext cx="4837175" cy="117079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This is one instance in one availability zone with no HTTPS.</a:t>
            </a:r>
          </a:p>
          <a:p>
            <a:pPr algn="l">
              <a:lnSpc>
                <a:spcPct val="115000"/>
              </a:lnSpc>
              <a:spcBef>
                <a:spcPts val="0"/>
              </a:spcBef>
              <a:spcAft>
                <a:spcPts val="500"/>
              </a:spcAft>
            </a:pPr>
            <a:r>
              <a:rPr sz="1200" b="0" i="0">
                <a:solidFill>
                  <a:srgbClr val="5A7A80"/>
                </a:solidFill>
                <a:latin typeface="Calibri"/>
              </a:rPr>
              <a:t>The last slide lists exactly what a real production setup adds, and why each piece is one small step from 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THE PROBLEM</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A notebook is not a service</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1965960"/>
            <a:ext cx="5349240" cy="33375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41832" y="215030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What the notebook does</a:t>
            </a:r>
          </a:p>
        </p:txBody>
      </p:sp>
      <p:sp>
        <p:nvSpPr>
          <p:cNvPr id="7" name="Rounded Rectangle 6"/>
          <p:cNvSpPr/>
          <p:nvPr/>
        </p:nvSpPr>
        <p:spPr>
          <a:xfrm>
            <a:off x="941832" y="2514600"/>
            <a:ext cx="4837176" cy="237744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79576" y="2697480"/>
            <a:ext cx="4361688" cy="2048255"/>
          </a:xfrm>
          <a:prstGeom prst="rect">
            <a:avLst/>
          </a:prstGeom>
          <a:noFill/>
        </p:spPr>
        <p:txBody>
          <a:bodyPr wrap="square" lIns="0" rIns="0" tIns="0" bIns="0" anchor="t">
            <a:spAutoFit/>
          </a:bodyPr>
          <a:lstStyle/>
          <a:p>
            <a:pPr algn="l">
              <a:lnSpc>
                <a:spcPct val="122000"/>
              </a:lnSpc>
              <a:spcBef>
                <a:spcPts val="0"/>
              </a:spcBef>
              <a:spcAft>
                <a:spcPts val="0"/>
              </a:spcAft>
            </a:pPr>
            <a:r>
              <a:rPr sz="1150" b="0" i="0">
                <a:solidFill>
                  <a:srgbClr val="D6E7E4"/>
                </a:solidFill>
                <a:latin typeface="Consolas"/>
              </a:rPr>
              <a:t>from ultralytics import YOLO</a:t>
            </a:r>
          </a:p>
          <a:p>
            <a:pPr algn="l">
              <a:lnSpc>
                <a:spcPct val="122000"/>
              </a:lnSpc>
              <a:spcBef>
                <a:spcPts val="0"/>
              </a:spcBef>
              <a:spcAft>
                <a:spcPts val="0"/>
              </a:spcAft>
            </a:pPr>
            <a:r>
              <a:rPr sz="1150" b="0" i="0">
                <a:solidFill>
                  <a:srgbClr val="D6E7E4"/>
                </a:solidFill>
                <a:latin typeface="Consolas"/>
              </a:rPr>
              <a:t/>
            </a:r>
          </a:p>
          <a:p>
            <a:pPr algn="l">
              <a:lnSpc>
                <a:spcPct val="122000"/>
              </a:lnSpc>
              <a:spcBef>
                <a:spcPts val="0"/>
              </a:spcBef>
              <a:spcAft>
                <a:spcPts val="0"/>
              </a:spcAft>
            </a:pPr>
            <a:r>
              <a:rPr sz="1150" b="0" i="0">
                <a:solidFill>
                  <a:srgbClr val="D6E7E4"/>
                </a:solidFill>
                <a:latin typeface="Consolas"/>
              </a:rPr>
              <a:t>model = YOLO("yolov8n.pt")</a:t>
            </a:r>
          </a:p>
          <a:p>
            <a:pPr algn="l">
              <a:lnSpc>
                <a:spcPct val="122000"/>
              </a:lnSpc>
              <a:spcBef>
                <a:spcPts val="0"/>
              </a:spcBef>
              <a:spcAft>
                <a:spcPts val="0"/>
              </a:spcAft>
            </a:pPr>
            <a:r>
              <a:rPr sz="1150" b="0" i="0">
                <a:solidFill>
                  <a:srgbClr val="D6E7E4"/>
                </a:solidFill>
                <a:latin typeface="Consolas"/>
              </a:rPr>
              <a:t>results = model("photo.jpg")</a:t>
            </a:r>
          </a:p>
          <a:p>
            <a:pPr algn="l">
              <a:lnSpc>
                <a:spcPct val="122000"/>
              </a:lnSpc>
              <a:spcBef>
                <a:spcPts val="0"/>
              </a:spcBef>
              <a:spcAft>
                <a:spcPts val="0"/>
              </a:spcAft>
            </a:pPr>
            <a:r>
              <a:rPr sz="1150" b="0" i="0">
                <a:solidFill>
                  <a:srgbClr val="D6E7E4"/>
                </a:solidFill>
                <a:latin typeface="Consolas"/>
              </a:rPr>
              <a:t>results[0].show()</a:t>
            </a:r>
          </a:p>
        </p:txBody>
      </p:sp>
      <p:sp>
        <p:nvSpPr>
          <p:cNvPr id="9" name="TextBox 8"/>
          <p:cNvSpPr txBox="1"/>
          <p:nvPr/>
        </p:nvSpPr>
        <p:spPr>
          <a:xfrm>
            <a:off x="941832" y="4956048"/>
            <a:ext cx="4837176" cy="274320"/>
          </a:xfrm>
          <a:prstGeom prst="rect">
            <a:avLst/>
          </a:prstGeom>
          <a:noFill/>
        </p:spPr>
        <p:txBody>
          <a:bodyPr wrap="square" lIns="0" rIns="0" tIns="0" bIns="0" anchor="t">
            <a:spAutoFit/>
          </a:bodyPr>
          <a:lstStyle/>
          <a:p>
            <a:pPr algn="l">
              <a:spcBef>
                <a:spcPts val="0"/>
              </a:spcBef>
              <a:spcAft>
                <a:spcPts val="0"/>
              </a:spcAft>
            </a:pPr>
            <a:r>
              <a:rPr sz="1100" b="0" i="1">
                <a:solidFill>
                  <a:srgbClr val="8FA9AE"/>
                </a:solidFill>
                <a:latin typeface="Calibri"/>
              </a:rPr>
              <a:t>Correct, and useless to anyone but you.</a:t>
            </a:r>
          </a:p>
        </p:txBody>
      </p:sp>
      <p:sp>
        <p:nvSpPr>
          <p:cNvPr id="10" name="Rounded Rectangle 9"/>
          <p:cNvSpPr/>
          <p:nvPr/>
        </p:nvSpPr>
        <p:spPr>
          <a:xfrm>
            <a:off x="6153912" y="1965960"/>
            <a:ext cx="5349240" cy="32004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9944" y="215030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C15B4E"/>
                </a:solidFill>
                <a:latin typeface="Calibri"/>
              </a:rPr>
              <a:t>What a service has to answer</a:t>
            </a:r>
          </a:p>
        </p:txBody>
      </p:sp>
      <p:sp>
        <p:nvSpPr>
          <p:cNvPr id="12" name="TextBox 11"/>
          <p:cNvSpPr txBox="1"/>
          <p:nvPr/>
        </p:nvSpPr>
        <p:spPr>
          <a:xfrm>
            <a:off x="6409944" y="2516063"/>
            <a:ext cx="4837175" cy="2496677"/>
          </a:xfrm>
          <a:prstGeom prst="rect">
            <a:avLst/>
          </a:prstGeom>
          <a:noFill/>
        </p:spPr>
        <p:txBody>
          <a:bodyPr wrap="square" lIns="0" rIns="0" tIns="0" bIns="0" anchor="t">
            <a:spAutoFit/>
          </a:bodyPr>
          <a:lstStyle/>
          <a:p>
            <a:pPr algn="l">
              <a:lnSpc>
                <a:spcPct val="130000"/>
              </a:lnSpc>
              <a:spcBef>
                <a:spcPts val="0"/>
              </a:spcBef>
              <a:spcAft>
                <a:spcPts val="500"/>
              </a:spcAft>
            </a:pPr>
            <a:r>
              <a:rPr sz="1250" b="0" i="0">
                <a:solidFill>
                  <a:srgbClr val="5A7A80"/>
                </a:solidFill>
                <a:latin typeface="Calibri"/>
              </a:rPr>
              <a:t>Who loads the model, and how many times?</a:t>
            </a:r>
          </a:p>
          <a:p>
            <a:pPr algn="l">
              <a:lnSpc>
                <a:spcPct val="130000"/>
              </a:lnSpc>
              <a:spcBef>
                <a:spcPts val="0"/>
              </a:spcBef>
              <a:spcAft>
                <a:spcPts val="500"/>
              </a:spcAft>
            </a:pPr>
            <a:r>
              <a:rPr sz="1250" b="0" i="0">
                <a:solidFill>
                  <a:srgbClr val="5A7A80"/>
                </a:solidFill>
                <a:latin typeface="Calibri"/>
              </a:rPr>
              <a:t>What happens to request two while request one is running?</a:t>
            </a:r>
          </a:p>
          <a:p>
            <a:pPr algn="l">
              <a:lnSpc>
                <a:spcPct val="130000"/>
              </a:lnSpc>
              <a:spcBef>
                <a:spcPts val="0"/>
              </a:spcBef>
              <a:spcAft>
                <a:spcPts val="500"/>
              </a:spcAft>
            </a:pPr>
            <a:r>
              <a:rPr sz="1250" b="0" i="0">
                <a:solidFill>
                  <a:srgbClr val="5A7A80"/>
                </a:solidFill>
                <a:latin typeface="Calibri"/>
              </a:rPr>
              <a:t>What does a malformed upload return, 500 or 422?</a:t>
            </a:r>
          </a:p>
          <a:p>
            <a:pPr algn="l">
              <a:lnSpc>
                <a:spcPct val="130000"/>
              </a:lnSpc>
              <a:spcBef>
                <a:spcPts val="0"/>
              </a:spcBef>
              <a:spcAft>
                <a:spcPts val="500"/>
              </a:spcAft>
            </a:pPr>
            <a:r>
              <a:rPr sz="1250" b="0" i="0">
                <a:solidFill>
                  <a:srgbClr val="5A7A80"/>
                </a:solidFill>
                <a:latin typeface="Calibri"/>
              </a:rPr>
              <a:t>How does the load balancer know it is ready?</a:t>
            </a:r>
          </a:p>
          <a:p>
            <a:pPr algn="l">
              <a:lnSpc>
                <a:spcPct val="130000"/>
              </a:lnSpc>
              <a:spcBef>
                <a:spcPts val="0"/>
              </a:spcBef>
              <a:spcAft>
                <a:spcPts val="500"/>
              </a:spcAft>
            </a:pPr>
            <a:r>
              <a:rPr sz="1250" b="0" i="0">
                <a:solidFill>
                  <a:srgbClr val="5A7A80"/>
                </a:solidFill>
                <a:latin typeface="Calibri"/>
              </a:rPr>
              <a:t>How does it start again after a reboot?</a:t>
            </a:r>
          </a:p>
          <a:p>
            <a:pPr algn="l">
              <a:lnSpc>
                <a:spcPct val="130000"/>
              </a:lnSpc>
              <a:spcBef>
                <a:spcPts val="0"/>
              </a:spcBef>
              <a:spcAft>
                <a:spcPts val="500"/>
              </a:spcAft>
            </a:pPr>
            <a:r>
              <a:rPr sz="1250" b="0" i="0">
                <a:solidFill>
                  <a:srgbClr val="5A7A80"/>
                </a:solidFill>
                <a:latin typeface="Calibri"/>
              </a:rPr>
              <a:t>How do you ship a fix without downtime?</a:t>
            </a:r>
          </a:p>
        </p:txBody>
      </p:sp>
      <p:sp>
        <p:nvSpPr>
          <p:cNvPr id="13" name="Rounded Rectangle 12"/>
          <p:cNvSpPr/>
          <p:nvPr/>
        </p:nvSpPr>
        <p:spPr>
          <a:xfrm>
            <a:off x="685800" y="5440680"/>
            <a:ext cx="10820095" cy="6858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41832" y="5625023"/>
            <a:ext cx="10308031" cy="347837"/>
          </a:xfrm>
          <a:prstGeom prst="rect">
            <a:avLst/>
          </a:prstGeom>
          <a:noFill/>
        </p:spPr>
        <p:txBody>
          <a:bodyPr wrap="square" lIns="0" rIns="0" tIns="0" bIns="0" anchor="t">
            <a:spAutoFit/>
          </a:bodyPr>
          <a:lstStyle/>
          <a:p>
            <a:pPr algn="l">
              <a:lnSpc>
                <a:spcPct val="115000"/>
              </a:lnSpc>
              <a:spcBef>
                <a:spcPts val="0"/>
              </a:spcBef>
              <a:spcAft>
                <a:spcPts val="500"/>
              </a:spcAft>
            </a:pPr>
            <a:r>
              <a:rPr sz="1300" b="0" i="0">
                <a:solidFill>
                  <a:srgbClr val="12343B"/>
                </a:solidFill>
                <a:latin typeface="Calibri"/>
              </a:rPr>
              <a:t>Every one of those questions has a one line answer in the code you will copy today. The rest of this session is why each answer is what it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TOOLING</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Why FastAPI for a model</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1965960"/>
            <a:ext cx="3529584" cy="24688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41832" y="215030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Flask</a:t>
            </a:r>
          </a:p>
        </p:txBody>
      </p:sp>
      <p:sp>
        <p:nvSpPr>
          <p:cNvPr id="7" name="TextBox 6"/>
          <p:cNvSpPr txBox="1"/>
          <p:nvPr/>
        </p:nvSpPr>
        <p:spPr>
          <a:xfrm>
            <a:off x="941832" y="2516063"/>
            <a:ext cx="3017520" cy="176515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Synchronous by default. Every request occupies a worker for its whole duration, and 300 ms of inference is a long time to hold one.</a:t>
            </a:r>
          </a:p>
          <a:p>
            <a:pPr algn="l">
              <a:lnSpc>
                <a:spcPct val="115000"/>
              </a:lnSpc>
              <a:spcBef>
                <a:spcPts val="0"/>
              </a:spcBef>
              <a:spcAft>
                <a:spcPts val="500"/>
              </a:spcAft>
            </a:pPr>
            <a:r>
              <a:rPr sz="1200" b="0" i="0">
                <a:solidFill>
                  <a:srgbClr val="5A7A80"/>
                </a:solidFill>
                <a:latin typeface="Calibri"/>
              </a:rPr>
              <a:t>No schema validation, no generated docs.</a:t>
            </a:r>
          </a:p>
        </p:txBody>
      </p:sp>
      <p:sp>
        <p:nvSpPr>
          <p:cNvPr id="8" name="Rounded Rectangle 7"/>
          <p:cNvSpPr/>
          <p:nvPr/>
        </p:nvSpPr>
        <p:spPr>
          <a:xfrm>
            <a:off x="4325112" y="1965960"/>
            <a:ext cx="3529584" cy="246888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581144" y="215030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8CE6C9"/>
                </a:solidFill>
                <a:latin typeface="Calibri"/>
              </a:rPr>
              <a:t>FastAPI</a:t>
            </a:r>
          </a:p>
        </p:txBody>
      </p:sp>
      <p:sp>
        <p:nvSpPr>
          <p:cNvPr id="10" name="TextBox 9"/>
          <p:cNvSpPr txBox="1"/>
          <p:nvPr/>
        </p:nvSpPr>
        <p:spPr>
          <a:xfrm>
            <a:off x="4581144" y="2516063"/>
            <a:ext cx="3017520" cy="176515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D6E7E4"/>
                </a:solidFill>
                <a:latin typeface="Calibri"/>
              </a:rPr>
              <a:t>Async server, so slow work can be moved off the request path.</a:t>
            </a:r>
          </a:p>
          <a:p>
            <a:pPr algn="l">
              <a:lnSpc>
                <a:spcPct val="115000"/>
              </a:lnSpc>
              <a:spcBef>
                <a:spcPts val="0"/>
              </a:spcBef>
              <a:spcAft>
                <a:spcPts val="500"/>
              </a:spcAft>
            </a:pPr>
            <a:r>
              <a:rPr sz="1200" b="0" i="0">
                <a:solidFill>
                  <a:srgbClr val="D6E7E4"/>
                </a:solidFill>
                <a:latin typeface="Calibri"/>
              </a:rPr>
              <a:t>Pydantic validates every request and response, and the OpenAPI page is generated from the same types.</a:t>
            </a:r>
          </a:p>
          <a:p>
            <a:pPr algn="l">
              <a:lnSpc>
                <a:spcPct val="115000"/>
              </a:lnSpc>
              <a:spcBef>
                <a:spcPts val="0"/>
              </a:spcBef>
              <a:spcAft>
                <a:spcPts val="500"/>
              </a:spcAft>
            </a:pPr>
            <a:r>
              <a:rPr sz="1200" b="0" i="0">
                <a:solidFill>
                  <a:srgbClr val="D6E7E4"/>
                </a:solidFill>
                <a:latin typeface="Calibri"/>
              </a:rPr>
              <a:t>One process, one model, full control.</a:t>
            </a:r>
          </a:p>
        </p:txBody>
      </p:sp>
      <p:sp>
        <p:nvSpPr>
          <p:cNvPr id="11" name="Rounded Rectangle 10"/>
          <p:cNvSpPr/>
          <p:nvPr/>
        </p:nvSpPr>
        <p:spPr>
          <a:xfrm>
            <a:off x="7973568" y="1965960"/>
            <a:ext cx="3529584" cy="24688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0" y="215030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Triton or TorchServe</a:t>
            </a:r>
          </a:p>
        </p:txBody>
      </p:sp>
      <p:sp>
        <p:nvSpPr>
          <p:cNvPr id="13" name="TextBox 12"/>
          <p:cNvSpPr txBox="1"/>
          <p:nvPr/>
        </p:nvSpPr>
        <p:spPr>
          <a:xfrm>
            <a:off x="8229600" y="2516063"/>
            <a:ext cx="3017520" cy="176515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Purpose built model servers with dynamic batching and model versioning.</a:t>
            </a:r>
          </a:p>
          <a:p>
            <a:pPr algn="l">
              <a:lnSpc>
                <a:spcPct val="115000"/>
              </a:lnSpc>
              <a:spcBef>
                <a:spcPts val="0"/>
              </a:spcBef>
              <a:spcAft>
                <a:spcPts val="500"/>
              </a:spcAft>
            </a:pPr>
            <a:r>
              <a:rPr sz="1200" b="0" i="0">
                <a:solidFill>
                  <a:srgbClr val="5A7A80"/>
                </a:solidFill>
                <a:latin typeface="Calibri"/>
              </a:rPr>
              <a:t>More capable and much more to learn. Reach for them when one model on one box stops being enough.</a:t>
            </a:r>
          </a:p>
        </p:txBody>
      </p:sp>
      <p:sp>
        <p:nvSpPr>
          <p:cNvPr id="14" name="Rounded Rectangle 13"/>
          <p:cNvSpPr/>
          <p:nvPr/>
        </p:nvSpPr>
        <p:spPr>
          <a:xfrm>
            <a:off x="685800" y="4709160"/>
            <a:ext cx="10820095" cy="13716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41832" y="4893503"/>
            <a:ext cx="10308031"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The honest comparison</a:t>
            </a:r>
          </a:p>
        </p:txBody>
      </p:sp>
      <p:sp>
        <p:nvSpPr>
          <p:cNvPr id="16" name="TextBox 15"/>
          <p:cNvSpPr txBox="1"/>
          <p:nvPr/>
        </p:nvSpPr>
        <p:spPr>
          <a:xfrm>
            <a:off x="941832" y="5259263"/>
            <a:ext cx="10308031" cy="667877"/>
          </a:xfrm>
          <a:prstGeom prst="rect">
            <a:avLst/>
          </a:prstGeom>
          <a:noFill/>
        </p:spPr>
        <p:txBody>
          <a:bodyPr wrap="square" lIns="0" rIns="0" tIns="0" bIns="0" anchor="t">
            <a:spAutoFit/>
          </a:bodyPr>
          <a:lstStyle/>
          <a:p>
            <a:pPr algn="l">
              <a:lnSpc>
                <a:spcPct val="115000"/>
              </a:lnSpc>
              <a:spcBef>
                <a:spcPts val="0"/>
              </a:spcBef>
              <a:spcAft>
                <a:spcPts val="500"/>
              </a:spcAft>
            </a:pPr>
            <a:r>
              <a:rPr sz="1250" b="0" i="0">
                <a:solidFill>
                  <a:srgbClr val="5A7A80"/>
                </a:solidFill>
                <a:latin typeface="Calibri"/>
              </a:rPr>
              <a:t>FastAPI is not faster at matrix multiplication than Flask. Nothing is. What it gives you is a place to put the slow thing so it stops blocking everything else, and a typed contract you get for free instead of writing twice.</a:t>
            </a:r>
          </a:p>
          <a:p>
            <a:pPr algn="l">
              <a:lnSpc>
                <a:spcPct val="115000"/>
              </a:lnSpc>
              <a:spcBef>
                <a:spcPts val="0"/>
              </a:spcBef>
              <a:spcAft>
                <a:spcPts val="500"/>
              </a:spcAft>
            </a:pPr>
            <a:r>
              <a:rPr sz="1250" b="0" i="0">
                <a:solidFill>
                  <a:srgbClr val="5A7A80"/>
                </a:solidFill>
                <a:latin typeface="Calibri"/>
              </a:rPr>
              <a:t>For one model on one instance, which is where most computer vision work actually lives, it is the right size of tool.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MENTAL MODEL</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What actually happens to a request</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2286000"/>
            <a:ext cx="1965960" cy="13258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95528" y="2468880"/>
            <a:ext cx="1746504" cy="320040"/>
          </a:xfrm>
          <a:prstGeom prst="rect">
            <a:avLst/>
          </a:prstGeom>
          <a:noFill/>
        </p:spPr>
        <p:txBody>
          <a:bodyPr wrap="square" lIns="0" rIns="0" tIns="0" bIns="0" anchor="t">
            <a:spAutoFit/>
          </a:bodyPr>
          <a:lstStyle/>
          <a:p>
            <a:pPr algn="ctr">
              <a:spcBef>
                <a:spcPts val="0"/>
              </a:spcBef>
              <a:spcAft>
                <a:spcPts val="0"/>
              </a:spcAft>
            </a:pPr>
            <a:r>
              <a:rPr sz="1400" b="1" i="0">
                <a:solidFill>
                  <a:srgbClr val="028090"/>
                </a:solidFill>
                <a:latin typeface="Calibri"/>
              </a:rPr>
              <a:t>Client</a:t>
            </a:r>
          </a:p>
        </p:txBody>
      </p:sp>
      <p:sp>
        <p:nvSpPr>
          <p:cNvPr id="7" name="TextBox 6"/>
          <p:cNvSpPr txBox="1"/>
          <p:nvPr/>
        </p:nvSpPr>
        <p:spPr>
          <a:xfrm>
            <a:off x="777240" y="2871216"/>
            <a:ext cx="1783080" cy="640080"/>
          </a:xfrm>
          <a:prstGeom prst="rect">
            <a:avLst/>
          </a:prstGeom>
          <a:noFill/>
        </p:spPr>
        <p:txBody>
          <a:bodyPr wrap="square" lIns="0" rIns="0" tIns="0" bIns="0" anchor="t">
            <a:spAutoFit/>
          </a:bodyPr>
          <a:lstStyle/>
          <a:p>
            <a:pPr algn="ctr">
              <a:lnSpc>
                <a:spcPct val="112000"/>
              </a:lnSpc>
              <a:spcBef>
                <a:spcPts val="0"/>
              </a:spcBef>
              <a:spcAft>
                <a:spcPts val="0"/>
              </a:spcAft>
            </a:pPr>
            <a:r>
              <a:rPr sz="1000" b="0" i="0">
                <a:solidFill>
                  <a:srgbClr val="5A7A80"/>
                </a:solidFill>
                <a:latin typeface="Calibri"/>
              </a:rPr>
              <a:t>curl, browser,
another service</a:t>
            </a:r>
          </a:p>
        </p:txBody>
      </p:sp>
      <p:sp>
        <p:nvSpPr>
          <p:cNvPr id="8" name="Right Arrow 7"/>
          <p:cNvSpPr/>
          <p:nvPr/>
        </p:nvSpPr>
        <p:spPr>
          <a:xfrm>
            <a:off x="2706624" y="2788920"/>
            <a:ext cx="292608" cy="329184"/>
          </a:xfrm>
          <a:prstGeom prst="rightArrow">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054096" y="2286000"/>
            <a:ext cx="1965960" cy="13258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163824" y="2468880"/>
            <a:ext cx="1746504" cy="320040"/>
          </a:xfrm>
          <a:prstGeom prst="rect">
            <a:avLst/>
          </a:prstGeom>
          <a:noFill/>
        </p:spPr>
        <p:txBody>
          <a:bodyPr wrap="square" lIns="0" rIns="0" tIns="0" bIns="0" anchor="t">
            <a:spAutoFit/>
          </a:bodyPr>
          <a:lstStyle/>
          <a:p>
            <a:pPr algn="ctr">
              <a:spcBef>
                <a:spcPts val="0"/>
              </a:spcBef>
              <a:spcAft>
                <a:spcPts val="0"/>
              </a:spcAft>
            </a:pPr>
            <a:r>
              <a:rPr sz="1400" b="1" i="0">
                <a:solidFill>
                  <a:srgbClr val="028090"/>
                </a:solidFill>
                <a:latin typeface="Calibri"/>
              </a:rPr>
              <a:t>Uvicorn</a:t>
            </a:r>
          </a:p>
        </p:txBody>
      </p:sp>
      <p:sp>
        <p:nvSpPr>
          <p:cNvPr id="11" name="TextBox 10"/>
          <p:cNvSpPr txBox="1"/>
          <p:nvPr/>
        </p:nvSpPr>
        <p:spPr>
          <a:xfrm>
            <a:off x="3145536" y="2871216"/>
            <a:ext cx="1783080" cy="640080"/>
          </a:xfrm>
          <a:prstGeom prst="rect">
            <a:avLst/>
          </a:prstGeom>
          <a:noFill/>
        </p:spPr>
        <p:txBody>
          <a:bodyPr wrap="square" lIns="0" rIns="0" tIns="0" bIns="0" anchor="t">
            <a:spAutoFit/>
          </a:bodyPr>
          <a:lstStyle/>
          <a:p>
            <a:pPr algn="ctr">
              <a:lnSpc>
                <a:spcPct val="112000"/>
              </a:lnSpc>
              <a:spcBef>
                <a:spcPts val="0"/>
              </a:spcBef>
              <a:spcAft>
                <a:spcPts val="0"/>
              </a:spcAft>
            </a:pPr>
            <a:r>
              <a:rPr sz="1000" b="0" i="0">
                <a:solidFill>
                  <a:srgbClr val="5A7A80"/>
                </a:solidFill>
                <a:latin typeface="Calibri"/>
              </a:rPr>
              <a:t>accepts the socket,
parses HTTP</a:t>
            </a:r>
          </a:p>
        </p:txBody>
      </p:sp>
      <p:sp>
        <p:nvSpPr>
          <p:cNvPr id="12" name="Right Arrow 11"/>
          <p:cNvSpPr/>
          <p:nvPr/>
        </p:nvSpPr>
        <p:spPr>
          <a:xfrm>
            <a:off x="5074920" y="2788920"/>
            <a:ext cx="292608" cy="329184"/>
          </a:xfrm>
          <a:prstGeom prst="rightArrow">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22392" y="2286000"/>
            <a:ext cx="1965960" cy="13258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532120" y="2468880"/>
            <a:ext cx="1746504" cy="320040"/>
          </a:xfrm>
          <a:prstGeom prst="rect">
            <a:avLst/>
          </a:prstGeom>
          <a:noFill/>
        </p:spPr>
        <p:txBody>
          <a:bodyPr wrap="square" lIns="0" rIns="0" tIns="0" bIns="0" anchor="t">
            <a:spAutoFit/>
          </a:bodyPr>
          <a:lstStyle/>
          <a:p>
            <a:pPr algn="ctr">
              <a:spcBef>
                <a:spcPts val="0"/>
              </a:spcBef>
              <a:spcAft>
                <a:spcPts val="0"/>
              </a:spcAft>
            </a:pPr>
            <a:r>
              <a:rPr sz="1400" b="1" i="0">
                <a:solidFill>
                  <a:srgbClr val="028090"/>
                </a:solidFill>
                <a:latin typeface="Calibri"/>
              </a:rPr>
              <a:t>Event loop</a:t>
            </a:r>
          </a:p>
        </p:txBody>
      </p:sp>
      <p:sp>
        <p:nvSpPr>
          <p:cNvPr id="15" name="TextBox 14"/>
          <p:cNvSpPr txBox="1"/>
          <p:nvPr/>
        </p:nvSpPr>
        <p:spPr>
          <a:xfrm>
            <a:off x="5513831" y="2871216"/>
            <a:ext cx="1783080" cy="640080"/>
          </a:xfrm>
          <a:prstGeom prst="rect">
            <a:avLst/>
          </a:prstGeom>
          <a:noFill/>
        </p:spPr>
        <p:txBody>
          <a:bodyPr wrap="square" lIns="0" rIns="0" tIns="0" bIns="0" anchor="t">
            <a:spAutoFit/>
          </a:bodyPr>
          <a:lstStyle/>
          <a:p>
            <a:pPr algn="ctr">
              <a:lnSpc>
                <a:spcPct val="112000"/>
              </a:lnSpc>
              <a:spcBef>
                <a:spcPts val="0"/>
              </a:spcBef>
              <a:spcAft>
                <a:spcPts val="0"/>
              </a:spcAft>
            </a:pPr>
            <a:r>
              <a:rPr sz="1000" b="0" i="0">
                <a:solidFill>
                  <a:srgbClr val="5A7A80"/>
                </a:solidFill>
                <a:latin typeface="Calibri"/>
              </a:rPr>
              <a:t>one thread,
never blocked</a:t>
            </a:r>
          </a:p>
        </p:txBody>
      </p:sp>
      <p:sp>
        <p:nvSpPr>
          <p:cNvPr id="16" name="Right Arrow 15"/>
          <p:cNvSpPr/>
          <p:nvPr/>
        </p:nvSpPr>
        <p:spPr>
          <a:xfrm>
            <a:off x="7443216" y="2788920"/>
            <a:ext cx="292608" cy="329184"/>
          </a:xfrm>
          <a:prstGeom prst="rightArrow">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90688" y="2286000"/>
            <a:ext cx="1965960" cy="132588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900415" y="2468880"/>
            <a:ext cx="1746504" cy="320040"/>
          </a:xfrm>
          <a:prstGeom prst="rect">
            <a:avLst/>
          </a:prstGeom>
          <a:noFill/>
        </p:spPr>
        <p:txBody>
          <a:bodyPr wrap="square" lIns="0" rIns="0" tIns="0" bIns="0" anchor="t">
            <a:spAutoFit/>
          </a:bodyPr>
          <a:lstStyle/>
          <a:p>
            <a:pPr algn="ctr">
              <a:spcBef>
                <a:spcPts val="0"/>
              </a:spcBef>
              <a:spcAft>
                <a:spcPts val="0"/>
              </a:spcAft>
            </a:pPr>
            <a:r>
              <a:rPr sz="1400" b="1" i="0">
                <a:solidFill>
                  <a:srgbClr val="8CE6C9"/>
                </a:solidFill>
                <a:latin typeface="Calibri"/>
              </a:rPr>
              <a:t>Worker thread</a:t>
            </a:r>
          </a:p>
        </p:txBody>
      </p:sp>
      <p:sp>
        <p:nvSpPr>
          <p:cNvPr id="19" name="TextBox 18"/>
          <p:cNvSpPr txBox="1"/>
          <p:nvPr/>
        </p:nvSpPr>
        <p:spPr>
          <a:xfrm>
            <a:off x="7882127" y="2871216"/>
            <a:ext cx="1783080" cy="640080"/>
          </a:xfrm>
          <a:prstGeom prst="rect">
            <a:avLst/>
          </a:prstGeom>
          <a:noFill/>
        </p:spPr>
        <p:txBody>
          <a:bodyPr wrap="square" lIns="0" rIns="0" tIns="0" bIns="0" anchor="t">
            <a:spAutoFit/>
          </a:bodyPr>
          <a:lstStyle/>
          <a:p>
            <a:pPr algn="ctr">
              <a:lnSpc>
                <a:spcPct val="112000"/>
              </a:lnSpc>
              <a:spcBef>
                <a:spcPts val="0"/>
              </a:spcBef>
              <a:spcAft>
                <a:spcPts val="0"/>
              </a:spcAft>
            </a:pPr>
            <a:r>
              <a:rPr sz="1000" b="0" i="0">
                <a:solidFill>
                  <a:srgbClr val="D6E7E4"/>
                </a:solidFill>
                <a:latin typeface="Calibri"/>
              </a:rPr>
              <a:t>runs the model,
blocking is fine here</a:t>
            </a:r>
          </a:p>
        </p:txBody>
      </p:sp>
      <p:sp>
        <p:nvSpPr>
          <p:cNvPr id="20" name="Right Arrow 19"/>
          <p:cNvSpPr/>
          <p:nvPr/>
        </p:nvSpPr>
        <p:spPr>
          <a:xfrm>
            <a:off x="9811512" y="2788920"/>
            <a:ext cx="292608" cy="329184"/>
          </a:xfrm>
          <a:prstGeom prst="rightArrow">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58984" y="2286000"/>
            <a:ext cx="1965960" cy="13258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0268711" y="2468880"/>
            <a:ext cx="1746504" cy="320040"/>
          </a:xfrm>
          <a:prstGeom prst="rect">
            <a:avLst/>
          </a:prstGeom>
          <a:noFill/>
        </p:spPr>
        <p:txBody>
          <a:bodyPr wrap="square" lIns="0" rIns="0" tIns="0" bIns="0" anchor="t">
            <a:spAutoFit/>
          </a:bodyPr>
          <a:lstStyle/>
          <a:p>
            <a:pPr algn="ctr">
              <a:spcBef>
                <a:spcPts val="0"/>
              </a:spcBef>
              <a:spcAft>
                <a:spcPts val="0"/>
              </a:spcAft>
            </a:pPr>
            <a:r>
              <a:rPr sz="1400" b="1" i="0">
                <a:solidFill>
                  <a:srgbClr val="028090"/>
                </a:solidFill>
                <a:latin typeface="Calibri"/>
              </a:rPr>
              <a:t>Model</a:t>
            </a:r>
          </a:p>
        </p:txBody>
      </p:sp>
      <p:sp>
        <p:nvSpPr>
          <p:cNvPr id="23" name="TextBox 22"/>
          <p:cNvSpPr txBox="1"/>
          <p:nvPr/>
        </p:nvSpPr>
        <p:spPr>
          <a:xfrm>
            <a:off x="10250424" y="2871216"/>
            <a:ext cx="1783080" cy="640080"/>
          </a:xfrm>
          <a:prstGeom prst="rect">
            <a:avLst/>
          </a:prstGeom>
          <a:noFill/>
        </p:spPr>
        <p:txBody>
          <a:bodyPr wrap="square" lIns="0" rIns="0" tIns="0" bIns="0" anchor="t">
            <a:spAutoFit/>
          </a:bodyPr>
          <a:lstStyle/>
          <a:p>
            <a:pPr algn="ctr">
              <a:lnSpc>
                <a:spcPct val="112000"/>
              </a:lnSpc>
              <a:spcBef>
                <a:spcPts val="0"/>
              </a:spcBef>
              <a:spcAft>
                <a:spcPts val="0"/>
              </a:spcAft>
            </a:pPr>
            <a:r>
              <a:rPr sz="1000" b="0" i="0">
                <a:solidFill>
                  <a:srgbClr val="5A7A80"/>
                </a:solidFill>
                <a:latin typeface="Calibri"/>
              </a:rPr>
              <a:t>loaded once,
held in memory</a:t>
            </a:r>
          </a:p>
        </p:txBody>
      </p:sp>
      <p:sp>
        <p:nvSpPr>
          <p:cNvPr id="24" name="TextBox 23"/>
          <p:cNvSpPr txBox="1"/>
          <p:nvPr/>
        </p:nvSpPr>
        <p:spPr>
          <a:xfrm>
            <a:off x="685800" y="3776472"/>
            <a:ext cx="10820095" cy="274320"/>
          </a:xfrm>
          <a:prstGeom prst="rect">
            <a:avLst/>
          </a:prstGeom>
          <a:noFill/>
        </p:spPr>
        <p:txBody>
          <a:bodyPr wrap="square" lIns="0" rIns="0" tIns="0" bIns="0" anchor="t">
            <a:spAutoFit/>
          </a:bodyPr>
          <a:lstStyle/>
          <a:p>
            <a:pPr algn="l">
              <a:spcBef>
                <a:spcPts val="0"/>
              </a:spcBef>
              <a:spcAft>
                <a:spcPts val="0"/>
              </a:spcAft>
            </a:pPr>
            <a:r>
              <a:rPr sz="950" b="0" i="0">
                <a:solidFill>
                  <a:srgbClr val="8FA9AE"/>
                </a:solidFill>
                <a:latin typeface="Calibri"/>
              </a:rPr>
              <a:t>The handoff at the fourth box is the whole trick. Everything to its left stays free.</a:t>
            </a:r>
          </a:p>
        </p:txBody>
      </p:sp>
      <p:sp>
        <p:nvSpPr>
          <p:cNvPr id="25" name="Rounded Rectangle 24"/>
          <p:cNvSpPr/>
          <p:nvPr/>
        </p:nvSpPr>
        <p:spPr>
          <a:xfrm>
            <a:off x="685800" y="4206240"/>
            <a:ext cx="3529584" cy="18288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41832" y="439058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app/api/</a:t>
            </a:r>
          </a:p>
        </p:txBody>
      </p:sp>
      <p:sp>
        <p:nvSpPr>
          <p:cNvPr id="27" name="TextBox 26"/>
          <p:cNvSpPr txBox="1"/>
          <p:nvPr/>
        </p:nvSpPr>
        <p:spPr>
          <a:xfrm>
            <a:off x="941832" y="4756343"/>
            <a:ext cx="3017520" cy="11250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Knows about HTTP. Never imports Ultralytics.</a:t>
            </a:r>
          </a:p>
        </p:txBody>
      </p:sp>
      <p:sp>
        <p:nvSpPr>
          <p:cNvPr id="28" name="Rounded Rectangle 27"/>
          <p:cNvSpPr/>
          <p:nvPr/>
        </p:nvSpPr>
        <p:spPr>
          <a:xfrm>
            <a:off x="4325112" y="4206240"/>
            <a:ext cx="3529584" cy="18288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81144" y="439058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app/services/</a:t>
            </a:r>
          </a:p>
        </p:txBody>
      </p:sp>
      <p:sp>
        <p:nvSpPr>
          <p:cNvPr id="30" name="TextBox 29"/>
          <p:cNvSpPr txBox="1"/>
          <p:nvPr/>
        </p:nvSpPr>
        <p:spPr>
          <a:xfrm>
            <a:off x="4581144" y="4756343"/>
            <a:ext cx="3017520" cy="11250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Knows about the model. Never imports FastAPI.</a:t>
            </a:r>
          </a:p>
        </p:txBody>
      </p:sp>
      <p:sp>
        <p:nvSpPr>
          <p:cNvPr id="31" name="Rounded Rectangle 30"/>
          <p:cNvSpPr/>
          <p:nvPr/>
        </p:nvSpPr>
        <p:spPr>
          <a:xfrm>
            <a:off x="7973568" y="4206240"/>
            <a:ext cx="3529584" cy="18288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229600" y="439058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app/schemas/</a:t>
            </a:r>
          </a:p>
        </p:txBody>
      </p:sp>
      <p:sp>
        <p:nvSpPr>
          <p:cNvPr id="33" name="TextBox 32"/>
          <p:cNvSpPr txBox="1"/>
          <p:nvPr/>
        </p:nvSpPr>
        <p:spPr>
          <a:xfrm>
            <a:off x="8229600" y="4756343"/>
            <a:ext cx="3017520" cy="11250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The contract between them, and the generated docs.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STRUCTURE</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The folder that survives contact with production</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1965960"/>
            <a:ext cx="5577840" cy="411480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23544" y="2148840"/>
            <a:ext cx="5102352" cy="3785615"/>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8CE6C9"/>
                </a:solidFill>
                <a:latin typeface="Consolas"/>
              </a:rPr>
              <a:t>yolo-serve/</a:t>
            </a:r>
          </a:p>
          <a:p>
            <a:pPr algn="l">
              <a:lnSpc>
                <a:spcPct val="116000"/>
              </a:lnSpc>
              <a:spcBef>
                <a:spcPts val="0"/>
              </a:spcBef>
              <a:spcAft>
                <a:spcPts val="0"/>
              </a:spcAft>
            </a:pPr>
            <a:r>
              <a:rPr sz="1050" b="0" i="0">
                <a:solidFill>
                  <a:srgbClr val="D6E7E4"/>
                </a:solidFill>
                <a:latin typeface="Consolas"/>
              </a:rPr>
              <a:t>├── app/</a:t>
            </a:r>
          </a:p>
          <a:p>
            <a:pPr algn="l">
              <a:lnSpc>
                <a:spcPct val="116000"/>
              </a:lnSpc>
              <a:spcBef>
                <a:spcPts val="0"/>
              </a:spcBef>
              <a:spcAft>
                <a:spcPts val="0"/>
              </a:spcAft>
            </a:pPr>
            <a:r>
              <a:rPr sz="1050" b="0" i="0">
                <a:solidFill>
                  <a:srgbClr val="9AB4B8"/>
                </a:solidFill>
                <a:latin typeface="Consolas"/>
              </a:rPr>
              <a:t>│   ├── main.py          app factory, lifespan</a:t>
            </a:r>
          </a:p>
          <a:p>
            <a:pPr algn="l">
              <a:lnSpc>
                <a:spcPct val="116000"/>
              </a:lnSpc>
              <a:spcBef>
                <a:spcPts val="0"/>
              </a:spcBef>
              <a:spcAft>
                <a:spcPts val="0"/>
              </a:spcAft>
            </a:pPr>
            <a:r>
              <a:rPr sz="1050" b="0" i="0">
                <a:solidFill>
                  <a:srgbClr val="9AB4B8"/>
                </a:solidFill>
                <a:latin typeface="Consolas"/>
              </a:rPr>
              <a:t>│   ├── config.py        every setting, from env</a:t>
            </a:r>
          </a:p>
          <a:p>
            <a:pPr algn="l">
              <a:lnSpc>
                <a:spcPct val="116000"/>
              </a:lnSpc>
              <a:spcBef>
                <a:spcPts val="0"/>
              </a:spcBef>
              <a:spcAft>
                <a:spcPts val="0"/>
              </a:spcAft>
            </a:pPr>
            <a:r>
              <a:rPr sz="1050" b="0" i="0">
                <a:solidFill>
                  <a:srgbClr val="D6E7E4"/>
                </a:solidFill>
                <a:latin typeface="Consolas"/>
              </a:rPr>
              <a:t>│   ├── api/</a:t>
            </a:r>
          </a:p>
          <a:p>
            <a:pPr algn="l">
              <a:lnSpc>
                <a:spcPct val="116000"/>
              </a:lnSpc>
              <a:spcBef>
                <a:spcPts val="0"/>
              </a:spcBef>
              <a:spcAft>
                <a:spcPts val="0"/>
              </a:spcAft>
            </a:pPr>
            <a:r>
              <a:rPr sz="1050" b="0" i="0">
                <a:solidFill>
                  <a:srgbClr val="9AB4B8"/>
                </a:solidFill>
                <a:latin typeface="Consolas"/>
              </a:rPr>
              <a:t>│   │   ├── deps.py      dependency providers</a:t>
            </a:r>
          </a:p>
          <a:p>
            <a:pPr algn="l">
              <a:lnSpc>
                <a:spcPct val="116000"/>
              </a:lnSpc>
              <a:spcBef>
                <a:spcPts val="0"/>
              </a:spcBef>
              <a:spcAft>
                <a:spcPts val="0"/>
              </a:spcAft>
            </a:pPr>
            <a:r>
              <a:rPr sz="1050" b="0" i="0">
                <a:solidFill>
                  <a:srgbClr val="9AB4B8"/>
                </a:solidFill>
                <a:latin typeface="Consolas"/>
              </a:rPr>
              <a:t>│   │   └── routes/      health, predict, demo</a:t>
            </a:r>
          </a:p>
          <a:p>
            <a:pPr algn="l">
              <a:lnSpc>
                <a:spcPct val="116000"/>
              </a:lnSpc>
              <a:spcBef>
                <a:spcPts val="0"/>
              </a:spcBef>
              <a:spcAft>
                <a:spcPts val="0"/>
              </a:spcAft>
            </a:pPr>
            <a:r>
              <a:rPr sz="1050" b="0" i="0">
                <a:solidFill>
                  <a:srgbClr val="9AB4B8"/>
                </a:solidFill>
                <a:latin typeface="Consolas"/>
              </a:rPr>
              <a:t>│   ├── schemas/         request and response types</a:t>
            </a:r>
          </a:p>
          <a:p>
            <a:pPr algn="l">
              <a:lnSpc>
                <a:spcPct val="116000"/>
              </a:lnSpc>
              <a:spcBef>
                <a:spcPts val="0"/>
              </a:spcBef>
              <a:spcAft>
                <a:spcPts val="0"/>
              </a:spcAft>
            </a:pPr>
            <a:r>
              <a:rPr sz="1050" b="0" i="0">
                <a:solidFill>
                  <a:srgbClr val="D6E7E4"/>
                </a:solidFill>
                <a:latin typeface="Consolas"/>
              </a:rPr>
              <a:t>│   ├── services/</a:t>
            </a:r>
          </a:p>
          <a:p>
            <a:pPr algn="l">
              <a:lnSpc>
                <a:spcPct val="116000"/>
              </a:lnSpc>
              <a:spcBef>
                <a:spcPts val="0"/>
              </a:spcBef>
              <a:spcAft>
                <a:spcPts val="0"/>
              </a:spcAft>
            </a:pPr>
            <a:r>
              <a:rPr sz="1050" b="0" i="0">
                <a:solidFill>
                  <a:srgbClr val="9AB4B8"/>
                </a:solidFill>
                <a:latin typeface="Consolas"/>
              </a:rPr>
              <a:t>│   │   ├── detector.py  the only Ultralytics import</a:t>
            </a:r>
          </a:p>
          <a:p>
            <a:pPr algn="l">
              <a:lnSpc>
                <a:spcPct val="116000"/>
              </a:lnSpc>
              <a:spcBef>
                <a:spcPts val="0"/>
              </a:spcBef>
              <a:spcAft>
                <a:spcPts val="0"/>
              </a:spcAft>
            </a:pPr>
            <a:r>
              <a:rPr sz="1050" b="0" i="0">
                <a:solidFill>
                  <a:srgbClr val="9AB4B8"/>
                </a:solidFill>
                <a:latin typeface="Consolas"/>
              </a:rPr>
              <a:t>│   │   ├── inference.py async bridge</a:t>
            </a:r>
          </a:p>
          <a:p>
            <a:pPr algn="l">
              <a:lnSpc>
                <a:spcPct val="116000"/>
              </a:lnSpc>
              <a:spcBef>
                <a:spcPts val="0"/>
              </a:spcBef>
              <a:spcAft>
                <a:spcPts val="0"/>
              </a:spcAft>
            </a:pPr>
            <a:r>
              <a:rPr sz="1050" b="0" i="0">
                <a:solidFill>
                  <a:srgbClr val="9AB4B8"/>
                </a:solidFill>
                <a:latin typeface="Consolas"/>
              </a:rPr>
              <a:t>│   │   └── jobs.py      async job store</a:t>
            </a:r>
          </a:p>
          <a:p>
            <a:pPr algn="l">
              <a:lnSpc>
                <a:spcPct val="116000"/>
              </a:lnSpc>
              <a:spcBef>
                <a:spcPts val="0"/>
              </a:spcBef>
              <a:spcAft>
                <a:spcPts val="0"/>
              </a:spcAft>
            </a:pPr>
            <a:r>
              <a:rPr sz="1050" b="0" i="0">
                <a:solidFill>
                  <a:srgbClr val="9AB4B8"/>
                </a:solidFill>
                <a:latin typeface="Consolas"/>
              </a:rPr>
              <a:t>│   └── core/            errors, logging</a:t>
            </a:r>
          </a:p>
          <a:p>
            <a:pPr algn="l">
              <a:lnSpc>
                <a:spcPct val="116000"/>
              </a:lnSpc>
              <a:spcBef>
                <a:spcPts val="0"/>
              </a:spcBef>
              <a:spcAft>
                <a:spcPts val="0"/>
              </a:spcAft>
            </a:pPr>
            <a:r>
              <a:rPr sz="1050" b="0" i="0">
                <a:solidFill>
                  <a:srgbClr val="9AB4B8"/>
                </a:solidFill>
                <a:latin typeface="Consolas"/>
              </a:rPr>
              <a:t>├── deploy/aws/          ECR, EC2, IAM, smoke test</a:t>
            </a:r>
          </a:p>
          <a:p>
            <a:pPr algn="l">
              <a:lnSpc>
                <a:spcPct val="116000"/>
              </a:lnSpc>
              <a:spcBef>
                <a:spcPts val="0"/>
              </a:spcBef>
              <a:spcAft>
                <a:spcPts val="0"/>
              </a:spcAft>
            </a:pPr>
            <a:r>
              <a:rPr sz="1050" b="0" i="0">
                <a:solidFill>
                  <a:srgbClr val="9AB4B8"/>
                </a:solidFill>
                <a:latin typeface="Consolas"/>
              </a:rPr>
              <a:t>├── scripts/             download, benchmark, demo</a:t>
            </a:r>
          </a:p>
          <a:p>
            <a:pPr algn="l">
              <a:lnSpc>
                <a:spcPct val="116000"/>
              </a:lnSpc>
              <a:spcBef>
                <a:spcPts val="0"/>
              </a:spcBef>
              <a:spcAft>
                <a:spcPts val="0"/>
              </a:spcAft>
            </a:pPr>
            <a:r>
              <a:rPr sz="1050" b="0" i="0">
                <a:solidFill>
                  <a:srgbClr val="9AB4B8"/>
                </a:solidFill>
                <a:latin typeface="Consolas"/>
              </a:rPr>
              <a:t>├── tests/               20 tests, real model</a:t>
            </a:r>
          </a:p>
          <a:p>
            <a:pPr algn="l">
              <a:lnSpc>
                <a:spcPct val="116000"/>
              </a:lnSpc>
              <a:spcBef>
                <a:spcPts val="0"/>
              </a:spcBef>
              <a:spcAft>
                <a:spcPts val="0"/>
              </a:spcAft>
            </a:pPr>
            <a:r>
              <a:rPr sz="1050" b="0" i="0">
                <a:solidFill>
                  <a:srgbClr val="D6E7E4"/>
                </a:solidFill>
                <a:latin typeface="Consolas"/>
              </a:rPr>
              <a:t>├── Dockerfile</a:t>
            </a:r>
          </a:p>
          <a:p>
            <a:pPr algn="l">
              <a:lnSpc>
                <a:spcPct val="116000"/>
              </a:lnSpc>
              <a:spcBef>
                <a:spcPts val="0"/>
              </a:spcBef>
              <a:spcAft>
                <a:spcPts val="0"/>
              </a:spcAft>
            </a:pPr>
            <a:r>
              <a:rPr sz="1050" b="0" i="0">
                <a:solidFill>
                  <a:srgbClr val="D6E7E4"/>
                </a:solidFill>
                <a:latin typeface="Consolas"/>
              </a:rPr>
              <a:t>└── requirements*.txt</a:t>
            </a:r>
          </a:p>
        </p:txBody>
      </p:sp>
      <p:sp>
        <p:nvSpPr>
          <p:cNvPr id="7" name="Rounded Rectangle 6"/>
          <p:cNvSpPr/>
          <p:nvPr/>
        </p:nvSpPr>
        <p:spPr>
          <a:xfrm>
            <a:off x="6492240" y="1965960"/>
            <a:ext cx="5010912"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748272" y="2150303"/>
            <a:ext cx="4498848"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Why not one main.py</a:t>
            </a:r>
          </a:p>
        </p:txBody>
      </p:sp>
      <p:sp>
        <p:nvSpPr>
          <p:cNvPr id="9" name="TextBox 8"/>
          <p:cNvSpPr txBox="1"/>
          <p:nvPr/>
        </p:nvSpPr>
        <p:spPr>
          <a:xfrm>
            <a:off x="6748272" y="2516063"/>
            <a:ext cx="4498848" cy="117079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Routes change weekly. Models change monthly. Neither should be able to break the other by accident.</a:t>
            </a:r>
          </a:p>
          <a:p>
            <a:pPr algn="l">
              <a:lnSpc>
                <a:spcPct val="115000"/>
              </a:lnSpc>
              <a:spcBef>
                <a:spcPts val="0"/>
              </a:spcBef>
              <a:spcAft>
                <a:spcPts val="500"/>
              </a:spcAft>
            </a:pPr>
            <a:r>
              <a:rPr sz="1200" b="0" i="0">
                <a:solidFill>
                  <a:srgbClr val="5A7A80"/>
                </a:solidFill>
                <a:latin typeface="Calibri"/>
              </a:rPr>
              <a:t>Splitting them means the model can be tested with no HTTP client, and the API can be tested with a fake model.</a:t>
            </a:r>
          </a:p>
        </p:txBody>
      </p:sp>
      <p:sp>
        <p:nvSpPr>
          <p:cNvPr id="10" name="Rounded Rectangle 9"/>
          <p:cNvSpPr/>
          <p:nvPr/>
        </p:nvSpPr>
        <p:spPr>
          <a:xfrm>
            <a:off x="6492240" y="4023360"/>
            <a:ext cx="5010912" cy="20574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748272" y="4207703"/>
            <a:ext cx="4498848" cy="310896"/>
          </a:xfrm>
          <a:prstGeom prst="rect">
            <a:avLst/>
          </a:prstGeom>
          <a:noFill/>
        </p:spPr>
        <p:txBody>
          <a:bodyPr wrap="square" lIns="0" rIns="0" tIns="0" bIns="0" anchor="t">
            <a:spAutoFit/>
          </a:bodyPr>
          <a:lstStyle/>
          <a:p>
            <a:pPr algn="l">
              <a:spcBef>
                <a:spcPts val="0"/>
              </a:spcBef>
              <a:spcAft>
                <a:spcPts val="0"/>
              </a:spcAft>
            </a:pPr>
            <a:r>
              <a:rPr sz="1350" b="1" i="0">
                <a:solidFill>
                  <a:srgbClr val="C15B4E"/>
                </a:solidFill>
                <a:latin typeface="Calibri"/>
              </a:rPr>
              <a:t>The rule that keeps it honest</a:t>
            </a:r>
          </a:p>
        </p:txBody>
      </p:sp>
      <p:sp>
        <p:nvSpPr>
          <p:cNvPr id="12" name="TextBox 11"/>
          <p:cNvSpPr txBox="1"/>
          <p:nvPr/>
        </p:nvSpPr>
        <p:spPr>
          <a:xfrm>
            <a:off x="6748272" y="4573463"/>
            <a:ext cx="4498848" cy="13536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One import direction, top to bottom:</a:t>
            </a:r>
          </a:p>
          <a:p>
            <a:pPr algn="l">
              <a:lnSpc>
                <a:spcPct val="115000"/>
              </a:lnSpc>
              <a:spcBef>
                <a:spcPts val="0"/>
              </a:spcBef>
              <a:spcAft>
                <a:spcPts val="500"/>
              </a:spcAft>
            </a:pPr>
            <a:r>
              <a:rPr sz="1200" b="0" i="0">
                <a:solidFill>
                  <a:srgbClr val="5A7A80"/>
                </a:solidFill>
                <a:latin typeface="Calibri"/>
              </a:rPr>
              <a:t>api  imports  services  imports  nothing of ours</a:t>
            </a:r>
          </a:p>
          <a:p>
            <a:pPr algn="l">
              <a:lnSpc>
                <a:spcPct val="115000"/>
              </a:lnSpc>
              <a:spcBef>
                <a:spcPts val="0"/>
              </a:spcBef>
              <a:spcAft>
                <a:spcPts val="500"/>
              </a:spcAft>
            </a:pPr>
            <a:r>
              <a:rPr sz="1200" b="0" i="0">
                <a:solidFill>
                  <a:srgbClr val="5A7A80"/>
                </a:solidFill>
                <a:latin typeface="Calibri"/>
              </a:rPr>
              <a:t>If services ever needs to import from api, something has been put in the wrong file. That single rule is most of what people mean by clean architecture.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RULE ONE</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Load the model once, not once per request</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1965960"/>
            <a:ext cx="5349240" cy="123444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41832" y="2150303"/>
            <a:ext cx="4837175" cy="896477"/>
          </a:xfrm>
          <a:prstGeom prst="rect">
            <a:avLst/>
          </a:prstGeom>
          <a:noFill/>
        </p:spPr>
        <p:txBody>
          <a:bodyPr wrap="square" lIns="0" rIns="0" tIns="0" bIns="0" anchor="t">
            <a:spAutoFit/>
          </a:bodyPr>
          <a:lstStyle/>
          <a:p>
            <a:pPr algn="l">
              <a:lnSpc>
                <a:spcPct val="115000"/>
              </a:lnSpc>
              <a:spcBef>
                <a:spcPts val="0"/>
              </a:spcBef>
              <a:spcAft>
                <a:spcPts val="500"/>
              </a:spcAft>
            </a:pPr>
            <a:r>
              <a:rPr sz="1350" b="0" i="0">
                <a:solidFill>
                  <a:srgbClr val="8CE6C9"/>
                </a:solidFill>
                <a:latin typeface="Calibri"/>
              </a:rPr>
              <a:t>Process starts   -&gt;   load weights   -&gt;   warm up   -&gt;   accept traffic</a:t>
            </a:r>
          </a:p>
        </p:txBody>
      </p:sp>
      <p:sp>
        <p:nvSpPr>
          <p:cNvPr id="7" name="TextBox 6"/>
          <p:cNvSpPr txBox="1"/>
          <p:nvPr/>
        </p:nvSpPr>
        <p:spPr>
          <a:xfrm>
            <a:off x="941832" y="2697480"/>
            <a:ext cx="4846320" cy="411480"/>
          </a:xfrm>
          <a:prstGeom prst="rect">
            <a:avLst/>
          </a:prstGeom>
          <a:noFill/>
        </p:spPr>
        <p:txBody>
          <a:bodyPr wrap="square" lIns="0" rIns="0" tIns="0" bIns="0" anchor="t">
            <a:spAutoFit/>
          </a:bodyPr>
          <a:lstStyle/>
          <a:p>
            <a:pPr algn="l">
              <a:spcBef>
                <a:spcPts val="0"/>
              </a:spcBef>
              <a:spcAft>
                <a:spcPts val="0"/>
              </a:spcAft>
            </a:pPr>
            <a:r>
              <a:rPr sz="1150" b="0" i="0">
                <a:solidFill>
                  <a:srgbClr val="D6E7E4"/>
                </a:solidFill>
                <a:latin typeface="Calibri"/>
              </a:rPr>
              <a:t>Paid once, at startup, before anyone is waiting.</a:t>
            </a:r>
          </a:p>
        </p:txBody>
      </p:sp>
      <p:sp>
        <p:nvSpPr>
          <p:cNvPr id="8" name="Rounded Rectangle 7"/>
          <p:cNvSpPr/>
          <p:nvPr/>
        </p:nvSpPr>
        <p:spPr>
          <a:xfrm>
            <a:off x="6153912" y="1965960"/>
            <a:ext cx="5349240" cy="1234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409944" y="2150303"/>
            <a:ext cx="4837175" cy="896477"/>
          </a:xfrm>
          <a:prstGeom prst="rect">
            <a:avLst/>
          </a:prstGeom>
          <a:noFill/>
        </p:spPr>
        <p:txBody>
          <a:bodyPr wrap="square" lIns="0" rIns="0" tIns="0" bIns="0" anchor="t">
            <a:spAutoFit/>
          </a:bodyPr>
          <a:lstStyle/>
          <a:p>
            <a:pPr algn="l">
              <a:lnSpc>
                <a:spcPct val="115000"/>
              </a:lnSpc>
              <a:spcBef>
                <a:spcPts val="0"/>
              </a:spcBef>
              <a:spcAft>
                <a:spcPts val="500"/>
              </a:spcAft>
            </a:pPr>
            <a:r>
              <a:rPr sz="1350" b="0" i="0">
                <a:solidFill>
                  <a:srgbClr val="12343B"/>
                </a:solidFill>
                <a:latin typeface="Calibri"/>
              </a:rPr>
              <a:t>Request   -&gt;   decode   -&gt;   one forward pass   -&gt;   JSON</a:t>
            </a:r>
          </a:p>
        </p:txBody>
      </p:sp>
      <p:sp>
        <p:nvSpPr>
          <p:cNvPr id="10" name="TextBox 9"/>
          <p:cNvSpPr txBox="1"/>
          <p:nvPr/>
        </p:nvSpPr>
        <p:spPr>
          <a:xfrm>
            <a:off x="6409944" y="2697480"/>
            <a:ext cx="4846320" cy="411480"/>
          </a:xfrm>
          <a:prstGeom prst="rect">
            <a:avLst/>
          </a:prstGeom>
          <a:noFill/>
        </p:spPr>
        <p:txBody>
          <a:bodyPr wrap="square" lIns="0" rIns="0" tIns="0" bIns="0" anchor="t">
            <a:spAutoFit/>
          </a:bodyPr>
          <a:lstStyle/>
          <a:p>
            <a:pPr algn="l">
              <a:spcBef>
                <a:spcPts val="0"/>
              </a:spcBef>
              <a:spcAft>
                <a:spcPts val="0"/>
              </a:spcAft>
            </a:pPr>
            <a:r>
              <a:rPr sz="1150" b="0" i="0">
                <a:solidFill>
                  <a:srgbClr val="5A7A80"/>
                </a:solidFill>
                <a:latin typeface="Calibri"/>
              </a:rPr>
              <a:t>Paid on every request. Keep it small.</a:t>
            </a:r>
          </a:p>
        </p:txBody>
      </p:sp>
      <p:sp>
        <p:nvSpPr>
          <p:cNvPr id="11" name="Rounded Rectangle 10"/>
          <p:cNvSpPr/>
          <p:nvPr/>
        </p:nvSpPr>
        <p:spPr>
          <a:xfrm>
            <a:off x="685800" y="3474720"/>
            <a:ext cx="6583680" cy="260604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23544" y="3657600"/>
            <a:ext cx="6108192" cy="256032"/>
          </a:xfrm>
          <a:prstGeom prst="rect">
            <a:avLst/>
          </a:prstGeom>
          <a:noFill/>
        </p:spPr>
        <p:txBody>
          <a:bodyPr wrap="square" lIns="0" rIns="0" tIns="0" bIns="0" anchor="t">
            <a:spAutoFit/>
          </a:bodyPr>
          <a:lstStyle/>
          <a:p>
            <a:pPr algn="l">
              <a:spcBef>
                <a:spcPts val="0"/>
              </a:spcBef>
              <a:spcAft>
                <a:spcPts val="0"/>
              </a:spcAft>
            </a:pPr>
            <a:r>
              <a:rPr sz="1050" b="1" i="0">
                <a:solidFill>
                  <a:srgbClr val="8CE6C9"/>
                </a:solidFill>
                <a:latin typeface="Calibri"/>
              </a:rPr>
              <a:t>app/main.py</a:t>
            </a:r>
          </a:p>
        </p:txBody>
      </p:sp>
      <p:sp>
        <p:nvSpPr>
          <p:cNvPr id="13" name="TextBox 12"/>
          <p:cNvSpPr txBox="1"/>
          <p:nvPr/>
        </p:nvSpPr>
        <p:spPr>
          <a:xfrm>
            <a:off x="923544" y="3968496"/>
            <a:ext cx="6108192" cy="1965960"/>
          </a:xfrm>
          <a:prstGeom prst="rect">
            <a:avLst/>
          </a:prstGeom>
          <a:noFill/>
        </p:spPr>
        <p:txBody>
          <a:bodyPr wrap="square" lIns="0" rIns="0" tIns="0" bIns="0" anchor="t">
            <a:spAutoFit/>
          </a:bodyPr>
          <a:lstStyle/>
          <a:p>
            <a:pPr algn="l">
              <a:lnSpc>
                <a:spcPct val="122000"/>
              </a:lnSpc>
              <a:spcBef>
                <a:spcPts val="0"/>
              </a:spcBef>
              <a:spcAft>
                <a:spcPts val="0"/>
              </a:spcAft>
            </a:pPr>
            <a:r>
              <a:rPr sz="1150" b="0" i="0">
                <a:solidFill>
                  <a:srgbClr val="8CE6C9"/>
                </a:solidFill>
                <a:latin typeface="Consolas"/>
              </a:rPr>
              <a:t>@asynccontextmanager</a:t>
            </a:r>
          </a:p>
          <a:p>
            <a:pPr algn="l">
              <a:lnSpc>
                <a:spcPct val="122000"/>
              </a:lnSpc>
              <a:spcBef>
                <a:spcPts val="0"/>
              </a:spcBef>
              <a:spcAft>
                <a:spcPts val="0"/>
              </a:spcAft>
            </a:pPr>
            <a:r>
              <a:rPr sz="1150" b="0" i="0">
                <a:solidFill>
                  <a:srgbClr val="D6E7E4"/>
                </a:solidFill>
                <a:latin typeface="Consolas"/>
              </a:rPr>
              <a:t>async def lifespan(app: FastAPI):</a:t>
            </a:r>
          </a:p>
          <a:p>
            <a:pPr algn="l">
              <a:lnSpc>
                <a:spcPct val="122000"/>
              </a:lnSpc>
              <a:spcBef>
                <a:spcPts val="0"/>
              </a:spcBef>
              <a:spcAft>
                <a:spcPts val="0"/>
              </a:spcAft>
            </a:pPr>
            <a:r>
              <a:rPr sz="1150" b="0" i="0">
                <a:solidFill>
                  <a:srgbClr val="D6E7E4"/>
                </a:solidFill>
                <a:latin typeface="Consolas"/>
              </a:rPr>
              <a:t>    detector = Detector(get_settings())</a:t>
            </a:r>
          </a:p>
          <a:p>
            <a:pPr algn="l">
              <a:lnSpc>
                <a:spcPct val="122000"/>
              </a:lnSpc>
              <a:spcBef>
                <a:spcPts val="0"/>
              </a:spcBef>
              <a:spcAft>
                <a:spcPts val="0"/>
              </a:spcAft>
            </a:pPr>
            <a:r>
              <a:rPr sz="1150" b="0" i="0">
                <a:solidFill>
                  <a:srgbClr val="02C39A"/>
                </a:solidFill>
                <a:latin typeface="Consolas"/>
              </a:rPr>
              <a:t>    detector.load()          # once per process</a:t>
            </a:r>
          </a:p>
          <a:p>
            <a:pPr algn="l">
              <a:lnSpc>
                <a:spcPct val="122000"/>
              </a:lnSpc>
              <a:spcBef>
                <a:spcPts val="0"/>
              </a:spcBef>
              <a:spcAft>
                <a:spcPts val="0"/>
              </a:spcAft>
            </a:pPr>
            <a:r>
              <a:rPr sz="1150" b="0" i="0">
                <a:solidFill>
                  <a:srgbClr val="D6E7E4"/>
                </a:solidFill>
                <a:latin typeface="Consolas"/>
              </a:rPr>
              <a:t>    app.state.detector = detector</a:t>
            </a:r>
          </a:p>
          <a:p>
            <a:pPr algn="l">
              <a:lnSpc>
                <a:spcPct val="122000"/>
              </a:lnSpc>
              <a:spcBef>
                <a:spcPts val="0"/>
              </a:spcBef>
              <a:spcAft>
                <a:spcPts val="0"/>
              </a:spcAft>
            </a:pPr>
            <a:r>
              <a:rPr sz="1150" b="0" i="0">
                <a:solidFill>
                  <a:srgbClr val="D6E7E4"/>
                </a:solidFill>
                <a:latin typeface="Consolas"/>
              </a:rPr>
              <a:t>    yield</a:t>
            </a:r>
          </a:p>
          <a:p>
            <a:pPr algn="l">
              <a:lnSpc>
                <a:spcPct val="122000"/>
              </a:lnSpc>
              <a:spcBef>
                <a:spcPts val="0"/>
              </a:spcBef>
              <a:spcAft>
                <a:spcPts val="0"/>
              </a:spcAft>
            </a:pPr>
            <a:r>
              <a:rPr sz="1150" b="0" i="0">
                <a:solidFill>
                  <a:srgbClr val="D6E7E4"/>
                </a:solidFill>
                <a:latin typeface="Consolas"/>
              </a:rPr>
              <a:t>    detector.unload()</a:t>
            </a:r>
          </a:p>
          <a:p>
            <a:pPr algn="l">
              <a:lnSpc>
                <a:spcPct val="122000"/>
              </a:lnSpc>
              <a:spcBef>
                <a:spcPts val="0"/>
              </a:spcBef>
              <a:spcAft>
                <a:spcPts val="0"/>
              </a:spcAft>
            </a:pPr>
            <a:r>
              <a:rPr sz="1150" b="0" i="0">
                <a:solidFill>
                  <a:srgbClr val="D6E7E4"/>
                </a:solidFill>
                <a:latin typeface="Consolas"/>
              </a:rPr>
              <a:t/>
            </a:r>
          </a:p>
          <a:p>
            <a:pPr algn="l">
              <a:lnSpc>
                <a:spcPct val="122000"/>
              </a:lnSpc>
              <a:spcBef>
                <a:spcPts val="0"/>
              </a:spcBef>
              <a:spcAft>
                <a:spcPts val="0"/>
              </a:spcAft>
            </a:pPr>
            <a:r>
              <a:rPr sz="1150" b="0" i="0">
                <a:solidFill>
                  <a:srgbClr val="D6E7E4"/>
                </a:solidFill>
                <a:latin typeface="Consolas"/>
              </a:rPr>
              <a:t>app = FastAPI(lifespan=lifespan)</a:t>
            </a:r>
          </a:p>
        </p:txBody>
      </p:sp>
      <p:sp>
        <p:nvSpPr>
          <p:cNvPr id="14" name="Rounded Rectangle 13"/>
          <p:cNvSpPr/>
          <p:nvPr/>
        </p:nvSpPr>
        <p:spPr>
          <a:xfrm>
            <a:off x="7360920" y="3474720"/>
            <a:ext cx="1298448" cy="11887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543800" y="3657600"/>
            <a:ext cx="932688" cy="502920"/>
          </a:xfrm>
          <a:prstGeom prst="rect">
            <a:avLst/>
          </a:prstGeom>
          <a:noFill/>
        </p:spPr>
        <p:txBody>
          <a:bodyPr wrap="square" lIns="0" rIns="0" tIns="0" bIns="0" anchor="t">
            <a:spAutoFit/>
          </a:bodyPr>
          <a:lstStyle/>
          <a:p>
            <a:pPr algn="ctr">
              <a:spcBef>
                <a:spcPts val="0"/>
              </a:spcBef>
              <a:spcAft>
                <a:spcPts val="0"/>
              </a:spcAft>
            </a:pPr>
            <a:r>
              <a:rPr sz="2600" b="1" i="0">
                <a:solidFill>
                  <a:srgbClr val="028090"/>
                </a:solidFill>
                <a:latin typeface="Cambria"/>
              </a:rPr>
              <a:t>0.04 s</a:t>
            </a:r>
          </a:p>
        </p:txBody>
      </p:sp>
      <p:sp>
        <p:nvSpPr>
          <p:cNvPr id="16" name="TextBox 15"/>
          <p:cNvSpPr txBox="1"/>
          <p:nvPr/>
        </p:nvSpPr>
        <p:spPr>
          <a:xfrm>
            <a:off x="7507224" y="4206240"/>
            <a:ext cx="1005839" cy="365760"/>
          </a:xfrm>
          <a:prstGeom prst="rect">
            <a:avLst/>
          </a:prstGeom>
          <a:noFill/>
        </p:spPr>
        <p:txBody>
          <a:bodyPr wrap="square" lIns="0" rIns="0" tIns="0" bIns="0" anchor="t">
            <a:spAutoFit/>
          </a:bodyPr>
          <a:lstStyle/>
          <a:p>
            <a:pPr algn="ctr">
              <a:lnSpc>
                <a:spcPct val="105000"/>
              </a:lnSpc>
              <a:spcBef>
                <a:spcPts val="0"/>
              </a:spcBef>
              <a:spcAft>
                <a:spcPts val="0"/>
              </a:spcAft>
            </a:pPr>
            <a:r>
              <a:rPr sz="1100" b="0" i="0">
                <a:solidFill>
                  <a:srgbClr val="5A7A80"/>
                </a:solidFill>
                <a:latin typeface="Calibri"/>
              </a:rPr>
              <a:t>weights
loaded</a:t>
            </a:r>
          </a:p>
        </p:txBody>
      </p:sp>
      <p:sp>
        <p:nvSpPr>
          <p:cNvPr id="17" name="Rounded Rectangle 16"/>
          <p:cNvSpPr/>
          <p:nvPr/>
        </p:nvSpPr>
        <p:spPr>
          <a:xfrm>
            <a:off x="8805672" y="3474720"/>
            <a:ext cx="1298448" cy="11887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988552" y="3657600"/>
            <a:ext cx="932688" cy="502920"/>
          </a:xfrm>
          <a:prstGeom prst="rect">
            <a:avLst/>
          </a:prstGeom>
          <a:noFill/>
        </p:spPr>
        <p:txBody>
          <a:bodyPr wrap="square" lIns="0" rIns="0" tIns="0" bIns="0" anchor="t">
            <a:spAutoFit/>
          </a:bodyPr>
          <a:lstStyle/>
          <a:p>
            <a:pPr algn="ctr">
              <a:spcBef>
                <a:spcPts val="0"/>
              </a:spcBef>
              <a:spcAft>
                <a:spcPts val="0"/>
              </a:spcAft>
            </a:pPr>
            <a:r>
              <a:rPr sz="2600" b="1" i="0">
                <a:solidFill>
                  <a:srgbClr val="028090"/>
                </a:solidFill>
                <a:latin typeface="Cambria"/>
              </a:rPr>
              <a:t>1.2 s</a:t>
            </a:r>
          </a:p>
        </p:txBody>
      </p:sp>
      <p:sp>
        <p:nvSpPr>
          <p:cNvPr id="19" name="TextBox 18"/>
          <p:cNvSpPr txBox="1"/>
          <p:nvPr/>
        </p:nvSpPr>
        <p:spPr>
          <a:xfrm>
            <a:off x="8951976" y="4206240"/>
            <a:ext cx="1005839" cy="365760"/>
          </a:xfrm>
          <a:prstGeom prst="rect">
            <a:avLst/>
          </a:prstGeom>
          <a:noFill/>
        </p:spPr>
        <p:txBody>
          <a:bodyPr wrap="square" lIns="0" rIns="0" tIns="0" bIns="0" anchor="t">
            <a:spAutoFit/>
          </a:bodyPr>
          <a:lstStyle/>
          <a:p>
            <a:pPr algn="ctr">
              <a:lnSpc>
                <a:spcPct val="105000"/>
              </a:lnSpc>
              <a:spcBef>
                <a:spcPts val="0"/>
              </a:spcBef>
              <a:spcAft>
                <a:spcPts val="0"/>
              </a:spcAft>
            </a:pPr>
            <a:r>
              <a:rPr sz="1100" b="0" i="0">
                <a:solidFill>
                  <a:srgbClr val="5A7A80"/>
                </a:solidFill>
                <a:latin typeface="Calibri"/>
              </a:rPr>
              <a:t>warmup
inference</a:t>
            </a:r>
          </a:p>
        </p:txBody>
      </p:sp>
      <p:sp>
        <p:nvSpPr>
          <p:cNvPr id="20" name="Rounded Rectangle 19"/>
          <p:cNvSpPr/>
          <p:nvPr/>
        </p:nvSpPr>
        <p:spPr>
          <a:xfrm>
            <a:off x="10250424" y="3474720"/>
            <a:ext cx="1252728" cy="11887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433304" y="3657600"/>
            <a:ext cx="886968" cy="502920"/>
          </a:xfrm>
          <a:prstGeom prst="rect">
            <a:avLst/>
          </a:prstGeom>
          <a:noFill/>
        </p:spPr>
        <p:txBody>
          <a:bodyPr wrap="square" lIns="0" rIns="0" tIns="0" bIns="0" anchor="t">
            <a:spAutoFit/>
          </a:bodyPr>
          <a:lstStyle/>
          <a:p>
            <a:pPr algn="ctr">
              <a:spcBef>
                <a:spcPts val="0"/>
              </a:spcBef>
              <a:spcAft>
                <a:spcPts val="0"/>
              </a:spcAft>
            </a:pPr>
            <a:r>
              <a:rPr sz="2600" b="1" i="0">
                <a:solidFill>
                  <a:srgbClr val="028090"/>
                </a:solidFill>
                <a:latin typeface="Cambria"/>
              </a:rPr>
              <a:t>78 ms</a:t>
            </a:r>
          </a:p>
        </p:txBody>
      </p:sp>
      <p:sp>
        <p:nvSpPr>
          <p:cNvPr id="22" name="TextBox 21"/>
          <p:cNvSpPr txBox="1"/>
          <p:nvPr/>
        </p:nvSpPr>
        <p:spPr>
          <a:xfrm>
            <a:off x="10396728" y="4206240"/>
            <a:ext cx="960120" cy="365760"/>
          </a:xfrm>
          <a:prstGeom prst="rect">
            <a:avLst/>
          </a:prstGeom>
          <a:noFill/>
        </p:spPr>
        <p:txBody>
          <a:bodyPr wrap="square" lIns="0" rIns="0" tIns="0" bIns="0" anchor="t">
            <a:spAutoFit/>
          </a:bodyPr>
          <a:lstStyle/>
          <a:p>
            <a:pPr algn="ctr">
              <a:lnSpc>
                <a:spcPct val="105000"/>
              </a:lnSpc>
              <a:spcBef>
                <a:spcPts val="0"/>
              </a:spcBef>
              <a:spcAft>
                <a:spcPts val="0"/>
              </a:spcAft>
            </a:pPr>
            <a:r>
              <a:rPr sz="1100" b="0" i="0">
                <a:solidFill>
                  <a:srgbClr val="5A7A80"/>
                </a:solidFill>
                <a:latin typeface="Calibri"/>
              </a:rPr>
              <a:t>each real
request</a:t>
            </a:r>
          </a:p>
        </p:txBody>
      </p:sp>
      <p:sp>
        <p:nvSpPr>
          <p:cNvPr id="23" name="Rounded Rectangle 22"/>
          <p:cNvSpPr/>
          <p:nvPr/>
        </p:nvSpPr>
        <p:spPr>
          <a:xfrm>
            <a:off x="7360920" y="4846320"/>
            <a:ext cx="4142232" cy="1234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16952" y="5030663"/>
            <a:ext cx="3630168" cy="8964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12343B"/>
                </a:solidFill>
                <a:latin typeface="Calibri"/>
              </a:rPr>
              <a:t>The first inference is always 10 to 15 times slower than the rest. Warming up at startup means your first real user never sees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HEALTH</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Liveness and readiness are different questions</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1965960"/>
            <a:ext cx="5349240" cy="20116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41832" y="215030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/health/live</a:t>
            </a:r>
          </a:p>
        </p:txBody>
      </p:sp>
      <p:sp>
        <p:nvSpPr>
          <p:cNvPr id="7" name="TextBox 6"/>
          <p:cNvSpPr txBox="1"/>
          <p:nvPr/>
        </p:nvSpPr>
        <p:spPr>
          <a:xfrm>
            <a:off x="941832" y="2516063"/>
            <a:ext cx="4837175" cy="130795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Is the process up?</a:t>
            </a:r>
          </a:p>
          <a:p>
            <a:pPr algn="l">
              <a:lnSpc>
                <a:spcPct val="115000"/>
              </a:lnSpc>
              <a:spcBef>
                <a:spcPts val="0"/>
              </a:spcBef>
              <a:spcAft>
                <a:spcPts val="500"/>
              </a:spcAft>
            </a:pPr>
            <a:r>
              <a:rPr sz="1200" b="0" i="0">
                <a:solidFill>
                  <a:srgbClr val="5A7A80"/>
                </a:solidFill>
                <a:latin typeface="Calibri"/>
              </a:rPr>
              <a:t>Answers instantly, touches nothing.</a:t>
            </a:r>
          </a:p>
          <a:p>
            <a:pPr algn="l">
              <a:lnSpc>
                <a:spcPct val="115000"/>
              </a:lnSpc>
              <a:spcBef>
                <a:spcPts val="0"/>
              </a:spcBef>
              <a:spcAft>
                <a:spcPts val="500"/>
              </a:spcAft>
            </a:pPr>
            <a:r>
              <a:rPr sz="1200" b="0" i="0">
                <a:solidFill>
                  <a:srgbClr val="5A7A80"/>
                </a:solidFill>
                <a:latin typeface="Calibri"/>
              </a:rPr>
              <a:t>A failure here means restart the container.</a:t>
            </a:r>
          </a:p>
        </p:txBody>
      </p:sp>
      <p:sp>
        <p:nvSpPr>
          <p:cNvPr id="8" name="Rounded Rectangle 7"/>
          <p:cNvSpPr/>
          <p:nvPr/>
        </p:nvSpPr>
        <p:spPr>
          <a:xfrm>
            <a:off x="6153912" y="1965960"/>
            <a:ext cx="5349240" cy="20116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409944" y="215030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C15B4E"/>
                </a:solidFill>
                <a:latin typeface="Calibri"/>
              </a:rPr>
              <a:t>/health/ready</a:t>
            </a:r>
          </a:p>
        </p:txBody>
      </p:sp>
      <p:sp>
        <p:nvSpPr>
          <p:cNvPr id="10" name="TextBox 9"/>
          <p:cNvSpPr txBox="1"/>
          <p:nvPr/>
        </p:nvSpPr>
        <p:spPr>
          <a:xfrm>
            <a:off x="6409944" y="2516063"/>
            <a:ext cx="4837175" cy="130795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Can it serve traffic?</a:t>
            </a:r>
          </a:p>
          <a:p>
            <a:pPr algn="l">
              <a:lnSpc>
                <a:spcPct val="115000"/>
              </a:lnSpc>
              <a:spcBef>
                <a:spcPts val="0"/>
              </a:spcBef>
              <a:spcAft>
                <a:spcPts val="500"/>
              </a:spcAft>
            </a:pPr>
            <a:r>
              <a:rPr sz="1200" b="0" i="0">
                <a:solidFill>
                  <a:srgbClr val="5A7A80"/>
                </a:solidFill>
                <a:latin typeface="Calibri"/>
              </a:rPr>
              <a:t>Reports whether the weights are actually loaded.</a:t>
            </a:r>
          </a:p>
          <a:p>
            <a:pPr algn="l">
              <a:lnSpc>
                <a:spcPct val="115000"/>
              </a:lnSpc>
              <a:spcBef>
                <a:spcPts val="0"/>
              </a:spcBef>
              <a:spcAft>
                <a:spcPts val="500"/>
              </a:spcAft>
            </a:pPr>
            <a:r>
              <a:rPr sz="1200" b="0" i="0">
                <a:solidFill>
                  <a:srgbClr val="5A7A80"/>
                </a:solidFill>
                <a:latin typeface="Calibri"/>
              </a:rPr>
              <a:t>A failure here means send traffic somewhere else, but do not restart.</a:t>
            </a:r>
          </a:p>
        </p:txBody>
      </p:sp>
      <p:sp>
        <p:nvSpPr>
          <p:cNvPr id="11" name="Rounded Rectangle 10"/>
          <p:cNvSpPr/>
          <p:nvPr/>
        </p:nvSpPr>
        <p:spPr>
          <a:xfrm>
            <a:off x="685800" y="4206240"/>
            <a:ext cx="10820095"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4390583"/>
            <a:ext cx="10308031"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Why the distinction is not pedantry</a:t>
            </a:r>
          </a:p>
        </p:txBody>
      </p:sp>
      <p:sp>
        <p:nvSpPr>
          <p:cNvPr id="13" name="TextBox 12"/>
          <p:cNvSpPr txBox="1"/>
          <p:nvPr/>
        </p:nvSpPr>
        <p:spPr>
          <a:xfrm>
            <a:off x="941832" y="4756343"/>
            <a:ext cx="10308031" cy="1170797"/>
          </a:xfrm>
          <a:prstGeom prst="rect">
            <a:avLst/>
          </a:prstGeom>
          <a:noFill/>
        </p:spPr>
        <p:txBody>
          <a:bodyPr wrap="square" lIns="0" rIns="0" tIns="0" bIns="0" anchor="t">
            <a:spAutoFit/>
          </a:bodyPr>
          <a:lstStyle/>
          <a:p>
            <a:pPr algn="l">
              <a:lnSpc>
                <a:spcPct val="115000"/>
              </a:lnSpc>
              <a:spcBef>
                <a:spcPts val="0"/>
              </a:spcBef>
              <a:spcAft>
                <a:spcPts val="500"/>
              </a:spcAft>
            </a:pPr>
            <a:r>
              <a:rPr sz="1250" b="0" i="0">
                <a:solidFill>
                  <a:srgbClr val="5A7A80"/>
                </a:solidFill>
                <a:latin typeface="Calibri"/>
              </a:rPr>
              <a:t>A model server takes seconds to load its weights. If the load balancer used liveness to decide routing, it would send real requests into a process that has no model yet, and every one of them would fail.</a:t>
            </a:r>
          </a:p>
          <a:p>
            <a:pPr algn="l">
              <a:lnSpc>
                <a:spcPct val="115000"/>
              </a:lnSpc>
              <a:spcBef>
                <a:spcPts val="0"/>
              </a:spcBef>
              <a:spcAft>
                <a:spcPts val="500"/>
              </a:spcAft>
            </a:pPr>
            <a:r>
              <a:rPr sz="1250" b="0" i="0">
                <a:solidFill>
                  <a:srgbClr val="5A7A80"/>
                </a:solidFill>
                <a:latin typeface="Calibri"/>
              </a:rPr>
              <a:t>If the orchestrator used readiness to decide restarts, it would kill healthy containers during a slow start and never let them finish loading.</a:t>
            </a:r>
          </a:p>
          <a:p>
            <a:pPr algn="l">
              <a:lnSpc>
                <a:spcPct val="115000"/>
              </a:lnSpc>
              <a:spcBef>
                <a:spcPts val="0"/>
              </a:spcBef>
              <a:spcAft>
                <a:spcPts val="500"/>
              </a:spcAft>
            </a:pPr>
            <a:r>
              <a:rPr sz="1250" b="0" i="0">
                <a:solidFill>
                  <a:srgbClr val="5A7A80"/>
                </a:solidFill>
                <a:latin typeface="Calibri"/>
              </a:rPr>
              <a:t>Two endpoints, two consumers, two decisions. The Docker HEALTHCHECK in this project points at readiness, with a 90 second start period.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RULE TWO</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async def does not make CPU work concurrent</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1901952"/>
            <a:ext cx="5349240" cy="1938528"/>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23544" y="2084832"/>
            <a:ext cx="4873752" cy="256032"/>
          </a:xfrm>
          <a:prstGeom prst="rect">
            <a:avLst/>
          </a:prstGeom>
          <a:noFill/>
        </p:spPr>
        <p:txBody>
          <a:bodyPr wrap="square" lIns="0" rIns="0" tIns="0" bIns="0" anchor="t">
            <a:spAutoFit/>
          </a:bodyPr>
          <a:lstStyle/>
          <a:p>
            <a:pPr algn="l">
              <a:spcBef>
                <a:spcPts val="0"/>
              </a:spcBef>
              <a:spcAft>
                <a:spcPts val="0"/>
              </a:spcAft>
            </a:pPr>
            <a:r>
              <a:rPr sz="1050" b="1" i="0">
                <a:solidFill>
                  <a:srgbClr val="8CE6C9"/>
                </a:solidFill>
                <a:latin typeface="Calibri"/>
              </a:rPr>
              <a:t>THE BUG</a:t>
            </a:r>
          </a:p>
        </p:txBody>
      </p:sp>
      <p:sp>
        <p:nvSpPr>
          <p:cNvPr id="7" name="TextBox 6"/>
          <p:cNvSpPr txBox="1"/>
          <p:nvPr/>
        </p:nvSpPr>
        <p:spPr>
          <a:xfrm>
            <a:off x="923544" y="2395728"/>
            <a:ext cx="4873752" cy="1298448"/>
          </a:xfrm>
          <a:prstGeom prst="rect">
            <a:avLst/>
          </a:prstGeom>
          <a:noFill/>
        </p:spPr>
        <p:txBody>
          <a:bodyPr wrap="square" lIns="0" rIns="0" tIns="0" bIns="0" anchor="t">
            <a:spAutoFit/>
          </a:bodyPr>
          <a:lstStyle/>
          <a:p>
            <a:pPr algn="l">
              <a:lnSpc>
                <a:spcPct val="122000"/>
              </a:lnSpc>
              <a:spcBef>
                <a:spcPts val="0"/>
              </a:spcBef>
              <a:spcAft>
                <a:spcPts val="0"/>
              </a:spcAft>
            </a:pPr>
            <a:r>
              <a:rPr sz="1150" b="0" i="0">
                <a:solidFill>
                  <a:srgbClr val="9AB4B8"/>
                </a:solidFill>
                <a:latin typeface="Consolas"/>
              </a:rPr>
              <a:t>@router.post("/predict")</a:t>
            </a:r>
          </a:p>
          <a:p>
            <a:pPr algn="l">
              <a:lnSpc>
                <a:spcPct val="122000"/>
              </a:lnSpc>
              <a:spcBef>
                <a:spcPts val="0"/>
              </a:spcBef>
              <a:spcAft>
                <a:spcPts val="0"/>
              </a:spcAft>
            </a:pPr>
            <a:r>
              <a:rPr sz="1150" b="0" i="0">
                <a:solidFill>
                  <a:srgbClr val="D6E7E4"/>
                </a:solidFill>
                <a:latin typeface="Consolas"/>
              </a:rPr>
              <a:t>async def predict(file: UploadFile):</a:t>
            </a:r>
          </a:p>
          <a:p>
            <a:pPr algn="l">
              <a:lnSpc>
                <a:spcPct val="122000"/>
              </a:lnSpc>
              <a:spcBef>
                <a:spcPts val="0"/>
              </a:spcBef>
              <a:spcAft>
                <a:spcPts val="0"/>
              </a:spcAft>
            </a:pPr>
            <a:r>
              <a:rPr sz="1150" b="0" i="0">
                <a:solidFill>
                  <a:srgbClr val="D6E7E4"/>
                </a:solidFill>
                <a:latin typeface="Consolas"/>
              </a:rPr>
              <a:t>    image = decode(await file.read())</a:t>
            </a:r>
          </a:p>
          <a:p>
            <a:pPr algn="l">
              <a:lnSpc>
                <a:spcPct val="122000"/>
              </a:lnSpc>
              <a:spcBef>
                <a:spcPts val="0"/>
              </a:spcBef>
              <a:spcAft>
                <a:spcPts val="0"/>
              </a:spcAft>
            </a:pPr>
            <a:r>
              <a:rPr sz="1150" b="0" i="0">
                <a:solidFill>
                  <a:srgbClr val="C15B4E"/>
                </a:solidFill>
                <a:latin typeface="Consolas"/>
              </a:rPr>
              <a:t>    return model.predict(image)</a:t>
            </a:r>
          </a:p>
        </p:txBody>
      </p:sp>
      <p:sp>
        <p:nvSpPr>
          <p:cNvPr id="8" name="TextBox 7"/>
          <p:cNvSpPr txBox="1"/>
          <p:nvPr/>
        </p:nvSpPr>
        <p:spPr>
          <a:xfrm>
            <a:off x="941832" y="3895344"/>
            <a:ext cx="4846320" cy="274320"/>
          </a:xfrm>
          <a:prstGeom prst="rect">
            <a:avLst/>
          </a:prstGeom>
          <a:noFill/>
        </p:spPr>
        <p:txBody>
          <a:bodyPr wrap="square" lIns="0" rIns="0" tIns="0" bIns="0" anchor="t">
            <a:spAutoFit/>
          </a:bodyPr>
          <a:lstStyle/>
          <a:p>
            <a:pPr algn="l">
              <a:spcBef>
                <a:spcPts val="0"/>
              </a:spcBef>
              <a:spcAft>
                <a:spcPts val="0"/>
              </a:spcAft>
            </a:pPr>
            <a:r>
              <a:rPr sz="1150" b="0" i="1">
                <a:solidFill>
                  <a:srgbClr val="C15B4E"/>
                </a:solidFill>
                <a:latin typeface="Calibri"/>
              </a:rPr>
              <a:t>That line holds the event loop for 300 ms.</a:t>
            </a:r>
          </a:p>
        </p:txBody>
      </p:sp>
      <p:sp>
        <p:nvSpPr>
          <p:cNvPr id="9" name="Rounded Rectangle 8"/>
          <p:cNvSpPr/>
          <p:nvPr/>
        </p:nvSpPr>
        <p:spPr>
          <a:xfrm>
            <a:off x="6153912" y="1901952"/>
            <a:ext cx="5349240" cy="1938528"/>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391656" y="2084832"/>
            <a:ext cx="4873752" cy="256032"/>
          </a:xfrm>
          <a:prstGeom prst="rect">
            <a:avLst/>
          </a:prstGeom>
          <a:noFill/>
        </p:spPr>
        <p:txBody>
          <a:bodyPr wrap="square" lIns="0" rIns="0" tIns="0" bIns="0" anchor="t">
            <a:spAutoFit/>
          </a:bodyPr>
          <a:lstStyle/>
          <a:p>
            <a:pPr algn="l">
              <a:spcBef>
                <a:spcPts val="0"/>
              </a:spcBef>
              <a:spcAft>
                <a:spcPts val="0"/>
              </a:spcAft>
            </a:pPr>
            <a:r>
              <a:rPr sz="1050" b="1" i="0">
                <a:solidFill>
                  <a:srgbClr val="8CE6C9"/>
                </a:solidFill>
                <a:latin typeface="Calibri"/>
              </a:rPr>
              <a:t>THE FIX</a:t>
            </a:r>
          </a:p>
        </p:txBody>
      </p:sp>
      <p:sp>
        <p:nvSpPr>
          <p:cNvPr id="11" name="TextBox 10"/>
          <p:cNvSpPr txBox="1"/>
          <p:nvPr/>
        </p:nvSpPr>
        <p:spPr>
          <a:xfrm>
            <a:off x="6391656" y="2395728"/>
            <a:ext cx="4873752" cy="1298448"/>
          </a:xfrm>
          <a:prstGeom prst="rect">
            <a:avLst/>
          </a:prstGeom>
          <a:noFill/>
        </p:spPr>
        <p:txBody>
          <a:bodyPr wrap="square" lIns="0" rIns="0" tIns="0" bIns="0" anchor="t">
            <a:spAutoFit/>
          </a:bodyPr>
          <a:lstStyle/>
          <a:p>
            <a:pPr algn="l">
              <a:lnSpc>
                <a:spcPct val="122000"/>
              </a:lnSpc>
              <a:spcBef>
                <a:spcPts val="0"/>
              </a:spcBef>
              <a:spcAft>
                <a:spcPts val="0"/>
              </a:spcAft>
            </a:pPr>
            <a:r>
              <a:rPr sz="1150" b="0" i="0">
                <a:solidFill>
                  <a:srgbClr val="9AB4B8"/>
                </a:solidFill>
                <a:latin typeface="Consolas"/>
              </a:rPr>
              <a:t>@router.post("/predict")</a:t>
            </a:r>
          </a:p>
          <a:p>
            <a:pPr algn="l">
              <a:lnSpc>
                <a:spcPct val="122000"/>
              </a:lnSpc>
              <a:spcBef>
                <a:spcPts val="0"/>
              </a:spcBef>
              <a:spcAft>
                <a:spcPts val="0"/>
              </a:spcAft>
            </a:pPr>
            <a:r>
              <a:rPr sz="1150" b="0" i="0">
                <a:solidFill>
                  <a:srgbClr val="D6E7E4"/>
                </a:solidFill>
                <a:latin typeface="Consolas"/>
              </a:rPr>
              <a:t>async def predict(file: UploadFile):</a:t>
            </a:r>
          </a:p>
          <a:p>
            <a:pPr algn="l">
              <a:lnSpc>
                <a:spcPct val="122000"/>
              </a:lnSpc>
              <a:spcBef>
                <a:spcPts val="0"/>
              </a:spcBef>
              <a:spcAft>
                <a:spcPts val="0"/>
              </a:spcAft>
            </a:pPr>
            <a:r>
              <a:rPr sz="1150" b="0" i="0">
                <a:solidFill>
                  <a:srgbClr val="D6E7E4"/>
                </a:solidFill>
                <a:latin typeface="Consolas"/>
              </a:rPr>
              <a:t>    image = decode(await file.read())</a:t>
            </a:r>
          </a:p>
          <a:p>
            <a:pPr algn="l">
              <a:lnSpc>
                <a:spcPct val="122000"/>
              </a:lnSpc>
              <a:spcBef>
                <a:spcPts val="0"/>
              </a:spcBef>
              <a:spcAft>
                <a:spcPts val="0"/>
              </a:spcAft>
            </a:pPr>
            <a:r>
              <a:rPr sz="1150" b="0" i="0">
                <a:solidFill>
                  <a:srgbClr val="02C39A"/>
                </a:solidFill>
                <a:latin typeface="Consolas"/>
              </a:rPr>
              <a:t>    return await anyio.to_thread.run_sync(</a:t>
            </a:r>
          </a:p>
          <a:p>
            <a:pPr algn="l">
              <a:lnSpc>
                <a:spcPct val="122000"/>
              </a:lnSpc>
              <a:spcBef>
                <a:spcPts val="0"/>
              </a:spcBef>
              <a:spcAft>
                <a:spcPts val="0"/>
              </a:spcAft>
            </a:pPr>
            <a:r>
              <a:rPr sz="1150" b="0" i="0">
                <a:solidFill>
                  <a:srgbClr val="02C39A"/>
                </a:solidFill>
                <a:latin typeface="Consolas"/>
              </a:rPr>
              <a:t>        lambda: detector.predict([image]))</a:t>
            </a:r>
          </a:p>
        </p:txBody>
      </p:sp>
      <p:sp>
        <p:nvSpPr>
          <p:cNvPr id="12" name="TextBox 11"/>
          <p:cNvSpPr txBox="1"/>
          <p:nvPr/>
        </p:nvSpPr>
        <p:spPr>
          <a:xfrm>
            <a:off x="6409944" y="3895344"/>
            <a:ext cx="4846320" cy="274320"/>
          </a:xfrm>
          <a:prstGeom prst="rect">
            <a:avLst/>
          </a:prstGeom>
          <a:noFill/>
        </p:spPr>
        <p:txBody>
          <a:bodyPr wrap="square" lIns="0" rIns="0" tIns="0" bIns="0" anchor="t">
            <a:spAutoFit/>
          </a:bodyPr>
          <a:lstStyle/>
          <a:p>
            <a:pPr algn="l">
              <a:spcBef>
                <a:spcPts val="0"/>
              </a:spcBef>
              <a:spcAft>
                <a:spcPts val="0"/>
              </a:spcAft>
            </a:pPr>
            <a:r>
              <a:rPr sz="1150" b="0" i="1">
                <a:solidFill>
                  <a:srgbClr val="028090"/>
                </a:solidFill>
                <a:latin typeface="Calibri"/>
              </a:rPr>
              <a:t>The loop hands it to a thread and goes back to work.</a:t>
            </a:r>
          </a:p>
        </p:txBody>
      </p:sp>
      <p:sp>
        <p:nvSpPr>
          <p:cNvPr id="13" name="Rounded Rectangle 12"/>
          <p:cNvSpPr/>
          <p:nvPr/>
        </p:nvSpPr>
        <p:spPr>
          <a:xfrm>
            <a:off x="685800" y="4206240"/>
            <a:ext cx="10820095"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41832" y="4390583"/>
            <a:ext cx="10308031" cy="310896"/>
          </a:xfrm>
          <a:prstGeom prst="rect">
            <a:avLst/>
          </a:prstGeom>
          <a:noFill/>
        </p:spPr>
        <p:txBody>
          <a:bodyPr wrap="square" lIns="0" rIns="0" tIns="0" bIns="0" anchor="t">
            <a:spAutoFit/>
          </a:bodyPr>
          <a:lstStyle/>
          <a:p>
            <a:pPr algn="l">
              <a:spcBef>
                <a:spcPts val="0"/>
              </a:spcBef>
              <a:spcAft>
                <a:spcPts val="0"/>
              </a:spcAft>
            </a:pPr>
            <a:r>
              <a:rPr sz="1350" b="1" i="0">
                <a:solidFill>
                  <a:srgbClr val="C15B4E"/>
                </a:solidFill>
                <a:latin typeface="Calibri"/>
              </a:rPr>
              <a:t>What people get wrong</a:t>
            </a:r>
          </a:p>
        </p:txBody>
      </p:sp>
      <p:sp>
        <p:nvSpPr>
          <p:cNvPr id="15" name="TextBox 14"/>
          <p:cNvSpPr txBox="1"/>
          <p:nvPr/>
        </p:nvSpPr>
        <p:spPr>
          <a:xfrm>
            <a:off x="941832" y="4756343"/>
            <a:ext cx="10308031" cy="1170797"/>
          </a:xfrm>
          <a:prstGeom prst="rect">
            <a:avLst/>
          </a:prstGeom>
          <a:noFill/>
        </p:spPr>
        <p:txBody>
          <a:bodyPr wrap="square" lIns="0" rIns="0" tIns="0" bIns="0" anchor="t">
            <a:spAutoFit/>
          </a:bodyPr>
          <a:lstStyle/>
          <a:p>
            <a:pPr algn="l">
              <a:lnSpc>
                <a:spcPct val="115000"/>
              </a:lnSpc>
              <a:spcBef>
                <a:spcPts val="0"/>
              </a:spcBef>
              <a:spcAft>
                <a:spcPts val="500"/>
              </a:spcAft>
            </a:pPr>
            <a:r>
              <a:rPr sz="1250" b="0" i="0">
                <a:solidFill>
                  <a:srgbClr val="5A7A80"/>
                </a:solidFill>
                <a:latin typeface="Calibri"/>
              </a:rPr>
              <a:t>async is about waiting, not about speed. It lets one thread juggle thousands of connections that are all waiting on the network. It does nothing for a thread that is busy multiplying matrices.</a:t>
            </a:r>
          </a:p>
          <a:p>
            <a:pPr algn="l">
              <a:lnSpc>
                <a:spcPct val="115000"/>
              </a:lnSpc>
              <a:spcBef>
                <a:spcPts val="0"/>
              </a:spcBef>
              <a:spcAft>
                <a:spcPts val="500"/>
              </a:spcAft>
            </a:pPr>
            <a:r>
              <a:rPr sz="1250" b="0" i="0">
                <a:solidFill>
                  <a:srgbClr val="5A7A80"/>
                </a:solidFill>
                <a:latin typeface="Calibri"/>
              </a:rPr>
              <a:t>So the question for every handler is not is this async. It is: does anything in here hold the CPU? Model inference does. JPEG decoding does. Both belong on a thread.</a:t>
            </a:r>
          </a:p>
          <a:p>
            <a:pPr algn="l">
              <a:lnSpc>
                <a:spcPct val="115000"/>
              </a:lnSpc>
              <a:spcBef>
                <a:spcPts val="0"/>
              </a:spcBef>
              <a:spcAft>
                <a:spcPts val="500"/>
              </a:spcAft>
            </a:pPr>
            <a:r>
              <a:rPr sz="1250" b="0" i="0">
                <a:solidFill>
                  <a:srgbClr val="5A7A80"/>
                </a:solidFill>
                <a:latin typeface="Calibri"/>
              </a:rPr>
              <a:t>In this project that boundary lives in one file, app/services/inference.py.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MEASURED</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The same model, one line apart</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pic>
        <p:nvPicPr>
          <p:cNvPr id="5" name="Picture 4" descr="fig_blocking_vs_threaded.png"/>
          <p:cNvPicPr>
            <a:picLocks noChangeAspect="1"/>
          </p:cNvPicPr>
          <p:nvPr/>
        </p:nvPicPr>
        <p:blipFill>
          <a:blip r:embed="rId2"/>
          <a:stretch>
            <a:fillRect/>
          </a:stretch>
        </p:blipFill>
        <p:spPr>
          <a:xfrm>
            <a:off x="685800" y="1965960"/>
            <a:ext cx="6400800" cy="3333956"/>
          </a:xfrm>
          <a:prstGeom prst="rect">
            <a:avLst/>
          </a:prstGeom>
        </p:spPr>
      </p:pic>
      <p:sp>
        <p:nvSpPr>
          <p:cNvPr id="6" name="TextBox 5"/>
          <p:cNvSpPr txBox="1"/>
          <p:nvPr/>
        </p:nvSpPr>
        <p:spPr>
          <a:xfrm>
            <a:off x="685800" y="5532120"/>
            <a:ext cx="6400800" cy="274320"/>
          </a:xfrm>
          <a:prstGeom prst="rect">
            <a:avLst/>
          </a:prstGeom>
          <a:noFill/>
        </p:spPr>
        <p:txBody>
          <a:bodyPr wrap="square" lIns="0" rIns="0" tIns="0" bIns="0" anchor="t">
            <a:spAutoFit/>
          </a:bodyPr>
          <a:lstStyle/>
          <a:p>
            <a:pPr algn="l">
              <a:spcBef>
                <a:spcPts val="0"/>
              </a:spcBef>
              <a:spcAft>
                <a:spcPts val="0"/>
              </a:spcAft>
            </a:pPr>
            <a:r>
              <a:rPr sz="950" b="0" i="0">
                <a:solidFill>
                  <a:srgbClr val="8FA9AE"/>
                </a:solidFill>
                <a:latin typeface="Calibri"/>
              </a:rPr>
              <a:t>scripts/blocking_demo.py, eight images, two CPU cores. Health checks fired every 20 ms during inference.</a:t>
            </a:r>
          </a:p>
        </p:txBody>
      </p:sp>
      <p:sp>
        <p:nvSpPr>
          <p:cNvPr id="7" name="Rounded Rectangle 6"/>
          <p:cNvSpPr/>
          <p:nvPr/>
        </p:nvSpPr>
        <p:spPr>
          <a:xfrm>
            <a:off x="7498079" y="2057400"/>
            <a:ext cx="4005072" cy="16916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754111" y="2241743"/>
            <a:ext cx="3493008" cy="310896"/>
          </a:xfrm>
          <a:prstGeom prst="rect">
            <a:avLst/>
          </a:prstGeom>
          <a:noFill/>
        </p:spPr>
        <p:txBody>
          <a:bodyPr wrap="square" lIns="0" rIns="0" tIns="0" bIns="0" anchor="t">
            <a:spAutoFit/>
          </a:bodyPr>
          <a:lstStyle/>
          <a:p>
            <a:pPr algn="l">
              <a:spcBef>
                <a:spcPts val="0"/>
              </a:spcBef>
              <a:spcAft>
                <a:spcPts val="0"/>
              </a:spcAft>
            </a:pPr>
            <a:r>
              <a:rPr sz="1350" b="1" i="0">
                <a:solidFill>
                  <a:srgbClr val="C15B4E"/>
                </a:solidFill>
                <a:latin typeface="Calibri"/>
              </a:rPr>
              <a:t>Read the left bar again</a:t>
            </a:r>
          </a:p>
        </p:txBody>
      </p:sp>
      <p:sp>
        <p:nvSpPr>
          <p:cNvPr id="9" name="TextBox 8"/>
          <p:cNvSpPr txBox="1"/>
          <p:nvPr/>
        </p:nvSpPr>
        <p:spPr>
          <a:xfrm>
            <a:off x="7754111" y="2607503"/>
            <a:ext cx="3493008" cy="98791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736 ms is not the inference time. It is how long a health check waited behind it.</a:t>
            </a:r>
          </a:p>
        </p:txBody>
      </p:sp>
      <p:sp>
        <p:nvSpPr>
          <p:cNvPr id="10" name="Rounded Rectangle 9"/>
          <p:cNvSpPr/>
          <p:nvPr/>
        </p:nvSpPr>
        <p:spPr>
          <a:xfrm>
            <a:off x="7498079" y="3931920"/>
            <a:ext cx="4005072" cy="21031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54111" y="4116263"/>
            <a:ext cx="3493008"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Why this ends badly</a:t>
            </a:r>
          </a:p>
        </p:txBody>
      </p:sp>
      <p:sp>
        <p:nvSpPr>
          <p:cNvPr id="12" name="TextBox 11"/>
          <p:cNvSpPr txBox="1"/>
          <p:nvPr/>
        </p:nvSpPr>
        <p:spPr>
          <a:xfrm>
            <a:off x="7754111" y="4482023"/>
            <a:ext cx="3493008" cy="139939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A load balancer with a 5 second timeout and 2 retries marks the target unhealthy and drains it.</a:t>
            </a:r>
          </a:p>
          <a:p>
            <a:pPr algn="l">
              <a:lnSpc>
                <a:spcPct val="115000"/>
              </a:lnSpc>
              <a:spcBef>
                <a:spcPts val="0"/>
              </a:spcBef>
              <a:spcAft>
                <a:spcPts val="500"/>
              </a:spcAft>
            </a:pPr>
            <a:r>
              <a:rPr sz="1200" b="0" i="0">
                <a:solidFill>
                  <a:srgbClr val="5A7A80"/>
                </a:solidFill>
                <a:latin typeface="Calibri"/>
              </a:rPr>
              <a:t>Traffic moves to the remaining instances, which now block harder, and fail their checks too.</a:t>
            </a:r>
          </a:p>
          <a:p>
            <a:pPr algn="l">
              <a:lnSpc>
                <a:spcPct val="115000"/>
              </a:lnSpc>
              <a:spcBef>
                <a:spcPts val="0"/>
              </a:spcBef>
              <a:spcAft>
                <a:spcPts val="500"/>
              </a:spcAft>
            </a:pPr>
            <a:r>
              <a:rPr sz="1200" b="0" i="0">
                <a:solidFill>
                  <a:srgbClr val="5A7A80"/>
                </a:solidFill>
                <a:latin typeface="Calibri"/>
              </a:rPr>
              <a:t>One missing line, and the whole fleet goes down in order.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RULE THREE</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Batch, but know what it actually buys you</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1965960"/>
            <a:ext cx="3529584" cy="21488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41832" y="215030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C39A"/>
                </a:solidFill>
                <a:latin typeface="Calibri"/>
              </a:rPr>
              <a:t>On a GPU: a lot</a:t>
            </a:r>
          </a:p>
        </p:txBody>
      </p:sp>
      <p:sp>
        <p:nvSpPr>
          <p:cNvPr id="7" name="TextBox 6"/>
          <p:cNvSpPr txBox="1"/>
          <p:nvPr/>
        </p:nvSpPr>
        <p:spPr>
          <a:xfrm>
            <a:off x="941832" y="2516063"/>
            <a:ext cx="3017520" cy="144511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Batch size 1 leaves most of the device idle. Filling it is worth 3x to 5x throughput. This is the reason batching has a reputation.</a:t>
            </a:r>
          </a:p>
        </p:txBody>
      </p:sp>
      <p:sp>
        <p:nvSpPr>
          <p:cNvPr id="8" name="Rounded Rectangle 7"/>
          <p:cNvSpPr/>
          <p:nvPr/>
        </p:nvSpPr>
        <p:spPr>
          <a:xfrm>
            <a:off x="4325112" y="1965960"/>
            <a:ext cx="3529584" cy="21488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581144" y="215030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Over the network: a lot</a:t>
            </a:r>
          </a:p>
        </p:txBody>
      </p:sp>
      <p:sp>
        <p:nvSpPr>
          <p:cNvPr id="10" name="TextBox 9"/>
          <p:cNvSpPr txBox="1"/>
          <p:nvPr/>
        </p:nvSpPr>
        <p:spPr>
          <a:xfrm>
            <a:off x="4581144" y="2516063"/>
            <a:ext cx="3017520" cy="144511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Eight requests means eight round trips, eight TLS handshakes and eight queue slots. One batch call means one of each. Often larger than the inference time itself.</a:t>
            </a:r>
          </a:p>
        </p:txBody>
      </p:sp>
      <p:sp>
        <p:nvSpPr>
          <p:cNvPr id="11" name="Rounded Rectangle 10"/>
          <p:cNvSpPr/>
          <p:nvPr/>
        </p:nvSpPr>
        <p:spPr>
          <a:xfrm>
            <a:off x="7973568" y="1965960"/>
            <a:ext cx="3529584" cy="21488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0" y="215030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C15B4E"/>
                </a:solidFill>
                <a:latin typeface="Calibri"/>
              </a:rPr>
              <a:t>On a busy CPU: very little</a:t>
            </a:r>
          </a:p>
        </p:txBody>
      </p:sp>
      <p:sp>
        <p:nvSpPr>
          <p:cNvPr id="13" name="TextBox 12"/>
          <p:cNvSpPr txBox="1"/>
          <p:nvPr/>
        </p:nvSpPr>
        <p:spPr>
          <a:xfrm>
            <a:off x="8229600" y="2516063"/>
            <a:ext cx="3017520" cy="144511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The arithmetic does not shrink. If the cores are already saturated at batch size 1, batching is roughly break even.</a:t>
            </a:r>
          </a:p>
        </p:txBody>
      </p:sp>
      <p:sp>
        <p:nvSpPr>
          <p:cNvPr id="14" name="Rounded Rectangle 13"/>
          <p:cNvSpPr/>
          <p:nvPr/>
        </p:nvSpPr>
        <p:spPr>
          <a:xfrm>
            <a:off x="685800" y="4343400"/>
            <a:ext cx="10820095" cy="17373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41832" y="4527743"/>
            <a:ext cx="10308031"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The endpoint we build</a:t>
            </a:r>
          </a:p>
        </p:txBody>
      </p:sp>
      <p:sp>
        <p:nvSpPr>
          <p:cNvPr id="16" name="TextBox 15"/>
          <p:cNvSpPr txBox="1"/>
          <p:nvPr/>
        </p:nvSpPr>
        <p:spPr>
          <a:xfrm>
            <a:off x="941832" y="4893503"/>
            <a:ext cx="10308031" cy="1033637"/>
          </a:xfrm>
          <a:prstGeom prst="rect">
            <a:avLst/>
          </a:prstGeom>
          <a:noFill/>
        </p:spPr>
        <p:txBody>
          <a:bodyPr wrap="square" lIns="0" rIns="0" tIns="0" bIns="0" anchor="t">
            <a:spAutoFit/>
          </a:bodyPr>
          <a:lstStyle/>
          <a:p>
            <a:pPr algn="l">
              <a:lnSpc>
                <a:spcPct val="115000"/>
              </a:lnSpc>
              <a:spcBef>
                <a:spcPts val="0"/>
              </a:spcBef>
              <a:spcAft>
                <a:spcPts val="500"/>
              </a:spcAft>
            </a:pPr>
            <a:r>
              <a:rPr sz="1250" b="0" i="0">
                <a:solidFill>
                  <a:srgbClr val="5A7A80"/>
                </a:solidFill>
                <a:latin typeface="Calibri"/>
              </a:rPr>
              <a:t>POST /predict/batch takes a list of files and runs one forward pass over all of them. POST /predict is literally the same code path with a list of one, so there is exactly one inference path to reason about and to test.</a:t>
            </a:r>
          </a:p>
          <a:p>
            <a:pPr algn="l">
              <a:lnSpc>
                <a:spcPct val="115000"/>
              </a:lnSpc>
              <a:spcBef>
                <a:spcPts val="0"/>
              </a:spcBef>
              <a:spcAft>
                <a:spcPts val="500"/>
              </a:spcAft>
            </a:pPr>
            <a:r>
              <a:rPr sz="1250" b="0" i="0">
                <a:solidFill>
                  <a:srgbClr val="5A7A80"/>
                </a:solidFill>
                <a:latin typeface="Calibri"/>
              </a:rPr>
              <a:t>The cap lives in config as max_batch_size, default 16, and going over it returns 413 rather than quietly eating your memory.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MEASURED</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Batching, and the trap underneath it</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pic>
        <p:nvPicPr>
          <p:cNvPr id="5" name="Picture 4" descr="fig_batching.png"/>
          <p:cNvPicPr>
            <a:picLocks noChangeAspect="1"/>
          </p:cNvPicPr>
          <p:nvPr/>
        </p:nvPicPr>
        <p:blipFill>
          <a:blip r:embed="rId2"/>
          <a:stretch>
            <a:fillRect/>
          </a:stretch>
        </p:blipFill>
        <p:spPr>
          <a:xfrm>
            <a:off x="685800" y="1965960"/>
            <a:ext cx="6492240" cy="3277778"/>
          </a:xfrm>
          <a:prstGeom prst="rect">
            <a:avLst/>
          </a:prstGeom>
        </p:spPr>
      </p:pic>
      <p:sp>
        <p:nvSpPr>
          <p:cNvPr id="6" name="TextBox 5"/>
          <p:cNvSpPr txBox="1"/>
          <p:nvPr/>
        </p:nvSpPr>
        <p:spPr>
          <a:xfrm>
            <a:off x="685800" y="5623560"/>
            <a:ext cx="6492240" cy="274320"/>
          </a:xfrm>
          <a:prstGeom prst="rect">
            <a:avLst/>
          </a:prstGeom>
          <a:noFill/>
        </p:spPr>
        <p:txBody>
          <a:bodyPr wrap="square" lIns="0" rIns="0" tIns="0" bIns="0" anchor="t">
            <a:spAutoFit/>
          </a:bodyPr>
          <a:lstStyle/>
          <a:p>
            <a:pPr algn="l">
              <a:spcBef>
                <a:spcPts val="0"/>
              </a:spcBef>
              <a:spcAft>
                <a:spcPts val="0"/>
              </a:spcAft>
            </a:pPr>
            <a:r>
              <a:rPr sz="950" b="0" i="0">
                <a:solidFill>
                  <a:srgbClr val="8FA9AE"/>
                </a:solidFill>
                <a:latin typeface="Calibri"/>
              </a:rPr>
              <a:t>scripts/benchmark.py, YOLOv8n on two CPU cores. Lower is better.</a:t>
            </a:r>
          </a:p>
        </p:txBody>
      </p:sp>
      <p:sp>
        <p:nvSpPr>
          <p:cNvPr id="7" name="Rounded Rectangle 6"/>
          <p:cNvSpPr/>
          <p:nvPr/>
        </p:nvSpPr>
        <p:spPr>
          <a:xfrm>
            <a:off x="7589520" y="2057400"/>
            <a:ext cx="3913632" cy="16002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845552" y="2241743"/>
            <a:ext cx="3401568"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Left pair</a:t>
            </a:r>
          </a:p>
        </p:txBody>
      </p:sp>
      <p:sp>
        <p:nvSpPr>
          <p:cNvPr id="9" name="TextBox 8"/>
          <p:cNvSpPr txBox="1"/>
          <p:nvPr/>
        </p:nvSpPr>
        <p:spPr>
          <a:xfrm>
            <a:off x="7845552" y="2607503"/>
            <a:ext cx="3401568" cy="8964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Same size images: batching is a wash on this hardware. Not a bug, just physics on a saturated CPU.</a:t>
            </a:r>
          </a:p>
        </p:txBody>
      </p:sp>
      <p:sp>
        <p:nvSpPr>
          <p:cNvPr id="10" name="Rounded Rectangle 9"/>
          <p:cNvSpPr/>
          <p:nvPr/>
        </p:nvSpPr>
        <p:spPr>
          <a:xfrm>
            <a:off x="7589520" y="3840480"/>
            <a:ext cx="3913632" cy="21945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45552" y="4024823"/>
            <a:ext cx="3401568" cy="310896"/>
          </a:xfrm>
          <a:prstGeom prst="rect">
            <a:avLst/>
          </a:prstGeom>
          <a:noFill/>
        </p:spPr>
        <p:txBody>
          <a:bodyPr wrap="square" lIns="0" rIns="0" tIns="0" bIns="0" anchor="t">
            <a:spAutoFit/>
          </a:bodyPr>
          <a:lstStyle/>
          <a:p>
            <a:pPr algn="l">
              <a:spcBef>
                <a:spcPts val="0"/>
              </a:spcBef>
              <a:spcAft>
                <a:spcPts val="0"/>
              </a:spcAft>
            </a:pPr>
            <a:r>
              <a:rPr sz="1350" b="1" i="0">
                <a:solidFill>
                  <a:srgbClr val="C15B4E"/>
                </a:solidFill>
                <a:latin typeface="Calibri"/>
              </a:rPr>
              <a:t>Right pair</a:t>
            </a:r>
          </a:p>
        </p:txBody>
      </p:sp>
      <p:sp>
        <p:nvSpPr>
          <p:cNvPr id="12" name="TextBox 11"/>
          <p:cNvSpPr txBox="1"/>
          <p:nvPr/>
        </p:nvSpPr>
        <p:spPr>
          <a:xfrm>
            <a:off x="7845552" y="4390583"/>
            <a:ext cx="3401568" cy="149083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Mixed sizes: 64 percent slower per image.</a:t>
            </a:r>
          </a:p>
          <a:p>
            <a:pPr algn="l">
              <a:lnSpc>
                <a:spcPct val="115000"/>
              </a:lnSpc>
              <a:spcBef>
                <a:spcPts val="0"/>
              </a:spcBef>
              <a:spcAft>
                <a:spcPts val="500"/>
              </a:spcAft>
            </a:pPr>
            <a:r>
              <a:rPr sz="1200" b="0" i="0">
                <a:solidFill>
                  <a:srgbClr val="5A7A80"/>
                </a:solidFill>
                <a:latin typeface="Calibri"/>
              </a:rPr>
              <a:t>Ultralytics only uses rectangular inference when every image in the batch has the same shape. Mix them and everything is padded to a full square.</a:t>
            </a:r>
          </a:p>
          <a:p>
            <a:pPr algn="l">
              <a:lnSpc>
                <a:spcPct val="115000"/>
              </a:lnSpc>
              <a:spcBef>
                <a:spcPts val="0"/>
              </a:spcBef>
              <a:spcAft>
                <a:spcPts val="500"/>
              </a:spcAft>
            </a:pPr>
            <a:r>
              <a:rPr sz="1200" b="0" i="0">
                <a:solidFill>
                  <a:srgbClr val="5A7A80"/>
                </a:solidFill>
                <a:latin typeface="Calibri"/>
              </a:rPr>
              <a:t>Resize before you batch.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LONG WORK</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When the answer cannot arrive in one response</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1965960"/>
            <a:ext cx="10820095" cy="8686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41832" y="2150303"/>
            <a:ext cx="10308031" cy="530717"/>
          </a:xfrm>
          <a:prstGeom prst="rect">
            <a:avLst/>
          </a:prstGeom>
          <a:noFill/>
        </p:spPr>
        <p:txBody>
          <a:bodyPr wrap="square" lIns="0" rIns="0" tIns="0" bIns="0" anchor="t">
            <a:spAutoFit/>
          </a:bodyPr>
          <a:lstStyle/>
          <a:p>
            <a:pPr algn="l">
              <a:lnSpc>
                <a:spcPct val="115000"/>
              </a:lnSpc>
              <a:spcBef>
                <a:spcPts val="0"/>
              </a:spcBef>
              <a:spcAft>
                <a:spcPts val="500"/>
              </a:spcAft>
            </a:pPr>
            <a:r>
              <a:rPr sz="1300" b="0" i="0">
                <a:solidFill>
                  <a:srgbClr val="12343B"/>
                </a:solidFill>
                <a:latin typeface="Calibri"/>
              </a:rPr>
              <a:t>Two hundred images at 78 ms each is 16 seconds. Two thousand is three minutes. Holding an HTTP connection open that long is how you collect gateway timeouts.</a:t>
            </a:r>
          </a:p>
        </p:txBody>
      </p:sp>
      <p:sp>
        <p:nvSpPr>
          <p:cNvPr id="7" name="Rounded Rectangle 6"/>
          <p:cNvSpPr/>
          <p:nvPr/>
        </p:nvSpPr>
        <p:spPr>
          <a:xfrm>
            <a:off x="685800" y="3108960"/>
            <a:ext cx="2487168" cy="12801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5528" y="3273552"/>
            <a:ext cx="2267712" cy="320040"/>
          </a:xfrm>
          <a:prstGeom prst="rect">
            <a:avLst/>
          </a:prstGeom>
          <a:noFill/>
        </p:spPr>
        <p:txBody>
          <a:bodyPr wrap="square" lIns="0" rIns="0" tIns="0" bIns="0" anchor="t">
            <a:spAutoFit/>
          </a:bodyPr>
          <a:lstStyle/>
          <a:p>
            <a:pPr algn="ctr">
              <a:spcBef>
                <a:spcPts val="0"/>
              </a:spcBef>
              <a:spcAft>
                <a:spcPts val="0"/>
              </a:spcAft>
            </a:pPr>
            <a:r>
              <a:rPr sz="1300" b="1" i="0">
                <a:solidFill>
                  <a:srgbClr val="028090"/>
                </a:solidFill>
                <a:latin typeface="Consolas"/>
              </a:rPr>
              <a:t>POST /jobs</a:t>
            </a:r>
          </a:p>
        </p:txBody>
      </p:sp>
      <p:sp>
        <p:nvSpPr>
          <p:cNvPr id="9" name="TextBox 8"/>
          <p:cNvSpPr txBox="1"/>
          <p:nvPr/>
        </p:nvSpPr>
        <p:spPr>
          <a:xfrm>
            <a:off x="777240" y="3657600"/>
            <a:ext cx="2304288" cy="640080"/>
          </a:xfrm>
          <a:prstGeom prst="rect">
            <a:avLst/>
          </a:prstGeom>
          <a:noFill/>
        </p:spPr>
        <p:txBody>
          <a:bodyPr wrap="square" lIns="0" rIns="0" tIns="0" bIns="0" anchor="t">
            <a:spAutoFit/>
          </a:bodyPr>
          <a:lstStyle/>
          <a:p>
            <a:pPr algn="ctr">
              <a:lnSpc>
                <a:spcPct val="112000"/>
              </a:lnSpc>
              <a:spcBef>
                <a:spcPts val="0"/>
              </a:spcBef>
              <a:spcAft>
                <a:spcPts val="0"/>
              </a:spcAft>
            </a:pPr>
            <a:r>
              <a:rPr sz="1050" b="0" i="0">
                <a:solidFill>
                  <a:srgbClr val="5A7A80"/>
                </a:solidFill>
                <a:latin typeface="Calibri"/>
              </a:rPr>
              <a:t>client uploads,
server returns 202</a:t>
            </a:r>
          </a:p>
        </p:txBody>
      </p:sp>
      <p:sp>
        <p:nvSpPr>
          <p:cNvPr id="10" name="Right Arrow 9"/>
          <p:cNvSpPr/>
          <p:nvPr/>
        </p:nvSpPr>
        <p:spPr>
          <a:xfrm>
            <a:off x="3246120" y="3611880"/>
            <a:ext cx="310896" cy="329184"/>
          </a:xfrm>
          <a:prstGeom prst="rightArrow">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30168" y="3108960"/>
            <a:ext cx="2487168" cy="12801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739896" y="3273552"/>
            <a:ext cx="2267712" cy="320040"/>
          </a:xfrm>
          <a:prstGeom prst="rect">
            <a:avLst/>
          </a:prstGeom>
          <a:noFill/>
        </p:spPr>
        <p:txBody>
          <a:bodyPr wrap="square" lIns="0" rIns="0" tIns="0" bIns="0" anchor="t">
            <a:spAutoFit/>
          </a:bodyPr>
          <a:lstStyle/>
          <a:p>
            <a:pPr algn="ctr">
              <a:spcBef>
                <a:spcPts val="0"/>
              </a:spcBef>
              <a:spcAft>
                <a:spcPts val="0"/>
              </a:spcAft>
            </a:pPr>
            <a:r>
              <a:rPr sz="1300" b="1" i="0">
                <a:solidFill>
                  <a:srgbClr val="028090"/>
                </a:solidFill>
                <a:latin typeface="Consolas"/>
              </a:rPr>
              <a:t>job_id</a:t>
            </a:r>
          </a:p>
        </p:txBody>
      </p:sp>
      <p:sp>
        <p:nvSpPr>
          <p:cNvPr id="13" name="TextBox 12"/>
          <p:cNvSpPr txBox="1"/>
          <p:nvPr/>
        </p:nvSpPr>
        <p:spPr>
          <a:xfrm>
            <a:off x="3721608" y="3657600"/>
            <a:ext cx="2304288" cy="640080"/>
          </a:xfrm>
          <a:prstGeom prst="rect">
            <a:avLst/>
          </a:prstGeom>
          <a:noFill/>
        </p:spPr>
        <p:txBody>
          <a:bodyPr wrap="square" lIns="0" rIns="0" tIns="0" bIns="0" anchor="t">
            <a:spAutoFit/>
          </a:bodyPr>
          <a:lstStyle/>
          <a:p>
            <a:pPr algn="ctr">
              <a:lnSpc>
                <a:spcPct val="112000"/>
              </a:lnSpc>
              <a:spcBef>
                <a:spcPts val="0"/>
              </a:spcBef>
              <a:spcAft>
                <a:spcPts val="0"/>
              </a:spcAft>
            </a:pPr>
            <a:r>
              <a:rPr sz="1050" b="0" i="0">
                <a:solidFill>
                  <a:srgbClr val="5A7A80"/>
                </a:solidFill>
                <a:latin typeface="Calibri"/>
              </a:rPr>
              <a:t>work starts on
a worker thread</a:t>
            </a:r>
          </a:p>
        </p:txBody>
      </p:sp>
      <p:sp>
        <p:nvSpPr>
          <p:cNvPr id="14" name="Right Arrow 13"/>
          <p:cNvSpPr/>
          <p:nvPr/>
        </p:nvSpPr>
        <p:spPr>
          <a:xfrm>
            <a:off x="6190488" y="3611880"/>
            <a:ext cx="310896" cy="329184"/>
          </a:xfrm>
          <a:prstGeom prst="rightArrow">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74536" y="3108960"/>
            <a:ext cx="2487168" cy="12801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684264" y="3273552"/>
            <a:ext cx="2267712" cy="320040"/>
          </a:xfrm>
          <a:prstGeom prst="rect">
            <a:avLst/>
          </a:prstGeom>
          <a:noFill/>
        </p:spPr>
        <p:txBody>
          <a:bodyPr wrap="square" lIns="0" rIns="0" tIns="0" bIns="0" anchor="t">
            <a:spAutoFit/>
          </a:bodyPr>
          <a:lstStyle/>
          <a:p>
            <a:pPr algn="ctr">
              <a:spcBef>
                <a:spcPts val="0"/>
              </a:spcBef>
              <a:spcAft>
                <a:spcPts val="0"/>
              </a:spcAft>
            </a:pPr>
            <a:r>
              <a:rPr sz="1300" b="1" i="0">
                <a:solidFill>
                  <a:srgbClr val="028090"/>
                </a:solidFill>
                <a:latin typeface="Consolas"/>
              </a:rPr>
              <a:t>GET /jobs/{id}</a:t>
            </a:r>
          </a:p>
        </p:txBody>
      </p:sp>
      <p:sp>
        <p:nvSpPr>
          <p:cNvPr id="17" name="TextBox 16"/>
          <p:cNvSpPr txBox="1"/>
          <p:nvPr/>
        </p:nvSpPr>
        <p:spPr>
          <a:xfrm>
            <a:off x="6665976" y="3657600"/>
            <a:ext cx="2304288" cy="640080"/>
          </a:xfrm>
          <a:prstGeom prst="rect">
            <a:avLst/>
          </a:prstGeom>
          <a:noFill/>
        </p:spPr>
        <p:txBody>
          <a:bodyPr wrap="square" lIns="0" rIns="0" tIns="0" bIns="0" anchor="t">
            <a:spAutoFit/>
          </a:bodyPr>
          <a:lstStyle/>
          <a:p>
            <a:pPr algn="ctr">
              <a:lnSpc>
                <a:spcPct val="112000"/>
              </a:lnSpc>
              <a:spcBef>
                <a:spcPts val="0"/>
              </a:spcBef>
              <a:spcAft>
                <a:spcPts val="0"/>
              </a:spcAft>
            </a:pPr>
            <a:r>
              <a:rPr sz="1050" b="0" i="0">
                <a:solidFill>
                  <a:srgbClr val="5A7A80"/>
                </a:solidFill>
                <a:latin typeface="Calibri"/>
              </a:rPr>
              <a:t>queued, running,
succeeded, failed</a:t>
            </a:r>
          </a:p>
        </p:txBody>
      </p:sp>
      <p:sp>
        <p:nvSpPr>
          <p:cNvPr id="18" name="Right Arrow 17"/>
          <p:cNvSpPr/>
          <p:nvPr/>
        </p:nvSpPr>
        <p:spPr>
          <a:xfrm>
            <a:off x="9134856" y="3611880"/>
            <a:ext cx="310896" cy="329184"/>
          </a:xfrm>
          <a:prstGeom prst="rightArrow">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518904" y="3108960"/>
            <a:ext cx="2487168" cy="12801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628632" y="3273552"/>
            <a:ext cx="2267712" cy="320040"/>
          </a:xfrm>
          <a:prstGeom prst="rect">
            <a:avLst/>
          </a:prstGeom>
          <a:noFill/>
        </p:spPr>
        <p:txBody>
          <a:bodyPr wrap="square" lIns="0" rIns="0" tIns="0" bIns="0" anchor="t">
            <a:spAutoFit/>
          </a:bodyPr>
          <a:lstStyle/>
          <a:p>
            <a:pPr algn="ctr">
              <a:spcBef>
                <a:spcPts val="0"/>
              </a:spcBef>
              <a:spcAft>
                <a:spcPts val="0"/>
              </a:spcAft>
            </a:pPr>
            <a:r>
              <a:rPr sz="1300" b="1" i="0">
                <a:solidFill>
                  <a:srgbClr val="028090"/>
                </a:solidFill>
                <a:latin typeface="Consolas"/>
              </a:rPr>
              <a:t>result</a:t>
            </a:r>
          </a:p>
        </p:txBody>
      </p:sp>
      <p:sp>
        <p:nvSpPr>
          <p:cNvPr id="21" name="TextBox 20"/>
          <p:cNvSpPr txBox="1"/>
          <p:nvPr/>
        </p:nvSpPr>
        <p:spPr>
          <a:xfrm>
            <a:off x="9610344" y="3657600"/>
            <a:ext cx="2304288" cy="640080"/>
          </a:xfrm>
          <a:prstGeom prst="rect">
            <a:avLst/>
          </a:prstGeom>
          <a:noFill/>
        </p:spPr>
        <p:txBody>
          <a:bodyPr wrap="square" lIns="0" rIns="0" tIns="0" bIns="0" anchor="t">
            <a:spAutoFit/>
          </a:bodyPr>
          <a:lstStyle/>
          <a:p>
            <a:pPr algn="ctr">
              <a:lnSpc>
                <a:spcPct val="112000"/>
              </a:lnSpc>
              <a:spcBef>
                <a:spcPts val="0"/>
              </a:spcBef>
              <a:spcAft>
                <a:spcPts val="0"/>
              </a:spcAft>
            </a:pPr>
            <a:r>
              <a:rPr sz="1050" b="0" i="0">
                <a:solidFill>
                  <a:srgbClr val="5A7A80"/>
                </a:solidFill>
                <a:latin typeface="Calibri"/>
              </a:rPr>
              <a:t>the same JSON the
sync endpoint returns</a:t>
            </a:r>
          </a:p>
        </p:txBody>
      </p:sp>
      <p:sp>
        <p:nvSpPr>
          <p:cNvPr id="22" name="Rounded Rectangle 21"/>
          <p:cNvSpPr/>
          <p:nvPr/>
        </p:nvSpPr>
        <p:spPr>
          <a:xfrm>
            <a:off x="685800" y="4526280"/>
            <a:ext cx="10820095" cy="17373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41832" y="4710623"/>
            <a:ext cx="10308031" cy="310896"/>
          </a:xfrm>
          <a:prstGeom prst="rect">
            <a:avLst/>
          </a:prstGeom>
          <a:noFill/>
        </p:spPr>
        <p:txBody>
          <a:bodyPr wrap="square" lIns="0" rIns="0" tIns="0" bIns="0" anchor="t">
            <a:spAutoFit/>
          </a:bodyPr>
          <a:lstStyle/>
          <a:p>
            <a:pPr algn="l">
              <a:spcBef>
                <a:spcPts val="0"/>
              </a:spcBef>
              <a:spcAft>
                <a:spcPts val="0"/>
              </a:spcAft>
            </a:pPr>
            <a:r>
              <a:rPr sz="1350" b="1" i="0">
                <a:solidFill>
                  <a:srgbClr val="C15B4E"/>
                </a:solidFill>
                <a:latin typeface="Calibri"/>
              </a:rPr>
              <a:t>And the part we are doing wrong on purpose</a:t>
            </a:r>
          </a:p>
        </p:txBody>
      </p:sp>
      <p:sp>
        <p:nvSpPr>
          <p:cNvPr id="24" name="TextBox 23"/>
          <p:cNvSpPr txBox="1"/>
          <p:nvPr/>
        </p:nvSpPr>
        <p:spPr>
          <a:xfrm>
            <a:off x="941832" y="5076383"/>
            <a:ext cx="10308031" cy="1033637"/>
          </a:xfrm>
          <a:prstGeom prst="rect">
            <a:avLst/>
          </a:prstGeom>
          <a:noFill/>
        </p:spPr>
        <p:txBody>
          <a:bodyPr wrap="square" lIns="0" rIns="0" tIns="0" bIns="0" anchor="t">
            <a:spAutoFit/>
          </a:bodyPr>
          <a:lstStyle/>
          <a:p>
            <a:pPr algn="l">
              <a:lnSpc>
                <a:spcPct val="115000"/>
              </a:lnSpc>
              <a:spcBef>
                <a:spcPts val="0"/>
              </a:spcBef>
              <a:spcAft>
                <a:spcPts val="500"/>
              </a:spcAft>
            </a:pPr>
            <a:r>
              <a:rPr sz="1250" b="0" i="0">
                <a:solidFill>
                  <a:srgbClr val="5A7A80"/>
                </a:solidFill>
                <a:latin typeface="Calibri"/>
              </a:rPr>
              <a:t>Our job store is a dictionary in the process memory. Scale to two containers and a poll can land on the one that never saw the job. Restart, and every job is gone.</a:t>
            </a:r>
          </a:p>
          <a:p>
            <a:pPr algn="l">
              <a:lnSpc>
                <a:spcPct val="115000"/>
              </a:lnSpc>
              <a:spcBef>
                <a:spcPts val="0"/>
              </a:spcBef>
              <a:spcAft>
                <a:spcPts val="500"/>
              </a:spcAft>
            </a:pPr>
            <a:r>
              <a:rPr sz="1250" b="0" i="0">
                <a:solidFill>
                  <a:srgbClr val="5A7A80"/>
                </a:solidFill>
                <a:latin typeface="Calibri"/>
              </a:rPr>
              <a:t>Production puts the queue in Redis or SQS and the worker in a separate process. The interface in app/services/jobs.py is deliberately the same shape, so that swap touches one file. Knowing where the seam is matters more than having built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DETAILS</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Six small things that separate a demo from a service</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2103120"/>
            <a:ext cx="3529584" cy="18288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41832" y="228746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Typed contract</a:t>
            </a:r>
          </a:p>
        </p:txBody>
      </p:sp>
      <p:sp>
        <p:nvSpPr>
          <p:cNvPr id="7" name="TextBox 6"/>
          <p:cNvSpPr txBox="1"/>
          <p:nvPr/>
        </p:nvSpPr>
        <p:spPr>
          <a:xfrm>
            <a:off x="941832" y="2653223"/>
            <a:ext cx="3017520" cy="11250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Pydantic models generate the docs and reject bad input before your code runs.</a:t>
            </a:r>
          </a:p>
        </p:txBody>
      </p:sp>
      <p:sp>
        <p:nvSpPr>
          <p:cNvPr id="8" name="Rounded Rectangle 7"/>
          <p:cNvSpPr/>
          <p:nvPr/>
        </p:nvSpPr>
        <p:spPr>
          <a:xfrm>
            <a:off x="4325112" y="2103120"/>
            <a:ext cx="3529584" cy="18288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581144" y="228746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One error shape</a:t>
            </a:r>
          </a:p>
        </p:txBody>
      </p:sp>
      <p:sp>
        <p:nvSpPr>
          <p:cNvPr id="10" name="TextBox 9"/>
          <p:cNvSpPr txBox="1"/>
          <p:nvPr/>
        </p:nvSpPr>
        <p:spPr>
          <a:xfrm>
            <a:off x="4581144" y="2653223"/>
            <a:ext cx="3017520" cy="11250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Every failure returns the same JSON with a code and a request id. Never a stack trace.</a:t>
            </a:r>
          </a:p>
        </p:txBody>
      </p:sp>
      <p:sp>
        <p:nvSpPr>
          <p:cNvPr id="11" name="Rounded Rectangle 10"/>
          <p:cNvSpPr/>
          <p:nvPr/>
        </p:nvSpPr>
        <p:spPr>
          <a:xfrm>
            <a:off x="7973568" y="2103120"/>
            <a:ext cx="3529584" cy="18288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0" y="228746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Hard limits</a:t>
            </a:r>
          </a:p>
        </p:txBody>
      </p:sp>
      <p:sp>
        <p:nvSpPr>
          <p:cNvPr id="13" name="TextBox 12"/>
          <p:cNvSpPr txBox="1"/>
          <p:nvPr/>
        </p:nvSpPr>
        <p:spPr>
          <a:xfrm>
            <a:off x="8229600" y="2653223"/>
            <a:ext cx="3017520" cy="11250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Max upload size, max batch size, max pixels. Set them before someone else does.</a:t>
            </a:r>
          </a:p>
        </p:txBody>
      </p:sp>
      <p:sp>
        <p:nvSpPr>
          <p:cNvPr id="14" name="Rounded Rectangle 13"/>
          <p:cNvSpPr/>
          <p:nvPr/>
        </p:nvSpPr>
        <p:spPr>
          <a:xfrm>
            <a:off x="685800" y="4160520"/>
            <a:ext cx="3529584" cy="18288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41832" y="434486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Request ids</a:t>
            </a:r>
          </a:p>
        </p:txBody>
      </p:sp>
      <p:sp>
        <p:nvSpPr>
          <p:cNvPr id="16" name="TextBox 15"/>
          <p:cNvSpPr txBox="1"/>
          <p:nvPr/>
        </p:nvSpPr>
        <p:spPr>
          <a:xfrm>
            <a:off x="941832" y="4710623"/>
            <a:ext cx="3017520" cy="11250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Every response carries X-Request-ID and X-Process-Time-Ms. Costs nothing, saves hours.</a:t>
            </a:r>
          </a:p>
        </p:txBody>
      </p:sp>
      <p:sp>
        <p:nvSpPr>
          <p:cNvPr id="17" name="Rounded Rectangle 16"/>
          <p:cNvSpPr/>
          <p:nvPr/>
        </p:nvSpPr>
        <p:spPr>
          <a:xfrm>
            <a:off x="4325112" y="4160520"/>
            <a:ext cx="3529584" cy="18288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81144" y="434486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Config from env</a:t>
            </a:r>
          </a:p>
        </p:txBody>
      </p:sp>
      <p:sp>
        <p:nvSpPr>
          <p:cNvPr id="19" name="TextBox 18"/>
          <p:cNvSpPr txBox="1"/>
          <p:nvPr/>
        </p:nvSpPr>
        <p:spPr>
          <a:xfrm>
            <a:off x="4581144" y="4710623"/>
            <a:ext cx="3017520" cy="11250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Nothing hardcoded. The same image behaves differently in dev and prod.</a:t>
            </a:r>
          </a:p>
        </p:txBody>
      </p:sp>
      <p:sp>
        <p:nvSpPr>
          <p:cNvPr id="20" name="Rounded Rectangle 19"/>
          <p:cNvSpPr/>
          <p:nvPr/>
        </p:nvSpPr>
        <p:spPr>
          <a:xfrm>
            <a:off x="7973568" y="4160520"/>
            <a:ext cx="3529584" cy="18288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9600" y="434486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Tests on the real model</a:t>
            </a:r>
          </a:p>
        </p:txBody>
      </p:sp>
      <p:sp>
        <p:nvSpPr>
          <p:cNvPr id="22" name="TextBox 21"/>
          <p:cNvSpPr txBox="1"/>
          <p:nvPr/>
        </p:nvSpPr>
        <p:spPr>
          <a:xfrm>
            <a:off x="8229600" y="4710623"/>
            <a:ext cx="3017520" cy="11250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Twenty of them, running the real lifespan, because startup is where model servers break.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457200" cy="6858000"/>
          </a:xfrm>
          <a:prstGeom prst="rect">
            <a:avLst/>
          </a:prstGeom>
          <a:solidFill>
            <a:srgbClr val="0F3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 name="Rectangle 1"/>
          <p:cNvSpPr/>
          <p:nvPr/>
        </p:nvSpPr>
        <p:spPr>
          <a:xfrm>
            <a:off x="0" y="0"/>
            <a:ext cx="12191695" cy="6858000"/>
          </a:xfrm>
          <a:prstGeom prst="rect">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8CE6C9"/>
                </a:solidFill>
                <a:latin typeface="Calibri"/>
              </a:rPr>
              <a:t>HANDS ON, PART ONE</a:t>
            </a:r>
          </a:p>
        </p:txBody>
      </p:sp>
      <p:sp>
        <p:nvSpPr>
          <p:cNvPr id="5" name="TextBox 4"/>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FFFFFF"/>
                </a:solidFill>
                <a:latin typeface="Cambria"/>
              </a:rPr>
              <a:t>Run it locally</a:t>
            </a:r>
          </a:p>
        </p:txBody>
      </p:sp>
      <p:sp>
        <p:nvSpPr>
          <p:cNvPr id="6" name="Rounded Rectangle 5"/>
          <p:cNvSpPr/>
          <p:nvPr/>
        </p:nvSpPr>
        <p:spPr>
          <a:xfrm>
            <a:off x="685800" y="1874519"/>
            <a:ext cx="5943600" cy="288036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23544" y="2057400"/>
            <a:ext cx="5468112" cy="256032"/>
          </a:xfrm>
          <a:prstGeom prst="rect">
            <a:avLst/>
          </a:prstGeom>
          <a:noFill/>
        </p:spPr>
        <p:txBody>
          <a:bodyPr wrap="square" lIns="0" rIns="0" tIns="0" bIns="0" anchor="t">
            <a:spAutoFit/>
          </a:bodyPr>
          <a:lstStyle/>
          <a:p>
            <a:pPr algn="l">
              <a:spcBef>
                <a:spcPts val="0"/>
              </a:spcBef>
              <a:spcAft>
                <a:spcPts val="0"/>
              </a:spcAft>
            </a:pPr>
            <a:r>
              <a:rPr sz="1050" b="1" i="0">
                <a:solidFill>
                  <a:srgbClr val="8CE6C9"/>
                </a:solidFill>
                <a:latin typeface="Calibri"/>
              </a:rPr>
              <a:t>TERMINAL</a:t>
            </a:r>
          </a:p>
        </p:txBody>
      </p:sp>
      <p:sp>
        <p:nvSpPr>
          <p:cNvPr id="8" name="TextBox 7"/>
          <p:cNvSpPr txBox="1"/>
          <p:nvPr/>
        </p:nvSpPr>
        <p:spPr>
          <a:xfrm>
            <a:off x="923544" y="2368296"/>
            <a:ext cx="5468112" cy="2240279"/>
          </a:xfrm>
          <a:prstGeom prst="rect">
            <a:avLst/>
          </a:prstGeom>
          <a:noFill/>
        </p:spPr>
        <p:txBody>
          <a:bodyPr wrap="square" lIns="0" rIns="0" tIns="0" bIns="0" anchor="t">
            <a:spAutoFit/>
          </a:bodyPr>
          <a:lstStyle/>
          <a:p>
            <a:pPr algn="l">
              <a:lnSpc>
                <a:spcPct val="122000"/>
              </a:lnSpc>
              <a:spcBef>
                <a:spcPts val="0"/>
              </a:spcBef>
              <a:spcAft>
                <a:spcPts val="0"/>
              </a:spcAft>
            </a:pPr>
            <a:r>
              <a:rPr sz="1150" b="0" i="0">
                <a:solidFill>
                  <a:srgbClr val="D6E7E4"/>
                </a:solidFill>
                <a:latin typeface="Consolas"/>
              </a:rPr>
              <a:t>python -m venv .venv &amp;&amp; source .venv/bin/activate</a:t>
            </a:r>
          </a:p>
          <a:p>
            <a:pPr algn="l">
              <a:lnSpc>
                <a:spcPct val="122000"/>
              </a:lnSpc>
              <a:spcBef>
                <a:spcPts val="0"/>
              </a:spcBef>
              <a:spcAft>
                <a:spcPts val="0"/>
              </a:spcAft>
            </a:pPr>
            <a:r>
              <a:rPr sz="1150" b="0" i="0">
                <a:solidFill>
                  <a:srgbClr val="D6E7E4"/>
                </a:solidFill>
                <a:latin typeface="Consolas"/>
              </a:rPr>
              <a:t>pip install -r requirements-torch-cpu.txt</a:t>
            </a:r>
          </a:p>
          <a:p>
            <a:pPr algn="l">
              <a:lnSpc>
                <a:spcPct val="122000"/>
              </a:lnSpc>
              <a:spcBef>
                <a:spcPts val="0"/>
              </a:spcBef>
              <a:spcAft>
                <a:spcPts val="0"/>
              </a:spcAft>
            </a:pPr>
            <a:r>
              <a:rPr sz="1150" b="0" i="0">
                <a:solidFill>
                  <a:srgbClr val="D6E7E4"/>
                </a:solidFill>
                <a:latin typeface="Consolas"/>
              </a:rPr>
              <a:t>pip install -r requirements-dev.txt</a:t>
            </a:r>
          </a:p>
          <a:p>
            <a:pPr algn="l">
              <a:lnSpc>
                <a:spcPct val="122000"/>
              </a:lnSpc>
              <a:spcBef>
                <a:spcPts val="0"/>
              </a:spcBef>
              <a:spcAft>
                <a:spcPts val="0"/>
              </a:spcAft>
            </a:pPr>
            <a:r>
              <a:rPr sz="1150" b="0" i="0">
                <a:solidFill>
                  <a:srgbClr val="D6E7E4"/>
                </a:solidFill>
                <a:latin typeface="Consolas"/>
              </a:rPr>
              <a:t/>
            </a:r>
          </a:p>
          <a:p>
            <a:pPr algn="l">
              <a:lnSpc>
                <a:spcPct val="122000"/>
              </a:lnSpc>
              <a:spcBef>
                <a:spcPts val="0"/>
              </a:spcBef>
              <a:spcAft>
                <a:spcPts val="0"/>
              </a:spcAft>
            </a:pPr>
            <a:r>
              <a:rPr sz="1150" b="0" i="0">
                <a:solidFill>
                  <a:srgbClr val="02C39A"/>
                </a:solidFill>
                <a:latin typeface="Consolas"/>
              </a:rPr>
              <a:t>python scripts/download_model.py</a:t>
            </a:r>
          </a:p>
          <a:p>
            <a:pPr algn="l">
              <a:lnSpc>
                <a:spcPct val="122000"/>
              </a:lnSpc>
              <a:spcBef>
                <a:spcPts val="0"/>
              </a:spcBef>
              <a:spcAft>
                <a:spcPts val="0"/>
              </a:spcAft>
            </a:pPr>
            <a:r>
              <a:rPr sz="1150" b="0" i="0">
                <a:solidFill>
                  <a:srgbClr val="02C39A"/>
                </a:solidFill>
                <a:latin typeface="Consolas"/>
              </a:rPr>
              <a:t>python scripts/download_samples.py</a:t>
            </a:r>
          </a:p>
          <a:p>
            <a:pPr algn="l">
              <a:lnSpc>
                <a:spcPct val="122000"/>
              </a:lnSpc>
              <a:spcBef>
                <a:spcPts val="0"/>
              </a:spcBef>
              <a:spcAft>
                <a:spcPts val="0"/>
              </a:spcAft>
            </a:pPr>
            <a:r>
              <a:rPr sz="1150" b="0" i="0">
                <a:solidFill>
                  <a:srgbClr val="D6E7E4"/>
                </a:solidFill>
                <a:latin typeface="Consolas"/>
              </a:rPr>
              <a:t/>
            </a:r>
          </a:p>
          <a:p>
            <a:pPr algn="l">
              <a:lnSpc>
                <a:spcPct val="122000"/>
              </a:lnSpc>
              <a:spcBef>
                <a:spcPts val="0"/>
              </a:spcBef>
              <a:spcAft>
                <a:spcPts val="0"/>
              </a:spcAft>
            </a:pPr>
            <a:r>
              <a:rPr sz="1150" b="0" i="0">
                <a:solidFill>
                  <a:srgbClr val="8CE6C9"/>
                </a:solidFill>
                <a:latin typeface="Consolas"/>
              </a:rPr>
              <a:t>uvicorn app.main:app --reload --port 8000</a:t>
            </a:r>
          </a:p>
          <a:p>
            <a:pPr algn="l">
              <a:lnSpc>
                <a:spcPct val="122000"/>
              </a:lnSpc>
              <a:spcBef>
                <a:spcPts val="0"/>
              </a:spcBef>
              <a:spcAft>
                <a:spcPts val="0"/>
              </a:spcAft>
            </a:pPr>
            <a:r>
              <a:rPr sz="1150" b="0" i="0">
                <a:solidFill>
                  <a:srgbClr val="8CE6C9"/>
                </a:solidFill>
                <a:latin typeface="Consolas"/>
              </a:rPr>
              <a:t>pytest</a:t>
            </a:r>
          </a:p>
        </p:txBody>
      </p:sp>
      <p:sp>
        <p:nvSpPr>
          <p:cNvPr id="9" name="Rounded Rectangle 8"/>
          <p:cNvSpPr/>
          <p:nvPr/>
        </p:nvSpPr>
        <p:spPr>
          <a:xfrm>
            <a:off x="6720840" y="1874519"/>
            <a:ext cx="4782312" cy="28803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958584" y="2084831"/>
            <a:ext cx="4306824" cy="2468880"/>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Watch the startup log</a:t>
            </a:r>
          </a:p>
          <a:p>
            <a:pPr algn="l">
              <a:spcBef>
                <a:spcPts val="800"/>
              </a:spcBef>
              <a:spcAft>
                <a:spcPts val="0"/>
              </a:spcAft>
            </a:pPr>
            <a:r>
              <a:rPr sz="1100" b="0" i="0">
                <a:solidFill>
                  <a:srgbClr val="12343B"/>
                </a:solidFill>
                <a:latin typeface="Consolas"/>
              </a:rPr>
              <a:t>Loaded yolov8n.pt on cpu in 0.04s (80 classes)</a:t>
            </a:r>
          </a:p>
          <a:p>
            <a:pPr algn="l">
              <a:spcBef>
                <a:spcPts val="0"/>
              </a:spcBef>
              <a:spcAft>
                <a:spcPts val="0"/>
              </a:spcAft>
            </a:pPr>
            <a:r>
              <a:rPr sz="1100" b="0" i="0">
                <a:solidFill>
                  <a:srgbClr val="12343B"/>
                </a:solidFill>
                <a:latin typeface="Consolas"/>
              </a:rPr>
              <a:t>Warmup inference took 1194 ms</a:t>
            </a:r>
          </a:p>
          <a:p>
            <a:pPr algn="l">
              <a:spcBef>
                <a:spcPts val="0"/>
              </a:spcBef>
              <a:spcAft>
                <a:spcPts val="0"/>
              </a:spcAft>
            </a:pPr>
            <a:r>
              <a:rPr sz="1100" b="0" i="0">
                <a:solidFill>
                  <a:srgbClr val="12343B"/>
                </a:solidFill>
                <a:latin typeface="Consolas"/>
              </a:rPr>
              <a:t>Service ready</a:t>
            </a:r>
          </a:p>
          <a:p>
            <a:pPr algn="l">
              <a:spcBef>
                <a:spcPts val="1000"/>
              </a:spcBef>
              <a:spcAft>
                <a:spcPts val="0"/>
              </a:spcAft>
            </a:pPr>
            <a:r>
              <a:rPr sz="1150" b="0" i="0">
                <a:solidFill>
                  <a:srgbClr val="5A7A80"/>
                </a:solidFill>
                <a:latin typeface="Calibri"/>
              </a:rPr>
              <a:t>Those three lines are the whole lesson about model loading: once, early, and warm before the first user arrives.</a:t>
            </a:r>
          </a:p>
        </p:txBody>
      </p:sp>
      <p:sp>
        <p:nvSpPr>
          <p:cNvPr id="11" name="Rounded Rectangle 10"/>
          <p:cNvSpPr/>
          <p:nvPr/>
        </p:nvSpPr>
        <p:spPr>
          <a:xfrm>
            <a:off x="685800" y="4937760"/>
            <a:ext cx="10817352" cy="123444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23544" y="5120640"/>
            <a:ext cx="10341864" cy="256032"/>
          </a:xfrm>
          <a:prstGeom prst="rect">
            <a:avLst/>
          </a:prstGeom>
          <a:noFill/>
        </p:spPr>
        <p:txBody>
          <a:bodyPr wrap="square" lIns="0" rIns="0" tIns="0" bIns="0" anchor="t">
            <a:spAutoFit/>
          </a:bodyPr>
          <a:lstStyle/>
          <a:p>
            <a:pPr algn="l">
              <a:spcBef>
                <a:spcPts val="0"/>
              </a:spcBef>
              <a:spcAft>
                <a:spcPts val="0"/>
              </a:spcAft>
            </a:pPr>
            <a:r>
              <a:rPr sz="1050" b="1" i="0">
                <a:solidFill>
                  <a:srgbClr val="8CE6C9"/>
                </a:solidFill>
                <a:latin typeface="Calibri"/>
              </a:rPr>
              <a:t>THEN CALL IT</a:t>
            </a:r>
          </a:p>
        </p:txBody>
      </p:sp>
      <p:sp>
        <p:nvSpPr>
          <p:cNvPr id="13" name="TextBox 12"/>
          <p:cNvSpPr txBox="1"/>
          <p:nvPr/>
        </p:nvSpPr>
        <p:spPr>
          <a:xfrm>
            <a:off x="923544" y="5431536"/>
            <a:ext cx="10341864" cy="594360"/>
          </a:xfrm>
          <a:prstGeom prst="rect">
            <a:avLst/>
          </a:prstGeom>
          <a:noFill/>
        </p:spPr>
        <p:txBody>
          <a:bodyPr wrap="square" lIns="0" rIns="0" tIns="0" bIns="0" anchor="t">
            <a:spAutoFit/>
          </a:bodyPr>
          <a:lstStyle/>
          <a:p>
            <a:pPr algn="l">
              <a:lnSpc>
                <a:spcPct val="122000"/>
              </a:lnSpc>
              <a:spcBef>
                <a:spcPts val="0"/>
              </a:spcBef>
              <a:spcAft>
                <a:spcPts val="0"/>
              </a:spcAft>
            </a:pPr>
            <a:r>
              <a:rPr sz="1100" b="0" i="0">
                <a:solidFill>
                  <a:srgbClr val="D6E7E4"/>
                </a:solidFill>
                <a:latin typeface="Consolas"/>
              </a:rPr>
              <a:t>curl -X POST -F "file=@samples/bus.jpg"  localhost:8000/predict</a:t>
            </a:r>
          </a:p>
          <a:p>
            <a:pPr algn="l">
              <a:lnSpc>
                <a:spcPct val="122000"/>
              </a:lnSpc>
              <a:spcBef>
                <a:spcPts val="0"/>
              </a:spcBef>
              <a:spcAft>
                <a:spcPts val="0"/>
              </a:spcAft>
            </a:pPr>
            <a:r>
              <a:rPr sz="1100" b="0" i="0">
                <a:solidFill>
                  <a:srgbClr val="D6E7E4"/>
                </a:solidFill>
                <a:latin typeface="Consolas"/>
              </a:rPr>
              <a:t>curl -X POST -F "files=@samples/bus.jpg" -F "files=@samples/zidane.jpg" localhost:8000/predict/batch</a:t>
            </a:r>
          </a:p>
          <a:p>
            <a:pPr algn="l">
              <a:lnSpc>
                <a:spcPct val="122000"/>
              </a:lnSpc>
              <a:spcBef>
                <a:spcPts val="0"/>
              </a:spcBef>
              <a:spcAft>
                <a:spcPts val="0"/>
              </a:spcAft>
            </a:pPr>
            <a:r>
              <a:rPr sz="1100" b="0" i="0">
                <a:solidFill>
                  <a:srgbClr val="8CE6C9"/>
                </a:solidFill>
                <a:latin typeface="Consolas"/>
              </a:rPr>
              <a:t>python scripts/benchmark.py --n 8      # then scripts/blocking_demo.py</a:t>
            </a:r>
          </a:p>
        </p:txBody>
      </p:sp>
      <p:sp>
        <p:nvSpPr>
          <p:cNvPr id="14" name="TextBox 1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9AB4B8"/>
                </a:solidFill>
                <a:latin typeface="Calibri"/>
              </a:rPr>
              <a:t>Session 39  ·  FastAPI Model Serving and Cloud Deployment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457200" cy="6858000"/>
          </a:xfrm>
          <a:prstGeom prst="rect">
            <a:avLst/>
          </a:prstGeom>
          <a:solidFill>
            <a:srgbClr val="0F3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 name="Rectangle 1"/>
          <p:cNvSpPr/>
          <p:nvPr/>
        </p:nvSpPr>
        <p:spPr>
          <a:xfrm>
            <a:off x="0" y="0"/>
            <a:ext cx="12191695" cy="6858000"/>
          </a:xfrm>
          <a:prstGeom prst="rect">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85800" y="2377440"/>
            <a:ext cx="10820095" cy="365760"/>
          </a:xfrm>
          <a:prstGeom prst="rect">
            <a:avLst/>
          </a:prstGeom>
          <a:noFill/>
        </p:spPr>
        <p:txBody>
          <a:bodyPr wrap="square" lIns="0" rIns="0" tIns="0" bIns="0" anchor="t">
            <a:spAutoFit/>
          </a:bodyPr>
          <a:lstStyle/>
          <a:p>
            <a:pPr algn="l">
              <a:spcBef>
                <a:spcPts val="0"/>
              </a:spcBef>
              <a:spcAft>
                <a:spcPts val="0"/>
              </a:spcAft>
            </a:pPr>
            <a:r>
              <a:rPr sz="1300" b="1" i="0">
                <a:solidFill>
                  <a:srgbClr val="8CE6C9"/>
                </a:solidFill>
                <a:latin typeface="Calibri"/>
              </a:rPr>
              <a:t>PART TWO</a:t>
            </a:r>
          </a:p>
        </p:txBody>
      </p:sp>
      <p:sp>
        <p:nvSpPr>
          <p:cNvPr id="5" name="TextBox 4"/>
          <p:cNvSpPr txBox="1"/>
          <p:nvPr/>
        </p:nvSpPr>
        <p:spPr>
          <a:xfrm>
            <a:off x="685800" y="2743200"/>
            <a:ext cx="10820095" cy="914400"/>
          </a:xfrm>
          <a:prstGeom prst="rect">
            <a:avLst/>
          </a:prstGeom>
          <a:noFill/>
        </p:spPr>
        <p:txBody>
          <a:bodyPr wrap="square" lIns="0" rIns="0" tIns="0" bIns="0" anchor="t">
            <a:spAutoFit/>
          </a:bodyPr>
          <a:lstStyle/>
          <a:p>
            <a:pPr algn="l">
              <a:spcBef>
                <a:spcPts val="0"/>
              </a:spcBef>
              <a:spcAft>
                <a:spcPts val="0"/>
              </a:spcAft>
            </a:pPr>
            <a:r>
              <a:rPr sz="4400" b="1" i="0">
                <a:solidFill>
                  <a:srgbClr val="FFFFFF"/>
                </a:solidFill>
                <a:latin typeface="Cambria"/>
              </a:rPr>
              <a:t>Containers</a:t>
            </a:r>
          </a:p>
        </p:txBody>
      </p:sp>
      <p:sp>
        <p:nvSpPr>
          <p:cNvPr id="6" name="TextBox 5"/>
          <p:cNvSpPr txBox="1"/>
          <p:nvPr/>
        </p:nvSpPr>
        <p:spPr>
          <a:xfrm>
            <a:off x="685800" y="3749039"/>
            <a:ext cx="7498079" cy="822960"/>
          </a:xfrm>
          <a:prstGeom prst="rect">
            <a:avLst/>
          </a:prstGeom>
          <a:noFill/>
        </p:spPr>
        <p:txBody>
          <a:bodyPr wrap="square" lIns="0" rIns="0" tIns="0" bIns="0" anchor="t">
            <a:spAutoFit/>
          </a:bodyPr>
          <a:lstStyle/>
          <a:p>
            <a:pPr algn="l">
              <a:lnSpc>
                <a:spcPct val="125000"/>
              </a:lnSpc>
              <a:spcBef>
                <a:spcPts val="0"/>
              </a:spcBef>
              <a:spcAft>
                <a:spcPts val="0"/>
              </a:spcAft>
            </a:pPr>
            <a:r>
              <a:rPr sz="1500" b="0" i="0">
                <a:solidFill>
                  <a:srgbClr val="D6E7E4"/>
                </a:solidFill>
                <a:latin typeface="Calibri"/>
              </a:rPr>
              <a:t>The API works on your laptop. Now make it work identically on a machine you have never logged into.</a:t>
            </a:r>
          </a:p>
        </p:txBody>
      </p:sp>
      <p:sp>
        <p:nvSpPr>
          <p:cNvPr id="7" name="Rounded Rectangle 6"/>
          <p:cNvSpPr/>
          <p:nvPr/>
        </p:nvSpPr>
        <p:spPr>
          <a:xfrm>
            <a:off x="685800" y="4937760"/>
            <a:ext cx="2560320" cy="457200"/>
          </a:xfrm>
          <a:prstGeom prst="roundRect">
            <a:avLst>
              <a:gd name="adj" fmla="val 50000"/>
            </a:avLst>
          </a:prstGeom>
          <a:solidFill>
            <a:srgbClr val="8CE6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150" b="1" i="0">
                <a:solidFill>
                  <a:srgbClr val="12343B"/>
                </a:solidFill>
                <a:latin typeface="Calibri"/>
              </a:rPr>
              <a:t>Multi stage build</a:t>
            </a:r>
          </a:p>
        </p:txBody>
      </p:sp>
      <p:sp>
        <p:nvSpPr>
          <p:cNvPr id="8" name="Rounded Rectangle 7"/>
          <p:cNvSpPr/>
          <p:nvPr/>
        </p:nvSpPr>
        <p:spPr>
          <a:xfrm>
            <a:off x="3429000" y="4937760"/>
            <a:ext cx="2560320" cy="457200"/>
          </a:xfrm>
          <a:prstGeom prst="roundRect">
            <a:avLst>
              <a:gd name="adj" fmla="val 50000"/>
            </a:avLst>
          </a:prstGeom>
          <a:solidFill>
            <a:srgbClr val="8CE6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150" b="1" i="0">
                <a:solidFill>
                  <a:srgbClr val="12343B"/>
                </a:solidFill>
                <a:latin typeface="Calibri"/>
              </a:rPr>
              <a:t>CPU only PyTorch</a:t>
            </a:r>
          </a:p>
        </p:txBody>
      </p:sp>
      <p:sp>
        <p:nvSpPr>
          <p:cNvPr id="9" name="Rounded Rectangle 8"/>
          <p:cNvSpPr/>
          <p:nvPr/>
        </p:nvSpPr>
        <p:spPr>
          <a:xfrm>
            <a:off x="6172200" y="4937760"/>
            <a:ext cx="2560320" cy="457200"/>
          </a:xfrm>
          <a:prstGeom prst="roundRect">
            <a:avLst>
              <a:gd name="adj" fmla="val 50000"/>
            </a:avLst>
          </a:prstGeom>
          <a:solidFill>
            <a:srgbClr val="8CE6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150" b="1" i="0">
                <a:solidFill>
                  <a:srgbClr val="12343B"/>
                </a:solidFill>
                <a:latin typeface="Calibri"/>
              </a:rPr>
              <a:t>Non root, health checked</a:t>
            </a:r>
          </a:p>
        </p:txBody>
      </p:sp>
      <p:sp>
        <p:nvSpPr>
          <p:cNvPr id="10" name="Rounded Rectangle 9"/>
          <p:cNvSpPr/>
          <p:nvPr/>
        </p:nvSpPr>
        <p:spPr>
          <a:xfrm>
            <a:off x="8915400" y="4937760"/>
            <a:ext cx="2560320" cy="457200"/>
          </a:xfrm>
          <a:prstGeom prst="roundRect">
            <a:avLst>
              <a:gd name="adj" fmla="val 50000"/>
            </a:avLst>
          </a:prstGeom>
          <a:solidFill>
            <a:srgbClr val="8CE6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150" b="1" i="0">
                <a:solidFill>
                  <a:srgbClr val="12343B"/>
                </a:solidFill>
                <a:latin typeface="Calibri"/>
              </a:rPr>
              <a:t>1.77 GB</a:t>
            </a:r>
          </a:p>
        </p:txBody>
      </p:sp>
      <p:sp>
        <p:nvSpPr>
          <p:cNvPr id="11" name="TextBox 10"/>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9AB4B8"/>
                </a:solidFill>
                <a:latin typeface="Calibri"/>
              </a:rPr>
              <a:t>Session 39  ·  FastAPI Model Serving and Cloud Deployment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CONTAINERS</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What the image actually fixes</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1965960"/>
            <a:ext cx="5349240" cy="21945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41832" y="215030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C15B4E"/>
                </a:solidFill>
                <a:latin typeface="Calibri"/>
              </a:rPr>
              <a:t>Without one</a:t>
            </a:r>
          </a:p>
        </p:txBody>
      </p:sp>
      <p:sp>
        <p:nvSpPr>
          <p:cNvPr id="7" name="TextBox 6"/>
          <p:cNvSpPr txBox="1"/>
          <p:nvPr/>
        </p:nvSpPr>
        <p:spPr>
          <a:xfrm>
            <a:off x="941832" y="2516063"/>
            <a:ext cx="4837175" cy="149083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Python 3.11 here, 3.9 there.</a:t>
            </a:r>
          </a:p>
          <a:p>
            <a:pPr algn="l">
              <a:lnSpc>
                <a:spcPct val="115000"/>
              </a:lnSpc>
              <a:spcBef>
                <a:spcPts val="0"/>
              </a:spcBef>
              <a:spcAft>
                <a:spcPts val="500"/>
              </a:spcAft>
            </a:pPr>
            <a:r>
              <a:rPr sz="1200" b="0" i="0">
                <a:solidFill>
                  <a:srgbClr val="5A7A80"/>
                </a:solidFill>
                <a:latin typeface="Calibri"/>
              </a:rPr>
              <a:t>Torch installed from a different index.</a:t>
            </a:r>
          </a:p>
          <a:p>
            <a:pPr algn="l">
              <a:lnSpc>
                <a:spcPct val="115000"/>
              </a:lnSpc>
              <a:spcBef>
                <a:spcPts val="0"/>
              </a:spcBef>
              <a:spcAft>
                <a:spcPts val="500"/>
              </a:spcAft>
            </a:pPr>
            <a:r>
              <a:rPr sz="1200" b="0" i="0">
                <a:solidFill>
                  <a:srgbClr val="5A7A80"/>
                </a:solidFill>
                <a:latin typeface="Calibri"/>
              </a:rPr>
              <a:t>libGL present on your machine, missing on the server.</a:t>
            </a:r>
          </a:p>
          <a:p>
            <a:pPr algn="l">
              <a:lnSpc>
                <a:spcPct val="115000"/>
              </a:lnSpc>
              <a:spcBef>
                <a:spcPts val="0"/>
              </a:spcBef>
              <a:spcAft>
                <a:spcPts val="500"/>
              </a:spcAft>
            </a:pPr>
            <a:r>
              <a:rPr sz="1200" b="0" i="0">
                <a:solidFill>
                  <a:srgbClr val="5A7A80"/>
                </a:solidFill>
                <a:latin typeface="Calibri"/>
              </a:rPr>
              <a:t>The weights downloaded at a different time, from a moving tag.</a:t>
            </a:r>
          </a:p>
          <a:p>
            <a:pPr algn="l">
              <a:lnSpc>
                <a:spcPct val="115000"/>
              </a:lnSpc>
              <a:spcBef>
                <a:spcPts val="0"/>
              </a:spcBef>
              <a:spcAft>
                <a:spcPts val="500"/>
              </a:spcAft>
            </a:pPr>
            <a:r>
              <a:rPr sz="1200" b="0" i="0">
                <a:solidFill>
                  <a:srgbClr val="5A7A80"/>
                </a:solidFill>
                <a:latin typeface="Calibri"/>
              </a:rPr>
              <a:t>Six of those and the phrase works on my machine stops being a joke.</a:t>
            </a:r>
          </a:p>
        </p:txBody>
      </p:sp>
      <p:sp>
        <p:nvSpPr>
          <p:cNvPr id="8" name="Rounded Rectangle 7"/>
          <p:cNvSpPr/>
          <p:nvPr/>
        </p:nvSpPr>
        <p:spPr>
          <a:xfrm>
            <a:off x="6153912" y="1965960"/>
            <a:ext cx="5349240" cy="21945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409944" y="215030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02C39A"/>
                </a:solidFill>
                <a:latin typeface="Calibri"/>
              </a:rPr>
              <a:t>With one</a:t>
            </a:r>
          </a:p>
        </p:txBody>
      </p:sp>
      <p:sp>
        <p:nvSpPr>
          <p:cNvPr id="10" name="TextBox 9"/>
          <p:cNvSpPr txBox="1"/>
          <p:nvPr/>
        </p:nvSpPr>
        <p:spPr>
          <a:xfrm>
            <a:off x="6409944" y="2516063"/>
            <a:ext cx="4837175" cy="149083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Interpreter, libraries, system packages, weights and code are one artefact with one checksum.</a:t>
            </a:r>
          </a:p>
          <a:p>
            <a:pPr algn="l">
              <a:lnSpc>
                <a:spcPct val="115000"/>
              </a:lnSpc>
              <a:spcBef>
                <a:spcPts val="0"/>
              </a:spcBef>
              <a:spcAft>
                <a:spcPts val="500"/>
              </a:spcAft>
            </a:pPr>
            <a:r>
              <a:rPr sz="1200" b="0" i="0">
                <a:solidFill>
                  <a:srgbClr val="5A7A80"/>
                </a:solidFill>
                <a:latin typeface="Calibri"/>
              </a:rPr>
              <a:t>The thing you tested is byte for byte the thing that runs in production.</a:t>
            </a:r>
          </a:p>
          <a:p>
            <a:pPr algn="l">
              <a:lnSpc>
                <a:spcPct val="115000"/>
              </a:lnSpc>
              <a:spcBef>
                <a:spcPts val="0"/>
              </a:spcBef>
              <a:spcAft>
                <a:spcPts val="500"/>
              </a:spcAft>
            </a:pPr>
            <a:r>
              <a:rPr sz="1200" b="0" i="0">
                <a:solidFill>
                  <a:srgbClr val="5A7A80"/>
                </a:solidFill>
                <a:latin typeface="Calibri"/>
              </a:rPr>
              <a:t>Rollback is redeploying an older tag, not undoing an install.</a:t>
            </a:r>
          </a:p>
        </p:txBody>
      </p:sp>
      <p:sp>
        <p:nvSpPr>
          <p:cNvPr id="11" name="Rounded Rectangle 10"/>
          <p:cNvSpPr/>
          <p:nvPr/>
        </p:nvSpPr>
        <p:spPr>
          <a:xfrm>
            <a:off x="685800" y="4343400"/>
            <a:ext cx="10820095" cy="17373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4527743"/>
            <a:ext cx="10308031"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The ML specific reason</a:t>
            </a:r>
          </a:p>
        </p:txBody>
      </p:sp>
      <p:sp>
        <p:nvSpPr>
          <p:cNvPr id="13" name="TextBox 12"/>
          <p:cNvSpPr txBox="1"/>
          <p:nvPr/>
        </p:nvSpPr>
        <p:spPr>
          <a:xfrm>
            <a:off x="941832" y="4893503"/>
            <a:ext cx="10308031" cy="1033637"/>
          </a:xfrm>
          <a:prstGeom prst="rect">
            <a:avLst/>
          </a:prstGeom>
          <a:noFill/>
        </p:spPr>
        <p:txBody>
          <a:bodyPr wrap="square" lIns="0" rIns="0" tIns="0" bIns="0" anchor="t">
            <a:spAutoFit/>
          </a:bodyPr>
          <a:lstStyle/>
          <a:p>
            <a:pPr algn="l">
              <a:lnSpc>
                <a:spcPct val="115000"/>
              </a:lnSpc>
              <a:spcBef>
                <a:spcPts val="0"/>
              </a:spcBef>
              <a:spcAft>
                <a:spcPts val="500"/>
              </a:spcAft>
            </a:pPr>
            <a:r>
              <a:rPr sz="1250" b="0" i="0">
                <a:solidFill>
                  <a:srgbClr val="5A7A80"/>
                </a:solidFill>
                <a:latin typeface="Calibri"/>
              </a:rPr>
              <a:t>A machine learning image is unusually fragile because so much of it is native code. PyTorch ships compiled kernels, OpenCV needs system shared libraries, and the model weights are a binary blob that must match the library version that reads them.</a:t>
            </a:r>
          </a:p>
          <a:p>
            <a:pPr algn="l">
              <a:lnSpc>
                <a:spcPct val="115000"/>
              </a:lnSpc>
              <a:spcBef>
                <a:spcPts val="0"/>
              </a:spcBef>
              <a:spcAft>
                <a:spcPts val="500"/>
              </a:spcAft>
            </a:pPr>
            <a:r>
              <a:rPr sz="1250" b="0" i="0">
                <a:solidFill>
                  <a:srgbClr val="5A7A80"/>
                </a:solidFill>
                <a:latin typeface="Calibri"/>
              </a:rPr>
              <a:t>Pinning that in a Dockerfile is not ceremony. It is the only way the combination stays reproducible six months from now.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DOCKERFILE</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Two stages, and why the order matters</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1920240"/>
            <a:ext cx="5989320" cy="416052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23544" y="2103120"/>
            <a:ext cx="5513831" cy="3831335"/>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8CE6C9"/>
                </a:solidFill>
                <a:latin typeface="Consolas"/>
              </a:rPr>
              <a:t>FROM python:3.11-slim AS builder</a:t>
            </a:r>
          </a:p>
          <a:p>
            <a:pPr algn="l">
              <a:lnSpc>
                <a:spcPct val="120000"/>
              </a:lnSpc>
              <a:spcBef>
                <a:spcPts val="0"/>
              </a:spcBef>
              <a:spcAft>
                <a:spcPts val="0"/>
              </a:spcAft>
            </a:pPr>
            <a:r>
              <a:rPr sz="1050" b="0" i="0">
                <a:solidFill>
                  <a:srgbClr val="D6E7E4"/>
                </a:solidFill>
                <a:latin typeface="Consolas"/>
              </a:rPr>
              <a:t>RUN python -m venv /opt/venv</a:t>
            </a:r>
          </a:p>
          <a:p>
            <a:pPr algn="l">
              <a:lnSpc>
                <a:spcPct val="120000"/>
              </a:lnSpc>
              <a:spcBef>
                <a:spcPts val="0"/>
              </a:spcBef>
              <a:spcAft>
                <a:spcPts val="0"/>
              </a:spcAft>
            </a:pPr>
            <a:r>
              <a:rPr sz="1050" b="0" i="0">
                <a:solidFill>
                  <a:srgbClr val="D6E7E4"/>
                </a:solidFill>
                <a:latin typeface="Consolas"/>
              </a:rPr>
              <a:t>ENV PATH="/opt/venv/bin:$PATH"</a:t>
            </a:r>
          </a:p>
          <a:p>
            <a:pPr algn="l">
              <a:lnSpc>
                <a:spcPct val="120000"/>
              </a:lnSpc>
              <a:spcBef>
                <a:spcPts val="0"/>
              </a:spcBef>
              <a:spcAft>
                <a:spcPts val="0"/>
              </a:spcAft>
            </a:pPr>
            <a:r>
              <a:rPr sz="1050" b="0" i="0">
                <a:solidFill>
                  <a:srgbClr val="D6E7E4"/>
                </a:solidFill>
                <a:latin typeface="Consolas"/>
              </a:rPr>
              <a:t/>
            </a:r>
          </a:p>
          <a:p>
            <a:pPr algn="l">
              <a:lnSpc>
                <a:spcPct val="120000"/>
              </a:lnSpc>
              <a:spcBef>
                <a:spcPts val="0"/>
              </a:spcBef>
              <a:spcAft>
                <a:spcPts val="0"/>
              </a:spcAft>
            </a:pPr>
            <a:r>
              <a:rPr sz="1050" b="0" i="0">
                <a:solidFill>
                  <a:srgbClr val="9AB4B8"/>
                </a:solidFill>
                <a:latin typeface="Consolas"/>
              </a:rPr>
              <a:t>COPY requirements-torch-cpu.txt requirements.txt ./</a:t>
            </a:r>
          </a:p>
          <a:p>
            <a:pPr algn="l">
              <a:lnSpc>
                <a:spcPct val="120000"/>
              </a:lnSpc>
              <a:spcBef>
                <a:spcPts val="0"/>
              </a:spcBef>
              <a:spcAft>
                <a:spcPts val="0"/>
              </a:spcAft>
            </a:pPr>
            <a:r>
              <a:rPr sz="1050" b="0" i="0">
                <a:solidFill>
                  <a:srgbClr val="02C39A"/>
                </a:solidFill>
                <a:latin typeface="Consolas"/>
              </a:rPr>
              <a:t>RUN pip install -r requirements-torch-cpu.txt</a:t>
            </a:r>
          </a:p>
          <a:p>
            <a:pPr algn="l">
              <a:lnSpc>
                <a:spcPct val="120000"/>
              </a:lnSpc>
              <a:spcBef>
                <a:spcPts val="0"/>
              </a:spcBef>
              <a:spcAft>
                <a:spcPts val="0"/>
              </a:spcAft>
            </a:pPr>
            <a:r>
              <a:rPr sz="1050" b="0" i="0">
                <a:solidFill>
                  <a:srgbClr val="D6E7E4"/>
                </a:solidFill>
                <a:latin typeface="Consolas"/>
              </a:rPr>
              <a:t>RUN pip install -r requirements.txt</a:t>
            </a:r>
          </a:p>
          <a:p>
            <a:pPr algn="l">
              <a:lnSpc>
                <a:spcPct val="120000"/>
              </a:lnSpc>
              <a:spcBef>
                <a:spcPts val="0"/>
              </a:spcBef>
              <a:spcAft>
                <a:spcPts val="0"/>
              </a:spcAft>
            </a:pPr>
            <a:r>
              <a:rPr sz="1050" b="0" i="0">
                <a:solidFill>
                  <a:srgbClr val="02C39A"/>
                </a:solidFill>
                <a:latin typeface="Consolas"/>
              </a:rPr>
              <a:t>RUN python scripts/download_model.py</a:t>
            </a:r>
          </a:p>
          <a:p>
            <a:pPr algn="l">
              <a:lnSpc>
                <a:spcPct val="120000"/>
              </a:lnSpc>
              <a:spcBef>
                <a:spcPts val="0"/>
              </a:spcBef>
              <a:spcAft>
                <a:spcPts val="0"/>
              </a:spcAft>
            </a:pPr>
            <a:r>
              <a:rPr sz="1050" b="0" i="0">
                <a:solidFill>
                  <a:srgbClr val="D6E7E4"/>
                </a:solidFill>
                <a:latin typeface="Consolas"/>
              </a:rPr>
              <a:t/>
            </a:r>
          </a:p>
          <a:p>
            <a:pPr algn="l">
              <a:lnSpc>
                <a:spcPct val="120000"/>
              </a:lnSpc>
              <a:spcBef>
                <a:spcPts val="0"/>
              </a:spcBef>
              <a:spcAft>
                <a:spcPts val="0"/>
              </a:spcAft>
            </a:pPr>
            <a:r>
              <a:rPr sz="1050" b="0" i="0">
                <a:solidFill>
                  <a:srgbClr val="8CE6C9"/>
                </a:solidFill>
                <a:latin typeface="Consolas"/>
              </a:rPr>
              <a:t>FROM python:3.11-slim AS runtime</a:t>
            </a:r>
          </a:p>
          <a:p>
            <a:pPr algn="l">
              <a:lnSpc>
                <a:spcPct val="120000"/>
              </a:lnSpc>
              <a:spcBef>
                <a:spcPts val="0"/>
              </a:spcBef>
              <a:spcAft>
                <a:spcPts val="0"/>
              </a:spcAft>
            </a:pPr>
            <a:r>
              <a:rPr sz="1050" b="0" i="0">
                <a:solidFill>
                  <a:srgbClr val="D6E7E4"/>
                </a:solidFill>
                <a:latin typeface="Consolas"/>
              </a:rPr>
              <a:t>RUN apt-get install -y libgl1 libglib2.0-0 curl</a:t>
            </a:r>
          </a:p>
          <a:p>
            <a:pPr algn="l">
              <a:lnSpc>
                <a:spcPct val="120000"/>
              </a:lnSpc>
              <a:spcBef>
                <a:spcPts val="0"/>
              </a:spcBef>
              <a:spcAft>
                <a:spcPts val="0"/>
              </a:spcAft>
            </a:pPr>
            <a:r>
              <a:rPr sz="1050" b="0" i="0">
                <a:solidFill>
                  <a:srgbClr val="D6E7E4"/>
                </a:solidFill>
                <a:latin typeface="Consolas"/>
              </a:rPr>
              <a:t>COPY --from=builder /opt/venv /opt/venv</a:t>
            </a:r>
          </a:p>
          <a:p>
            <a:pPr algn="l">
              <a:lnSpc>
                <a:spcPct val="120000"/>
              </a:lnSpc>
              <a:spcBef>
                <a:spcPts val="0"/>
              </a:spcBef>
              <a:spcAft>
                <a:spcPts val="0"/>
              </a:spcAft>
            </a:pPr>
            <a:r>
              <a:rPr sz="1050" b="0" i="0">
                <a:solidFill>
                  <a:srgbClr val="D6E7E4"/>
                </a:solidFill>
                <a:latin typeface="Consolas"/>
              </a:rPr>
              <a:t>COPY --from=builder /build/models /app/models</a:t>
            </a:r>
          </a:p>
          <a:p>
            <a:pPr algn="l">
              <a:lnSpc>
                <a:spcPct val="120000"/>
              </a:lnSpc>
              <a:spcBef>
                <a:spcPts val="0"/>
              </a:spcBef>
              <a:spcAft>
                <a:spcPts val="0"/>
              </a:spcAft>
            </a:pPr>
            <a:r>
              <a:rPr sz="1050" b="0" i="0">
                <a:solidFill>
                  <a:srgbClr val="9AB4B8"/>
                </a:solidFill>
                <a:latin typeface="Consolas"/>
              </a:rPr>
              <a:t>COPY app/ /app/app/</a:t>
            </a:r>
          </a:p>
          <a:p>
            <a:pPr algn="l">
              <a:lnSpc>
                <a:spcPct val="120000"/>
              </a:lnSpc>
              <a:spcBef>
                <a:spcPts val="0"/>
              </a:spcBef>
              <a:spcAft>
                <a:spcPts val="0"/>
              </a:spcAft>
            </a:pPr>
            <a:r>
              <a:rPr sz="1050" b="0" i="0">
                <a:solidFill>
                  <a:srgbClr val="02C39A"/>
                </a:solidFill>
                <a:latin typeface="Consolas"/>
              </a:rPr>
              <a:t>USER appuser</a:t>
            </a:r>
          </a:p>
          <a:p>
            <a:pPr algn="l">
              <a:lnSpc>
                <a:spcPct val="120000"/>
              </a:lnSpc>
              <a:spcBef>
                <a:spcPts val="0"/>
              </a:spcBef>
              <a:spcAft>
                <a:spcPts val="0"/>
              </a:spcAft>
            </a:pPr>
            <a:r>
              <a:rPr sz="1050" b="0" i="0">
                <a:solidFill>
                  <a:srgbClr val="02C39A"/>
                </a:solidFill>
                <a:latin typeface="Consolas"/>
              </a:rPr>
              <a:t>HEALTHCHECK CMD curl -f localhost:8000/health/ready</a:t>
            </a:r>
          </a:p>
          <a:p>
            <a:pPr algn="l">
              <a:lnSpc>
                <a:spcPct val="120000"/>
              </a:lnSpc>
              <a:spcBef>
                <a:spcPts val="0"/>
              </a:spcBef>
              <a:spcAft>
                <a:spcPts val="0"/>
              </a:spcAft>
            </a:pPr>
            <a:r>
              <a:rPr sz="1050" b="0" i="0">
                <a:solidFill>
                  <a:srgbClr val="D6E7E4"/>
                </a:solidFill>
                <a:latin typeface="Consolas"/>
              </a:rPr>
              <a:t>CMD ["uvicorn", "app.main:app", "--host", "0.0.0.0"]</a:t>
            </a:r>
          </a:p>
        </p:txBody>
      </p:sp>
      <p:sp>
        <p:nvSpPr>
          <p:cNvPr id="7" name="Rounded Rectangle 6"/>
          <p:cNvSpPr/>
          <p:nvPr/>
        </p:nvSpPr>
        <p:spPr>
          <a:xfrm>
            <a:off x="6903720" y="1920240"/>
            <a:ext cx="4599432" cy="7772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14032" y="2020824"/>
            <a:ext cx="4206240" cy="256032"/>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Two stages</a:t>
            </a:r>
          </a:p>
        </p:txBody>
      </p:sp>
      <p:sp>
        <p:nvSpPr>
          <p:cNvPr id="9" name="TextBox 8"/>
          <p:cNvSpPr txBox="1"/>
          <p:nvPr/>
        </p:nvSpPr>
        <p:spPr>
          <a:xfrm>
            <a:off x="7114032" y="2267712"/>
            <a:ext cx="4206240" cy="411480"/>
          </a:xfrm>
          <a:prstGeom prst="rect">
            <a:avLst/>
          </a:prstGeom>
          <a:noFill/>
        </p:spPr>
        <p:txBody>
          <a:bodyPr wrap="square" lIns="0" rIns="0" tIns="0" bIns="0" anchor="t">
            <a:spAutoFit/>
          </a:bodyPr>
          <a:lstStyle/>
          <a:p>
            <a:pPr algn="l">
              <a:lnSpc>
                <a:spcPct val="108000"/>
              </a:lnSpc>
              <a:spcBef>
                <a:spcPts val="0"/>
              </a:spcBef>
              <a:spcAft>
                <a:spcPts val="0"/>
              </a:spcAft>
            </a:pPr>
            <a:r>
              <a:rPr sz="1050" b="0" i="0">
                <a:solidFill>
                  <a:srgbClr val="5A7A80"/>
                </a:solidFill>
                <a:latin typeface="Calibri"/>
              </a:rPr>
              <a:t>Compilers and pip caches stay in the builder and never ship.</a:t>
            </a:r>
          </a:p>
        </p:txBody>
      </p:sp>
      <p:sp>
        <p:nvSpPr>
          <p:cNvPr id="10" name="Rounded Rectangle 9"/>
          <p:cNvSpPr/>
          <p:nvPr/>
        </p:nvSpPr>
        <p:spPr>
          <a:xfrm>
            <a:off x="6903720" y="2779776"/>
            <a:ext cx="4599432" cy="7772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14032" y="2880360"/>
            <a:ext cx="4206240" cy="256032"/>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Requirements before code</a:t>
            </a:r>
          </a:p>
        </p:txBody>
      </p:sp>
      <p:sp>
        <p:nvSpPr>
          <p:cNvPr id="12" name="TextBox 11"/>
          <p:cNvSpPr txBox="1"/>
          <p:nvPr/>
        </p:nvSpPr>
        <p:spPr>
          <a:xfrm>
            <a:off x="7114032" y="3127248"/>
            <a:ext cx="4206240" cy="411480"/>
          </a:xfrm>
          <a:prstGeom prst="rect">
            <a:avLst/>
          </a:prstGeom>
          <a:noFill/>
        </p:spPr>
        <p:txBody>
          <a:bodyPr wrap="square" lIns="0" rIns="0" tIns="0" bIns="0" anchor="t">
            <a:spAutoFit/>
          </a:bodyPr>
          <a:lstStyle/>
          <a:p>
            <a:pPr algn="l">
              <a:lnSpc>
                <a:spcPct val="108000"/>
              </a:lnSpc>
              <a:spcBef>
                <a:spcPts val="0"/>
              </a:spcBef>
              <a:spcAft>
                <a:spcPts val="0"/>
              </a:spcAft>
            </a:pPr>
            <a:r>
              <a:rPr sz="1050" b="0" i="0">
                <a:solidFill>
                  <a:srgbClr val="5A7A80"/>
                </a:solidFill>
                <a:latin typeface="Calibri"/>
              </a:rPr>
              <a:t>Editing a route does not rebuild the four minute pip layer.</a:t>
            </a:r>
          </a:p>
        </p:txBody>
      </p:sp>
      <p:sp>
        <p:nvSpPr>
          <p:cNvPr id="13" name="Rounded Rectangle 12"/>
          <p:cNvSpPr/>
          <p:nvPr/>
        </p:nvSpPr>
        <p:spPr>
          <a:xfrm>
            <a:off x="6903720" y="3639312"/>
            <a:ext cx="4599432" cy="7772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114032" y="3739896"/>
            <a:ext cx="4206240" cy="256032"/>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Torch from the CPU index</a:t>
            </a:r>
          </a:p>
        </p:txBody>
      </p:sp>
      <p:sp>
        <p:nvSpPr>
          <p:cNvPr id="15" name="TextBox 14"/>
          <p:cNvSpPr txBox="1"/>
          <p:nvPr/>
        </p:nvSpPr>
        <p:spPr>
          <a:xfrm>
            <a:off x="7114032" y="3986784"/>
            <a:ext cx="4206240" cy="411480"/>
          </a:xfrm>
          <a:prstGeom prst="rect">
            <a:avLst/>
          </a:prstGeom>
          <a:noFill/>
        </p:spPr>
        <p:txBody>
          <a:bodyPr wrap="square" lIns="0" rIns="0" tIns="0" bIns="0" anchor="t">
            <a:spAutoFit/>
          </a:bodyPr>
          <a:lstStyle/>
          <a:p>
            <a:pPr algn="l">
              <a:lnSpc>
                <a:spcPct val="108000"/>
              </a:lnSpc>
              <a:spcBef>
                <a:spcPts val="0"/>
              </a:spcBef>
              <a:spcAft>
                <a:spcPts val="0"/>
              </a:spcAft>
            </a:pPr>
            <a:r>
              <a:rPr sz="1050" b="0" i="0">
                <a:solidFill>
                  <a:srgbClr val="5A7A80"/>
                </a:solidFill>
                <a:latin typeface="Calibri"/>
              </a:rPr>
              <a:t>PyPI's torch drags in about 2.5 GB of CUDA a CPU box never loads.</a:t>
            </a:r>
          </a:p>
        </p:txBody>
      </p:sp>
      <p:sp>
        <p:nvSpPr>
          <p:cNvPr id="16" name="Rounded Rectangle 15"/>
          <p:cNvSpPr/>
          <p:nvPr/>
        </p:nvSpPr>
        <p:spPr>
          <a:xfrm>
            <a:off x="6903720" y="4498848"/>
            <a:ext cx="4599432" cy="7772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114032" y="4599432"/>
            <a:ext cx="4206240" cy="256032"/>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libgl1 and libglib2.0-0</a:t>
            </a:r>
          </a:p>
        </p:txBody>
      </p:sp>
      <p:sp>
        <p:nvSpPr>
          <p:cNvPr id="18" name="TextBox 17"/>
          <p:cNvSpPr txBox="1"/>
          <p:nvPr/>
        </p:nvSpPr>
        <p:spPr>
          <a:xfrm>
            <a:off x="7114032" y="4846320"/>
            <a:ext cx="4206240" cy="411480"/>
          </a:xfrm>
          <a:prstGeom prst="rect">
            <a:avLst/>
          </a:prstGeom>
          <a:noFill/>
        </p:spPr>
        <p:txBody>
          <a:bodyPr wrap="square" lIns="0" rIns="0" tIns="0" bIns="0" anchor="t">
            <a:spAutoFit/>
          </a:bodyPr>
          <a:lstStyle/>
          <a:p>
            <a:pPr algn="l">
              <a:lnSpc>
                <a:spcPct val="108000"/>
              </a:lnSpc>
              <a:spcBef>
                <a:spcPts val="0"/>
              </a:spcBef>
              <a:spcAft>
                <a:spcPts val="0"/>
              </a:spcAft>
            </a:pPr>
            <a:r>
              <a:rPr sz="1050" b="0" i="0">
                <a:solidFill>
                  <a:srgbClr val="5A7A80"/>
                </a:solidFill>
                <a:latin typeface="Calibri"/>
              </a:rPr>
              <a:t>Ultralytics imports OpenCV. Without these the container dies on import.</a:t>
            </a:r>
          </a:p>
        </p:txBody>
      </p:sp>
      <p:sp>
        <p:nvSpPr>
          <p:cNvPr id="19" name="Rounded Rectangle 18"/>
          <p:cNvSpPr/>
          <p:nvPr/>
        </p:nvSpPr>
        <p:spPr>
          <a:xfrm>
            <a:off x="6903720" y="5358383"/>
            <a:ext cx="4599432" cy="7772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114032" y="5458968"/>
            <a:ext cx="4206240" cy="256032"/>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Weights baked in</a:t>
            </a:r>
          </a:p>
        </p:txBody>
      </p:sp>
      <p:sp>
        <p:nvSpPr>
          <p:cNvPr id="21" name="TextBox 20"/>
          <p:cNvSpPr txBox="1"/>
          <p:nvPr/>
        </p:nvSpPr>
        <p:spPr>
          <a:xfrm>
            <a:off x="7114032" y="5705855"/>
            <a:ext cx="4206240" cy="411480"/>
          </a:xfrm>
          <a:prstGeom prst="rect">
            <a:avLst/>
          </a:prstGeom>
          <a:noFill/>
        </p:spPr>
        <p:txBody>
          <a:bodyPr wrap="square" lIns="0" rIns="0" tIns="0" bIns="0" anchor="t">
            <a:spAutoFit/>
          </a:bodyPr>
          <a:lstStyle/>
          <a:p>
            <a:pPr algn="l">
              <a:lnSpc>
                <a:spcPct val="108000"/>
              </a:lnSpc>
              <a:spcBef>
                <a:spcPts val="0"/>
              </a:spcBef>
              <a:spcAft>
                <a:spcPts val="0"/>
              </a:spcAft>
            </a:pPr>
            <a:r>
              <a:rPr sz="1050" b="0" i="0">
                <a:solidFill>
                  <a:srgbClr val="5A7A80"/>
                </a:solidFill>
                <a:latin typeface="Calibri"/>
              </a:rPr>
              <a:t>No download at startup, no dependency on the internet inside your VPC.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BUILD SPEED</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Order your Dockerfile from least to most changed</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2011680"/>
            <a:ext cx="5349240" cy="28346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41832" y="219602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C15B4E"/>
                </a:solidFill>
                <a:latin typeface="Calibri"/>
              </a:rPr>
              <a:t>Wrong order</a:t>
            </a:r>
          </a:p>
        </p:txBody>
      </p:sp>
      <p:sp>
        <p:nvSpPr>
          <p:cNvPr id="7" name="Rounded Rectangle 6"/>
          <p:cNvSpPr/>
          <p:nvPr/>
        </p:nvSpPr>
        <p:spPr>
          <a:xfrm>
            <a:off x="941832" y="2560320"/>
            <a:ext cx="4837176" cy="205740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79576" y="2743200"/>
            <a:ext cx="4361688" cy="1728216"/>
          </a:xfrm>
          <a:prstGeom prst="rect">
            <a:avLst/>
          </a:prstGeom>
          <a:noFill/>
        </p:spPr>
        <p:txBody>
          <a:bodyPr wrap="square" lIns="0" rIns="0" tIns="0" bIns="0" anchor="t">
            <a:spAutoFit/>
          </a:bodyPr>
          <a:lstStyle/>
          <a:p>
            <a:pPr algn="l">
              <a:lnSpc>
                <a:spcPct val="122000"/>
              </a:lnSpc>
              <a:spcBef>
                <a:spcPts val="0"/>
              </a:spcBef>
              <a:spcAft>
                <a:spcPts val="0"/>
              </a:spcAft>
            </a:pPr>
            <a:r>
              <a:rPr sz="1100" b="0" i="0">
                <a:solidFill>
                  <a:srgbClr val="C15B4E"/>
                </a:solidFill>
                <a:latin typeface="Consolas"/>
              </a:rPr>
              <a:t>COPY . .</a:t>
            </a:r>
          </a:p>
          <a:p>
            <a:pPr algn="l">
              <a:lnSpc>
                <a:spcPct val="122000"/>
              </a:lnSpc>
              <a:spcBef>
                <a:spcPts val="0"/>
              </a:spcBef>
              <a:spcAft>
                <a:spcPts val="0"/>
              </a:spcAft>
            </a:pPr>
            <a:r>
              <a:rPr sz="1100" b="0" i="0">
                <a:solidFill>
                  <a:srgbClr val="D6E7E4"/>
                </a:solidFill>
                <a:latin typeface="Consolas"/>
              </a:rPr>
              <a:t>RUN pip install -r requirements.txt</a:t>
            </a:r>
          </a:p>
          <a:p>
            <a:pPr algn="l">
              <a:lnSpc>
                <a:spcPct val="122000"/>
              </a:lnSpc>
              <a:spcBef>
                <a:spcPts val="0"/>
              </a:spcBef>
              <a:spcAft>
                <a:spcPts val="0"/>
              </a:spcAft>
            </a:pPr>
            <a:r>
              <a:rPr sz="1100" b="0" i="0">
                <a:solidFill>
                  <a:srgbClr val="D6E7E4"/>
                </a:solidFill>
                <a:latin typeface="Consolas"/>
              </a:rPr>
              <a:t/>
            </a:r>
          </a:p>
          <a:p>
            <a:pPr algn="l">
              <a:lnSpc>
                <a:spcPct val="122000"/>
              </a:lnSpc>
              <a:spcBef>
                <a:spcPts val="0"/>
              </a:spcBef>
              <a:spcAft>
                <a:spcPts val="0"/>
              </a:spcAft>
            </a:pPr>
            <a:r>
              <a:rPr sz="1100" b="0" i="0">
                <a:solidFill>
                  <a:srgbClr val="9AB4B8"/>
                </a:solidFill>
                <a:latin typeface="Consolas"/>
              </a:rPr>
              <a:t># change one line of a route</a:t>
            </a:r>
          </a:p>
          <a:p>
            <a:pPr algn="l">
              <a:lnSpc>
                <a:spcPct val="122000"/>
              </a:lnSpc>
              <a:spcBef>
                <a:spcPts val="0"/>
              </a:spcBef>
              <a:spcAft>
                <a:spcPts val="0"/>
              </a:spcAft>
            </a:pPr>
            <a:r>
              <a:rPr sz="1100" b="0" i="0">
                <a:solidFill>
                  <a:srgbClr val="C15B4E"/>
                </a:solidFill>
                <a:latin typeface="Consolas"/>
              </a:rPr>
              <a:t># -&gt; COPY invalidates -&gt; pip runs again</a:t>
            </a:r>
          </a:p>
          <a:p>
            <a:pPr algn="l">
              <a:lnSpc>
                <a:spcPct val="122000"/>
              </a:lnSpc>
              <a:spcBef>
                <a:spcPts val="0"/>
              </a:spcBef>
              <a:spcAft>
                <a:spcPts val="0"/>
              </a:spcAft>
            </a:pPr>
            <a:r>
              <a:rPr sz="1100" b="0" i="0">
                <a:solidFill>
                  <a:srgbClr val="C15B4E"/>
                </a:solidFill>
                <a:latin typeface="Consolas"/>
              </a:rPr>
              <a:t># every build: about 4 minutes</a:t>
            </a:r>
          </a:p>
        </p:txBody>
      </p:sp>
      <p:sp>
        <p:nvSpPr>
          <p:cNvPr id="9" name="Rounded Rectangle 8"/>
          <p:cNvSpPr/>
          <p:nvPr/>
        </p:nvSpPr>
        <p:spPr>
          <a:xfrm>
            <a:off x="6153912" y="2011680"/>
            <a:ext cx="5349240" cy="28346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9944" y="219602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02C39A"/>
                </a:solidFill>
                <a:latin typeface="Calibri"/>
              </a:rPr>
              <a:t>Right order</a:t>
            </a:r>
          </a:p>
        </p:txBody>
      </p:sp>
      <p:sp>
        <p:nvSpPr>
          <p:cNvPr id="11" name="Rounded Rectangle 10"/>
          <p:cNvSpPr/>
          <p:nvPr/>
        </p:nvSpPr>
        <p:spPr>
          <a:xfrm>
            <a:off x="6409944" y="2560320"/>
            <a:ext cx="4837176" cy="205740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647688" y="2743200"/>
            <a:ext cx="4361688" cy="1728216"/>
          </a:xfrm>
          <a:prstGeom prst="rect">
            <a:avLst/>
          </a:prstGeom>
          <a:noFill/>
        </p:spPr>
        <p:txBody>
          <a:bodyPr wrap="square" lIns="0" rIns="0" tIns="0" bIns="0" anchor="t">
            <a:spAutoFit/>
          </a:bodyPr>
          <a:lstStyle/>
          <a:p>
            <a:pPr algn="l">
              <a:lnSpc>
                <a:spcPct val="122000"/>
              </a:lnSpc>
              <a:spcBef>
                <a:spcPts val="0"/>
              </a:spcBef>
              <a:spcAft>
                <a:spcPts val="0"/>
              </a:spcAft>
            </a:pPr>
            <a:r>
              <a:rPr sz="1100" b="0" i="0">
                <a:solidFill>
                  <a:srgbClr val="02C39A"/>
                </a:solidFill>
                <a:latin typeface="Consolas"/>
              </a:rPr>
              <a:t>COPY requirements.txt .</a:t>
            </a:r>
          </a:p>
          <a:p>
            <a:pPr algn="l">
              <a:lnSpc>
                <a:spcPct val="122000"/>
              </a:lnSpc>
              <a:spcBef>
                <a:spcPts val="0"/>
              </a:spcBef>
              <a:spcAft>
                <a:spcPts val="0"/>
              </a:spcAft>
            </a:pPr>
            <a:r>
              <a:rPr sz="1100" b="0" i="0">
                <a:solidFill>
                  <a:srgbClr val="D6E7E4"/>
                </a:solidFill>
                <a:latin typeface="Consolas"/>
              </a:rPr>
              <a:t>RUN pip install -r requirements.txt</a:t>
            </a:r>
          </a:p>
          <a:p>
            <a:pPr algn="l">
              <a:lnSpc>
                <a:spcPct val="122000"/>
              </a:lnSpc>
              <a:spcBef>
                <a:spcPts val="0"/>
              </a:spcBef>
              <a:spcAft>
                <a:spcPts val="0"/>
              </a:spcAft>
            </a:pPr>
            <a:r>
              <a:rPr sz="1100" b="0" i="0">
                <a:solidFill>
                  <a:srgbClr val="02C39A"/>
                </a:solidFill>
                <a:latin typeface="Consolas"/>
              </a:rPr>
              <a:t>COPY app/ /app/app/</a:t>
            </a:r>
          </a:p>
          <a:p>
            <a:pPr algn="l">
              <a:lnSpc>
                <a:spcPct val="122000"/>
              </a:lnSpc>
              <a:spcBef>
                <a:spcPts val="0"/>
              </a:spcBef>
              <a:spcAft>
                <a:spcPts val="0"/>
              </a:spcAft>
            </a:pPr>
            <a:r>
              <a:rPr sz="1100" b="0" i="0">
                <a:solidFill>
                  <a:srgbClr val="D6E7E4"/>
                </a:solidFill>
                <a:latin typeface="Consolas"/>
              </a:rPr>
              <a:t/>
            </a:r>
          </a:p>
          <a:p>
            <a:pPr algn="l">
              <a:lnSpc>
                <a:spcPct val="122000"/>
              </a:lnSpc>
              <a:spcBef>
                <a:spcPts val="0"/>
              </a:spcBef>
              <a:spcAft>
                <a:spcPts val="0"/>
              </a:spcAft>
            </a:pPr>
            <a:r>
              <a:rPr sz="1100" b="0" i="0">
                <a:solidFill>
                  <a:srgbClr val="9AB4B8"/>
                </a:solidFill>
                <a:latin typeface="Consolas"/>
              </a:rPr>
              <a:t># change one line of a route</a:t>
            </a:r>
          </a:p>
          <a:p>
            <a:pPr algn="l">
              <a:lnSpc>
                <a:spcPct val="122000"/>
              </a:lnSpc>
              <a:spcBef>
                <a:spcPts val="0"/>
              </a:spcBef>
              <a:spcAft>
                <a:spcPts val="0"/>
              </a:spcAft>
            </a:pPr>
            <a:r>
              <a:rPr sz="1100" b="0" i="0">
                <a:solidFill>
                  <a:srgbClr val="02C39A"/>
                </a:solidFill>
                <a:latin typeface="Consolas"/>
              </a:rPr>
              <a:t># -&gt; only the last layer rebuilds</a:t>
            </a:r>
          </a:p>
          <a:p>
            <a:pPr algn="l">
              <a:lnSpc>
                <a:spcPct val="122000"/>
              </a:lnSpc>
              <a:spcBef>
                <a:spcPts val="0"/>
              </a:spcBef>
              <a:spcAft>
                <a:spcPts val="0"/>
              </a:spcAft>
            </a:pPr>
            <a:r>
              <a:rPr sz="1100" b="0" i="0">
                <a:solidFill>
                  <a:srgbClr val="02C39A"/>
                </a:solidFill>
                <a:latin typeface="Consolas"/>
              </a:rPr>
              <a:t># every build: a few seconds</a:t>
            </a:r>
          </a:p>
        </p:txBody>
      </p:sp>
      <p:sp>
        <p:nvSpPr>
          <p:cNvPr id="13" name="Rounded Rectangle 12"/>
          <p:cNvSpPr/>
          <p:nvPr/>
        </p:nvSpPr>
        <p:spPr>
          <a:xfrm>
            <a:off x="685800" y="5074920"/>
            <a:ext cx="10820095" cy="10058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41832" y="5259263"/>
            <a:ext cx="10308031" cy="667877"/>
          </a:xfrm>
          <a:prstGeom prst="rect">
            <a:avLst/>
          </a:prstGeom>
          <a:noFill/>
        </p:spPr>
        <p:txBody>
          <a:bodyPr wrap="square" lIns="0" rIns="0" tIns="0" bIns="0" anchor="t">
            <a:spAutoFit/>
          </a:bodyPr>
          <a:lstStyle/>
          <a:p>
            <a:pPr algn="l">
              <a:lnSpc>
                <a:spcPct val="115000"/>
              </a:lnSpc>
              <a:spcBef>
                <a:spcPts val="0"/>
              </a:spcBef>
              <a:spcAft>
                <a:spcPts val="500"/>
              </a:spcAft>
            </a:pPr>
            <a:r>
              <a:rPr sz="1300" b="0" i="0">
                <a:solidFill>
                  <a:srgbClr val="12343B"/>
                </a:solidFill>
                <a:latin typeface="Calibri"/>
              </a:rPr>
              <a:t>A layer is invalidated by any change to it or to anything above it. Dependencies change monthly, source code changes hourly, so dependencies go first. This one habit is the difference between a build you run and a build you avoid running.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SIZE</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Where 800 MB went, and what it cost to remove</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pic>
        <p:nvPicPr>
          <p:cNvPr id="5" name="Picture 4" descr="fig_image_pruning.png"/>
          <p:cNvPicPr>
            <a:picLocks noChangeAspect="1"/>
          </p:cNvPicPr>
          <p:nvPr/>
        </p:nvPicPr>
        <p:blipFill>
          <a:blip r:embed="rId2"/>
          <a:stretch>
            <a:fillRect/>
          </a:stretch>
        </p:blipFill>
        <p:spPr>
          <a:xfrm>
            <a:off x="685800" y="2286000"/>
            <a:ext cx="6217920" cy="2911493"/>
          </a:xfrm>
          <a:prstGeom prst="rect">
            <a:avLst/>
          </a:prstGeom>
        </p:spPr>
      </p:pic>
      <p:sp>
        <p:nvSpPr>
          <p:cNvPr id="6" name="TextBox 5"/>
          <p:cNvSpPr txBox="1"/>
          <p:nvPr/>
        </p:nvSpPr>
        <p:spPr>
          <a:xfrm>
            <a:off x="685800" y="5623560"/>
            <a:ext cx="6217920" cy="274320"/>
          </a:xfrm>
          <a:prstGeom prst="rect">
            <a:avLst/>
          </a:prstGeom>
          <a:noFill/>
        </p:spPr>
        <p:txBody>
          <a:bodyPr wrap="square" lIns="0" rIns="0" tIns="0" bIns="0" anchor="t">
            <a:spAutoFit/>
          </a:bodyPr>
          <a:lstStyle/>
          <a:p>
            <a:pPr algn="l">
              <a:spcBef>
                <a:spcPts val="0"/>
              </a:spcBef>
              <a:spcAft>
                <a:spcPts val="0"/>
              </a:spcAft>
            </a:pPr>
            <a:r>
              <a:rPr sz="950" b="0" i="0">
                <a:solidFill>
                  <a:srgbClr val="8FA9AE"/>
                </a:solidFill>
                <a:latin typeface="Calibri"/>
              </a:rPr>
              <a:t>du -sm inside the image. Verified by importing the app and running one inference afterwards.</a:t>
            </a:r>
          </a:p>
        </p:txBody>
      </p:sp>
      <p:sp>
        <p:nvSpPr>
          <p:cNvPr id="7" name="Rounded Rectangle 6"/>
          <p:cNvSpPr/>
          <p:nvPr/>
        </p:nvSpPr>
        <p:spPr>
          <a:xfrm>
            <a:off x="7178040" y="2103120"/>
            <a:ext cx="2084831" cy="1234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360919" y="2286000"/>
            <a:ext cx="1719072" cy="502920"/>
          </a:xfrm>
          <a:prstGeom prst="rect">
            <a:avLst/>
          </a:prstGeom>
          <a:noFill/>
        </p:spPr>
        <p:txBody>
          <a:bodyPr wrap="square" lIns="0" rIns="0" tIns="0" bIns="0" anchor="t">
            <a:spAutoFit/>
          </a:bodyPr>
          <a:lstStyle/>
          <a:p>
            <a:pPr algn="ctr">
              <a:spcBef>
                <a:spcPts val="0"/>
              </a:spcBef>
              <a:spcAft>
                <a:spcPts val="0"/>
              </a:spcAft>
            </a:pPr>
            <a:r>
              <a:rPr sz="2600" b="1" i="0">
                <a:solidFill>
                  <a:srgbClr val="028090"/>
                </a:solidFill>
                <a:latin typeface="Cambria"/>
              </a:rPr>
              <a:t>2.57 GB</a:t>
            </a:r>
          </a:p>
        </p:txBody>
      </p:sp>
      <p:sp>
        <p:nvSpPr>
          <p:cNvPr id="9" name="TextBox 8"/>
          <p:cNvSpPr txBox="1"/>
          <p:nvPr/>
        </p:nvSpPr>
        <p:spPr>
          <a:xfrm>
            <a:off x="7324344" y="2834639"/>
            <a:ext cx="1792223" cy="411480"/>
          </a:xfrm>
          <a:prstGeom prst="rect">
            <a:avLst/>
          </a:prstGeom>
          <a:noFill/>
        </p:spPr>
        <p:txBody>
          <a:bodyPr wrap="square" lIns="0" rIns="0" tIns="0" bIns="0" anchor="t">
            <a:spAutoFit/>
          </a:bodyPr>
          <a:lstStyle/>
          <a:p>
            <a:pPr algn="ctr">
              <a:lnSpc>
                <a:spcPct val="105000"/>
              </a:lnSpc>
              <a:spcBef>
                <a:spcPts val="0"/>
              </a:spcBef>
              <a:spcAft>
                <a:spcPts val="0"/>
              </a:spcAft>
            </a:pPr>
            <a:r>
              <a:rPr sz="1100" b="0" i="0">
                <a:solidFill>
                  <a:srgbClr val="5A7A80"/>
                </a:solidFill>
                <a:latin typeface="Calibri"/>
              </a:rPr>
              <a:t>CPU torch,
nothing pruned</a:t>
            </a:r>
          </a:p>
        </p:txBody>
      </p:sp>
      <p:sp>
        <p:nvSpPr>
          <p:cNvPr id="10" name="Rounded Rectangle 9"/>
          <p:cNvSpPr/>
          <p:nvPr/>
        </p:nvSpPr>
        <p:spPr>
          <a:xfrm>
            <a:off x="9418320" y="2103120"/>
            <a:ext cx="2084831" cy="1234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0" y="2286000"/>
            <a:ext cx="1719072" cy="502920"/>
          </a:xfrm>
          <a:prstGeom prst="rect">
            <a:avLst/>
          </a:prstGeom>
          <a:noFill/>
        </p:spPr>
        <p:txBody>
          <a:bodyPr wrap="square" lIns="0" rIns="0" tIns="0" bIns="0" anchor="t">
            <a:spAutoFit/>
          </a:bodyPr>
          <a:lstStyle/>
          <a:p>
            <a:pPr algn="ctr">
              <a:spcBef>
                <a:spcPts val="0"/>
              </a:spcBef>
              <a:spcAft>
                <a:spcPts val="0"/>
              </a:spcAft>
            </a:pPr>
            <a:r>
              <a:rPr sz="2600" b="1" i="0">
                <a:solidFill>
                  <a:srgbClr val="02C39A"/>
                </a:solidFill>
                <a:latin typeface="Cambria"/>
              </a:rPr>
              <a:t>1.77 GB</a:t>
            </a:r>
          </a:p>
        </p:txBody>
      </p:sp>
      <p:sp>
        <p:nvSpPr>
          <p:cNvPr id="12" name="TextBox 11"/>
          <p:cNvSpPr txBox="1"/>
          <p:nvPr/>
        </p:nvSpPr>
        <p:spPr>
          <a:xfrm>
            <a:off x="9564624" y="2834639"/>
            <a:ext cx="1792223" cy="411480"/>
          </a:xfrm>
          <a:prstGeom prst="rect">
            <a:avLst/>
          </a:prstGeom>
          <a:noFill/>
        </p:spPr>
        <p:txBody>
          <a:bodyPr wrap="square" lIns="0" rIns="0" tIns="0" bIns="0" anchor="t">
            <a:spAutoFit/>
          </a:bodyPr>
          <a:lstStyle/>
          <a:p>
            <a:pPr algn="ctr">
              <a:lnSpc>
                <a:spcPct val="105000"/>
              </a:lnSpc>
              <a:spcBef>
                <a:spcPts val="0"/>
              </a:spcBef>
              <a:spcAft>
                <a:spcPts val="0"/>
              </a:spcAft>
            </a:pPr>
            <a:r>
              <a:rPr sz="1100" b="0" i="0">
                <a:solidFill>
                  <a:srgbClr val="5A7A80"/>
                </a:solidFill>
                <a:latin typeface="Calibri"/>
              </a:rPr>
              <a:t>after pruning</a:t>
            </a:r>
          </a:p>
        </p:txBody>
      </p:sp>
      <p:sp>
        <p:nvSpPr>
          <p:cNvPr id="13" name="Rounded Rectangle 12"/>
          <p:cNvSpPr/>
          <p:nvPr/>
        </p:nvSpPr>
        <p:spPr>
          <a:xfrm>
            <a:off x="7178040" y="3520440"/>
            <a:ext cx="4325112" cy="25603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434071" y="3704783"/>
            <a:ext cx="3813048"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Why bother</a:t>
            </a:r>
          </a:p>
        </p:txBody>
      </p:sp>
      <p:sp>
        <p:nvSpPr>
          <p:cNvPr id="15" name="TextBox 14"/>
          <p:cNvSpPr txBox="1"/>
          <p:nvPr/>
        </p:nvSpPr>
        <p:spPr>
          <a:xfrm>
            <a:off x="7434071" y="4070543"/>
            <a:ext cx="3813048" cy="185659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Every deploy pulls the image. On a t3.small that is minutes of your rollout.</a:t>
            </a:r>
          </a:p>
          <a:p>
            <a:pPr algn="l">
              <a:lnSpc>
                <a:spcPct val="115000"/>
              </a:lnSpc>
              <a:spcBef>
                <a:spcPts val="0"/>
              </a:spcBef>
              <a:spcAft>
                <a:spcPts val="500"/>
              </a:spcAft>
            </a:pPr>
            <a:r>
              <a:rPr sz="1200" b="0" i="0">
                <a:solidFill>
                  <a:srgbClr val="5A7A80"/>
                </a:solidFill>
                <a:latin typeface="Calibri"/>
              </a:rPr>
              <a:t>Every unused library is attack surface and a CVE you get paged about.</a:t>
            </a:r>
          </a:p>
          <a:p>
            <a:pPr algn="l">
              <a:lnSpc>
                <a:spcPct val="115000"/>
              </a:lnSpc>
              <a:spcBef>
                <a:spcPts val="0"/>
              </a:spcBef>
              <a:spcAft>
                <a:spcPts val="500"/>
              </a:spcAft>
            </a:pPr>
            <a:r>
              <a:rPr sz="1200" b="0" i="0">
                <a:solidFill>
                  <a:srgbClr val="5A7A80"/>
                </a:solidFill>
                <a:latin typeface="Calibri"/>
              </a:rPr>
              <a:t>The next step is exporting to ONNX and serving with onnxruntime alone, which drops PyTorch entirely and lands near 300 MB. That is Session 36 meeting this one.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CONTAINER RULES</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Four defaults that bite in production</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2057400"/>
            <a:ext cx="5349240"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41832" y="224174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Run as a non root user</a:t>
            </a:r>
          </a:p>
        </p:txBody>
      </p:sp>
      <p:sp>
        <p:nvSpPr>
          <p:cNvPr id="7" name="TextBox 6"/>
          <p:cNvSpPr txBox="1"/>
          <p:nvPr/>
        </p:nvSpPr>
        <p:spPr>
          <a:xfrm>
            <a:off x="941832" y="2607503"/>
            <a:ext cx="4837175" cy="1170797"/>
          </a:xfrm>
          <a:prstGeom prst="rect">
            <a:avLst/>
          </a:prstGeom>
          <a:noFill/>
        </p:spPr>
        <p:txBody>
          <a:bodyPr wrap="square" lIns="0" rIns="0" tIns="0" bIns="0" anchor="t">
            <a:spAutoFit/>
          </a:bodyPr>
          <a:lstStyle/>
          <a:p>
            <a:pPr algn="l">
              <a:lnSpc>
                <a:spcPct val="115000"/>
              </a:lnSpc>
              <a:spcBef>
                <a:spcPts val="0"/>
              </a:spcBef>
              <a:spcAft>
                <a:spcPts val="500"/>
              </a:spcAft>
            </a:pPr>
            <a:r>
              <a:rPr sz="1250" b="0" i="0">
                <a:solidFill>
                  <a:srgbClr val="5A7A80"/>
                </a:solidFill>
                <a:latin typeface="Calibri"/>
              </a:rPr>
              <a:t>A process that is root in the container is root on the host kernel if anything escapes. Nothing here needs it.</a:t>
            </a:r>
          </a:p>
        </p:txBody>
      </p:sp>
      <p:sp>
        <p:nvSpPr>
          <p:cNvPr id="8" name="Rounded Rectangle 7"/>
          <p:cNvSpPr/>
          <p:nvPr/>
        </p:nvSpPr>
        <p:spPr>
          <a:xfrm>
            <a:off x="6153912" y="2057400"/>
            <a:ext cx="5349240"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409944" y="224174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CMD in exec form</a:t>
            </a:r>
          </a:p>
        </p:txBody>
      </p:sp>
      <p:sp>
        <p:nvSpPr>
          <p:cNvPr id="10" name="TextBox 9"/>
          <p:cNvSpPr txBox="1"/>
          <p:nvPr/>
        </p:nvSpPr>
        <p:spPr>
          <a:xfrm>
            <a:off x="6409944" y="2607503"/>
            <a:ext cx="4837175" cy="1170797"/>
          </a:xfrm>
          <a:prstGeom prst="rect">
            <a:avLst/>
          </a:prstGeom>
          <a:noFill/>
        </p:spPr>
        <p:txBody>
          <a:bodyPr wrap="square" lIns="0" rIns="0" tIns="0" bIns="0" anchor="t">
            <a:spAutoFit/>
          </a:bodyPr>
          <a:lstStyle/>
          <a:p>
            <a:pPr algn="l">
              <a:lnSpc>
                <a:spcPct val="115000"/>
              </a:lnSpc>
              <a:spcBef>
                <a:spcPts val="0"/>
              </a:spcBef>
              <a:spcAft>
                <a:spcPts val="500"/>
              </a:spcAft>
            </a:pPr>
            <a:r>
              <a:rPr sz="1250" b="0" i="0">
                <a:solidFill>
                  <a:srgbClr val="5A7A80"/>
                </a:solidFill>
                <a:latin typeface="Calibri"/>
              </a:rPr>
              <a:t>Shell form puts a shell at PID 1, which swallows SIGTERM. Docker then kills you after ten seconds instead of letting you shut down cleanly.</a:t>
            </a:r>
          </a:p>
        </p:txBody>
      </p:sp>
      <p:sp>
        <p:nvSpPr>
          <p:cNvPr id="11" name="Rounded Rectangle 10"/>
          <p:cNvSpPr/>
          <p:nvPr/>
        </p:nvSpPr>
        <p:spPr>
          <a:xfrm>
            <a:off x="685800" y="4160520"/>
            <a:ext cx="5349240"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434486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Log to stdout, never a file</a:t>
            </a:r>
          </a:p>
        </p:txBody>
      </p:sp>
      <p:sp>
        <p:nvSpPr>
          <p:cNvPr id="13" name="TextBox 12"/>
          <p:cNvSpPr txBox="1"/>
          <p:nvPr/>
        </p:nvSpPr>
        <p:spPr>
          <a:xfrm>
            <a:off x="941832" y="4710623"/>
            <a:ext cx="4837175" cy="1170797"/>
          </a:xfrm>
          <a:prstGeom prst="rect">
            <a:avLst/>
          </a:prstGeom>
          <a:noFill/>
        </p:spPr>
        <p:txBody>
          <a:bodyPr wrap="square" lIns="0" rIns="0" tIns="0" bIns="0" anchor="t">
            <a:spAutoFit/>
          </a:bodyPr>
          <a:lstStyle/>
          <a:p>
            <a:pPr algn="l">
              <a:lnSpc>
                <a:spcPct val="115000"/>
              </a:lnSpc>
              <a:spcBef>
                <a:spcPts val="0"/>
              </a:spcBef>
              <a:spcAft>
                <a:spcPts val="500"/>
              </a:spcAft>
            </a:pPr>
            <a:r>
              <a:rPr sz="1250" b="0" i="0">
                <a:solidFill>
                  <a:srgbClr val="5A7A80"/>
                </a:solidFill>
                <a:latin typeface="Calibri"/>
              </a:rPr>
              <a:t>Containers are disposable. Anything written inside one disappears with it. CloudWatch and every other collector read stdout.</a:t>
            </a:r>
          </a:p>
        </p:txBody>
      </p:sp>
      <p:sp>
        <p:nvSpPr>
          <p:cNvPr id="14" name="Rounded Rectangle 13"/>
          <p:cNvSpPr/>
          <p:nvPr/>
        </p:nvSpPr>
        <p:spPr>
          <a:xfrm>
            <a:off x="6153912" y="4160520"/>
            <a:ext cx="5349240"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9944" y="434486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Health check the readiness path</a:t>
            </a:r>
          </a:p>
        </p:txBody>
      </p:sp>
      <p:sp>
        <p:nvSpPr>
          <p:cNvPr id="16" name="TextBox 15"/>
          <p:cNvSpPr txBox="1"/>
          <p:nvPr/>
        </p:nvSpPr>
        <p:spPr>
          <a:xfrm>
            <a:off x="6409944" y="4710623"/>
            <a:ext cx="4837175" cy="1170797"/>
          </a:xfrm>
          <a:prstGeom prst="rect">
            <a:avLst/>
          </a:prstGeom>
          <a:noFill/>
        </p:spPr>
        <p:txBody>
          <a:bodyPr wrap="square" lIns="0" rIns="0" tIns="0" bIns="0" anchor="t">
            <a:spAutoFit/>
          </a:bodyPr>
          <a:lstStyle/>
          <a:p>
            <a:pPr algn="l">
              <a:lnSpc>
                <a:spcPct val="115000"/>
              </a:lnSpc>
              <a:spcBef>
                <a:spcPts val="0"/>
              </a:spcBef>
              <a:spcAft>
                <a:spcPts val="500"/>
              </a:spcAft>
            </a:pPr>
            <a:r>
              <a:rPr sz="1250" b="0" i="0">
                <a:solidFill>
                  <a:srgbClr val="5A7A80"/>
                </a:solidFill>
                <a:latin typeface="Calibri"/>
              </a:rPr>
              <a:t>Checking liveness would mark a container healthy while its model is still loading, and traffic would arrive too early.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CONFIGURATION</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One image, three environments</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2011680"/>
            <a:ext cx="5349240" cy="192024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23544" y="2194560"/>
            <a:ext cx="4873752" cy="256032"/>
          </a:xfrm>
          <a:prstGeom prst="rect">
            <a:avLst/>
          </a:prstGeom>
          <a:noFill/>
        </p:spPr>
        <p:txBody>
          <a:bodyPr wrap="square" lIns="0" rIns="0" tIns="0" bIns="0" anchor="t">
            <a:spAutoFit/>
          </a:bodyPr>
          <a:lstStyle/>
          <a:p>
            <a:pPr algn="l">
              <a:spcBef>
                <a:spcPts val="0"/>
              </a:spcBef>
              <a:spcAft>
                <a:spcPts val="0"/>
              </a:spcAft>
            </a:pPr>
            <a:r>
              <a:rPr sz="1050" b="1" i="0">
                <a:solidFill>
                  <a:srgbClr val="8CE6C9"/>
                </a:solidFill>
                <a:latin typeface="Calibri"/>
              </a:rPr>
              <a:t>app/config.py</a:t>
            </a:r>
          </a:p>
        </p:txBody>
      </p:sp>
      <p:sp>
        <p:nvSpPr>
          <p:cNvPr id="7" name="TextBox 6"/>
          <p:cNvSpPr txBox="1"/>
          <p:nvPr/>
        </p:nvSpPr>
        <p:spPr>
          <a:xfrm>
            <a:off x="923544" y="2505456"/>
            <a:ext cx="4873752" cy="1280160"/>
          </a:xfrm>
          <a:prstGeom prst="rect">
            <a:avLst/>
          </a:prstGeom>
          <a:noFill/>
        </p:spPr>
        <p:txBody>
          <a:bodyPr wrap="square" lIns="0" rIns="0" tIns="0" bIns="0" anchor="t">
            <a:spAutoFit/>
          </a:bodyPr>
          <a:lstStyle/>
          <a:p>
            <a:pPr algn="l">
              <a:lnSpc>
                <a:spcPct val="122000"/>
              </a:lnSpc>
              <a:spcBef>
                <a:spcPts val="0"/>
              </a:spcBef>
              <a:spcAft>
                <a:spcPts val="0"/>
              </a:spcAft>
            </a:pPr>
            <a:r>
              <a:rPr sz="1100" b="0" i="0">
                <a:solidFill>
                  <a:srgbClr val="D6E7E4"/>
                </a:solidFill>
                <a:latin typeface="Consolas"/>
              </a:rPr>
              <a:t>class Settings(BaseSettings):</a:t>
            </a:r>
          </a:p>
          <a:p>
            <a:pPr algn="l">
              <a:lnSpc>
                <a:spcPct val="122000"/>
              </a:lnSpc>
              <a:spcBef>
                <a:spcPts val="0"/>
              </a:spcBef>
              <a:spcAft>
                <a:spcPts val="0"/>
              </a:spcAft>
            </a:pPr>
            <a:r>
              <a:rPr sz="1100" b="0" i="0">
                <a:solidFill>
                  <a:srgbClr val="9AB4B8"/>
                </a:solidFill>
                <a:latin typeface="Consolas"/>
              </a:rPr>
              <a:t>    model_config = SettingsConfigDict(</a:t>
            </a:r>
          </a:p>
          <a:p>
            <a:pPr algn="l">
              <a:lnSpc>
                <a:spcPct val="122000"/>
              </a:lnSpc>
              <a:spcBef>
                <a:spcPts val="0"/>
              </a:spcBef>
              <a:spcAft>
                <a:spcPts val="0"/>
              </a:spcAft>
            </a:pPr>
            <a:r>
              <a:rPr sz="1100" b="0" i="0">
                <a:solidFill>
                  <a:srgbClr val="9AB4B8"/>
                </a:solidFill>
                <a:latin typeface="Consolas"/>
              </a:rPr>
              <a:t>        env_file=".env", env_prefix="APP_")</a:t>
            </a:r>
          </a:p>
          <a:p>
            <a:pPr algn="l">
              <a:lnSpc>
                <a:spcPct val="122000"/>
              </a:lnSpc>
              <a:spcBef>
                <a:spcPts val="0"/>
              </a:spcBef>
              <a:spcAft>
                <a:spcPts val="0"/>
              </a:spcAft>
            </a:pPr>
            <a:r>
              <a:rPr sz="1100" b="0" i="0">
                <a:solidFill>
                  <a:srgbClr val="D6E7E4"/>
                </a:solidFill>
                <a:latin typeface="Consolas"/>
              </a:rPr>
              <a:t/>
            </a:r>
          </a:p>
          <a:p>
            <a:pPr algn="l">
              <a:lnSpc>
                <a:spcPct val="122000"/>
              </a:lnSpc>
              <a:spcBef>
                <a:spcPts val="0"/>
              </a:spcBef>
              <a:spcAft>
                <a:spcPts val="0"/>
              </a:spcAft>
            </a:pPr>
            <a:r>
              <a:rPr sz="1100" b="0" i="0">
                <a:solidFill>
                  <a:srgbClr val="02C39A"/>
                </a:solidFill>
                <a:latin typeface="Consolas"/>
              </a:rPr>
              <a:t>    conf_threshold: float = 0.25</a:t>
            </a:r>
          </a:p>
          <a:p>
            <a:pPr algn="l">
              <a:lnSpc>
                <a:spcPct val="122000"/>
              </a:lnSpc>
              <a:spcBef>
                <a:spcPts val="0"/>
              </a:spcBef>
              <a:spcAft>
                <a:spcPts val="0"/>
              </a:spcAft>
            </a:pPr>
            <a:r>
              <a:rPr sz="1100" b="0" i="0">
                <a:solidFill>
                  <a:srgbClr val="02C39A"/>
                </a:solidFill>
                <a:latin typeface="Consolas"/>
              </a:rPr>
              <a:t>    torch_threads: int = 2</a:t>
            </a:r>
          </a:p>
        </p:txBody>
      </p:sp>
      <p:sp>
        <p:nvSpPr>
          <p:cNvPr id="8" name="Rounded Rectangle 7"/>
          <p:cNvSpPr/>
          <p:nvPr/>
        </p:nvSpPr>
        <p:spPr>
          <a:xfrm>
            <a:off x="6153912" y="2011680"/>
            <a:ext cx="5349240" cy="192024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391656" y="2194560"/>
            <a:ext cx="4873752" cy="256032"/>
          </a:xfrm>
          <a:prstGeom prst="rect">
            <a:avLst/>
          </a:prstGeom>
          <a:noFill/>
        </p:spPr>
        <p:txBody>
          <a:bodyPr wrap="square" lIns="0" rIns="0" tIns="0" bIns="0" anchor="t">
            <a:spAutoFit/>
          </a:bodyPr>
          <a:lstStyle/>
          <a:p>
            <a:pPr algn="l">
              <a:spcBef>
                <a:spcPts val="0"/>
              </a:spcBef>
              <a:spcAft>
                <a:spcPts val="0"/>
              </a:spcAft>
            </a:pPr>
            <a:r>
              <a:rPr sz="1050" b="1" i="0">
                <a:solidFill>
                  <a:srgbClr val="8CE6C9"/>
                </a:solidFill>
                <a:latin typeface="Calibri"/>
              </a:rPr>
              <a:t>TERMINAL</a:t>
            </a:r>
          </a:p>
        </p:txBody>
      </p:sp>
      <p:sp>
        <p:nvSpPr>
          <p:cNvPr id="10" name="TextBox 9"/>
          <p:cNvSpPr txBox="1"/>
          <p:nvPr/>
        </p:nvSpPr>
        <p:spPr>
          <a:xfrm>
            <a:off x="6391656" y="2505456"/>
            <a:ext cx="4873752" cy="1280160"/>
          </a:xfrm>
          <a:prstGeom prst="rect">
            <a:avLst/>
          </a:prstGeom>
          <a:noFill/>
        </p:spPr>
        <p:txBody>
          <a:bodyPr wrap="square" lIns="0" rIns="0" tIns="0" bIns="0" anchor="t">
            <a:spAutoFit/>
          </a:bodyPr>
          <a:lstStyle/>
          <a:p>
            <a:pPr algn="l">
              <a:lnSpc>
                <a:spcPct val="122000"/>
              </a:lnSpc>
              <a:spcBef>
                <a:spcPts val="0"/>
              </a:spcBef>
              <a:spcAft>
                <a:spcPts val="0"/>
              </a:spcAft>
            </a:pPr>
            <a:r>
              <a:rPr sz="1100" b="0" i="0">
                <a:solidFill>
                  <a:srgbClr val="D6E7E4"/>
                </a:solidFill>
                <a:latin typeface="Consolas"/>
              </a:rPr>
              <a:t>docker run \</a:t>
            </a:r>
          </a:p>
          <a:p>
            <a:pPr algn="l">
              <a:lnSpc>
                <a:spcPct val="122000"/>
              </a:lnSpc>
              <a:spcBef>
                <a:spcPts val="0"/>
              </a:spcBef>
              <a:spcAft>
                <a:spcPts val="0"/>
              </a:spcAft>
            </a:pPr>
            <a:r>
              <a:rPr sz="1100" b="0" i="0">
                <a:solidFill>
                  <a:srgbClr val="02C39A"/>
                </a:solidFill>
                <a:latin typeface="Consolas"/>
              </a:rPr>
              <a:t>  -e APP_CONF_THRESHOLD=0.4 \</a:t>
            </a:r>
          </a:p>
          <a:p>
            <a:pPr algn="l">
              <a:lnSpc>
                <a:spcPct val="122000"/>
              </a:lnSpc>
              <a:spcBef>
                <a:spcPts val="0"/>
              </a:spcBef>
              <a:spcAft>
                <a:spcPts val="0"/>
              </a:spcAft>
            </a:pPr>
            <a:r>
              <a:rPr sz="1100" b="0" i="0">
                <a:solidFill>
                  <a:srgbClr val="02C39A"/>
                </a:solidFill>
                <a:latin typeface="Consolas"/>
              </a:rPr>
              <a:t>  -e APP_TORCH_THREADS=4 \</a:t>
            </a:r>
          </a:p>
          <a:p>
            <a:pPr algn="l">
              <a:lnSpc>
                <a:spcPct val="122000"/>
              </a:lnSpc>
              <a:spcBef>
                <a:spcPts val="0"/>
              </a:spcBef>
              <a:spcAft>
                <a:spcPts val="0"/>
              </a:spcAft>
            </a:pPr>
            <a:r>
              <a:rPr sz="1100" b="0" i="0">
                <a:solidFill>
                  <a:srgbClr val="02C39A"/>
                </a:solidFill>
                <a:latin typeface="Consolas"/>
              </a:rPr>
              <a:t>  -e APP_LOG_LEVEL=DEBUG \</a:t>
            </a:r>
          </a:p>
          <a:p>
            <a:pPr algn="l">
              <a:lnSpc>
                <a:spcPct val="122000"/>
              </a:lnSpc>
              <a:spcBef>
                <a:spcPts val="0"/>
              </a:spcBef>
              <a:spcAft>
                <a:spcPts val="0"/>
              </a:spcAft>
            </a:pPr>
            <a:r>
              <a:rPr sz="1100" b="0" i="0">
                <a:solidFill>
                  <a:srgbClr val="D6E7E4"/>
                </a:solidFill>
                <a:latin typeface="Consolas"/>
              </a:rPr>
              <a:t>  yolo-serve:1.0.0</a:t>
            </a:r>
          </a:p>
        </p:txBody>
      </p:sp>
      <p:sp>
        <p:nvSpPr>
          <p:cNvPr id="11" name="Rounded Rectangle 10"/>
          <p:cNvSpPr/>
          <p:nvPr/>
        </p:nvSpPr>
        <p:spPr>
          <a:xfrm>
            <a:off x="685800" y="4160520"/>
            <a:ext cx="1371600"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150" b="1" i="0">
                <a:solidFill>
                  <a:srgbClr val="FFFFFF"/>
                </a:solidFill>
                <a:latin typeface="Calibri"/>
              </a:rPr>
              <a:t>local</a:t>
            </a:r>
          </a:p>
        </p:txBody>
      </p:sp>
      <p:sp>
        <p:nvSpPr>
          <p:cNvPr id="12" name="TextBox 11"/>
          <p:cNvSpPr txBox="1"/>
          <p:nvPr/>
        </p:nvSpPr>
        <p:spPr>
          <a:xfrm>
            <a:off x="2240280" y="4197096"/>
            <a:ext cx="9235440" cy="320040"/>
          </a:xfrm>
          <a:prstGeom prst="rect">
            <a:avLst/>
          </a:prstGeom>
          <a:noFill/>
        </p:spPr>
        <p:txBody>
          <a:bodyPr wrap="square" lIns="0" rIns="0" tIns="0" bIns="0" anchor="t">
            <a:spAutoFit/>
          </a:bodyPr>
          <a:lstStyle/>
          <a:p>
            <a:pPr algn="l">
              <a:spcBef>
                <a:spcPts val="0"/>
              </a:spcBef>
              <a:spcAft>
                <a:spcPts val="0"/>
              </a:spcAft>
            </a:pPr>
            <a:r>
              <a:rPr sz="1250" b="0" i="0">
                <a:solidFill>
                  <a:srgbClr val="5A7A80"/>
                </a:solidFill>
                <a:latin typeface="Calibri"/>
              </a:rPr>
              <a:t>uvicorn --reload, demo routes on, DEBUG logs</a:t>
            </a:r>
          </a:p>
        </p:txBody>
      </p:sp>
      <p:sp>
        <p:nvSpPr>
          <p:cNvPr id="13" name="Rounded Rectangle 12"/>
          <p:cNvSpPr/>
          <p:nvPr/>
        </p:nvSpPr>
        <p:spPr>
          <a:xfrm>
            <a:off x="685800" y="4690872"/>
            <a:ext cx="1371600"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150" b="1" i="0">
                <a:solidFill>
                  <a:srgbClr val="FFFFFF"/>
                </a:solidFill>
                <a:latin typeface="Calibri"/>
              </a:rPr>
              <a:t>docker</a:t>
            </a:r>
          </a:p>
        </p:txBody>
      </p:sp>
      <p:sp>
        <p:nvSpPr>
          <p:cNvPr id="14" name="TextBox 13"/>
          <p:cNvSpPr txBox="1"/>
          <p:nvPr/>
        </p:nvSpPr>
        <p:spPr>
          <a:xfrm>
            <a:off x="2240280" y="4727448"/>
            <a:ext cx="9235440" cy="320040"/>
          </a:xfrm>
          <a:prstGeom prst="rect">
            <a:avLst/>
          </a:prstGeom>
          <a:noFill/>
        </p:spPr>
        <p:txBody>
          <a:bodyPr wrap="square" lIns="0" rIns="0" tIns="0" bIns="0" anchor="t">
            <a:spAutoFit/>
          </a:bodyPr>
          <a:lstStyle/>
          <a:p>
            <a:pPr algn="l">
              <a:spcBef>
                <a:spcPts val="0"/>
              </a:spcBef>
              <a:spcAft>
                <a:spcPts val="0"/>
              </a:spcAft>
            </a:pPr>
            <a:r>
              <a:rPr sz="1250" b="0" i="0">
                <a:solidFill>
                  <a:srgbClr val="5A7A80"/>
                </a:solidFill>
                <a:latin typeface="Calibri"/>
              </a:rPr>
              <a:t>the shipped image, INFO logs, 2 threads</a:t>
            </a:r>
          </a:p>
        </p:txBody>
      </p:sp>
      <p:sp>
        <p:nvSpPr>
          <p:cNvPr id="15" name="Rounded Rectangle 14"/>
          <p:cNvSpPr/>
          <p:nvPr/>
        </p:nvSpPr>
        <p:spPr>
          <a:xfrm>
            <a:off x="685800" y="5221224"/>
            <a:ext cx="1371600"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150" b="1" i="0">
                <a:solidFill>
                  <a:srgbClr val="FFFFFF"/>
                </a:solidFill>
                <a:latin typeface="Calibri"/>
              </a:rPr>
              <a:t>aws</a:t>
            </a:r>
          </a:p>
        </p:txBody>
      </p:sp>
      <p:sp>
        <p:nvSpPr>
          <p:cNvPr id="16" name="TextBox 15"/>
          <p:cNvSpPr txBox="1"/>
          <p:nvPr/>
        </p:nvSpPr>
        <p:spPr>
          <a:xfrm>
            <a:off x="2240280" y="5257800"/>
            <a:ext cx="9235440" cy="320040"/>
          </a:xfrm>
          <a:prstGeom prst="rect">
            <a:avLst/>
          </a:prstGeom>
          <a:noFill/>
        </p:spPr>
        <p:txBody>
          <a:bodyPr wrap="square" lIns="0" rIns="0" tIns="0" bIns="0" anchor="t">
            <a:spAutoFit/>
          </a:bodyPr>
          <a:lstStyle/>
          <a:p>
            <a:pPr algn="l">
              <a:spcBef>
                <a:spcPts val="0"/>
              </a:spcBef>
              <a:spcAft>
                <a:spcPts val="0"/>
              </a:spcAft>
            </a:pPr>
            <a:r>
              <a:rPr sz="1250" b="0" i="0">
                <a:solidFill>
                  <a:srgbClr val="5A7A80"/>
                </a:solidFill>
                <a:latin typeface="Calibri"/>
              </a:rPr>
              <a:t>same image, systemd restarts it, logs to CloudWatch</a:t>
            </a:r>
          </a:p>
        </p:txBody>
      </p:sp>
      <p:sp>
        <p:nvSpPr>
          <p:cNvPr id="17" name="Rounded Rectangle 16"/>
          <p:cNvSpPr/>
          <p:nvPr/>
        </p:nvSpPr>
        <p:spPr>
          <a:xfrm>
            <a:off x="685800" y="5687568"/>
            <a:ext cx="10820095" cy="566928"/>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41832" y="5871911"/>
            <a:ext cx="10308031" cy="228965"/>
          </a:xfrm>
          <a:prstGeom prst="rect">
            <a:avLst/>
          </a:prstGeom>
          <a:noFill/>
        </p:spPr>
        <p:txBody>
          <a:bodyPr wrap="square" lIns="0" rIns="0" tIns="0" bIns="0" anchor="t">
            <a:spAutoFit/>
          </a:bodyPr>
          <a:lstStyle/>
          <a:p>
            <a:pPr algn="l">
              <a:lnSpc>
                <a:spcPct val="115000"/>
              </a:lnSpc>
              <a:spcBef>
                <a:spcPts val="0"/>
              </a:spcBef>
              <a:spcAft>
                <a:spcPts val="500"/>
              </a:spcAft>
            </a:pPr>
            <a:r>
              <a:rPr sz="1250" b="0" i="0">
                <a:solidFill>
                  <a:srgbClr val="12343B"/>
                </a:solidFill>
                <a:latin typeface="Calibri"/>
              </a:rPr>
              <a:t>Same bytes, different behaviour. That is what makes one artefact promotable from dev to staging to production without a rebuild.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457200" cy="6858000"/>
          </a:xfrm>
          <a:prstGeom prst="rect">
            <a:avLst/>
          </a:prstGeom>
          <a:solidFill>
            <a:srgbClr val="0F3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 name="Rectangle 1"/>
          <p:cNvSpPr/>
          <p:nvPr/>
        </p:nvSpPr>
        <p:spPr>
          <a:xfrm>
            <a:off x="0" y="0"/>
            <a:ext cx="12191695" cy="6858000"/>
          </a:xfrm>
          <a:prstGeom prst="rect">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8CE6C9"/>
                </a:solidFill>
                <a:latin typeface="Calibri"/>
              </a:rPr>
              <a:t>HANDS ON, PART TWO</a:t>
            </a:r>
          </a:p>
        </p:txBody>
      </p:sp>
      <p:sp>
        <p:nvSpPr>
          <p:cNvPr id="5" name="TextBox 4"/>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FFFFFF"/>
                </a:solidFill>
                <a:latin typeface="Cambria"/>
              </a:rPr>
              <a:t>Build and run the image</a:t>
            </a:r>
          </a:p>
        </p:txBody>
      </p:sp>
      <p:sp>
        <p:nvSpPr>
          <p:cNvPr id="6" name="Rounded Rectangle 5"/>
          <p:cNvSpPr/>
          <p:nvPr/>
        </p:nvSpPr>
        <p:spPr>
          <a:xfrm>
            <a:off x="685800" y="1965960"/>
            <a:ext cx="5852160" cy="237744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23544" y="2148840"/>
            <a:ext cx="5376672" cy="256032"/>
          </a:xfrm>
          <a:prstGeom prst="rect">
            <a:avLst/>
          </a:prstGeom>
          <a:noFill/>
        </p:spPr>
        <p:txBody>
          <a:bodyPr wrap="square" lIns="0" rIns="0" tIns="0" bIns="0" anchor="t">
            <a:spAutoFit/>
          </a:bodyPr>
          <a:lstStyle/>
          <a:p>
            <a:pPr algn="l">
              <a:spcBef>
                <a:spcPts val="0"/>
              </a:spcBef>
              <a:spcAft>
                <a:spcPts val="0"/>
              </a:spcAft>
            </a:pPr>
            <a:r>
              <a:rPr sz="1050" b="1" i="0">
                <a:solidFill>
                  <a:srgbClr val="8CE6C9"/>
                </a:solidFill>
                <a:latin typeface="Calibri"/>
              </a:rPr>
              <a:t>TERMINAL</a:t>
            </a:r>
          </a:p>
        </p:txBody>
      </p:sp>
      <p:sp>
        <p:nvSpPr>
          <p:cNvPr id="8" name="TextBox 7"/>
          <p:cNvSpPr txBox="1"/>
          <p:nvPr/>
        </p:nvSpPr>
        <p:spPr>
          <a:xfrm>
            <a:off x="923544" y="2459736"/>
            <a:ext cx="5376672" cy="1737360"/>
          </a:xfrm>
          <a:prstGeom prst="rect">
            <a:avLst/>
          </a:prstGeom>
          <a:noFill/>
        </p:spPr>
        <p:txBody>
          <a:bodyPr wrap="square" lIns="0" rIns="0" tIns="0" bIns="0" anchor="t">
            <a:spAutoFit/>
          </a:bodyPr>
          <a:lstStyle/>
          <a:p>
            <a:pPr algn="l">
              <a:lnSpc>
                <a:spcPct val="122000"/>
              </a:lnSpc>
              <a:spcBef>
                <a:spcPts val="0"/>
              </a:spcBef>
              <a:spcAft>
                <a:spcPts val="0"/>
              </a:spcAft>
            </a:pPr>
            <a:r>
              <a:rPr sz="1150" b="0" i="0">
                <a:solidFill>
                  <a:srgbClr val="8CE6C9"/>
                </a:solidFill>
                <a:latin typeface="Consolas"/>
              </a:rPr>
              <a:t>docker build -t yolo-serve:1.0.0 .</a:t>
            </a:r>
          </a:p>
          <a:p>
            <a:pPr algn="l">
              <a:lnSpc>
                <a:spcPct val="122000"/>
              </a:lnSpc>
              <a:spcBef>
                <a:spcPts val="0"/>
              </a:spcBef>
              <a:spcAft>
                <a:spcPts val="0"/>
              </a:spcAft>
            </a:pPr>
            <a:r>
              <a:rPr sz="1150" b="0" i="0">
                <a:solidFill>
                  <a:srgbClr val="8CE6C9"/>
                </a:solidFill>
                <a:latin typeface="Consolas"/>
              </a:rPr>
              <a:t>docker run --rm -p 8000:8000 yolo-serve:1.0.0</a:t>
            </a:r>
          </a:p>
          <a:p>
            <a:pPr algn="l">
              <a:lnSpc>
                <a:spcPct val="122000"/>
              </a:lnSpc>
              <a:spcBef>
                <a:spcPts val="0"/>
              </a:spcBef>
              <a:spcAft>
                <a:spcPts val="0"/>
              </a:spcAft>
            </a:pPr>
            <a:r>
              <a:rPr sz="1150" b="0" i="0">
                <a:solidFill>
                  <a:srgbClr val="D6E7E4"/>
                </a:solidFill>
                <a:latin typeface="Consolas"/>
              </a:rPr>
              <a:t/>
            </a:r>
          </a:p>
          <a:p>
            <a:pPr algn="l">
              <a:lnSpc>
                <a:spcPct val="122000"/>
              </a:lnSpc>
              <a:spcBef>
                <a:spcPts val="0"/>
              </a:spcBef>
              <a:spcAft>
                <a:spcPts val="0"/>
              </a:spcAft>
            </a:pPr>
            <a:r>
              <a:rPr sz="1150" b="0" i="0">
                <a:solidFill>
                  <a:srgbClr val="9AB4B8"/>
                </a:solidFill>
                <a:latin typeface="Consolas"/>
              </a:rPr>
              <a:t># or, with the ports and env in version control</a:t>
            </a:r>
          </a:p>
          <a:p>
            <a:pPr algn="l">
              <a:lnSpc>
                <a:spcPct val="122000"/>
              </a:lnSpc>
              <a:spcBef>
                <a:spcPts val="0"/>
              </a:spcBef>
              <a:spcAft>
                <a:spcPts val="0"/>
              </a:spcAft>
            </a:pPr>
            <a:r>
              <a:rPr sz="1150" b="0" i="0">
                <a:solidFill>
                  <a:srgbClr val="D6E7E4"/>
                </a:solidFill>
                <a:latin typeface="Consolas"/>
              </a:rPr>
              <a:t>docker compose up --build</a:t>
            </a:r>
          </a:p>
        </p:txBody>
      </p:sp>
      <p:sp>
        <p:nvSpPr>
          <p:cNvPr id="9" name="Rounded Rectangle 8"/>
          <p:cNvSpPr/>
          <p:nvPr/>
        </p:nvSpPr>
        <p:spPr>
          <a:xfrm>
            <a:off x="6629400" y="1965960"/>
            <a:ext cx="4873752" cy="2377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67144" y="2176272"/>
            <a:ext cx="4398264" cy="1965960"/>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Check these three things</a:t>
            </a:r>
          </a:p>
          <a:p>
            <a:pPr algn="l">
              <a:spcBef>
                <a:spcPts val="800"/>
              </a:spcBef>
              <a:spcAft>
                <a:spcPts val="0"/>
              </a:spcAft>
            </a:pPr>
            <a:r>
              <a:rPr sz="1150" b="0" i="0">
                <a:solidFill>
                  <a:srgbClr val="12343B"/>
                </a:solidFill>
                <a:latin typeface="Calibri"/>
              </a:rPr>
              <a:t>1.  docker ps shows (healthy), not just Up</a:t>
            </a:r>
          </a:p>
          <a:p>
            <a:pPr algn="l">
              <a:spcBef>
                <a:spcPts val="400"/>
              </a:spcBef>
              <a:spcAft>
                <a:spcPts val="0"/>
              </a:spcAft>
            </a:pPr>
            <a:r>
              <a:rPr sz="1150" b="0" i="0">
                <a:solidFill>
                  <a:srgbClr val="12343B"/>
                </a:solidFill>
                <a:latin typeface="Calibri"/>
              </a:rPr>
              <a:t>2.  The logs have no warnings about writable directories</a:t>
            </a:r>
          </a:p>
          <a:p>
            <a:pPr algn="l">
              <a:spcBef>
                <a:spcPts val="400"/>
              </a:spcBef>
              <a:spcAft>
                <a:spcPts val="0"/>
              </a:spcAft>
            </a:pPr>
            <a:r>
              <a:rPr sz="1150" b="0" i="0">
                <a:solidFill>
                  <a:srgbClr val="12343B"/>
                </a:solidFill>
                <a:latin typeface="Calibri"/>
              </a:rPr>
              <a:t>3.  The same curl commands work against port 8000</a:t>
            </a:r>
          </a:p>
        </p:txBody>
      </p:sp>
      <p:sp>
        <p:nvSpPr>
          <p:cNvPr id="11" name="Rounded Rectangle 10"/>
          <p:cNvSpPr/>
          <p:nvPr/>
        </p:nvSpPr>
        <p:spPr>
          <a:xfrm>
            <a:off x="685800" y="4526280"/>
            <a:ext cx="10817352" cy="155448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23544" y="4709160"/>
            <a:ext cx="10341864" cy="256032"/>
          </a:xfrm>
          <a:prstGeom prst="rect">
            <a:avLst/>
          </a:prstGeom>
          <a:noFill/>
        </p:spPr>
        <p:txBody>
          <a:bodyPr wrap="square" lIns="0" rIns="0" tIns="0" bIns="0" anchor="t">
            <a:spAutoFit/>
          </a:bodyPr>
          <a:lstStyle/>
          <a:p>
            <a:pPr algn="l">
              <a:spcBef>
                <a:spcPts val="0"/>
              </a:spcBef>
              <a:spcAft>
                <a:spcPts val="0"/>
              </a:spcAft>
            </a:pPr>
            <a:r>
              <a:rPr sz="1050" b="1" i="0">
                <a:solidFill>
                  <a:srgbClr val="8CE6C9"/>
                </a:solidFill>
                <a:latin typeface="Calibri"/>
              </a:rPr>
              <a:t>AND THEN</a:t>
            </a:r>
          </a:p>
        </p:txBody>
      </p:sp>
      <p:sp>
        <p:nvSpPr>
          <p:cNvPr id="13" name="TextBox 12"/>
          <p:cNvSpPr txBox="1"/>
          <p:nvPr/>
        </p:nvSpPr>
        <p:spPr>
          <a:xfrm>
            <a:off x="923544" y="5020056"/>
            <a:ext cx="10341864" cy="914399"/>
          </a:xfrm>
          <a:prstGeom prst="rect">
            <a:avLst/>
          </a:prstGeom>
          <a:noFill/>
        </p:spPr>
        <p:txBody>
          <a:bodyPr wrap="square" lIns="0" rIns="0" tIns="0" bIns="0" anchor="t">
            <a:spAutoFit/>
          </a:bodyPr>
          <a:lstStyle/>
          <a:p>
            <a:pPr algn="l">
              <a:lnSpc>
                <a:spcPct val="122000"/>
              </a:lnSpc>
              <a:spcBef>
                <a:spcPts val="0"/>
              </a:spcBef>
              <a:spcAft>
                <a:spcPts val="0"/>
              </a:spcAft>
            </a:pPr>
            <a:r>
              <a:rPr sz="1100" b="0" i="0">
                <a:solidFill>
                  <a:srgbClr val="D6E7E4"/>
                </a:solidFill>
                <a:latin typeface="Consolas"/>
              </a:rPr>
              <a:t>docker ps                              # STATUS should read (healthy)</a:t>
            </a:r>
          </a:p>
          <a:p>
            <a:pPr algn="l">
              <a:lnSpc>
                <a:spcPct val="122000"/>
              </a:lnSpc>
              <a:spcBef>
                <a:spcPts val="0"/>
              </a:spcBef>
              <a:spcAft>
                <a:spcPts val="0"/>
              </a:spcAft>
            </a:pPr>
            <a:r>
              <a:rPr sz="1100" b="0" i="0">
                <a:solidFill>
                  <a:srgbClr val="D6E7E4"/>
                </a:solidFill>
                <a:latin typeface="Consolas"/>
              </a:rPr>
              <a:t>docker logs yolo-serve</a:t>
            </a:r>
          </a:p>
          <a:p>
            <a:pPr algn="l">
              <a:lnSpc>
                <a:spcPct val="122000"/>
              </a:lnSpc>
              <a:spcBef>
                <a:spcPts val="0"/>
              </a:spcBef>
              <a:spcAft>
                <a:spcPts val="0"/>
              </a:spcAft>
            </a:pPr>
            <a:r>
              <a:rPr sz="1100" b="0" i="0">
                <a:solidFill>
                  <a:srgbClr val="02C39A"/>
                </a:solidFill>
                <a:latin typeface="Consolas"/>
              </a:rPr>
              <a:t>docker run --rm -e APP_CONF_THRESHOLD=0.5 -p 8000:8000 yolo-serve:1.0.0   # same image, stricter</a:t>
            </a:r>
          </a:p>
        </p:txBody>
      </p:sp>
      <p:sp>
        <p:nvSpPr>
          <p:cNvPr id="14" name="TextBox 1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9AB4B8"/>
                </a:solidFill>
                <a:latin typeface="Calibri"/>
              </a:rPr>
              <a:t>Session 39  ·  FastAPI Model Serving and Cloud Deployment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457200" cy="6858000"/>
          </a:xfrm>
          <a:prstGeom prst="rect">
            <a:avLst/>
          </a:prstGeom>
          <a:solidFill>
            <a:srgbClr val="0F3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 name="Rectangle 1"/>
          <p:cNvSpPr/>
          <p:nvPr/>
        </p:nvSpPr>
        <p:spPr>
          <a:xfrm>
            <a:off x="0" y="0"/>
            <a:ext cx="12191695" cy="6858000"/>
          </a:xfrm>
          <a:prstGeom prst="rect">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85800" y="2377440"/>
            <a:ext cx="10820095" cy="365760"/>
          </a:xfrm>
          <a:prstGeom prst="rect">
            <a:avLst/>
          </a:prstGeom>
          <a:noFill/>
        </p:spPr>
        <p:txBody>
          <a:bodyPr wrap="square" lIns="0" rIns="0" tIns="0" bIns="0" anchor="t">
            <a:spAutoFit/>
          </a:bodyPr>
          <a:lstStyle/>
          <a:p>
            <a:pPr algn="l">
              <a:spcBef>
                <a:spcPts val="0"/>
              </a:spcBef>
              <a:spcAft>
                <a:spcPts val="0"/>
              </a:spcAft>
            </a:pPr>
            <a:r>
              <a:rPr sz="1300" b="1" i="0">
                <a:solidFill>
                  <a:srgbClr val="8CE6C9"/>
                </a:solidFill>
                <a:latin typeface="Calibri"/>
              </a:rPr>
              <a:t>PART THREE</a:t>
            </a:r>
          </a:p>
        </p:txBody>
      </p:sp>
      <p:sp>
        <p:nvSpPr>
          <p:cNvPr id="5" name="TextBox 4"/>
          <p:cNvSpPr txBox="1"/>
          <p:nvPr/>
        </p:nvSpPr>
        <p:spPr>
          <a:xfrm>
            <a:off x="685800" y="2743200"/>
            <a:ext cx="10820095" cy="914400"/>
          </a:xfrm>
          <a:prstGeom prst="rect">
            <a:avLst/>
          </a:prstGeom>
          <a:noFill/>
        </p:spPr>
        <p:txBody>
          <a:bodyPr wrap="square" lIns="0" rIns="0" tIns="0" bIns="0" anchor="t">
            <a:spAutoFit/>
          </a:bodyPr>
          <a:lstStyle/>
          <a:p>
            <a:pPr algn="l">
              <a:spcBef>
                <a:spcPts val="0"/>
              </a:spcBef>
              <a:spcAft>
                <a:spcPts val="0"/>
              </a:spcAft>
            </a:pPr>
            <a:r>
              <a:rPr sz="4400" b="1" i="0">
                <a:solidFill>
                  <a:srgbClr val="FFFFFF"/>
                </a:solidFill>
                <a:latin typeface="Cambria"/>
              </a:rPr>
              <a:t>AWS</a:t>
            </a:r>
          </a:p>
        </p:txBody>
      </p:sp>
      <p:sp>
        <p:nvSpPr>
          <p:cNvPr id="6" name="TextBox 5"/>
          <p:cNvSpPr txBox="1"/>
          <p:nvPr/>
        </p:nvSpPr>
        <p:spPr>
          <a:xfrm>
            <a:off x="685800" y="3749039"/>
            <a:ext cx="7863840" cy="822960"/>
          </a:xfrm>
          <a:prstGeom prst="rect">
            <a:avLst/>
          </a:prstGeom>
          <a:noFill/>
        </p:spPr>
        <p:txBody>
          <a:bodyPr wrap="square" lIns="0" rIns="0" tIns="0" bIns="0" anchor="t">
            <a:spAutoFit/>
          </a:bodyPr>
          <a:lstStyle/>
          <a:p>
            <a:pPr algn="l">
              <a:lnSpc>
                <a:spcPct val="125000"/>
              </a:lnSpc>
              <a:spcBef>
                <a:spcPts val="0"/>
              </a:spcBef>
              <a:spcAft>
                <a:spcPts val="0"/>
              </a:spcAft>
            </a:pPr>
            <a:r>
              <a:rPr sz="1500" b="0" i="0">
                <a:solidFill>
                  <a:srgbClr val="D6E7E4"/>
                </a:solidFill>
                <a:latin typeface="Calibri"/>
              </a:rPr>
              <a:t>Push the image to a registry, run it on an instance, and give your client a URL.</a:t>
            </a:r>
          </a:p>
        </p:txBody>
      </p:sp>
      <p:sp>
        <p:nvSpPr>
          <p:cNvPr id="7" name="Rounded Rectangle 6"/>
          <p:cNvSpPr/>
          <p:nvPr/>
        </p:nvSpPr>
        <p:spPr>
          <a:xfrm>
            <a:off x="685800" y="4937760"/>
            <a:ext cx="2560320" cy="457200"/>
          </a:xfrm>
          <a:prstGeom prst="roundRect">
            <a:avLst>
              <a:gd name="adj" fmla="val 50000"/>
            </a:avLst>
          </a:prstGeom>
          <a:solidFill>
            <a:srgbClr val="8CE6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150" b="1" i="0">
                <a:solidFill>
                  <a:srgbClr val="12343B"/>
                </a:solidFill>
                <a:latin typeface="Calibri"/>
              </a:rPr>
              <a:t>ECR</a:t>
            </a:r>
          </a:p>
        </p:txBody>
      </p:sp>
      <p:sp>
        <p:nvSpPr>
          <p:cNvPr id="8" name="Rounded Rectangle 7"/>
          <p:cNvSpPr/>
          <p:nvPr/>
        </p:nvSpPr>
        <p:spPr>
          <a:xfrm>
            <a:off x="3429000" y="4937760"/>
            <a:ext cx="2560320" cy="457200"/>
          </a:xfrm>
          <a:prstGeom prst="roundRect">
            <a:avLst>
              <a:gd name="adj" fmla="val 50000"/>
            </a:avLst>
          </a:prstGeom>
          <a:solidFill>
            <a:srgbClr val="8CE6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150" b="1" i="0">
                <a:solidFill>
                  <a:srgbClr val="12343B"/>
                </a:solidFill>
                <a:latin typeface="Calibri"/>
              </a:rPr>
              <a:t>EC2 and systemd</a:t>
            </a:r>
          </a:p>
        </p:txBody>
      </p:sp>
      <p:sp>
        <p:nvSpPr>
          <p:cNvPr id="9" name="Rounded Rectangle 8"/>
          <p:cNvSpPr/>
          <p:nvPr/>
        </p:nvSpPr>
        <p:spPr>
          <a:xfrm>
            <a:off x="6172200" y="4937760"/>
            <a:ext cx="2560320" cy="457200"/>
          </a:xfrm>
          <a:prstGeom prst="roundRect">
            <a:avLst>
              <a:gd name="adj" fmla="val 50000"/>
            </a:avLst>
          </a:prstGeom>
          <a:solidFill>
            <a:srgbClr val="8CE6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150" b="1" i="0">
                <a:solidFill>
                  <a:srgbClr val="12343B"/>
                </a:solidFill>
                <a:latin typeface="Calibri"/>
              </a:rPr>
              <a:t>IAM roles</a:t>
            </a:r>
          </a:p>
        </p:txBody>
      </p:sp>
      <p:sp>
        <p:nvSpPr>
          <p:cNvPr id="10" name="Rounded Rectangle 9"/>
          <p:cNvSpPr/>
          <p:nvPr/>
        </p:nvSpPr>
        <p:spPr>
          <a:xfrm>
            <a:off x="8915400" y="4937760"/>
            <a:ext cx="2560320" cy="457200"/>
          </a:xfrm>
          <a:prstGeom prst="roundRect">
            <a:avLst>
              <a:gd name="adj" fmla="val 50000"/>
            </a:avLst>
          </a:prstGeom>
          <a:solidFill>
            <a:srgbClr val="8CE6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150" b="1" i="0">
                <a:solidFill>
                  <a:srgbClr val="12343B"/>
                </a:solidFill>
                <a:latin typeface="Calibri"/>
              </a:rPr>
              <a:t>CloudWatch logs</a:t>
            </a:r>
          </a:p>
        </p:txBody>
      </p:sp>
      <p:sp>
        <p:nvSpPr>
          <p:cNvPr id="11" name="TextBox 10"/>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9AB4B8"/>
                </a:solidFill>
                <a:latin typeface="Calibri"/>
              </a:rPr>
              <a:t>Session 39  ·  FastAPI Model Serving and Cloud Deployment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DEPLOYMENT</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Three moves, and nothing clever</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2194560"/>
            <a:ext cx="3291840" cy="15544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2450592"/>
            <a:ext cx="3017520" cy="365760"/>
          </a:xfrm>
          <a:prstGeom prst="rect">
            <a:avLst/>
          </a:prstGeom>
          <a:noFill/>
        </p:spPr>
        <p:txBody>
          <a:bodyPr wrap="square" lIns="0" rIns="0" tIns="0" bIns="0" anchor="t">
            <a:spAutoFit/>
          </a:bodyPr>
          <a:lstStyle/>
          <a:p>
            <a:pPr algn="ctr">
              <a:spcBef>
                <a:spcPts val="0"/>
              </a:spcBef>
              <a:spcAft>
                <a:spcPts val="0"/>
              </a:spcAft>
            </a:pPr>
            <a:r>
              <a:rPr sz="1600" b="1" i="0">
                <a:solidFill>
                  <a:srgbClr val="028090"/>
                </a:solidFill>
                <a:latin typeface="Calibri"/>
              </a:rPr>
              <a:t>Your laptop</a:t>
            </a:r>
          </a:p>
        </p:txBody>
      </p:sp>
      <p:sp>
        <p:nvSpPr>
          <p:cNvPr id="7" name="TextBox 6"/>
          <p:cNvSpPr txBox="1"/>
          <p:nvPr/>
        </p:nvSpPr>
        <p:spPr>
          <a:xfrm>
            <a:off x="795528" y="2926080"/>
            <a:ext cx="3072384" cy="685800"/>
          </a:xfrm>
          <a:prstGeom prst="rect">
            <a:avLst/>
          </a:prstGeom>
          <a:noFill/>
        </p:spPr>
        <p:txBody>
          <a:bodyPr wrap="square" lIns="0" rIns="0" tIns="0" bIns="0" anchor="t">
            <a:spAutoFit/>
          </a:bodyPr>
          <a:lstStyle/>
          <a:p>
            <a:pPr algn="ctr">
              <a:lnSpc>
                <a:spcPct val="115000"/>
              </a:lnSpc>
              <a:spcBef>
                <a:spcPts val="0"/>
              </a:spcBef>
              <a:spcAft>
                <a:spcPts val="0"/>
              </a:spcAft>
            </a:pPr>
            <a:r>
              <a:rPr sz="1100" b="0" i="0">
                <a:solidFill>
                  <a:srgbClr val="5A7A80"/>
                </a:solidFill>
                <a:latin typeface="Calibri"/>
              </a:rPr>
              <a:t>docker build
--platform linux/amd64</a:t>
            </a:r>
          </a:p>
        </p:txBody>
      </p:sp>
      <p:sp>
        <p:nvSpPr>
          <p:cNvPr id="8" name="Right Arrow 7"/>
          <p:cNvSpPr/>
          <p:nvPr/>
        </p:nvSpPr>
        <p:spPr>
          <a:xfrm>
            <a:off x="4105655" y="2798064"/>
            <a:ext cx="457200" cy="347472"/>
          </a:xfrm>
          <a:prstGeom prst="rightArrow">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690872" y="2194560"/>
            <a:ext cx="3291840" cy="15544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828032" y="2450592"/>
            <a:ext cx="3017520" cy="365760"/>
          </a:xfrm>
          <a:prstGeom prst="rect">
            <a:avLst/>
          </a:prstGeom>
          <a:noFill/>
        </p:spPr>
        <p:txBody>
          <a:bodyPr wrap="square" lIns="0" rIns="0" tIns="0" bIns="0" anchor="t">
            <a:spAutoFit/>
          </a:bodyPr>
          <a:lstStyle/>
          <a:p>
            <a:pPr algn="ctr">
              <a:spcBef>
                <a:spcPts val="0"/>
              </a:spcBef>
              <a:spcAft>
                <a:spcPts val="0"/>
              </a:spcAft>
            </a:pPr>
            <a:r>
              <a:rPr sz="1600" b="1" i="0">
                <a:solidFill>
                  <a:srgbClr val="028090"/>
                </a:solidFill>
                <a:latin typeface="Calibri"/>
              </a:rPr>
              <a:t>Amazon ECR</a:t>
            </a:r>
          </a:p>
        </p:txBody>
      </p:sp>
      <p:sp>
        <p:nvSpPr>
          <p:cNvPr id="11" name="TextBox 10"/>
          <p:cNvSpPr txBox="1"/>
          <p:nvPr/>
        </p:nvSpPr>
        <p:spPr>
          <a:xfrm>
            <a:off x="4800600" y="2926080"/>
            <a:ext cx="3072384" cy="685800"/>
          </a:xfrm>
          <a:prstGeom prst="rect">
            <a:avLst/>
          </a:prstGeom>
          <a:noFill/>
        </p:spPr>
        <p:txBody>
          <a:bodyPr wrap="square" lIns="0" rIns="0" tIns="0" bIns="0" anchor="t">
            <a:spAutoFit/>
          </a:bodyPr>
          <a:lstStyle/>
          <a:p>
            <a:pPr algn="ctr">
              <a:lnSpc>
                <a:spcPct val="115000"/>
              </a:lnSpc>
              <a:spcBef>
                <a:spcPts val="0"/>
              </a:spcBef>
              <a:spcAft>
                <a:spcPts val="0"/>
              </a:spcAft>
            </a:pPr>
            <a:r>
              <a:rPr sz="1100" b="0" i="0">
                <a:solidFill>
                  <a:srgbClr val="5A7A80"/>
                </a:solidFill>
                <a:latin typeface="Calibri"/>
              </a:rPr>
              <a:t>a private registry
with immutable tags</a:t>
            </a:r>
          </a:p>
        </p:txBody>
      </p:sp>
      <p:sp>
        <p:nvSpPr>
          <p:cNvPr id="12" name="Right Arrow 11"/>
          <p:cNvSpPr/>
          <p:nvPr/>
        </p:nvSpPr>
        <p:spPr>
          <a:xfrm>
            <a:off x="8110728" y="2798064"/>
            <a:ext cx="457200" cy="347472"/>
          </a:xfrm>
          <a:prstGeom prst="rightArrow">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95944" y="2194560"/>
            <a:ext cx="3291840" cy="1554480"/>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833104" y="2450592"/>
            <a:ext cx="3017520" cy="365760"/>
          </a:xfrm>
          <a:prstGeom prst="rect">
            <a:avLst/>
          </a:prstGeom>
          <a:noFill/>
        </p:spPr>
        <p:txBody>
          <a:bodyPr wrap="square" lIns="0" rIns="0" tIns="0" bIns="0" anchor="t">
            <a:spAutoFit/>
          </a:bodyPr>
          <a:lstStyle/>
          <a:p>
            <a:pPr algn="ctr">
              <a:spcBef>
                <a:spcPts val="0"/>
              </a:spcBef>
              <a:spcAft>
                <a:spcPts val="0"/>
              </a:spcAft>
            </a:pPr>
            <a:r>
              <a:rPr sz="1600" b="1" i="0">
                <a:solidFill>
                  <a:srgbClr val="8CE6C9"/>
                </a:solidFill>
                <a:latin typeface="Calibri"/>
              </a:rPr>
              <a:t>EC2 instance</a:t>
            </a:r>
          </a:p>
        </p:txBody>
      </p:sp>
      <p:sp>
        <p:nvSpPr>
          <p:cNvPr id="15" name="TextBox 14"/>
          <p:cNvSpPr txBox="1"/>
          <p:nvPr/>
        </p:nvSpPr>
        <p:spPr>
          <a:xfrm>
            <a:off x="8805672" y="2926080"/>
            <a:ext cx="3072384" cy="685800"/>
          </a:xfrm>
          <a:prstGeom prst="rect">
            <a:avLst/>
          </a:prstGeom>
          <a:noFill/>
        </p:spPr>
        <p:txBody>
          <a:bodyPr wrap="square" lIns="0" rIns="0" tIns="0" bIns="0" anchor="t">
            <a:spAutoFit/>
          </a:bodyPr>
          <a:lstStyle/>
          <a:p>
            <a:pPr algn="ctr">
              <a:lnSpc>
                <a:spcPct val="115000"/>
              </a:lnSpc>
              <a:spcBef>
                <a:spcPts val="0"/>
              </a:spcBef>
              <a:spcAft>
                <a:spcPts val="0"/>
              </a:spcAft>
            </a:pPr>
            <a:r>
              <a:rPr sz="1100" b="0" i="0">
                <a:solidFill>
                  <a:srgbClr val="D6E7E4"/>
                </a:solidFill>
                <a:latin typeface="Calibri"/>
              </a:rPr>
              <a:t>systemd pulls and runs
the same image</a:t>
            </a:r>
          </a:p>
        </p:txBody>
      </p:sp>
      <p:sp>
        <p:nvSpPr>
          <p:cNvPr id="16" name="Rounded Rectangle 15"/>
          <p:cNvSpPr/>
          <p:nvPr/>
        </p:nvSpPr>
        <p:spPr>
          <a:xfrm>
            <a:off x="685800" y="4023360"/>
            <a:ext cx="3529584" cy="20574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41832" y="420770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Why a registry at all</a:t>
            </a:r>
          </a:p>
        </p:txBody>
      </p:sp>
      <p:sp>
        <p:nvSpPr>
          <p:cNvPr id="18" name="TextBox 17"/>
          <p:cNvSpPr txBox="1"/>
          <p:nvPr/>
        </p:nvSpPr>
        <p:spPr>
          <a:xfrm>
            <a:off x="941832" y="4573463"/>
            <a:ext cx="3017520" cy="13536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The instance never builds anything. It pulls a finished artefact.</a:t>
            </a:r>
          </a:p>
          <a:p>
            <a:pPr algn="l">
              <a:lnSpc>
                <a:spcPct val="115000"/>
              </a:lnSpc>
              <a:spcBef>
                <a:spcPts val="0"/>
              </a:spcBef>
              <a:spcAft>
                <a:spcPts val="500"/>
              </a:spcAft>
            </a:pPr>
            <a:r>
              <a:rPr sz="1200" b="0" i="0">
                <a:solidFill>
                  <a:srgbClr val="5A7A80"/>
                </a:solidFill>
                <a:latin typeface="Calibri"/>
              </a:rPr>
              <a:t>That is what makes the rollout fast and the rollback trivial.</a:t>
            </a:r>
          </a:p>
        </p:txBody>
      </p:sp>
      <p:sp>
        <p:nvSpPr>
          <p:cNvPr id="19" name="Rounded Rectangle 18"/>
          <p:cNvSpPr/>
          <p:nvPr/>
        </p:nvSpPr>
        <p:spPr>
          <a:xfrm>
            <a:off x="4325112" y="4023360"/>
            <a:ext cx="3529584" cy="20574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81144" y="420770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Why systemd, not docker run</a:t>
            </a:r>
          </a:p>
        </p:txBody>
      </p:sp>
      <p:sp>
        <p:nvSpPr>
          <p:cNvPr id="21" name="TextBox 20"/>
          <p:cNvSpPr txBox="1"/>
          <p:nvPr/>
        </p:nvSpPr>
        <p:spPr>
          <a:xfrm>
            <a:off x="4581144" y="4573463"/>
            <a:ext cx="3017520" cy="13536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A bare docker run dies with your SSH session and does not survive a reboot.</a:t>
            </a:r>
          </a:p>
          <a:p>
            <a:pPr algn="l">
              <a:lnSpc>
                <a:spcPct val="115000"/>
              </a:lnSpc>
              <a:spcBef>
                <a:spcPts val="0"/>
              </a:spcBef>
              <a:spcAft>
                <a:spcPts val="500"/>
              </a:spcAft>
            </a:pPr>
            <a:r>
              <a:rPr sz="1200" b="0" i="0">
                <a:solidFill>
                  <a:srgbClr val="5A7A80"/>
                </a:solidFill>
                <a:latin typeface="Calibri"/>
              </a:rPr>
              <a:t>systemd restarts it on failure and starts it at boot.</a:t>
            </a:r>
          </a:p>
        </p:txBody>
      </p:sp>
      <p:sp>
        <p:nvSpPr>
          <p:cNvPr id="22" name="Rounded Rectangle 21"/>
          <p:cNvSpPr/>
          <p:nvPr/>
        </p:nvSpPr>
        <p:spPr>
          <a:xfrm>
            <a:off x="7973568" y="4023360"/>
            <a:ext cx="3529584" cy="20574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29600" y="420770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C15B4E"/>
                </a:solidFill>
                <a:latin typeface="Calibri"/>
              </a:rPr>
              <a:t>The flag that costs an evening</a:t>
            </a:r>
          </a:p>
        </p:txBody>
      </p:sp>
      <p:sp>
        <p:nvSpPr>
          <p:cNvPr id="24" name="TextBox 23"/>
          <p:cNvSpPr txBox="1"/>
          <p:nvPr/>
        </p:nvSpPr>
        <p:spPr>
          <a:xfrm>
            <a:off x="8229600" y="4573463"/>
            <a:ext cx="3017520" cy="135367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--platform linux/amd64.</a:t>
            </a:r>
          </a:p>
          <a:p>
            <a:pPr algn="l">
              <a:lnSpc>
                <a:spcPct val="115000"/>
              </a:lnSpc>
              <a:spcBef>
                <a:spcPts val="0"/>
              </a:spcBef>
              <a:spcAft>
                <a:spcPts val="500"/>
              </a:spcAft>
            </a:pPr>
            <a:r>
              <a:rPr sz="1200" b="0" i="0">
                <a:solidFill>
                  <a:srgbClr val="5A7A80"/>
                </a:solidFill>
                <a:latin typeface="Calibri"/>
              </a:rPr>
              <a:t>An Apple Silicon Mac builds arm64 by default, and an arm64 image on an x86 instance fails with exec format error.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RUNBOOK</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Seven steps, all of them scripted</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2057400"/>
            <a:ext cx="310896"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200" b="1" i="0">
                <a:solidFill>
                  <a:srgbClr val="FFFFFF"/>
                </a:solidFill>
                <a:latin typeface="Calibri"/>
              </a:rPr>
              <a:t>1</a:t>
            </a:r>
          </a:p>
        </p:txBody>
      </p:sp>
      <p:sp>
        <p:nvSpPr>
          <p:cNvPr id="6" name="TextBox 5"/>
          <p:cNvSpPr txBox="1"/>
          <p:nvPr/>
        </p:nvSpPr>
        <p:spPr>
          <a:xfrm>
            <a:off x="1124712" y="2020824"/>
            <a:ext cx="4590288" cy="310896"/>
          </a:xfrm>
          <a:prstGeom prst="rect">
            <a:avLst/>
          </a:prstGeom>
          <a:noFill/>
        </p:spPr>
        <p:txBody>
          <a:bodyPr wrap="square" lIns="0" rIns="0" tIns="0" bIns="0" anchor="t">
            <a:spAutoFit/>
          </a:bodyPr>
          <a:lstStyle/>
          <a:p>
            <a:pPr algn="l">
              <a:spcBef>
                <a:spcPts val="0"/>
              </a:spcBef>
              <a:spcAft>
                <a:spcPts val="0"/>
              </a:spcAft>
            </a:pPr>
            <a:r>
              <a:rPr sz="1250" b="1" i="0">
                <a:solidFill>
                  <a:srgbClr val="12343B"/>
                </a:solidFill>
                <a:latin typeface="Calibri"/>
              </a:rPr>
              <a:t>Push to ECR</a:t>
            </a:r>
          </a:p>
        </p:txBody>
      </p:sp>
      <p:sp>
        <p:nvSpPr>
          <p:cNvPr id="7" name="TextBox 6"/>
          <p:cNvSpPr txBox="1"/>
          <p:nvPr/>
        </p:nvSpPr>
        <p:spPr>
          <a:xfrm>
            <a:off x="1124712" y="2313432"/>
            <a:ext cx="4590288" cy="548640"/>
          </a:xfrm>
          <a:prstGeom prst="rect">
            <a:avLst/>
          </a:prstGeom>
          <a:noFill/>
        </p:spPr>
        <p:txBody>
          <a:bodyPr wrap="square" lIns="0" rIns="0" tIns="0" bIns="0" anchor="t">
            <a:spAutoFit/>
          </a:bodyPr>
          <a:lstStyle/>
          <a:p>
            <a:pPr algn="l">
              <a:lnSpc>
                <a:spcPct val="110000"/>
              </a:lnSpc>
              <a:spcBef>
                <a:spcPts val="0"/>
              </a:spcBef>
              <a:spcAft>
                <a:spcPts val="0"/>
              </a:spcAft>
            </a:pPr>
            <a:r>
              <a:rPr sz="1150" b="0" i="0">
                <a:solidFill>
                  <a:srgbClr val="5A7A80"/>
                </a:solidFill>
                <a:latin typeface="Calibri"/>
              </a:rPr>
              <a:t>./deploy/aws/01_push_to_ecr.sh creates the repo, logs in, builds amd64 and pushes.</a:t>
            </a:r>
          </a:p>
        </p:txBody>
      </p:sp>
      <p:sp>
        <p:nvSpPr>
          <p:cNvPr id="8" name="Rounded Rectangle 7"/>
          <p:cNvSpPr/>
          <p:nvPr/>
        </p:nvSpPr>
        <p:spPr>
          <a:xfrm>
            <a:off x="685800" y="3063240"/>
            <a:ext cx="310896"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200" b="1" i="0">
                <a:solidFill>
                  <a:srgbClr val="FFFFFF"/>
                </a:solidFill>
                <a:latin typeface="Calibri"/>
              </a:rPr>
              <a:t>2</a:t>
            </a:r>
          </a:p>
        </p:txBody>
      </p:sp>
      <p:sp>
        <p:nvSpPr>
          <p:cNvPr id="9" name="TextBox 8"/>
          <p:cNvSpPr txBox="1"/>
          <p:nvPr/>
        </p:nvSpPr>
        <p:spPr>
          <a:xfrm>
            <a:off x="1124712" y="3026664"/>
            <a:ext cx="4590288" cy="310896"/>
          </a:xfrm>
          <a:prstGeom prst="rect">
            <a:avLst/>
          </a:prstGeom>
          <a:noFill/>
        </p:spPr>
        <p:txBody>
          <a:bodyPr wrap="square" lIns="0" rIns="0" tIns="0" bIns="0" anchor="t">
            <a:spAutoFit/>
          </a:bodyPr>
          <a:lstStyle/>
          <a:p>
            <a:pPr algn="l">
              <a:spcBef>
                <a:spcPts val="0"/>
              </a:spcBef>
              <a:spcAft>
                <a:spcPts val="0"/>
              </a:spcAft>
            </a:pPr>
            <a:r>
              <a:rPr sz="1250" b="1" i="0">
                <a:solidFill>
                  <a:srgbClr val="12343B"/>
                </a:solidFill>
                <a:latin typeface="Calibri"/>
              </a:rPr>
              <a:t>Create the instance role</a:t>
            </a:r>
          </a:p>
        </p:txBody>
      </p:sp>
      <p:sp>
        <p:nvSpPr>
          <p:cNvPr id="10" name="TextBox 9"/>
          <p:cNvSpPr txBox="1"/>
          <p:nvPr/>
        </p:nvSpPr>
        <p:spPr>
          <a:xfrm>
            <a:off x="1124712" y="3319272"/>
            <a:ext cx="4590288" cy="548640"/>
          </a:xfrm>
          <a:prstGeom prst="rect">
            <a:avLst/>
          </a:prstGeom>
          <a:noFill/>
        </p:spPr>
        <p:txBody>
          <a:bodyPr wrap="square" lIns="0" rIns="0" tIns="0" bIns="0" anchor="t">
            <a:spAutoFit/>
          </a:bodyPr>
          <a:lstStyle/>
          <a:p>
            <a:pPr algn="l">
              <a:lnSpc>
                <a:spcPct val="110000"/>
              </a:lnSpc>
              <a:spcBef>
                <a:spcPts val="0"/>
              </a:spcBef>
              <a:spcAft>
                <a:spcPts val="0"/>
              </a:spcAft>
            </a:pPr>
            <a:r>
              <a:rPr sz="1150" b="0" i="0">
                <a:solidFill>
                  <a:srgbClr val="5A7A80"/>
                </a:solidFill>
                <a:latin typeface="Calibri"/>
              </a:rPr>
              <a:t>AmazonEC2ContainerRegistryReadOnly plus AmazonSSMManagedInstanceCore.</a:t>
            </a:r>
          </a:p>
        </p:txBody>
      </p:sp>
      <p:sp>
        <p:nvSpPr>
          <p:cNvPr id="11" name="Rounded Rectangle 10"/>
          <p:cNvSpPr/>
          <p:nvPr/>
        </p:nvSpPr>
        <p:spPr>
          <a:xfrm>
            <a:off x="685800" y="4069080"/>
            <a:ext cx="310896"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200" b="1" i="0">
                <a:solidFill>
                  <a:srgbClr val="FFFFFF"/>
                </a:solidFill>
                <a:latin typeface="Calibri"/>
              </a:rPr>
              <a:t>3</a:t>
            </a:r>
          </a:p>
        </p:txBody>
      </p:sp>
      <p:sp>
        <p:nvSpPr>
          <p:cNvPr id="12" name="TextBox 11"/>
          <p:cNvSpPr txBox="1"/>
          <p:nvPr/>
        </p:nvSpPr>
        <p:spPr>
          <a:xfrm>
            <a:off x="1124712" y="4032504"/>
            <a:ext cx="4590288" cy="310896"/>
          </a:xfrm>
          <a:prstGeom prst="rect">
            <a:avLst/>
          </a:prstGeom>
          <a:noFill/>
        </p:spPr>
        <p:txBody>
          <a:bodyPr wrap="square" lIns="0" rIns="0" tIns="0" bIns="0" anchor="t">
            <a:spAutoFit/>
          </a:bodyPr>
          <a:lstStyle/>
          <a:p>
            <a:pPr algn="l">
              <a:spcBef>
                <a:spcPts val="0"/>
              </a:spcBef>
              <a:spcAft>
                <a:spcPts val="0"/>
              </a:spcAft>
            </a:pPr>
            <a:r>
              <a:rPr sz="1250" b="1" i="0">
                <a:solidFill>
                  <a:srgbClr val="12343B"/>
                </a:solidFill>
                <a:latin typeface="Calibri"/>
              </a:rPr>
              <a:t>Security group</a:t>
            </a:r>
          </a:p>
        </p:txBody>
      </p:sp>
      <p:sp>
        <p:nvSpPr>
          <p:cNvPr id="13" name="TextBox 12"/>
          <p:cNvSpPr txBox="1"/>
          <p:nvPr/>
        </p:nvSpPr>
        <p:spPr>
          <a:xfrm>
            <a:off x="1124712" y="4325112"/>
            <a:ext cx="4590288" cy="548640"/>
          </a:xfrm>
          <a:prstGeom prst="rect">
            <a:avLst/>
          </a:prstGeom>
          <a:noFill/>
        </p:spPr>
        <p:txBody>
          <a:bodyPr wrap="square" lIns="0" rIns="0" tIns="0" bIns="0" anchor="t">
            <a:spAutoFit/>
          </a:bodyPr>
          <a:lstStyle/>
          <a:p>
            <a:pPr algn="l">
              <a:lnSpc>
                <a:spcPct val="110000"/>
              </a:lnSpc>
              <a:spcBef>
                <a:spcPts val="0"/>
              </a:spcBef>
              <a:spcAft>
                <a:spcPts val="0"/>
              </a:spcAft>
            </a:pPr>
            <a:r>
              <a:rPr sz="1150" b="0" i="0">
                <a:solidFill>
                  <a:srgbClr val="5A7A80"/>
                </a:solidFill>
                <a:latin typeface="Calibri"/>
              </a:rPr>
              <a:t>Inbound 80 from your IP. Leave 22 closed, SSM gives you a shell.</a:t>
            </a:r>
          </a:p>
        </p:txBody>
      </p:sp>
      <p:sp>
        <p:nvSpPr>
          <p:cNvPr id="14" name="Rounded Rectangle 13"/>
          <p:cNvSpPr/>
          <p:nvPr/>
        </p:nvSpPr>
        <p:spPr>
          <a:xfrm>
            <a:off x="685800" y="5074920"/>
            <a:ext cx="310896"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200" b="1" i="0">
                <a:solidFill>
                  <a:srgbClr val="FFFFFF"/>
                </a:solidFill>
                <a:latin typeface="Calibri"/>
              </a:rPr>
              <a:t>4</a:t>
            </a:r>
          </a:p>
        </p:txBody>
      </p:sp>
      <p:sp>
        <p:nvSpPr>
          <p:cNvPr id="15" name="TextBox 14"/>
          <p:cNvSpPr txBox="1"/>
          <p:nvPr/>
        </p:nvSpPr>
        <p:spPr>
          <a:xfrm>
            <a:off x="1124712" y="5038344"/>
            <a:ext cx="4590288" cy="310896"/>
          </a:xfrm>
          <a:prstGeom prst="rect">
            <a:avLst/>
          </a:prstGeom>
          <a:noFill/>
        </p:spPr>
        <p:txBody>
          <a:bodyPr wrap="square" lIns="0" rIns="0" tIns="0" bIns="0" anchor="t">
            <a:spAutoFit/>
          </a:bodyPr>
          <a:lstStyle/>
          <a:p>
            <a:pPr algn="l">
              <a:spcBef>
                <a:spcPts val="0"/>
              </a:spcBef>
              <a:spcAft>
                <a:spcPts val="0"/>
              </a:spcAft>
            </a:pPr>
            <a:r>
              <a:rPr sz="1250" b="1" i="0">
                <a:solidFill>
                  <a:srgbClr val="12343B"/>
                </a:solidFill>
                <a:latin typeface="Calibri"/>
              </a:rPr>
              <a:t>Launch</a:t>
            </a:r>
          </a:p>
        </p:txBody>
      </p:sp>
      <p:sp>
        <p:nvSpPr>
          <p:cNvPr id="16" name="TextBox 15"/>
          <p:cNvSpPr txBox="1"/>
          <p:nvPr/>
        </p:nvSpPr>
        <p:spPr>
          <a:xfrm>
            <a:off x="1124712" y="5330952"/>
            <a:ext cx="4590288" cy="548640"/>
          </a:xfrm>
          <a:prstGeom prst="rect">
            <a:avLst/>
          </a:prstGeom>
          <a:noFill/>
        </p:spPr>
        <p:txBody>
          <a:bodyPr wrap="square" lIns="0" rIns="0" tIns="0" bIns="0" anchor="t">
            <a:spAutoFit/>
          </a:bodyPr>
          <a:lstStyle/>
          <a:p>
            <a:pPr algn="l">
              <a:lnSpc>
                <a:spcPct val="110000"/>
              </a:lnSpc>
              <a:spcBef>
                <a:spcPts val="0"/>
              </a:spcBef>
              <a:spcAft>
                <a:spcPts val="0"/>
              </a:spcAft>
            </a:pPr>
            <a:r>
              <a:rPr sz="1150" b="0" i="0">
                <a:solidFill>
                  <a:srgbClr val="5A7A80"/>
                </a:solidFill>
                <a:latin typeface="Calibri"/>
              </a:rPr>
              <a:t>Amazon Linux 2023, t3.small, 20 GB gp3, the role attached.</a:t>
            </a:r>
          </a:p>
        </p:txBody>
      </p:sp>
      <p:sp>
        <p:nvSpPr>
          <p:cNvPr id="17" name="Rounded Rectangle 16"/>
          <p:cNvSpPr/>
          <p:nvPr/>
        </p:nvSpPr>
        <p:spPr>
          <a:xfrm>
            <a:off x="6309360" y="2057400"/>
            <a:ext cx="310896"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200" b="1" i="0">
                <a:solidFill>
                  <a:srgbClr val="FFFFFF"/>
                </a:solidFill>
                <a:latin typeface="Calibri"/>
              </a:rPr>
              <a:t>5</a:t>
            </a:r>
          </a:p>
        </p:txBody>
      </p:sp>
      <p:sp>
        <p:nvSpPr>
          <p:cNvPr id="18" name="TextBox 17"/>
          <p:cNvSpPr txBox="1"/>
          <p:nvPr/>
        </p:nvSpPr>
        <p:spPr>
          <a:xfrm>
            <a:off x="6748272" y="2020824"/>
            <a:ext cx="4590288" cy="310896"/>
          </a:xfrm>
          <a:prstGeom prst="rect">
            <a:avLst/>
          </a:prstGeom>
          <a:noFill/>
        </p:spPr>
        <p:txBody>
          <a:bodyPr wrap="square" lIns="0" rIns="0" tIns="0" bIns="0" anchor="t">
            <a:spAutoFit/>
          </a:bodyPr>
          <a:lstStyle/>
          <a:p>
            <a:pPr algn="l">
              <a:spcBef>
                <a:spcPts val="0"/>
              </a:spcBef>
              <a:spcAft>
                <a:spcPts val="0"/>
              </a:spcAft>
            </a:pPr>
            <a:r>
              <a:rPr sz="1250" b="1" i="0">
                <a:solidFill>
                  <a:srgbClr val="12343B"/>
                </a:solidFill>
                <a:latin typeface="Calibri"/>
              </a:rPr>
              <a:t>User data</a:t>
            </a:r>
          </a:p>
        </p:txBody>
      </p:sp>
      <p:sp>
        <p:nvSpPr>
          <p:cNvPr id="19" name="TextBox 18"/>
          <p:cNvSpPr txBox="1"/>
          <p:nvPr/>
        </p:nvSpPr>
        <p:spPr>
          <a:xfrm>
            <a:off x="6748272" y="2313432"/>
            <a:ext cx="4590288" cy="548640"/>
          </a:xfrm>
          <a:prstGeom prst="rect">
            <a:avLst/>
          </a:prstGeom>
          <a:noFill/>
        </p:spPr>
        <p:txBody>
          <a:bodyPr wrap="square" lIns="0" rIns="0" tIns="0" bIns="0" anchor="t">
            <a:spAutoFit/>
          </a:bodyPr>
          <a:lstStyle/>
          <a:p>
            <a:pPr algn="l">
              <a:lnSpc>
                <a:spcPct val="110000"/>
              </a:lnSpc>
              <a:spcBef>
                <a:spcPts val="0"/>
              </a:spcBef>
              <a:spcAft>
                <a:spcPts val="0"/>
              </a:spcAft>
            </a:pPr>
            <a:r>
              <a:rPr sz="1150" b="0" i="0">
                <a:solidFill>
                  <a:srgbClr val="5A7A80"/>
                </a:solidFill>
                <a:latin typeface="Calibri"/>
              </a:rPr>
              <a:t>02_ec2_user_data.sh installs Docker, pulls, and writes the systemd unit.</a:t>
            </a:r>
          </a:p>
        </p:txBody>
      </p:sp>
      <p:sp>
        <p:nvSpPr>
          <p:cNvPr id="20" name="Rounded Rectangle 19"/>
          <p:cNvSpPr/>
          <p:nvPr/>
        </p:nvSpPr>
        <p:spPr>
          <a:xfrm>
            <a:off x="6309360" y="3063240"/>
            <a:ext cx="310896"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200" b="1" i="0">
                <a:solidFill>
                  <a:srgbClr val="FFFFFF"/>
                </a:solidFill>
                <a:latin typeface="Calibri"/>
              </a:rPr>
              <a:t>6</a:t>
            </a:r>
          </a:p>
        </p:txBody>
      </p:sp>
      <p:sp>
        <p:nvSpPr>
          <p:cNvPr id="21" name="TextBox 20"/>
          <p:cNvSpPr txBox="1"/>
          <p:nvPr/>
        </p:nvSpPr>
        <p:spPr>
          <a:xfrm>
            <a:off x="6748272" y="3026664"/>
            <a:ext cx="4590288" cy="310896"/>
          </a:xfrm>
          <a:prstGeom prst="rect">
            <a:avLst/>
          </a:prstGeom>
          <a:noFill/>
        </p:spPr>
        <p:txBody>
          <a:bodyPr wrap="square" lIns="0" rIns="0" tIns="0" bIns="0" anchor="t">
            <a:spAutoFit/>
          </a:bodyPr>
          <a:lstStyle/>
          <a:p>
            <a:pPr algn="l">
              <a:spcBef>
                <a:spcPts val="0"/>
              </a:spcBef>
              <a:spcAft>
                <a:spcPts val="0"/>
              </a:spcAft>
            </a:pPr>
            <a:r>
              <a:rPr sz="1250" b="1" i="0">
                <a:solidFill>
                  <a:srgbClr val="12343B"/>
                </a:solidFill>
                <a:latin typeface="Calibri"/>
              </a:rPr>
              <a:t>Smoke test</a:t>
            </a:r>
          </a:p>
        </p:txBody>
      </p:sp>
      <p:sp>
        <p:nvSpPr>
          <p:cNvPr id="22" name="TextBox 21"/>
          <p:cNvSpPr txBox="1"/>
          <p:nvPr/>
        </p:nvSpPr>
        <p:spPr>
          <a:xfrm>
            <a:off x="6748272" y="3319272"/>
            <a:ext cx="4590288" cy="548640"/>
          </a:xfrm>
          <a:prstGeom prst="rect">
            <a:avLst/>
          </a:prstGeom>
          <a:noFill/>
        </p:spPr>
        <p:txBody>
          <a:bodyPr wrap="square" lIns="0" rIns="0" tIns="0" bIns="0" anchor="t">
            <a:spAutoFit/>
          </a:bodyPr>
          <a:lstStyle/>
          <a:p>
            <a:pPr algn="l">
              <a:lnSpc>
                <a:spcPct val="110000"/>
              </a:lnSpc>
              <a:spcBef>
                <a:spcPts val="0"/>
              </a:spcBef>
              <a:spcAft>
                <a:spcPts val="0"/>
              </a:spcAft>
            </a:pPr>
            <a:r>
              <a:rPr sz="1150" b="0" i="0">
                <a:solidFill>
                  <a:srgbClr val="5A7A80"/>
                </a:solidFill>
                <a:latin typeface="Calibri"/>
              </a:rPr>
              <a:t>smoke_test_remote.sh hits readiness, metadata, single and batch from outside.</a:t>
            </a:r>
          </a:p>
        </p:txBody>
      </p:sp>
      <p:sp>
        <p:nvSpPr>
          <p:cNvPr id="23" name="Rounded Rectangle 22"/>
          <p:cNvSpPr/>
          <p:nvPr/>
        </p:nvSpPr>
        <p:spPr>
          <a:xfrm>
            <a:off x="6309360" y="4069080"/>
            <a:ext cx="310896"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200" b="1" i="0">
                <a:solidFill>
                  <a:srgbClr val="FFFFFF"/>
                </a:solidFill>
                <a:latin typeface="Calibri"/>
              </a:rPr>
              <a:t>7</a:t>
            </a:r>
          </a:p>
        </p:txBody>
      </p:sp>
      <p:sp>
        <p:nvSpPr>
          <p:cNvPr id="24" name="TextBox 23"/>
          <p:cNvSpPr txBox="1"/>
          <p:nvPr/>
        </p:nvSpPr>
        <p:spPr>
          <a:xfrm>
            <a:off x="6748272" y="4032504"/>
            <a:ext cx="4590288" cy="310896"/>
          </a:xfrm>
          <a:prstGeom prst="rect">
            <a:avLst/>
          </a:prstGeom>
          <a:noFill/>
        </p:spPr>
        <p:txBody>
          <a:bodyPr wrap="square" lIns="0" rIns="0" tIns="0" bIns="0" anchor="t">
            <a:spAutoFit/>
          </a:bodyPr>
          <a:lstStyle/>
          <a:p>
            <a:pPr algn="l">
              <a:spcBef>
                <a:spcPts val="0"/>
              </a:spcBef>
              <a:spcAft>
                <a:spcPts val="0"/>
              </a:spcAft>
            </a:pPr>
            <a:r>
              <a:rPr sz="1250" b="1" i="0">
                <a:solidFill>
                  <a:srgbClr val="12343B"/>
                </a:solidFill>
                <a:latin typeface="Calibri"/>
              </a:rPr>
              <a:t>Redeploy</a:t>
            </a:r>
          </a:p>
        </p:txBody>
      </p:sp>
      <p:sp>
        <p:nvSpPr>
          <p:cNvPr id="25" name="TextBox 24"/>
          <p:cNvSpPr txBox="1"/>
          <p:nvPr/>
        </p:nvSpPr>
        <p:spPr>
          <a:xfrm>
            <a:off x="6748272" y="4325112"/>
            <a:ext cx="4590288" cy="548640"/>
          </a:xfrm>
          <a:prstGeom prst="rect">
            <a:avLst/>
          </a:prstGeom>
          <a:noFill/>
        </p:spPr>
        <p:txBody>
          <a:bodyPr wrap="square" lIns="0" rIns="0" tIns="0" bIns="0" anchor="t">
            <a:spAutoFit/>
          </a:bodyPr>
          <a:lstStyle/>
          <a:p>
            <a:pPr algn="l">
              <a:lnSpc>
                <a:spcPct val="110000"/>
              </a:lnSpc>
              <a:spcBef>
                <a:spcPts val="0"/>
              </a:spcBef>
              <a:spcAft>
                <a:spcPts val="0"/>
              </a:spcAft>
            </a:pPr>
            <a:r>
              <a:rPr sz="1150" b="0" i="0">
                <a:solidFill>
                  <a:srgbClr val="5A7A80"/>
                </a:solidFill>
                <a:latin typeface="Calibri"/>
              </a:rPr>
              <a:t>New tag, then 03_redeploy.sh. Rollback is the same command with the old tag.</a:t>
            </a:r>
          </a:p>
        </p:txBody>
      </p:sp>
      <p:sp>
        <p:nvSpPr>
          <p:cNvPr id="26" name="Rounded Rectangle 25"/>
          <p:cNvSpPr/>
          <p:nvPr/>
        </p:nvSpPr>
        <p:spPr>
          <a:xfrm>
            <a:off x="6309360" y="5029200"/>
            <a:ext cx="5193792" cy="10515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65392" y="5213543"/>
            <a:ext cx="4681727" cy="71359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12343B"/>
                </a:solidFill>
                <a:latin typeface="Calibri"/>
              </a:rPr>
              <a:t>t3.micro has 1 GB of RAM and gets killed by the OOM reaper while the model loads. t3.small is the smallest thing that actually works.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ACCESS</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No keys on the box, no port 22 open</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2011680"/>
            <a:ext cx="5349240" cy="21488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41832" y="219602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The IAM instance role</a:t>
            </a:r>
          </a:p>
        </p:txBody>
      </p:sp>
      <p:sp>
        <p:nvSpPr>
          <p:cNvPr id="7" name="TextBox 6"/>
          <p:cNvSpPr txBox="1"/>
          <p:nvPr/>
        </p:nvSpPr>
        <p:spPr>
          <a:xfrm>
            <a:off x="941832" y="2561783"/>
            <a:ext cx="4837175" cy="144511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The instance needs to read from ECR and write logs. Nothing else.</a:t>
            </a:r>
          </a:p>
          <a:p>
            <a:pPr algn="l">
              <a:lnSpc>
                <a:spcPct val="115000"/>
              </a:lnSpc>
              <a:spcBef>
                <a:spcPts val="0"/>
              </a:spcBef>
              <a:spcAft>
                <a:spcPts val="500"/>
              </a:spcAft>
            </a:pPr>
            <a:r>
              <a:rPr sz="1200" b="0" i="0">
                <a:solidFill>
                  <a:srgbClr val="5A7A80"/>
                </a:solidFill>
                <a:latin typeface="Calibri"/>
              </a:rPr>
              <a:t>Attach a role and it receives short lived credentials through the metadata service, rotated automatically.</a:t>
            </a:r>
          </a:p>
          <a:p>
            <a:pPr algn="l">
              <a:lnSpc>
                <a:spcPct val="115000"/>
              </a:lnSpc>
              <a:spcBef>
                <a:spcPts val="0"/>
              </a:spcBef>
              <a:spcAft>
                <a:spcPts val="500"/>
              </a:spcAft>
            </a:pPr>
            <a:r>
              <a:rPr sz="1200" b="0" i="0">
                <a:solidFill>
                  <a:srgbClr val="5A7A80"/>
                </a:solidFill>
                <a:latin typeface="Calibri"/>
              </a:rPr>
              <a:t>An access key pasted into user data is a key in plain text, in a snapshot, forever.</a:t>
            </a:r>
          </a:p>
        </p:txBody>
      </p:sp>
      <p:sp>
        <p:nvSpPr>
          <p:cNvPr id="8" name="Rounded Rectangle 7"/>
          <p:cNvSpPr/>
          <p:nvPr/>
        </p:nvSpPr>
        <p:spPr>
          <a:xfrm>
            <a:off x="6153912" y="2011680"/>
            <a:ext cx="5349240" cy="21488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409944" y="2196023"/>
            <a:ext cx="4837175" cy="310896"/>
          </a:xfrm>
          <a:prstGeom prst="rect">
            <a:avLst/>
          </a:prstGeom>
          <a:noFill/>
        </p:spPr>
        <p:txBody>
          <a:bodyPr wrap="square" lIns="0" rIns="0" tIns="0" bIns="0" anchor="t">
            <a:spAutoFit/>
          </a:bodyPr>
          <a:lstStyle/>
          <a:p>
            <a:pPr algn="l">
              <a:spcBef>
                <a:spcPts val="0"/>
              </a:spcBef>
              <a:spcAft>
                <a:spcPts val="0"/>
              </a:spcAft>
            </a:pPr>
            <a:r>
              <a:rPr sz="1350" b="1" i="0">
                <a:solidFill>
                  <a:srgbClr val="C15B4E"/>
                </a:solidFill>
                <a:latin typeface="Calibri"/>
              </a:rPr>
              <a:t>The security group</a:t>
            </a:r>
          </a:p>
        </p:txBody>
      </p:sp>
      <p:sp>
        <p:nvSpPr>
          <p:cNvPr id="10" name="TextBox 9"/>
          <p:cNvSpPr txBox="1"/>
          <p:nvPr/>
        </p:nvSpPr>
        <p:spPr>
          <a:xfrm>
            <a:off x="6409944" y="2561783"/>
            <a:ext cx="4837175" cy="144511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Inbound 80 from your address, or from anywhere for a demo.</a:t>
            </a:r>
          </a:p>
          <a:p>
            <a:pPr algn="l">
              <a:lnSpc>
                <a:spcPct val="115000"/>
              </a:lnSpc>
              <a:spcBef>
                <a:spcPts val="0"/>
              </a:spcBef>
              <a:spcAft>
                <a:spcPts val="500"/>
              </a:spcAft>
            </a:pPr>
            <a:r>
              <a:rPr sz="1200" b="0" i="0">
                <a:solidFill>
                  <a:srgbClr val="5A7A80"/>
                </a:solidFill>
                <a:latin typeface="Calibri"/>
              </a:rPr>
              <a:t>Outbound anywhere, so it can pull from ECR.</a:t>
            </a:r>
          </a:p>
          <a:p>
            <a:pPr algn="l">
              <a:lnSpc>
                <a:spcPct val="115000"/>
              </a:lnSpc>
              <a:spcBef>
                <a:spcPts val="0"/>
              </a:spcBef>
              <a:spcAft>
                <a:spcPts val="500"/>
              </a:spcAft>
            </a:pPr>
            <a:r>
              <a:rPr sz="1200" b="0" i="0">
                <a:solidFill>
                  <a:srgbClr val="5A7A80"/>
                </a:solidFill>
                <a:latin typeface="Calibri"/>
              </a:rPr>
              <a:t>Port 22 stays shut. With SSM attached, aws ssm start-session gives you a shell with no key file and a CloudTrail record.</a:t>
            </a:r>
          </a:p>
        </p:txBody>
      </p:sp>
      <p:sp>
        <p:nvSpPr>
          <p:cNvPr id="11" name="Rounded Rectangle 10"/>
          <p:cNvSpPr/>
          <p:nvPr/>
        </p:nvSpPr>
        <p:spPr>
          <a:xfrm>
            <a:off x="685800" y="4343400"/>
            <a:ext cx="10820095" cy="17373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4527743"/>
            <a:ext cx="10308031" cy="310896"/>
          </a:xfrm>
          <a:prstGeom prst="rect">
            <a:avLst/>
          </a:prstGeom>
          <a:noFill/>
        </p:spPr>
        <p:txBody>
          <a:bodyPr wrap="square" lIns="0" rIns="0" tIns="0" bIns="0" anchor="t">
            <a:spAutoFit/>
          </a:bodyPr>
          <a:lstStyle/>
          <a:p>
            <a:pPr algn="l">
              <a:spcBef>
                <a:spcPts val="0"/>
              </a:spcBef>
              <a:spcAft>
                <a:spcPts val="0"/>
              </a:spcAft>
            </a:pPr>
            <a:r>
              <a:rPr sz="1350" b="1" i="0">
                <a:solidFill>
                  <a:srgbClr val="C15B4E"/>
                </a:solidFill>
                <a:latin typeface="Calibri"/>
              </a:rPr>
              <a:t>What is still missing, and should worry you</a:t>
            </a:r>
          </a:p>
        </p:txBody>
      </p:sp>
      <p:sp>
        <p:nvSpPr>
          <p:cNvPr id="13" name="TextBox 12"/>
          <p:cNvSpPr txBox="1"/>
          <p:nvPr/>
        </p:nvSpPr>
        <p:spPr>
          <a:xfrm>
            <a:off x="941832" y="4893503"/>
            <a:ext cx="10308031" cy="1033637"/>
          </a:xfrm>
          <a:prstGeom prst="rect">
            <a:avLst/>
          </a:prstGeom>
          <a:noFill/>
        </p:spPr>
        <p:txBody>
          <a:bodyPr wrap="square" lIns="0" rIns="0" tIns="0" bIns="0" anchor="t">
            <a:spAutoFit/>
          </a:bodyPr>
          <a:lstStyle/>
          <a:p>
            <a:pPr algn="l">
              <a:lnSpc>
                <a:spcPct val="115000"/>
              </a:lnSpc>
              <a:spcBef>
                <a:spcPts val="0"/>
              </a:spcBef>
              <a:spcAft>
                <a:spcPts val="500"/>
              </a:spcAft>
            </a:pPr>
            <a:r>
              <a:rPr sz="1250" b="0" i="0">
                <a:solidFill>
                  <a:srgbClr val="5A7A80"/>
                </a:solidFill>
                <a:latin typeface="Calibri"/>
              </a:rPr>
              <a:t>This endpoint is plain HTTP and anyone who finds the IP can call it. For a client demo that is acceptable for an afternoon. For anything real, put an Application Load Balancer in front with an ACM certificate, redirect HTTP to HTTPS, and require an API key or a Cognito token.</a:t>
            </a:r>
          </a:p>
          <a:p>
            <a:pPr algn="l">
              <a:lnSpc>
                <a:spcPct val="115000"/>
              </a:lnSpc>
              <a:spcBef>
                <a:spcPts val="0"/>
              </a:spcBef>
              <a:spcAft>
                <a:spcPts val="500"/>
              </a:spcAft>
            </a:pPr>
            <a:r>
              <a:rPr sz="1250" b="0" i="0">
                <a:solidFill>
                  <a:srgbClr val="5A7A80"/>
                </a:solidFill>
                <a:latin typeface="Calibri"/>
              </a:rPr>
              <a:t>Say this out loud to your client before they ask. It is the difference between a prototype and a promise.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OPERATIONS</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Once it is up</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2057400"/>
            <a:ext cx="3529584" cy="20116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41832" y="224174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Logs</a:t>
            </a:r>
          </a:p>
        </p:txBody>
      </p:sp>
      <p:sp>
        <p:nvSpPr>
          <p:cNvPr id="7" name="TextBox 6"/>
          <p:cNvSpPr txBox="1"/>
          <p:nvPr/>
        </p:nvSpPr>
        <p:spPr>
          <a:xfrm>
            <a:off x="941832" y="2607503"/>
            <a:ext cx="3017520" cy="130795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The systemd unit uses the awslogs driver, so container stdout lands in CloudWatch under /yolo-serve.</a:t>
            </a:r>
          </a:p>
          <a:p>
            <a:pPr algn="l">
              <a:lnSpc>
                <a:spcPct val="115000"/>
              </a:lnSpc>
              <a:spcBef>
                <a:spcPts val="0"/>
              </a:spcBef>
              <a:spcAft>
                <a:spcPts val="500"/>
              </a:spcAft>
            </a:pPr>
            <a:r>
              <a:rPr sz="1200" b="0" i="0">
                <a:solidFill>
                  <a:srgbClr val="5A7A80"/>
                </a:solidFill>
                <a:latin typeface="Calibri"/>
              </a:rPr>
              <a:t>This is why the app logs to stdout and never to a file.</a:t>
            </a:r>
          </a:p>
        </p:txBody>
      </p:sp>
      <p:sp>
        <p:nvSpPr>
          <p:cNvPr id="8" name="Rounded Rectangle 7"/>
          <p:cNvSpPr/>
          <p:nvPr/>
        </p:nvSpPr>
        <p:spPr>
          <a:xfrm>
            <a:off x="4325112" y="2057400"/>
            <a:ext cx="3529584" cy="20116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581144" y="224174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8090"/>
                </a:solidFill>
                <a:latin typeface="Calibri"/>
              </a:rPr>
              <a:t>Redeploy</a:t>
            </a:r>
          </a:p>
        </p:txBody>
      </p:sp>
      <p:sp>
        <p:nvSpPr>
          <p:cNvPr id="10" name="TextBox 9"/>
          <p:cNvSpPr txBox="1"/>
          <p:nvPr/>
        </p:nvSpPr>
        <p:spPr>
          <a:xfrm>
            <a:off x="4581144" y="2607503"/>
            <a:ext cx="3017520" cy="130795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Push a new tag, then run 03_redeploy.sh with the instance id.</a:t>
            </a:r>
          </a:p>
          <a:p>
            <a:pPr algn="l">
              <a:lnSpc>
                <a:spcPct val="115000"/>
              </a:lnSpc>
              <a:spcBef>
                <a:spcPts val="0"/>
              </a:spcBef>
              <a:spcAft>
                <a:spcPts val="500"/>
              </a:spcAft>
            </a:pPr>
            <a:r>
              <a:rPr sz="1200" b="0" i="0">
                <a:solidFill>
                  <a:srgbClr val="5A7A80"/>
                </a:solidFill>
                <a:latin typeface="Calibri"/>
              </a:rPr>
              <a:t>SSM edits the unit, reloads and restarts. No SSH, no key, fully logged.</a:t>
            </a:r>
          </a:p>
        </p:txBody>
      </p:sp>
      <p:sp>
        <p:nvSpPr>
          <p:cNvPr id="11" name="Rounded Rectangle 10"/>
          <p:cNvSpPr/>
          <p:nvPr/>
        </p:nvSpPr>
        <p:spPr>
          <a:xfrm>
            <a:off x="7973568" y="2057400"/>
            <a:ext cx="3529584" cy="20116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0" y="2241743"/>
            <a:ext cx="3017520" cy="310896"/>
          </a:xfrm>
          <a:prstGeom prst="rect">
            <a:avLst/>
          </a:prstGeom>
          <a:noFill/>
        </p:spPr>
        <p:txBody>
          <a:bodyPr wrap="square" lIns="0" rIns="0" tIns="0" bIns="0" anchor="t">
            <a:spAutoFit/>
          </a:bodyPr>
          <a:lstStyle/>
          <a:p>
            <a:pPr algn="l">
              <a:spcBef>
                <a:spcPts val="0"/>
              </a:spcBef>
              <a:spcAft>
                <a:spcPts val="0"/>
              </a:spcAft>
            </a:pPr>
            <a:r>
              <a:rPr sz="1350" b="1" i="0">
                <a:solidFill>
                  <a:srgbClr val="02C39A"/>
                </a:solidFill>
                <a:latin typeface="Calibri"/>
              </a:rPr>
              <a:t>Rollback</a:t>
            </a:r>
          </a:p>
        </p:txBody>
      </p:sp>
      <p:sp>
        <p:nvSpPr>
          <p:cNvPr id="13" name="TextBox 12"/>
          <p:cNvSpPr txBox="1"/>
          <p:nvPr/>
        </p:nvSpPr>
        <p:spPr>
          <a:xfrm>
            <a:off x="8229600" y="2607503"/>
            <a:ext cx="3017520" cy="1307957"/>
          </a:xfrm>
          <a:prstGeom prst="rect">
            <a:avLst/>
          </a:prstGeom>
          <a:noFill/>
        </p:spPr>
        <p:txBody>
          <a:bodyPr wrap="square" lIns="0" rIns="0" tIns="0" bIns="0" anchor="t">
            <a:spAutoFit/>
          </a:bodyPr>
          <a:lstStyle/>
          <a:p>
            <a:pPr algn="l">
              <a:lnSpc>
                <a:spcPct val="115000"/>
              </a:lnSpc>
              <a:spcBef>
                <a:spcPts val="0"/>
              </a:spcBef>
              <a:spcAft>
                <a:spcPts val="500"/>
              </a:spcAft>
            </a:pPr>
            <a:r>
              <a:rPr sz="1200" b="0" i="0">
                <a:solidFill>
                  <a:srgbClr val="5A7A80"/>
                </a:solidFill>
                <a:latin typeface="Calibri"/>
              </a:rPr>
              <a:t>Redeploy the previous tag. The old image is still in ECR.</a:t>
            </a:r>
          </a:p>
          <a:p>
            <a:pPr algn="l">
              <a:lnSpc>
                <a:spcPct val="115000"/>
              </a:lnSpc>
              <a:spcBef>
                <a:spcPts val="0"/>
              </a:spcBef>
              <a:spcAft>
                <a:spcPts val="500"/>
              </a:spcAft>
            </a:pPr>
            <a:r>
              <a:rPr sz="1200" b="0" i="0">
                <a:solidFill>
                  <a:srgbClr val="5A7A80"/>
                </a:solidFill>
                <a:latin typeface="Calibri"/>
              </a:rPr>
              <a:t>That is the entire reason for immutable tags.</a:t>
            </a:r>
          </a:p>
        </p:txBody>
      </p:sp>
      <p:sp>
        <p:nvSpPr>
          <p:cNvPr id="14" name="Rounded Rectangle 13"/>
          <p:cNvSpPr/>
          <p:nvPr/>
        </p:nvSpPr>
        <p:spPr>
          <a:xfrm>
            <a:off x="685800" y="4224528"/>
            <a:ext cx="10820095" cy="1874519"/>
          </a:xfrm>
          <a:prstGeom prst="roundRect">
            <a:avLst>
              <a:gd name="adj" fmla="val 6000"/>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23544" y="4407408"/>
            <a:ext cx="10344607" cy="256032"/>
          </a:xfrm>
          <a:prstGeom prst="rect">
            <a:avLst/>
          </a:prstGeom>
          <a:noFill/>
        </p:spPr>
        <p:txBody>
          <a:bodyPr wrap="square" lIns="0" rIns="0" tIns="0" bIns="0" anchor="t">
            <a:spAutoFit/>
          </a:bodyPr>
          <a:lstStyle/>
          <a:p>
            <a:pPr algn="l">
              <a:spcBef>
                <a:spcPts val="0"/>
              </a:spcBef>
              <a:spcAft>
                <a:spcPts val="0"/>
              </a:spcAft>
            </a:pPr>
            <a:r>
              <a:rPr sz="1050" b="1" i="0">
                <a:solidFill>
                  <a:srgbClr val="8CE6C9"/>
                </a:solidFill>
                <a:latin typeface="Calibri"/>
              </a:rPr>
              <a:t>TERMINAL</a:t>
            </a:r>
          </a:p>
        </p:txBody>
      </p:sp>
      <p:sp>
        <p:nvSpPr>
          <p:cNvPr id="16" name="TextBox 15"/>
          <p:cNvSpPr txBox="1"/>
          <p:nvPr/>
        </p:nvSpPr>
        <p:spPr>
          <a:xfrm>
            <a:off x="923544" y="4718304"/>
            <a:ext cx="10344607" cy="1234439"/>
          </a:xfrm>
          <a:prstGeom prst="rect">
            <a:avLst/>
          </a:prstGeom>
          <a:noFill/>
        </p:spPr>
        <p:txBody>
          <a:bodyPr wrap="square" lIns="0" rIns="0" tIns="0" bIns="0" anchor="t">
            <a:spAutoFit/>
          </a:bodyPr>
          <a:lstStyle/>
          <a:p>
            <a:pPr algn="l">
              <a:lnSpc>
                <a:spcPct val="118000"/>
              </a:lnSpc>
              <a:spcBef>
                <a:spcPts val="0"/>
              </a:spcBef>
              <a:spcAft>
                <a:spcPts val="0"/>
              </a:spcAft>
            </a:pPr>
            <a:r>
              <a:rPr sz="1100" b="0" i="0">
                <a:solidFill>
                  <a:srgbClr val="9AB4B8"/>
                </a:solidFill>
                <a:latin typeface="Consolas"/>
              </a:rPr>
              <a:t># ship a change</a:t>
            </a:r>
          </a:p>
          <a:p>
            <a:pPr algn="l">
              <a:lnSpc>
                <a:spcPct val="118000"/>
              </a:lnSpc>
              <a:spcBef>
                <a:spcPts val="0"/>
              </a:spcBef>
              <a:spcAft>
                <a:spcPts val="0"/>
              </a:spcAft>
            </a:pPr>
            <a:r>
              <a:rPr sz="1100" b="0" i="0">
                <a:solidFill>
                  <a:srgbClr val="8CE6C9"/>
                </a:solidFill>
                <a:latin typeface="Consolas"/>
              </a:rPr>
              <a:t>IMAGE_TAG=1.0.1 ./deploy/aws/01_push_to_ecr.sh</a:t>
            </a:r>
          </a:p>
          <a:p>
            <a:pPr algn="l">
              <a:lnSpc>
                <a:spcPct val="118000"/>
              </a:lnSpc>
              <a:spcBef>
                <a:spcPts val="0"/>
              </a:spcBef>
              <a:spcAft>
                <a:spcPts val="0"/>
              </a:spcAft>
            </a:pPr>
            <a:r>
              <a:rPr sz="1100" b="0" i="0">
                <a:solidFill>
                  <a:srgbClr val="8CE6C9"/>
                </a:solidFill>
                <a:latin typeface="Consolas"/>
              </a:rPr>
              <a:t>./deploy/aws/03_redeploy.sh i-0abc123def456 1.0.1</a:t>
            </a:r>
          </a:p>
          <a:p>
            <a:pPr algn="l">
              <a:lnSpc>
                <a:spcPct val="118000"/>
              </a:lnSpc>
              <a:spcBef>
                <a:spcPts val="0"/>
              </a:spcBef>
              <a:spcAft>
                <a:spcPts val="0"/>
              </a:spcAft>
            </a:pPr>
            <a:r>
              <a:rPr sz="1100" b="0" i="0">
                <a:solidFill>
                  <a:srgbClr val="D6E7E4"/>
                </a:solidFill>
                <a:latin typeface="Consolas"/>
              </a:rPr>
              <a:t/>
            </a:r>
          </a:p>
          <a:p>
            <a:pPr algn="l">
              <a:lnSpc>
                <a:spcPct val="118000"/>
              </a:lnSpc>
              <a:spcBef>
                <a:spcPts val="0"/>
              </a:spcBef>
              <a:spcAft>
                <a:spcPts val="0"/>
              </a:spcAft>
            </a:pPr>
            <a:r>
              <a:rPr sz="1100" b="0" i="0">
                <a:solidFill>
                  <a:srgbClr val="9AB4B8"/>
                </a:solidFill>
                <a:latin typeface="Consolas"/>
              </a:rPr>
              <a:t># it went wrong</a:t>
            </a:r>
          </a:p>
          <a:p>
            <a:pPr algn="l">
              <a:lnSpc>
                <a:spcPct val="118000"/>
              </a:lnSpc>
              <a:spcBef>
                <a:spcPts val="0"/>
              </a:spcBef>
              <a:spcAft>
                <a:spcPts val="0"/>
              </a:spcAft>
            </a:pPr>
            <a:r>
              <a:rPr sz="1100" b="0" i="0">
                <a:solidFill>
                  <a:srgbClr val="02C39A"/>
                </a:solidFill>
                <a:latin typeface="Consolas"/>
              </a:rPr>
              <a:t>./deploy/aws/03_redeploy.sh i-0abc123def456 1.0.0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028090"/>
                </a:solidFill>
                <a:latin typeface="Calibri"/>
              </a:rPr>
              <a:t>HONESTY</a:t>
            </a:r>
          </a:p>
        </p:txBody>
      </p:sp>
      <p:sp>
        <p:nvSpPr>
          <p:cNvPr id="3" name="TextBox 2"/>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12343B"/>
                </a:solidFill>
                <a:latin typeface="Cambria"/>
              </a:rPr>
              <a:t>What a real production setup adds</a:t>
            </a:r>
          </a:p>
        </p:txBody>
      </p:sp>
      <p:sp>
        <p:nvSpPr>
          <p:cNvPr id="4" name="TextBox 3"/>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8FA9AE"/>
                </a:solidFill>
                <a:latin typeface="Calibri"/>
              </a:rPr>
              <a:t>Session 39  ·  FastAPI Model Serving and Cloud Deployment</a:t>
            </a:r>
          </a:p>
        </p:txBody>
      </p:sp>
      <p:sp>
        <p:nvSpPr>
          <p:cNvPr id="5" name="Rounded Rectangle 4"/>
          <p:cNvSpPr/>
          <p:nvPr/>
        </p:nvSpPr>
        <p:spPr>
          <a:xfrm>
            <a:off x="685800" y="2011680"/>
            <a:ext cx="10820095" cy="603504"/>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41832" y="2157984"/>
            <a:ext cx="3657600" cy="329184"/>
          </a:xfrm>
          <a:prstGeom prst="rect">
            <a:avLst/>
          </a:prstGeom>
          <a:noFill/>
        </p:spPr>
        <p:txBody>
          <a:bodyPr wrap="square" lIns="0" rIns="0" tIns="0" bIns="0" anchor="t">
            <a:spAutoFit/>
          </a:bodyPr>
          <a:lstStyle/>
          <a:p>
            <a:pPr algn="l">
              <a:spcBef>
                <a:spcPts val="0"/>
              </a:spcBef>
              <a:spcAft>
                <a:spcPts val="0"/>
              </a:spcAft>
            </a:pPr>
            <a:r>
              <a:rPr sz="1250" b="1" i="0">
                <a:solidFill>
                  <a:srgbClr val="C15B4E"/>
                </a:solidFill>
                <a:latin typeface="Calibri"/>
              </a:rPr>
              <a:t>One instance, one zone</a:t>
            </a:r>
          </a:p>
        </p:txBody>
      </p:sp>
      <p:sp>
        <p:nvSpPr>
          <p:cNvPr id="7" name="TextBox 6"/>
          <p:cNvSpPr txBox="1"/>
          <p:nvPr/>
        </p:nvSpPr>
        <p:spPr>
          <a:xfrm>
            <a:off x="4709160" y="2157984"/>
            <a:ext cx="6949440" cy="329184"/>
          </a:xfrm>
          <a:prstGeom prst="rect">
            <a:avLst/>
          </a:prstGeom>
          <a:noFill/>
        </p:spPr>
        <p:txBody>
          <a:bodyPr wrap="square" lIns="0" rIns="0" tIns="0" bIns="0" anchor="t">
            <a:spAutoFit/>
          </a:bodyPr>
          <a:lstStyle/>
          <a:p>
            <a:pPr algn="l">
              <a:spcBef>
                <a:spcPts val="0"/>
              </a:spcBef>
              <a:spcAft>
                <a:spcPts val="0"/>
              </a:spcAft>
            </a:pPr>
            <a:r>
              <a:rPr sz="1200" b="0" i="0">
                <a:solidFill>
                  <a:srgbClr val="5A7A80"/>
                </a:solidFill>
                <a:latin typeface="Calibri"/>
              </a:rPr>
              <a:t>Auto Scaling group behind an Application Load Balancer across two availability zones</a:t>
            </a:r>
          </a:p>
        </p:txBody>
      </p:sp>
      <p:sp>
        <p:nvSpPr>
          <p:cNvPr id="8" name="Rounded Rectangle 7"/>
          <p:cNvSpPr/>
          <p:nvPr/>
        </p:nvSpPr>
        <p:spPr>
          <a:xfrm>
            <a:off x="685800" y="2670048"/>
            <a:ext cx="10820095" cy="603504"/>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41832" y="2816352"/>
            <a:ext cx="3657600" cy="329184"/>
          </a:xfrm>
          <a:prstGeom prst="rect">
            <a:avLst/>
          </a:prstGeom>
          <a:noFill/>
        </p:spPr>
        <p:txBody>
          <a:bodyPr wrap="square" lIns="0" rIns="0" tIns="0" bIns="0" anchor="t">
            <a:spAutoFit/>
          </a:bodyPr>
          <a:lstStyle/>
          <a:p>
            <a:pPr algn="l">
              <a:spcBef>
                <a:spcPts val="0"/>
              </a:spcBef>
              <a:spcAft>
                <a:spcPts val="0"/>
              </a:spcAft>
            </a:pPr>
            <a:r>
              <a:rPr sz="1250" b="1" i="0">
                <a:solidFill>
                  <a:srgbClr val="C15B4E"/>
                </a:solidFill>
                <a:latin typeface="Calibri"/>
              </a:rPr>
              <a:t>Plain HTTP</a:t>
            </a:r>
          </a:p>
        </p:txBody>
      </p:sp>
      <p:sp>
        <p:nvSpPr>
          <p:cNvPr id="10" name="TextBox 9"/>
          <p:cNvSpPr txBox="1"/>
          <p:nvPr/>
        </p:nvSpPr>
        <p:spPr>
          <a:xfrm>
            <a:off x="4709160" y="2816352"/>
            <a:ext cx="6949440" cy="329184"/>
          </a:xfrm>
          <a:prstGeom prst="rect">
            <a:avLst/>
          </a:prstGeom>
          <a:noFill/>
        </p:spPr>
        <p:txBody>
          <a:bodyPr wrap="square" lIns="0" rIns="0" tIns="0" bIns="0" anchor="t">
            <a:spAutoFit/>
          </a:bodyPr>
          <a:lstStyle/>
          <a:p>
            <a:pPr algn="l">
              <a:spcBef>
                <a:spcPts val="0"/>
              </a:spcBef>
              <a:spcAft>
                <a:spcPts val="0"/>
              </a:spcAft>
            </a:pPr>
            <a:r>
              <a:rPr sz="1200" b="0" i="0">
                <a:solidFill>
                  <a:srgbClr val="5A7A80"/>
                </a:solidFill>
                <a:latin typeface="Calibri"/>
              </a:rPr>
              <a:t>ACM certificate on the load balancer, HTTP redirected to HTTPS</a:t>
            </a:r>
          </a:p>
        </p:txBody>
      </p:sp>
      <p:sp>
        <p:nvSpPr>
          <p:cNvPr id="11" name="Rounded Rectangle 10"/>
          <p:cNvSpPr/>
          <p:nvPr/>
        </p:nvSpPr>
        <p:spPr>
          <a:xfrm>
            <a:off x="685800" y="3328415"/>
            <a:ext cx="10820095" cy="603504"/>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3474720"/>
            <a:ext cx="3657600" cy="329184"/>
          </a:xfrm>
          <a:prstGeom prst="rect">
            <a:avLst/>
          </a:prstGeom>
          <a:noFill/>
        </p:spPr>
        <p:txBody>
          <a:bodyPr wrap="square" lIns="0" rIns="0" tIns="0" bIns="0" anchor="t">
            <a:spAutoFit/>
          </a:bodyPr>
          <a:lstStyle/>
          <a:p>
            <a:pPr algn="l">
              <a:spcBef>
                <a:spcPts val="0"/>
              </a:spcBef>
              <a:spcAft>
                <a:spcPts val="0"/>
              </a:spcAft>
            </a:pPr>
            <a:r>
              <a:rPr sz="1250" b="1" i="0">
                <a:solidFill>
                  <a:srgbClr val="C15B4E"/>
                </a:solidFill>
                <a:latin typeface="Calibri"/>
              </a:rPr>
              <a:t>Jobs in process memory</a:t>
            </a:r>
          </a:p>
        </p:txBody>
      </p:sp>
      <p:sp>
        <p:nvSpPr>
          <p:cNvPr id="13" name="TextBox 12"/>
          <p:cNvSpPr txBox="1"/>
          <p:nvPr/>
        </p:nvSpPr>
        <p:spPr>
          <a:xfrm>
            <a:off x="4709160" y="3474720"/>
            <a:ext cx="6949440" cy="329184"/>
          </a:xfrm>
          <a:prstGeom prst="rect">
            <a:avLst/>
          </a:prstGeom>
          <a:noFill/>
        </p:spPr>
        <p:txBody>
          <a:bodyPr wrap="square" lIns="0" rIns="0" tIns="0" bIns="0" anchor="t">
            <a:spAutoFit/>
          </a:bodyPr>
          <a:lstStyle/>
          <a:p>
            <a:pPr algn="l">
              <a:spcBef>
                <a:spcPts val="0"/>
              </a:spcBef>
              <a:spcAft>
                <a:spcPts val="0"/>
              </a:spcAft>
            </a:pPr>
            <a:r>
              <a:rPr sz="1200" b="0" i="0">
                <a:solidFill>
                  <a:srgbClr val="5A7A80"/>
                </a:solidFill>
                <a:latin typeface="Calibri"/>
              </a:rPr>
              <a:t>Redis or SQS, with the worker as a separate process</a:t>
            </a:r>
          </a:p>
        </p:txBody>
      </p:sp>
      <p:sp>
        <p:nvSpPr>
          <p:cNvPr id="14" name="Rounded Rectangle 13"/>
          <p:cNvSpPr/>
          <p:nvPr/>
        </p:nvSpPr>
        <p:spPr>
          <a:xfrm>
            <a:off x="685800" y="3986783"/>
            <a:ext cx="10820095" cy="603504"/>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41832" y="4133087"/>
            <a:ext cx="3657600" cy="329184"/>
          </a:xfrm>
          <a:prstGeom prst="rect">
            <a:avLst/>
          </a:prstGeom>
          <a:noFill/>
        </p:spPr>
        <p:txBody>
          <a:bodyPr wrap="square" lIns="0" rIns="0" tIns="0" bIns="0" anchor="t">
            <a:spAutoFit/>
          </a:bodyPr>
          <a:lstStyle/>
          <a:p>
            <a:pPr algn="l">
              <a:spcBef>
                <a:spcPts val="0"/>
              </a:spcBef>
              <a:spcAft>
                <a:spcPts val="0"/>
              </a:spcAft>
            </a:pPr>
            <a:r>
              <a:rPr sz="1250" b="1" i="0">
                <a:solidFill>
                  <a:srgbClr val="C15B4E"/>
                </a:solidFill>
                <a:latin typeface="Calibri"/>
              </a:rPr>
              <a:t>Anyone can call it</a:t>
            </a:r>
          </a:p>
        </p:txBody>
      </p:sp>
      <p:sp>
        <p:nvSpPr>
          <p:cNvPr id="16" name="TextBox 15"/>
          <p:cNvSpPr txBox="1"/>
          <p:nvPr/>
        </p:nvSpPr>
        <p:spPr>
          <a:xfrm>
            <a:off x="4709160" y="4133087"/>
            <a:ext cx="6949440" cy="329184"/>
          </a:xfrm>
          <a:prstGeom prst="rect">
            <a:avLst/>
          </a:prstGeom>
          <a:noFill/>
        </p:spPr>
        <p:txBody>
          <a:bodyPr wrap="square" lIns="0" rIns="0" tIns="0" bIns="0" anchor="t">
            <a:spAutoFit/>
          </a:bodyPr>
          <a:lstStyle/>
          <a:p>
            <a:pPr algn="l">
              <a:spcBef>
                <a:spcPts val="0"/>
              </a:spcBef>
              <a:spcAft>
                <a:spcPts val="0"/>
              </a:spcAft>
            </a:pPr>
            <a:r>
              <a:rPr sz="1200" b="0" i="0">
                <a:solidFill>
                  <a:srgbClr val="5A7A80"/>
                </a:solidFill>
                <a:latin typeface="Calibri"/>
              </a:rPr>
              <a:t>API key at the load balancer, or Cognito, or a VPC only listener</a:t>
            </a:r>
          </a:p>
        </p:txBody>
      </p:sp>
      <p:sp>
        <p:nvSpPr>
          <p:cNvPr id="17" name="Rounded Rectangle 16"/>
          <p:cNvSpPr/>
          <p:nvPr/>
        </p:nvSpPr>
        <p:spPr>
          <a:xfrm>
            <a:off x="685800" y="4645151"/>
            <a:ext cx="10820095" cy="603504"/>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41832" y="4791455"/>
            <a:ext cx="3657600" cy="329184"/>
          </a:xfrm>
          <a:prstGeom prst="rect">
            <a:avLst/>
          </a:prstGeom>
          <a:noFill/>
        </p:spPr>
        <p:txBody>
          <a:bodyPr wrap="square" lIns="0" rIns="0" tIns="0" bIns="0" anchor="t">
            <a:spAutoFit/>
          </a:bodyPr>
          <a:lstStyle/>
          <a:p>
            <a:pPr algn="l">
              <a:spcBef>
                <a:spcPts val="0"/>
              </a:spcBef>
              <a:spcAft>
                <a:spcPts val="0"/>
              </a:spcAft>
            </a:pPr>
            <a:r>
              <a:rPr sz="1250" b="1" i="0">
                <a:solidFill>
                  <a:srgbClr val="C15B4E"/>
                </a:solidFill>
                <a:latin typeface="Calibri"/>
              </a:rPr>
              <a:t>No metrics</a:t>
            </a:r>
          </a:p>
        </p:txBody>
      </p:sp>
      <p:sp>
        <p:nvSpPr>
          <p:cNvPr id="19" name="TextBox 18"/>
          <p:cNvSpPr txBox="1"/>
          <p:nvPr/>
        </p:nvSpPr>
        <p:spPr>
          <a:xfrm>
            <a:off x="4709160" y="4791455"/>
            <a:ext cx="6949440" cy="329184"/>
          </a:xfrm>
          <a:prstGeom prst="rect">
            <a:avLst/>
          </a:prstGeom>
          <a:noFill/>
        </p:spPr>
        <p:txBody>
          <a:bodyPr wrap="square" lIns="0" rIns="0" tIns="0" bIns="0" anchor="t">
            <a:spAutoFit/>
          </a:bodyPr>
          <a:lstStyle/>
          <a:p>
            <a:pPr algn="l">
              <a:spcBef>
                <a:spcPts val="0"/>
              </a:spcBef>
              <a:spcAft>
                <a:spcPts val="0"/>
              </a:spcAft>
            </a:pPr>
            <a:r>
              <a:rPr sz="1200" b="0" i="0">
                <a:solidFill>
                  <a:srgbClr val="5A7A80"/>
                </a:solidFill>
                <a:latin typeface="Calibri"/>
              </a:rPr>
              <a:t>prometheus-fastapi-instrumentator, or CloudWatch custom metrics</a:t>
            </a:r>
          </a:p>
        </p:txBody>
      </p:sp>
      <p:sp>
        <p:nvSpPr>
          <p:cNvPr id="20" name="Rounded Rectangle 19"/>
          <p:cNvSpPr/>
          <p:nvPr/>
        </p:nvSpPr>
        <p:spPr>
          <a:xfrm>
            <a:off x="685800" y="5303519"/>
            <a:ext cx="10820095" cy="603504"/>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41832" y="5449823"/>
            <a:ext cx="3657600" cy="329184"/>
          </a:xfrm>
          <a:prstGeom prst="rect">
            <a:avLst/>
          </a:prstGeom>
          <a:noFill/>
        </p:spPr>
        <p:txBody>
          <a:bodyPr wrap="square" lIns="0" rIns="0" tIns="0" bIns="0" anchor="t">
            <a:spAutoFit/>
          </a:bodyPr>
          <a:lstStyle/>
          <a:p>
            <a:pPr algn="l">
              <a:spcBef>
                <a:spcPts val="0"/>
              </a:spcBef>
              <a:spcAft>
                <a:spcPts val="0"/>
              </a:spcAft>
            </a:pPr>
            <a:r>
              <a:rPr sz="1250" b="1" i="0">
                <a:solidFill>
                  <a:srgbClr val="C15B4E"/>
                </a:solidFill>
                <a:latin typeface="Calibri"/>
              </a:rPr>
              <a:t>Deployed by hand</a:t>
            </a:r>
          </a:p>
        </p:txBody>
      </p:sp>
      <p:sp>
        <p:nvSpPr>
          <p:cNvPr id="22" name="TextBox 21"/>
          <p:cNvSpPr txBox="1"/>
          <p:nvPr/>
        </p:nvSpPr>
        <p:spPr>
          <a:xfrm>
            <a:off x="4709160" y="5449823"/>
            <a:ext cx="6949440" cy="329184"/>
          </a:xfrm>
          <a:prstGeom prst="rect">
            <a:avLst/>
          </a:prstGeom>
          <a:noFill/>
        </p:spPr>
        <p:txBody>
          <a:bodyPr wrap="square" lIns="0" rIns="0" tIns="0" bIns="0" anchor="t">
            <a:spAutoFit/>
          </a:bodyPr>
          <a:lstStyle/>
          <a:p>
            <a:pPr algn="l">
              <a:spcBef>
                <a:spcPts val="0"/>
              </a:spcBef>
              <a:spcAft>
                <a:spcPts val="0"/>
              </a:spcAft>
            </a:pPr>
            <a:r>
              <a:rPr sz="1200" b="0" i="0">
                <a:solidFill>
                  <a:srgbClr val="5A7A80"/>
                </a:solidFill>
                <a:latin typeface="Calibri"/>
              </a:rPr>
              <a:t>GitHub Actions on push to main: test, build, push, redeploy</a:t>
            </a:r>
          </a:p>
        </p:txBody>
      </p:sp>
      <p:sp>
        <p:nvSpPr>
          <p:cNvPr id="23" name="TextBox 22"/>
          <p:cNvSpPr txBox="1"/>
          <p:nvPr/>
        </p:nvSpPr>
        <p:spPr>
          <a:xfrm>
            <a:off x="685800" y="5989320"/>
            <a:ext cx="10820095" cy="274320"/>
          </a:xfrm>
          <a:prstGeom prst="rect">
            <a:avLst/>
          </a:prstGeom>
          <a:noFill/>
        </p:spPr>
        <p:txBody>
          <a:bodyPr wrap="square" lIns="0" rIns="0" tIns="0" bIns="0" anchor="t">
            <a:spAutoFit/>
          </a:bodyPr>
          <a:lstStyle/>
          <a:p>
            <a:pPr algn="l">
              <a:spcBef>
                <a:spcPts val="0"/>
              </a:spcBef>
              <a:spcAft>
                <a:spcPts val="0"/>
              </a:spcAft>
            </a:pPr>
            <a:r>
              <a:rPr sz="950" b="0" i="0">
                <a:solidFill>
                  <a:srgbClr val="8FA9AE"/>
                </a:solidFill>
                <a:latin typeface="Calibri"/>
              </a:rPr>
              <a:t>Each of these is one small step from where the code already is. That is the point of structuring it this way in the first place.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457200" cy="6858000"/>
          </a:xfrm>
          <a:prstGeom prst="rect">
            <a:avLst/>
          </a:prstGeom>
          <a:solidFill>
            <a:srgbClr val="0F3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 name="Rectangle 1"/>
          <p:cNvSpPr/>
          <p:nvPr/>
        </p:nvSpPr>
        <p:spPr>
          <a:xfrm>
            <a:off x="0" y="0"/>
            <a:ext cx="12191695" cy="6858000"/>
          </a:xfrm>
          <a:prstGeom prst="rect">
            <a:avLst/>
          </a:prstGeom>
          <a:solidFill>
            <a:srgbClr val="0B2E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85800" y="475488"/>
            <a:ext cx="10820095" cy="310896"/>
          </a:xfrm>
          <a:prstGeom prst="rect">
            <a:avLst/>
          </a:prstGeom>
          <a:noFill/>
        </p:spPr>
        <p:txBody>
          <a:bodyPr wrap="square" lIns="0" rIns="0" tIns="0" bIns="0" anchor="t">
            <a:spAutoFit/>
          </a:bodyPr>
          <a:lstStyle/>
          <a:p>
            <a:pPr algn="l">
              <a:spcBef>
                <a:spcPts val="0"/>
              </a:spcBef>
              <a:spcAft>
                <a:spcPts val="0"/>
              </a:spcAft>
            </a:pPr>
            <a:r>
              <a:rPr sz="1200" b="1" i="0">
                <a:solidFill>
                  <a:srgbClr val="8CE6C9"/>
                </a:solidFill>
                <a:latin typeface="Calibri"/>
              </a:rPr>
              <a:t>RECAP</a:t>
            </a:r>
          </a:p>
        </p:txBody>
      </p:sp>
      <p:sp>
        <p:nvSpPr>
          <p:cNvPr id="5" name="TextBox 4"/>
          <p:cNvSpPr txBox="1"/>
          <p:nvPr/>
        </p:nvSpPr>
        <p:spPr>
          <a:xfrm>
            <a:off x="685800" y="786384"/>
            <a:ext cx="10820095" cy="822960"/>
          </a:xfrm>
          <a:prstGeom prst="rect">
            <a:avLst/>
          </a:prstGeom>
          <a:noFill/>
        </p:spPr>
        <p:txBody>
          <a:bodyPr wrap="square" lIns="0" rIns="0" tIns="0" bIns="0" anchor="t">
            <a:spAutoFit/>
          </a:bodyPr>
          <a:lstStyle/>
          <a:p>
            <a:pPr algn="l">
              <a:spcBef>
                <a:spcPts val="0"/>
              </a:spcBef>
              <a:spcAft>
                <a:spcPts val="0"/>
              </a:spcAft>
            </a:pPr>
            <a:r>
              <a:rPr sz="3200" b="1" i="0">
                <a:solidFill>
                  <a:srgbClr val="FFFFFF"/>
                </a:solidFill>
                <a:latin typeface="Cambria"/>
              </a:rPr>
              <a:t>Three things worth keeping</a:t>
            </a:r>
          </a:p>
        </p:txBody>
      </p:sp>
      <p:sp>
        <p:nvSpPr>
          <p:cNvPr id="6" name="Rounded Rectangle 5"/>
          <p:cNvSpPr/>
          <p:nvPr/>
        </p:nvSpPr>
        <p:spPr>
          <a:xfrm>
            <a:off x="685800" y="2148840"/>
            <a:ext cx="3529584" cy="22860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41832" y="2395728"/>
            <a:ext cx="3017520" cy="640080"/>
          </a:xfrm>
          <a:prstGeom prst="rect">
            <a:avLst/>
          </a:prstGeom>
          <a:noFill/>
        </p:spPr>
        <p:txBody>
          <a:bodyPr wrap="square" lIns="0" rIns="0" tIns="0" bIns="0" anchor="t">
            <a:spAutoFit/>
          </a:bodyPr>
          <a:lstStyle/>
          <a:p>
            <a:pPr algn="l">
              <a:lnSpc>
                <a:spcPct val="110000"/>
              </a:lnSpc>
              <a:spcBef>
                <a:spcPts val="0"/>
              </a:spcBef>
              <a:spcAft>
                <a:spcPts val="0"/>
              </a:spcAft>
            </a:pPr>
            <a:r>
              <a:rPr sz="1400" b="1" i="0">
                <a:solidFill>
                  <a:srgbClr val="028090"/>
                </a:solidFill>
                <a:latin typeface="Calibri"/>
              </a:rPr>
              <a:t>Load once, at startup</a:t>
            </a:r>
          </a:p>
        </p:txBody>
      </p:sp>
      <p:sp>
        <p:nvSpPr>
          <p:cNvPr id="8" name="TextBox 7"/>
          <p:cNvSpPr txBox="1"/>
          <p:nvPr/>
        </p:nvSpPr>
        <p:spPr>
          <a:xfrm>
            <a:off x="941832" y="2999232"/>
            <a:ext cx="3017520" cy="1325880"/>
          </a:xfrm>
          <a:prstGeom prst="rect">
            <a:avLst/>
          </a:prstGeom>
          <a:noFill/>
        </p:spPr>
        <p:txBody>
          <a:bodyPr wrap="square" lIns="0" rIns="0" tIns="0" bIns="0" anchor="t">
            <a:spAutoFit/>
          </a:bodyPr>
          <a:lstStyle/>
          <a:p>
            <a:pPr algn="l">
              <a:lnSpc>
                <a:spcPct val="120000"/>
              </a:lnSpc>
              <a:spcBef>
                <a:spcPts val="0"/>
              </a:spcBef>
              <a:spcAft>
                <a:spcPts val="0"/>
              </a:spcAft>
            </a:pPr>
            <a:r>
              <a:rPr sz="1200" b="0" i="0">
                <a:solidFill>
                  <a:srgbClr val="5A7A80"/>
                </a:solidFill>
                <a:latin typeface="Calibri"/>
              </a:rPr>
              <a:t>The lifespan handler holds the model for the life of the process. Warm it up there too, so the first real user never pays for it.</a:t>
            </a:r>
          </a:p>
        </p:txBody>
      </p:sp>
      <p:sp>
        <p:nvSpPr>
          <p:cNvPr id="9" name="Rounded Rectangle 8"/>
          <p:cNvSpPr/>
          <p:nvPr/>
        </p:nvSpPr>
        <p:spPr>
          <a:xfrm>
            <a:off x="4334256" y="2148840"/>
            <a:ext cx="3529584" cy="22860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90288" y="2395728"/>
            <a:ext cx="3017520" cy="640080"/>
          </a:xfrm>
          <a:prstGeom prst="rect">
            <a:avLst/>
          </a:prstGeom>
          <a:noFill/>
        </p:spPr>
        <p:txBody>
          <a:bodyPr wrap="square" lIns="0" rIns="0" tIns="0" bIns="0" anchor="t">
            <a:spAutoFit/>
          </a:bodyPr>
          <a:lstStyle/>
          <a:p>
            <a:pPr algn="l">
              <a:lnSpc>
                <a:spcPct val="110000"/>
              </a:lnSpc>
              <a:spcBef>
                <a:spcPts val="0"/>
              </a:spcBef>
              <a:spcAft>
                <a:spcPts val="0"/>
              </a:spcAft>
            </a:pPr>
            <a:r>
              <a:rPr sz="1400" b="1" i="0">
                <a:solidFill>
                  <a:srgbClr val="028090"/>
                </a:solidFill>
                <a:latin typeface="Calibri"/>
              </a:rPr>
              <a:t>async is about waiting, not speed</a:t>
            </a:r>
          </a:p>
        </p:txBody>
      </p:sp>
      <p:sp>
        <p:nvSpPr>
          <p:cNvPr id="11" name="TextBox 10"/>
          <p:cNvSpPr txBox="1"/>
          <p:nvPr/>
        </p:nvSpPr>
        <p:spPr>
          <a:xfrm>
            <a:off x="4590288" y="2999232"/>
            <a:ext cx="3017520" cy="1325880"/>
          </a:xfrm>
          <a:prstGeom prst="rect">
            <a:avLst/>
          </a:prstGeom>
          <a:noFill/>
        </p:spPr>
        <p:txBody>
          <a:bodyPr wrap="square" lIns="0" rIns="0" tIns="0" bIns="0" anchor="t">
            <a:spAutoFit/>
          </a:bodyPr>
          <a:lstStyle/>
          <a:p>
            <a:pPr algn="l">
              <a:lnSpc>
                <a:spcPct val="120000"/>
              </a:lnSpc>
              <a:spcBef>
                <a:spcPts val="0"/>
              </a:spcBef>
              <a:spcAft>
                <a:spcPts val="0"/>
              </a:spcAft>
            </a:pPr>
            <a:r>
              <a:rPr sz="1200" b="0" i="0">
                <a:solidFill>
                  <a:srgbClr val="5A7A80"/>
                </a:solidFill>
                <a:latin typeface="Calibri"/>
              </a:rPr>
              <a:t>Anything that holds the CPU goes on a worker thread. One line, and your worst case health check latency drops from 736 ms to 6 ms.</a:t>
            </a:r>
          </a:p>
        </p:txBody>
      </p:sp>
      <p:sp>
        <p:nvSpPr>
          <p:cNvPr id="12" name="Rounded Rectangle 11"/>
          <p:cNvSpPr/>
          <p:nvPr/>
        </p:nvSpPr>
        <p:spPr>
          <a:xfrm>
            <a:off x="7982712" y="2148840"/>
            <a:ext cx="3529584" cy="22860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238744" y="2395728"/>
            <a:ext cx="3017520" cy="640080"/>
          </a:xfrm>
          <a:prstGeom prst="rect">
            <a:avLst/>
          </a:prstGeom>
          <a:noFill/>
        </p:spPr>
        <p:txBody>
          <a:bodyPr wrap="square" lIns="0" rIns="0" tIns="0" bIns="0" anchor="t">
            <a:spAutoFit/>
          </a:bodyPr>
          <a:lstStyle/>
          <a:p>
            <a:pPr algn="l">
              <a:lnSpc>
                <a:spcPct val="110000"/>
              </a:lnSpc>
              <a:spcBef>
                <a:spcPts val="0"/>
              </a:spcBef>
              <a:spcAft>
                <a:spcPts val="0"/>
              </a:spcAft>
            </a:pPr>
            <a:r>
              <a:rPr sz="1400" b="1" i="0">
                <a:solidFill>
                  <a:srgbClr val="028090"/>
                </a:solidFill>
                <a:latin typeface="Calibri"/>
              </a:rPr>
              <a:t>Configuration is what makes it portable</a:t>
            </a:r>
          </a:p>
        </p:txBody>
      </p:sp>
      <p:sp>
        <p:nvSpPr>
          <p:cNvPr id="14" name="TextBox 13"/>
          <p:cNvSpPr txBox="1"/>
          <p:nvPr/>
        </p:nvSpPr>
        <p:spPr>
          <a:xfrm>
            <a:off x="8238744" y="2999232"/>
            <a:ext cx="3017520" cy="1325880"/>
          </a:xfrm>
          <a:prstGeom prst="rect">
            <a:avLst/>
          </a:prstGeom>
          <a:noFill/>
        </p:spPr>
        <p:txBody>
          <a:bodyPr wrap="square" lIns="0" rIns="0" tIns="0" bIns="0" anchor="t">
            <a:spAutoFit/>
          </a:bodyPr>
          <a:lstStyle/>
          <a:p>
            <a:pPr algn="l">
              <a:lnSpc>
                <a:spcPct val="120000"/>
              </a:lnSpc>
              <a:spcBef>
                <a:spcPts val="0"/>
              </a:spcBef>
              <a:spcAft>
                <a:spcPts val="0"/>
              </a:spcAft>
            </a:pPr>
            <a:r>
              <a:rPr sz="1200" b="0" i="0">
                <a:solidFill>
                  <a:srgbClr val="5A7A80"/>
                </a:solidFill>
                <a:latin typeface="Calibri"/>
              </a:rPr>
              <a:t>One image, environment variables for everything else. That is the whole reason the same folder runs on your laptop, in Docker and on EC2.</a:t>
            </a:r>
          </a:p>
        </p:txBody>
      </p:sp>
      <p:sp>
        <p:nvSpPr>
          <p:cNvPr id="15" name="TextBox 14"/>
          <p:cNvSpPr txBox="1"/>
          <p:nvPr/>
        </p:nvSpPr>
        <p:spPr>
          <a:xfrm>
            <a:off x="685800" y="4800600"/>
            <a:ext cx="10817352" cy="822960"/>
          </a:xfrm>
          <a:prstGeom prst="rect">
            <a:avLst/>
          </a:prstGeom>
          <a:noFill/>
        </p:spPr>
        <p:txBody>
          <a:bodyPr wrap="square" lIns="0" rIns="0" tIns="0" bIns="0" anchor="t">
            <a:spAutoFit/>
          </a:bodyPr>
          <a:lstStyle/>
          <a:p>
            <a:pPr algn="l">
              <a:lnSpc>
                <a:spcPct val="125000"/>
              </a:lnSpc>
              <a:spcBef>
                <a:spcPts val="0"/>
              </a:spcBef>
              <a:spcAft>
                <a:spcPts val="0"/>
              </a:spcAft>
            </a:pPr>
            <a:r>
              <a:rPr sz="1500" b="0" i="0">
                <a:solidFill>
                  <a:srgbClr val="D6E7E4"/>
                </a:solidFill>
                <a:latin typeface="Calibri"/>
              </a:rPr>
              <a:t>Next session: the milestone. Everything from Sessions 36 to 39 assembled into one deployed inference service you can hand to a client.</a:t>
            </a:r>
          </a:p>
        </p:txBody>
      </p:sp>
      <p:sp>
        <p:nvSpPr>
          <p:cNvPr id="16" name="Rounded Rectangle 15"/>
          <p:cNvSpPr/>
          <p:nvPr/>
        </p:nvSpPr>
        <p:spPr>
          <a:xfrm>
            <a:off x="685800" y="5669280"/>
            <a:ext cx="2560320" cy="457200"/>
          </a:xfrm>
          <a:prstGeom prst="roundRect">
            <a:avLst>
              <a:gd name="adj" fmla="val 50000"/>
            </a:avLst>
          </a:prstGeom>
          <a:solidFill>
            <a:srgbClr val="8CE6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150" b="1" i="0">
                <a:solidFill>
                  <a:srgbClr val="12343B"/>
                </a:solidFill>
                <a:latin typeface="Calibri"/>
              </a:rPr>
              <a:t>README has every command</a:t>
            </a:r>
          </a:p>
        </p:txBody>
      </p:sp>
      <p:sp>
        <p:nvSpPr>
          <p:cNvPr id="17" name="Rounded Rectangle 16"/>
          <p:cNvSpPr/>
          <p:nvPr/>
        </p:nvSpPr>
        <p:spPr>
          <a:xfrm>
            <a:off x="3429000" y="5669280"/>
            <a:ext cx="2560320" cy="457200"/>
          </a:xfrm>
          <a:prstGeom prst="roundRect">
            <a:avLst>
              <a:gd name="adj" fmla="val 50000"/>
            </a:avLst>
          </a:prstGeom>
          <a:solidFill>
            <a:srgbClr val="8CE6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150" b="1" i="0">
                <a:solidFill>
                  <a:srgbClr val="12343B"/>
                </a:solidFill>
                <a:latin typeface="Calibri"/>
              </a:rPr>
              <a:t>20 tests, all green</a:t>
            </a:r>
          </a:p>
        </p:txBody>
      </p:sp>
      <p:sp>
        <p:nvSpPr>
          <p:cNvPr id="18" name="Rounded Rectangle 17"/>
          <p:cNvSpPr/>
          <p:nvPr/>
        </p:nvSpPr>
        <p:spPr>
          <a:xfrm>
            <a:off x="6172200" y="5669280"/>
            <a:ext cx="2560320" cy="457200"/>
          </a:xfrm>
          <a:prstGeom prst="roundRect">
            <a:avLst>
              <a:gd name="adj" fmla="val 50000"/>
            </a:avLst>
          </a:prstGeom>
          <a:solidFill>
            <a:srgbClr val="8CE6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Bef>
                <a:spcPts val="0"/>
              </a:spcBef>
              <a:spcAft>
                <a:spcPts val="0"/>
              </a:spcAft>
            </a:pPr>
            <a:r>
              <a:rPr sz="1150" b="1" i="0">
                <a:solidFill>
                  <a:srgbClr val="12343B"/>
                </a:solidFill>
                <a:latin typeface="Calibri"/>
              </a:rPr>
              <a:t>Benchmarks are reproducible</a:t>
            </a:r>
          </a:p>
        </p:txBody>
      </p:sp>
      <p:sp>
        <p:nvSpPr>
          <p:cNvPr id="19" name="TextBox 18"/>
          <p:cNvSpPr txBox="1"/>
          <p:nvPr/>
        </p:nvSpPr>
        <p:spPr>
          <a:xfrm>
            <a:off x="685800" y="6355080"/>
            <a:ext cx="10820095" cy="274320"/>
          </a:xfrm>
          <a:prstGeom prst="rect">
            <a:avLst/>
          </a:prstGeom>
          <a:noFill/>
        </p:spPr>
        <p:txBody>
          <a:bodyPr wrap="square" lIns="0" rIns="0" tIns="0" bIns="0" anchor="t">
            <a:spAutoFit/>
          </a:bodyPr>
          <a:lstStyle/>
          <a:p>
            <a:pPr algn="l">
              <a:spcBef>
                <a:spcPts val="0"/>
              </a:spcBef>
              <a:spcAft>
                <a:spcPts val="0"/>
              </a:spcAft>
            </a:pPr>
            <a:r>
              <a:rPr sz="1050" b="0" i="0">
                <a:solidFill>
                  <a:srgbClr val="9AB4B8"/>
                </a:solidFill>
                <a:latin typeface="Calibri"/>
              </a:rPr>
              <a:t>Session 39  ·  FastAPI Model Serving and Cloud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