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E2E"/>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0F3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1005840" y="1417320"/>
            <a:ext cx="9144000" cy="320040"/>
          </a:xfrm>
          <a:prstGeom prst="rect">
            <a:avLst/>
          </a:prstGeom>
          <a:noFill/>
        </p:spPr>
        <p:txBody>
          <a:bodyPr wrap="square" lIns="0" rIns="0" tIns="0" bIns="0">
            <a:spAutoFit/>
          </a:bodyPr>
          <a:lstStyle/>
          <a:p>
            <a:pPr algn="l">
              <a:lnSpc>
                <a:spcPct val="115000"/>
              </a:lnSpc>
              <a:spcAft>
                <a:spcPts val="200"/>
              </a:spcAft>
            </a:pPr>
            <a:r>
              <a:rPr sz="1300" b="1" i="0">
                <a:solidFill>
                  <a:srgbClr val="8CE6C9"/>
                </a:solidFill>
                <a:latin typeface="Calibri"/>
              </a:rPr>
              <a:t>SESSION 38</a:t>
            </a:r>
          </a:p>
        </p:txBody>
      </p:sp>
      <p:sp>
        <p:nvSpPr>
          <p:cNvPr id="4" name="TextBox 3"/>
          <p:cNvSpPr txBox="1"/>
          <p:nvPr/>
        </p:nvSpPr>
        <p:spPr>
          <a:xfrm>
            <a:off x="1005840" y="1810512"/>
            <a:ext cx="10058400" cy="1005840"/>
          </a:xfrm>
          <a:prstGeom prst="rect">
            <a:avLst/>
          </a:prstGeom>
          <a:noFill/>
        </p:spPr>
        <p:txBody>
          <a:bodyPr wrap="square" lIns="0" rIns="0" tIns="0" bIns="0">
            <a:spAutoFit/>
          </a:bodyPr>
          <a:lstStyle/>
          <a:p>
            <a:pPr algn="l">
              <a:lnSpc>
                <a:spcPct val="105000"/>
              </a:lnSpc>
              <a:spcAft>
                <a:spcPts val="200"/>
              </a:spcAft>
            </a:pPr>
            <a:r>
              <a:rPr sz="5400" b="1" i="0">
                <a:solidFill>
                  <a:srgbClr val="FFFFFF"/>
                </a:solidFill>
                <a:latin typeface="Cambria"/>
              </a:rPr>
              <a:t>Model Optimization</a:t>
            </a:r>
          </a:p>
        </p:txBody>
      </p:sp>
      <p:sp>
        <p:nvSpPr>
          <p:cNvPr id="5" name="TextBox 4"/>
          <p:cNvSpPr txBox="1"/>
          <p:nvPr/>
        </p:nvSpPr>
        <p:spPr>
          <a:xfrm>
            <a:off x="1005840" y="2926080"/>
            <a:ext cx="10058400" cy="411480"/>
          </a:xfrm>
          <a:prstGeom prst="rect">
            <a:avLst/>
          </a:prstGeom>
          <a:noFill/>
        </p:spPr>
        <p:txBody>
          <a:bodyPr wrap="square" lIns="0" rIns="0" tIns="0" bIns="0">
            <a:spAutoFit/>
          </a:bodyPr>
          <a:lstStyle/>
          <a:p>
            <a:pPr algn="l">
              <a:lnSpc>
                <a:spcPct val="115000"/>
              </a:lnSpc>
              <a:spcAft>
                <a:spcPts val="200"/>
              </a:spcAft>
            </a:pPr>
            <a:r>
              <a:rPr sz="1600" b="0" i="0">
                <a:solidFill>
                  <a:srgbClr val="8CE6C9"/>
                </a:solidFill>
                <a:latin typeface="Calibri"/>
              </a:rPr>
              <a:t>ONNX export  ·  TensorRT  ·  quantization  ·  pruning</a:t>
            </a:r>
          </a:p>
        </p:txBody>
      </p:sp>
      <p:sp>
        <p:nvSpPr>
          <p:cNvPr id="6" name="TextBox 5"/>
          <p:cNvSpPr txBox="1"/>
          <p:nvPr/>
        </p:nvSpPr>
        <p:spPr>
          <a:xfrm>
            <a:off x="1005840" y="3456432"/>
            <a:ext cx="9601200" cy="365760"/>
          </a:xfrm>
          <a:prstGeom prst="rect">
            <a:avLst/>
          </a:prstGeom>
          <a:noFill/>
        </p:spPr>
        <p:txBody>
          <a:bodyPr wrap="square" lIns="0" rIns="0" tIns="0" bIns="0">
            <a:spAutoFit/>
          </a:bodyPr>
          <a:lstStyle/>
          <a:p>
            <a:pPr algn="l">
              <a:lnSpc>
                <a:spcPct val="115000"/>
              </a:lnSpc>
              <a:spcAft>
                <a:spcPts val="200"/>
              </a:spcAft>
            </a:pPr>
            <a:r>
              <a:rPr sz="1350" b="0" i="0">
                <a:solidFill>
                  <a:srgbClr val="9AB4B8"/>
                </a:solidFill>
                <a:latin typeface="Calibri"/>
              </a:rPr>
              <a:t>Making a trained model fast enough, small enough and cheap enough to actually ship.</a:t>
            </a:r>
          </a:p>
        </p:txBody>
      </p:sp>
      <p:sp>
        <p:nvSpPr>
          <p:cNvPr id="7" name="TextBox 6"/>
          <p:cNvSpPr txBox="1"/>
          <p:nvPr/>
        </p:nvSpPr>
        <p:spPr>
          <a:xfrm>
            <a:off x="1005840" y="4434840"/>
            <a:ext cx="3383280" cy="256032"/>
          </a:xfrm>
          <a:prstGeom prst="rect">
            <a:avLst/>
          </a:prstGeom>
          <a:noFill/>
        </p:spPr>
        <p:txBody>
          <a:bodyPr wrap="square" lIns="0" rIns="0" tIns="0" bIns="0">
            <a:spAutoFit/>
          </a:bodyPr>
          <a:lstStyle/>
          <a:p>
            <a:pPr algn="l">
              <a:lnSpc>
                <a:spcPct val="115000"/>
              </a:lnSpc>
              <a:spcAft>
                <a:spcPts val="200"/>
              </a:spcAft>
            </a:pPr>
            <a:r>
              <a:rPr sz="1050" b="1" i="0">
                <a:solidFill>
                  <a:srgbClr val="02C39A"/>
                </a:solidFill>
                <a:latin typeface="Calibri"/>
              </a:rPr>
              <a:t>COMPUTER VISION &amp; AI SERIES</a:t>
            </a:r>
          </a:p>
        </p:txBody>
      </p:sp>
      <p:sp>
        <p:nvSpPr>
          <p:cNvPr id="8" name="TextBox 7"/>
          <p:cNvSpPr txBox="1"/>
          <p:nvPr/>
        </p:nvSpPr>
        <p:spPr>
          <a:xfrm>
            <a:off x="1005840" y="4709160"/>
            <a:ext cx="3383280" cy="292608"/>
          </a:xfrm>
          <a:prstGeom prst="rect">
            <a:avLst/>
          </a:prstGeom>
          <a:noFill/>
        </p:spPr>
        <p:txBody>
          <a:bodyPr wrap="square" lIns="0" rIns="0" tIns="0" bIns="0">
            <a:spAutoFit/>
          </a:bodyPr>
          <a:lstStyle/>
          <a:p>
            <a:pPr algn="l">
              <a:lnSpc>
                <a:spcPct val="115000"/>
              </a:lnSpc>
              <a:spcAft>
                <a:spcPts val="200"/>
              </a:spcAft>
            </a:pPr>
            <a:r>
              <a:rPr sz="1350" b="0" i="0">
                <a:solidFill>
                  <a:srgbClr val="D6E7E4"/>
                </a:solidFill>
                <a:latin typeface="Calibri"/>
              </a:rPr>
              <a:t>Phase 5 · Production and Deployment</a:t>
            </a:r>
          </a:p>
        </p:txBody>
      </p:sp>
      <p:sp>
        <p:nvSpPr>
          <p:cNvPr id="9" name="TextBox 8"/>
          <p:cNvSpPr txBox="1"/>
          <p:nvPr/>
        </p:nvSpPr>
        <p:spPr>
          <a:xfrm>
            <a:off x="4572000" y="4434840"/>
            <a:ext cx="3383280" cy="256032"/>
          </a:xfrm>
          <a:prstGeom prst="rect">
            <a:avLst/>
          </a:prstGeom>
          <a:noFill/>
        </p:spPr>
        <p:txBody>
          <a:bodyPr wrap="square" lIns="0" rIns="0" tIns="0" bIns="0">
            <a:spAutoFit/>
          </a:bodyPr>
          <a:lstStyle/>
          <a:p>
            <a:pPr algn="l">
              <a:lnSpc>
                <a:spcPct val="115000"/>
              </a:lnSpc>
              <a:spcAft>
                <a:spcPts val="200"/>
              </a:spcAft>
            </a:pPr>
            <a:r>
              <a:rPr sz="1050" b="1" i="0">
                <a:solidFill>
                  <a:srgbClr val="02C39A"/>
                </a:solidFill>
                <a:latin typeface="Calibri"/>
              </a:rPr>
              <a:t>THEORY SESSION</a:t>
            </a:r>
          </a:p>
        </p:txBody>
      </p:sp>
      <p:sp>
        <p:nvSpPr>
          <p:cNvPr id="10" name="TextBox 9"/>
          <p:cNvSpPr txBox="1"/>
          <p:nvPr/>
        </p:nvSpPr>
        <p:spPr>
          <a:xfrm>
            <a:off x="4572000" y="4709160"/>
            <a:ext cx="3383280" cy="292608"/>
          </a:xfrm>
          <a:prstGeom prst="rect">
            <a:avLst/>
          </a:prstGeom>
          <a:noFill/>
        </p:spPr>
        <p:txBody>
          <a:bodyPr wrap="square" lIns="0" rIns="0" tIns="0" bIns="0">
            <a:spAutoFit/>
          </a:bodyPr>
          <a:lstStyle/>
          <a:p>
            <a:pPr algn="l">
              <a:lnSpc>
                <a:spcPct val="115000"/>
              </a:lnSpc>
              <a:spcAft>
                <a:spcPts val="200"/>
              </a:spcAft>
            </a:pPr>
            <a:r>
              <a:rPr sz="1350" b="0" i="0">
                <a:solidFill>
                  <a:srgbClr val="D6E7E4"/>
                </a:solidFill>
                <a:latin typeface="Calibri"/>
              </a:rPr>
              <a:t>Concepts first, no coding today</a:t>
            </a:r>
          </a:p>
        </p:txBody>
      </p:sp>
      <p:sp>
        <p:nvSpPr>
          <p:cNvPr id="11" name="TextBox 10"/>
          <p:cNvSpPr txBox="1"/>
          <p:nvPr/>
        </p:nvSpPr>
        <p:spPr>
          <a:xfrm>
            <a:off x="8138160" y="4434840"/>
            <a:ext cx="3383280" cy="256032"/>
          </a:xfrm>
          <a:prstGeom prst="rect">
            <a:avLst/>
          </a:prstGeom>
          <a:noFill/>
        </p:spPr>
        <p:txBody>
          <a:bodyPr wrap="square" lIns="0" rIns="0" tIns="0" bIns="0">
            <a:spAutoFit/>
          </a:bodyPr>
          <a:lstStyle/>
          <a:p>
            <a:pPr algn="l">
              <a:lnSpc>
                <a:spcPct val="115000"/>
              </a:lnSpc>
              <a:spcAft>
                <a:spcPts val="200"/>
              </a:spcAft>
            </a:pPr>
            <a:r>
              <a:rPr sz="1050" b="1" i="0">
                <a:solidFill>
                  <a:srgbClr val="02C39A"/>
                </a:solidFill>
                <a:latin typeface="Calibri"/>
              </a:rPr>
              <a:t>DURATION</a:t>
            </a:r>
          </a:p>
        </p:txBody>
      </p:sp>
      <p:sp>
        <p:nvSpPr>
          <p:cNvPr id="12" name="TextBox 11"/>
          <p:cNvSpPr txBox="1"/>
          <p:nvPr/>
        </p:nvSpPr>
        <p:spPr>
          <a:xfrm>
            <a:off x="8138160" y="4709160"/>
            <a:ext cx="3383280" cy="292608"/>
          </a:xfrm>
          <a:prstGeom prst="rect">
            <a:avLst/>
          </a:prstGeom>
          <a:noFill/>
        </p:spPr>
        <p:txBody>
          <a:bodyPr wrap="square" lIns="0" rIns="0" tIns="0" bIns="0">
            <a:spAutoFit/>
          </a:bodyPr>
          <a:lstStyle/>
          <a:p>
            <a:pPr algn="l">
              <a:lnSpc>
                <a:spcPct val="115000"/>
              </a:lnSpc>
              <a:spcAft>
                <a:spcPts val="200"/>
              </a:spcAft>
            </a:pPr>
            <a:r>
              <a:rPr sz="1350" b="0" i="0">
                <a:solidFill>
                  <a:srgbClr val="D6E7E4"/>
                </a:solidFill>
                <a:latin typeface="Calibri"/>
              </a:rPr>
              <a:t>30 minutes</a:t>
            </a:r>
          </a:p>
        </p:txBody>
      </p:sp>
      <p:sp>
        <p:nvSpPr>
          <p:cNvPr id="13" name="TextBox 12"/>
          <p:cNvSpPr txBox="1"/>
          <p:nvPr/>
        </p:nvSpPr>
        <p:spPr>
          <a:xfrm>
            <a:off x="1005840" y="5623560"/>
            <a:ext cx="10058400" cy="292608"/>
          </a:xfrm>
          <a:prstGeom prst="rect">
            <a:avLst/>
          </a:prstGeom>
          <a:noFill/>
        </p:spPr>
        <p:txBody>
          <a:bodyPr wrap="square" lIns="0" rIns="0" tIns="0" bIns="0">
            <a:spAutoFit/>
          </a:bodyPr>
          <a:lstStyle/>
          <a:p>
            <a:pPr algn="l">
              <a:lnSpc>
                <a:spcPct val="115000"/>
              </a:lnSpc>
              <a:spcAft>
                <a:spcPts val="200"/>
              </a:spcAft>
            </a:pPr>
            <a:r>
              <a:rPr sz="1200" b="0" i="0">
                <a:solidFill>
                  <a:srgbClr val="9AB4B8"/>
                </a:solidFill>
                <a:latin typeface="Calibri"/>
              </a:rPr>
              <a:t>Next up: Session 39 takes this pipeline onto real edge hardware.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lnSpc>
                <a:spcPct val="105000"/>
              </a:lnSpc>
              <a:spcAft>
                <a:spcPts val="200"/>
              </a:spcAft>
            </a:pPr>
            <a:r>
              <a:rPr sz="1200" b="1" i="0">
                <a:solidFill>
                  <a:srgbClr val="028090"/>
                </a:solidFill>
                <a:latin typeface="Calibri"/>
              </a:rPr>
              <a:t>ROADMAP</a:t>
            </a:r>
          </a:p>
        </p:txBody>
      </p:sp>
      <p:sp>
        <p:nvSpPr>
          <p:cNvPr id="3" name="TextBox 2"/>
          <p:cNvSpPr txBox="1"/>
          <p:nvPr/>
        </p:nvSpPr>
        <p:spPr>
          <a:xfrm>
            <a:off x="685800" y="786384"/>
            <a:ext cx="10881360" cy="777240"/>
          </a:xfrm>
          <a:prstGeom prst="rect">
            <a:avLst/>
          </a:prstGeom>
          <a:noFill/>
        </p:spPr>
        <p:txBody>
          <a:bodyPr wrap="square" lIns="0" rIns="0" tIns="0" bIns="0">
            <a:spAutoFit/>
          </a:bodyPr>
          <a:lstStyle/>
          <a:p>
            <a:pPr algn="l">
              <a:lnSpc>
                <a:spcPct val="105000"/>
              </a:lnSpc>
              <a:spcAft>
                <a:spcPts val="200"/>
              </a:spcAft>
            </a:pPr>
            <a:r>
              <a:rPr sz="3200" b="1" i="0">
                <a:solidFill>
                  <a:srgbClr val="12343B"/>
                </a:solidFill>
                <a:latin typeface="Cambria"/>
              </a:rPr>
              <a:t>Four techniques, one shared goal</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lnSpc>
                <a:spcPct val="105000"/>
              </a:lnSpc>
              <a:spcAft>
                <a:spcPts val="200"/>
              </a:spcAft>
            </a:pPr>
            <a:r>
              <a:rPr sz="1050" b="0" i="0">
                <a:solidFill>
                  <a:srgbClr val="9AB4B8"/>
                </a:solidFill>
                <a:latin typeface="Calibri"/>
              </a:rPr>
              <a:t>Session 38  ·  Model Optimization</a:t>
            </a:r>
          </a:p>
        </p:txBody>
      </p:sp>
      <p:sp>
        <p:nvSpPr>
          <p:cNvPr id="5" name="Rounded Rectangle 4"/>
          <p:cNvSpPr/>
          <p:nvPr/>
        </p:nvSpPr>
        <p:spPr>
          <a:xfrm>
            <a:off x="777240" y="1892807"/>
            <a:ext cx="402336" cy="40233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77240" y="1892807"/>
            <a:ext cx="402336" cy="402336"/>
          </a:xfrm>
          <a:prstGeom prst="rect">
            <a:avLst/>
          </a:prstGeom>
          <a:noFill/>
        </p:spPr>
        <p:txBody>
          <a:bodyPr wrap="square" lIns="0" rIns="0" tIns="0" bIns="0" anchor="ctr">
            <a:spAutoFit/>
          </a:bodyPr>
          <a:lstStyle/>
          <a:p>
            <a:pPr algn="ctr">
              <a:lnSpc>
                <a:spcPct val="115000"/>
              </a:lnSpc>
              <a:spcAft>
                <a:spcPts val="200"/>
              </a:spcAft>
            </a:pPr>
            <a:r>
              <a:rPr sz="1300" b="1" i="0">
                <a:solidFill>
                  <a:srgbClr val="FFFFFF"/>
                </a:solidFill>
                <a:latin typeface="Calibri"/>
              </a:rPr>
              <a:t>1</a:t>
            </a:r>
          </a:p>
        </p:txBody>
      </p:sp>
      <p:sp>
        <p:nvSpPr>
          <p:cNvPr id="7" name="TextBox 6"/>
          <p:cNvSpPr txBox="1"/>
          <p:nvPr/>
        </p:nvSpPr>
        <p:spPr>
          <a:xfrm>
            <a:off x="1380744" y="1874519"/>
            <a:ext cx="10003536" cy="274320"/>
          </a:xfrm>
          <a:prstGeom prst="rect">
            <a:avLst/>
          </a:prstGeom>
          <a:noFill/>
        </p:spPr>
        <p:txBody>
          <a:bodyPr wrap="square" lIns="0" rIns="0" tIns="0" bIns="0">
            <a:spAutoFit/>
          </a:bodyPr>
          <a:lstStyle/>
          <a:p>
            <a:pPr algn="l">
              <a:lnSpc>
                <a:spcPct val="105000"/>
              </a:lnSpc>
              <a:spcAft>
                <a:spcPts val="200"/>
              </a:spcAft>
            </a:pPr>
            <a:r>
              <a:rPr sz="1350" b="1" i="0">
                <a:solidFill>
                  <a:srgbClr val="12343B"/>
                </a:solidFill>
                <a:latin typeface="Calibri"/>
              </a:rPr>
              <a:t>Why we optimize at all</a:t>
            </a:r>
          </a:p>
        </p:txBody>
      </p:sp>
      <p:sp>
        <p:nvSpPr>
          <p:cNvPr id="8" name="TextBox 7"/>
          <p:cNvSpPr txBox="1"/>
          <p:nvPr/>
        </p:nvSpPr>
        <p:spPr>
          <a:xfrm>
            <a:off x="1380744" y="2148839"/>
            <a:ext cx="10003536" cy="365760"/>
          </a:xfrm>
          <a:prstGeom prst="rect">
            <a:avLst/>
          </a:prstGeom>
          <a:noFill/>
        </p:spPr>
        <p:txBody>
          <a:bodyPr wrap="square" lIns="0" rIns="0" tIns="0" bIns="0">
            <a:spAutoFit/>
          </a:bodyPr>
          <a:lstStyle/>
          <a:p>
            <a:pPr algn="l">
              <a:lnSpc>
                <a:spcPct val="115000"/>
              </a:lnSpc>
              <a:spcAft>
                <a:spcPts val="200"/>
              </a:spcAft>
            </a:pPr>
            <a:r>
              <a:rPr sz="1250" b="0" i="0">
                <a:solidFill>
                  <a:srgbClr val="5A7A80"/>
                </a:solidFill>
                <a:latin typeface="Calibri"/>
              </a:rPr>
              <a:t>A model that wins on the benchmark can still be unusable in production.</a:t>
            </a:r>
          </a:p>
        </p:txBody>
      </p:sp>
      <p:sp>
        <p:nvSpPr>
          <p:cNvPr id="9" name="Rounded Rectangle 8"/>
          <p:cNvSpPr/>
          <p:nvPr/>
        </p:nvSpPr>
        <p:spPr>
          <a:xfrm>
            <a:off x="777240" y="2624327"/>
            <a:ext cx="402336" cy="40233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2624327"/>
            <a:ext cx="402336" cy="402336"/>
          </a:xfrm>
          <a:prstGeom prst="rect">
            <a:avLst/>
          </a:prstGeom>
          <a:noFill/>
        </p:spPr>
        <p:txBody>
          <a:bodyPr wrap="square" lIns="0" rIns="0" tIns="0" bIns="0" anchor="ctr">
            <a:spAutoFit/>
          </a:bodyPr>
          <a:lstStyle/>
          <a:p>
            <a:pPr algn="ctr">
              <a:lnSpc>
                <a:spcPct val="115000"/>
              </a:lnSpc>
              <a:spcAft>
                <a:spcPts val="200"/>
              </a:spcAft>
            </a:pPr>
            <a:r>
              <a:rPr sz="1300" b="1" i="0">
                <a:solidFill>
                  <a:srgbClr val="FFFFFF"/>
                </a:solidFill>
                <a:latin typeface="Calibri"/>
              </a:rPr>
              <a:t>2</a:t>
            </a:r>
          </a:p>
        </p:txBody>
      </p:sp>
      <p:sp>
        <p:nvSpPr>
          <p:cNvPr id="11" name="TextBox 10"/>
          <p:cNvSpPr txBox="1"/>
          <p:nvPr/>
        </p:nvSpPr>
        <p:spPr>
          <a:xfrm>
            <a:off x="1380744" y="2606039"/>
            <a:ext cx="10003536" cy="274320"/>
          </a:xfrm>
          <a:prstGeom prst="rect">
            <a:avLst/>
          </a:prstGeom>
          <a:noFill/>
        </p:spPr>
        <p:txBody>
          <a:bodyPr wrap="square" lIns="0" rIns="0" tIns="0" bIns="0">
            <a:spAutoFit/>
          </a:bodyPr>
          <a:lstStyle/>
          <a:p>
            <a:pPr algn="l">
              <a:lnSpc>
                <a:spcPct val="105000"/>
              </a:lnSpc>
              <a:spcAft>
                <a:spcPts val="200"/>
              </a:spcAft>
            </a:pPr>
            <a:r>
              <a:rPr sz="1350" b="1" i="0">
                <a:solidFill>
                  <a:srgbClr val="12343B"/>
                </a:solidFill>
                <a:latin typeface="Calibri"/>
              </a:rPr>
              <a:t>What we are actually optimizing</a:t>
            </a:r>
          </a:p>
        </p:txBody>
      </p:sp>
      <p:sp>
        <p:nvSpPr>
          <p:cNvPr id="12" name="TextBox 11"/>
          <p:cNvSpPr txBox="1"/>
          <p:nvPr/>
        </p:nvSpPr>
        <p:spPr>
          <a:xfrm>
            <a:off x="1380744" y="2880359"/>
            <a:ext cx="10003536" cy="365760"/>
          </a:xfrm>
          <a:prstGeom prst="rect">
            <a:avLst/>
          </a:prstGeom>
          <a:noFill/>
        </p:spPr>
        <p:txBody>
          <a:bodyPr wrap="square" lIns="0" rIns="0" tIns="0" bIns="0">
            <a:spAutoFit/>
          </a:bodyPr>
          <a:lstStyle/>
          <a:p>
            <a:pPr algn="l">
              <a:lnSpc>
                <a:spcPct val="115000"/>
              </a:lnSpc>
              <a:spcAft>
                <a:spcPts val="200"/>
              </a:spcAft>
            </a:pPr>
            <a:r>
              <a:rPr sz="1250" b="0" i="0">
                <a:solidFill>
                  <a:srgbClr val="5A7A80"/>
                </a:solidFill>
                <a:latin typeface="Calibri"/>
              </a:rPr>
              <a:t>Latency, throughput, memory, model size, cost. Accuracy is the budget we spend.</a:t>
            </a:r>
          </a:p>
        </p:txBody>
      </p:sp>
      <p:sp>
        <p:nvSpPr>
          <p:cNvPr id="13" name="Rounded Rectangle 12"/>
          <p:cNvSpPr/>
          <p:nvPr/>
        </p:nvSpPr>
        <p:spPr>
          <a:xfrm>
            <a:off x="777240" y="3355848"/>
            <a:ext cx="402336" cy="40233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77240" y="3355848"/>
            <a:ext cx="402336" cy="402336"/>
          </a:xfrm>
          <a:prstGeom prst="rect">
            <a:avLst/>
          </a:prstGeom>
          <a:noFill/>
        </p:spPr>
        <p:txBody>
          <a:bodyPr wrap="square" lIns="0" rIns="0" tIns="0" bIns="0" anchor="ctr">
            <a:spAutoFit/>
          </a:bodyPr>
          <a:lstStyle/>
          <a:p>
            <a:pPr algn="ctr">
              <a:lnSpc>
                <a:spcPct val="115000"/>
              </a:lnSpc>
              <a:spcAft>
                <a:spcPts val="200"/>
              </a:spcAft>
            </a:pPr>
            <a:r>
              <a:rPr sz="1300" b="1" i="0">
                <a:solidFill>
                  <a:srgbClr val="FFFFFF"/>
                </a:solidFill>
                <a:latin typeface="Calibri"/>
              </a:rPr>
              <a:t>3</a:t>
            </a:r>
          </a:p>
        </p:txBody>
      </p:sp>
      <p:sp>
        <p:nvSpPr>
          <p:cNvPr id="15" name="TextBox 14"/>
          <p:cNvSpPr txBox="1"/>
          <p:nvPr/>
        </p:nvSpPr>
        <p:spPr>
          <a:xfrm>
            <a:off x="1380744" y="3337560"/>
            <a:ext cx="10003536" cy="274320"/>
          </a:xfrm>
          <a:prstGeom prst="rect">
            <a:avLst/>
          </a:prstGeom>
          <a:noFill/>
        </p:spPr>
        <p:txBody>
          <a:bodyPr wrap="square" lIns="0" rIns="0" tIns="0" bIns="0">
            <a:spAutoFit/>
          </a:bodyPr>
          <a:lstStyle/>
          <a:p>
            <a:pPr algn="l">
              <a:lnSpc>
                <a:spcPct val="105000"/>
              </a:lnSpc>
              <a:spcAft>
                <a:spcPts val="200"/>
              </a:spcAft>
            </a:pPr>
            <a:r>
              <a:rPr sz="1350" b="1" i="0">
                <a:solidFill>
                  <a:srgbClr val="12343B"/>
                </a:solidFill>
                <a:latin typeface="Calibri"/>
              </a:rPr>
              <a:t>ONNX export</a:t>
            </a:r>
          </a:p>
        </p:txBody>
      </p:sp>
      <p:sp>
        <p:nvSpPr>
          <p:cNvPr id="16" name="TextBox 15"/>
          <p:cNvSpPr txBox="1"/>
          <p:nvPr/>
        </p:nvSpPr>
        <p:spPr>
          <a:xfrm>
            <a:off x="1380744" y="3611879"/>
            <a:ext cx="10003536" cy="365760"/>
          </a:xfrm>
          <a:prstGeom prst="rect">
            <a:avLst/>
          </a:prstGeom>
          <a:noFill/>
        </p:spPr>
        <p:txBody>
          <a:bodyPr wrap="square" lIns="0" rIns="0" tIns="0" bIns="0">
            <a:spAutoFit/>
          </a:bodyPr>
          <a:lstStyle/>
          <a:p>
            <a:pPr algn="l">
              <a:lnSpc>
                <a:spcPct val="115000"/>
              </a:lnSpc>
              <a:spcAft>
                <a:spcPts val="200"/>
              </a:spcAft>
            </a:pPr>
            <a:r>
              <a:rPr sz="1250" b="0" i="0">
                <a:solidFill>
                  <a:srgbClr val="5A7A80"/>
                </a:solidFill>
                <a:latin typeface="Calibri"/>
              </a:rPr>
              <a:t>Freeze the model into a portable graph that is no longer tied to PyTorch.</a:t>
            </a:r>
          </a:p>
        </p:txBody>
      </p:sp>
      <p:sp>
        <p:nvSpPr>
          <p:cNvPr id="17" name="Rounded Rectangle 16"/>
          <p:cNvSpPr/>
          <p:nvPr/>
        </p:nvSpPr>
        <p:spPr>
          <a:xfrm>
            <a:off x="777240" y="4087368"/>
            <a:ext cx="402336" cy="40233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77240" y="4087368"/>
            <a:ext cx="402336" cy="402336"/>
          </a:xfrm>
          <a:prstGeom prst="rect">
            <a:avLst/>
          </a:prstGeom>
          <a:noFill/>
        </p:spPr>
        <p:txBody>
          <a:bodyPr wrap="square" lIns="0" rIns="0" tIns="0" bIns="0" anchor="ctr">
            <a:spAutoFit/>
          </a:bodyPr>
          <a:lstStyle/>
          <a:p>
            <a:pPr algn="ctr">
              <a:lnSpc>
                <a:spcPct val="115000"/>
              </a:lnSpc>
              <a:spcAft>
                <a:spcPts val="200"/>
              </a:spcAft>
            </a:pPr>
            <a:r>
              <a:rPr sz="1300" b="1" i="0">
                <a:solidFill>
                  <a:srgbClr val="FFFFFF"/>
                </a:solidFill>
                <a:latin typeface="Calibri"/>
              </a:rPr>
              <a:t>4</a:t>
            </a:r>
          </a:p>
        </p:txBody>
      </p:sp>
      <p:sp>
        <p:nvSpPr>
          <p:cNvPr id="19" name="TextBox 18"/>
          <p:cNvSpPr txBox="1"/>
          <p:nvPr/>
        </p:nvSpPr>
        <p:spPr>
          <a:xfrm>
            <a:off x="1380744" y="4069080"/>
            <a:ext cx="10003536" cy="274320"/>
          </a:xfrm>
          <a:prstGeom prst="rect">
            <a:avLst/>
          </a:prstGeom>
          <a:noFill/>
        </p:spPr>
        <p:txBody>
          <a:bodyPr wrap="square" lIns="0" rIns="0" tIns="0" bIns="0">
            <a:spAutoFit/>
          </a:bodyPr>
          <a:lstStyle/>
          <a:p>
            <a:pPr algn="l">
              <a:lnSpc>
                <a:spcPct val="105000"/>
              </a:lnSpc>
              <a:spcAft>
                <a:spcPts val="200"/>
              </a:spcAft>
            </a:pPr>
            <a:r>
              <a:rPr sz="1350" b="1" i="0">
                <a:solidFill>
                  <a:srgbClr val="12343B"/>
                </a:solidFill>
                <a:latin typeface="Calibri"/>
              </a:rPr>
              <a:t>TensorRT</a:t>
            </a:r>
          </a:p>
        </p:txBody>
      </p:sp>
      <p:sp>
        <p:nvSpPr>
          <p:cNvPr id="20" name="TextBox 19"/>
          <p:cNvSpPr txBox="1"/>
          <p:nvPr/>
        </p:nvSpPr>
        <p:spPr>
          <a:xfrm>
            <a:off x="1380744" y="4343400"/>
            <a:ext cx="10003536" cy="365760"/>
          </a:xfrm>
          <a:prstGeom prst="rect">
            <a:avLst/>
          </a:prstGeom>
          <a:noFill/>
        </p:spPr>
        <p:txBody>
          <a:bodyPr wrap="square" lIns="0" rIns="0" tIns="0" bIns="0">
            <a:spAutoFit/>
          </a:bodyPr>
          <a:lstStyle/>
          <a:p>
            <a:pPr algn="l">
              <a:lnSpc>
                <a:spcPct val="115000"/>
              </a:lnSpc>
              <a:spcAft>
                <a:spcPts val="200"/>
              </a:spcAft>
            </a:pPr>
            <a:r>
              <a:rPr sz="1250" b="0" i="0">
                <a:solidFill>
                  <a:srgbClr val="5A7A80"/>
                </a:solidFill>
                <a:latin typeface="Calibri"/>
              </a:rPr>
              <a:t>Compile that graph into a hardware specific engine for one NVIDIA GPU.</a:t>
            </a:r>
          </a:p>
        </p:txBody>
      </p:sp>
      <p:sp>
        <p:nvSpPr>
          <p:cNvPr id="21" name="Rounded Rectangle 20"/>
          <p:cNvSpPr/>
          <p:nvPr/>
        </p:nvSpPr>
        <p:spPr>
          <a:xfrm>
            <a:off x="777240" y="4818888"/>
            <a:ext cx="402336" cy="40233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77240" y="4818888"/>
            <a:ext cx="402336" cy="402336"/>
          </a:xfrm>
          <a:prstGeom prst="rect">
            <a:avLst/>
          </a:prstGeom>
          <a:noFill/>
        </p:spPr>
        <p:txBody>
          <a:bodyPr wrap="square" lIns="0" rIns="0" tIns="0" bIns="0" anchor="ctr">
            <a:spAutoFit/>
          </a:bodyPr>
          <a:lstStyle/>
          <a:p>
            <a:pPr algn="ctr">
              <a:lnSpc>
                <a:spcPct val="115000"/>
              </a:lnSpc>
              <a:spcAft>
                <a:spcPts val="200"/>
              </a:spcAft>
            </a:pPr>
            <a:r>
              <a:rPr sz="1300" b="1" i="0">
                <a:solidFill>
                  <a:srgbClr val="FFFFFF"/>
                </a:solidFill>
                <a:latin typeface="Calibri"/>
              </a:rPr>
              <a:t>5</a:t>
            </a:r>
          </a:p>
        </p:txBody>
      </p:sp>
      <p:sp>
        <p:nvSpPr>
          <p:cNvPr id="23" name="TextBox 22"/>
          <p:cNvSpPr txBox="1"/>
          <p:nvPr/>
        </p:nvSpPr>
        <p:spPr>
          <a:xfrm>
            <a:off x="1380744" y="4800600"/>
            <a:ext cx="10003536" cy="274320"/>
          </a:xfrm>
          <a:prstGeom prst="rect">
            <a:avLst/>
          </a:prstGeom>
          <a:noFill/>
        </p:spPr>
        <p:txBody>
          <a:bodyPr wrap="square" lIns="0" rIns="0" tIns="0" bIns="0">
            <a:spAutoFit/>
          </a:bodyPr>
          <a:lstStyle/>
          <a:p>
            <a:pPr algn="l">
              <a:lnSpc>
                <a:spcPct val="105000"/>
              </a:lnSpc>
              <a:spcAft>
                <a:spcPts val="200"/>
              </a:spcAft>
            </a:pPr>
            <a:r>
              <a:rPr sz="1350" b="1" i="0">
                <a:solidFill>
                  <a:srgbClr val="12343B"/>
                </a:solidFill>
                <a:latin typeface="Calibri"/>
              </a:rPr>
              <a:t>Quantization</a:t>
            </a:r>
          </a:p>
        </p:txBody>
      </p:sp>
      <p:sp>
        <p:nvSpPr>
          <p:cNvPr id="24" name="TextBox 23"/>
          <p:cNvSpPr txBox="1"/>
          <p:nvPr/>
        </p:nvSpPr>
        <p:spPr>
          <a:xfrm>
            <a:off x="1380744" y="5074920"/>
            <a:ext cx="10003536" cy="365760"/>
          </a:xfrm>
          <a:prstGeom prst="rect">
            <a:avLst/>
          </a:prstGeom>
          <a:noFill/>
        </p:spPr>
        <p:txBody>
          <a:bodyPr wrap="square" lIns="0" rIns="0" tIns="0" bIns="0">
            <a:spAutoFit/>
          </a:bodyPr>
          <a:lstStyle/>
          <a:p>
            <a:pPr algn="l">
              <a:lnSpc>
                <a:spcPct val="115000"/>
              </a:lnSpc>
              <a:spcAft>
                <a:spcPts val="200"/>
              </a:spcAft>
            </a:pPr>
            <a:r>
              <a:rPr sz="1250" b="0" i="0">
                <a:solidFill>
                  <a:srgbClr val="5A7A80"/>
                </a:solidFill>
                <a:latin typeface="Calibri"/>
              </a:rPr>
              <a:t>Use fewer bits per number: FP32 to FP16 to INT8.</a:t>
            </a:r>
          </a:p>
        </p:txBody>
      </p:sp>
      <p:sp>
        <p:nvSpPr>
          <p:cNvPr id="25" name="Rounded Rectangle 24"/>
          <p:cNvSpPr/>
          <p:nvPr/>
        </p:nvSpPr>
        <p:spPr>
          <a:xfrm>
            <a:off x="777240" y="5550407"/>
            <a:ext cx="402336" cy="40233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77240" y="5550407"/>
            <a:ext cx="402336" cy="402336"/>
          </a:xfrm>
          <a:prstGeom prst="rect">
            <a:avLst/>
          </a:prstGeom>
          <a:noFill/>
        </p:spPr>
        <p:txBody>
          <a:bodyPr wrap="square" lIns="0" rIns="0" tIns="0" bIns="0" anchor="ctr">
            <a:spAutoFit/>
          </a:bodyPr>
          <a:lstStyle/>
          <a:p>
            <a:pPr algn="ctr">
              <a:lnSpc>
                <a:spcPct val="115000"/>
              </a:lnSpc>
              <a:spcAft>
                <a:spcPts val="200"/>
              </a:spcAft>
            </a:pPr>
            <a:r>
              <a:rPr sz="1300" b="1" i="0">
                <a:solidFill>
                  <a:srgbClr val="FFFFFF"/>
                </a:solidFill>
                <a:latin typeface="Calibri"/>
              </a:rPr>
              <a:t>6</a:t>
            </a:r>
          </a:p>
        </p:txBody>
      </p:sp>
      <p:sp>
        <p:nvSpPr>
          <p:cNvPr id="27" name="TextBox 26"/>
          <p:cNvSpPr txBox="1"/>
          <p:nvPr/>
        </p:nvSpPr>
        <p:spPr>
          <a:xfrm>
            <a:off x="1380744" y="5532120"/>
            <a:ext cx="10003536" cy="274320"/>
          </a:xfrm>
          <a:prstGeom prst="rect">
            <a:avLst/>
          </a:prstGeom>
          <a:noFill/>
        </p:spPr>
        <p:txBody>
          <a:bodyPr wrap="square" lIns="0" rIns="0" tIns="0" bIns="0">
            <a:spAutoFit/>
          </a:bodyPr>
          <a:lstStyle/>
          <a:p>
            <a:pPr algn="l">
              <a:lnSpc>
                <a:spcPct val="105000"/>
              </a:lnSpc>
              <a:spcAft>
                <a:spcPts val="200"/>
              </a:spcAft>
            </a:pPr>
            <a:r>
              <a:rPr sz="1350" b="1" i="0">
                <a:solidFill>
                  <a:srgbClr val="12343B"/>
                </a:solidFill>
                <a:latin typeface="Calibri"/>
              </a:rPr>
              <a:t>Pruning</a:t>
            </a:r>
          </a:p>
        </p:txBody>
      </p:sp>
      <p:sp>
        <p:nvSpPr>
          <p:cNvPr id="28" name="TextBox 27"/>
          <p:cNvSpPr txBox="1"/>
          <p:nvPr/>
        </p:nvSpPr>
        <p:spPr>
          <a:xfrm>
            <a:off x="1380744" y="5806440"/>
            <a:ext cx="10003536" cy="365760"/>
          </a:xfrm>
          <a:prstGeom prst="rect">
            <a:avLst/>
          </a:prstGeom>
          <a:noFill/>
        </p:spPr>
        <p:txBody>
          <a:bodyPr wrap="square" lIns="0" rIns="0" tIns="0" bIns="0">
            <a:spAutoFit/>
          </a:bodyPr>
          <a:lstStyle/>
          <a:p>
            <a:pPr algn="l">
              <a:lnSpc>
                <a:spcPct val="115000"/>
              </a:lnSpc>
              <a:spcAft>
                <a:spcPts val="200"/>
              </a:spcAft>
            </a:pPr>
            <a:r>
              <a:rPr sz="1250" b="0" i="0">
                <a:solidFill>
                  <a:srgbClr val="5A7A80"/>
                </a:solidFill>
                <a:latin typeface="Calibri"/>
              </a:rPr>
              <a:t>Delete the weights and channels that were never earning their keep.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lnSpc>
                <a:spcPct val="105000"/>
              </a:lnSpc>
              <a:spcAft>
                <a:spcPts val="200"/>
              </a:spcAft>
            </a:pPr>
            <a:r>
              <a:rPr sz="1200" b="1" i="0">
                <a:solidFill>
                  <a:srgbClr val="028090"/>
                </a:solidFill>
                <a:latin typeface="Calibri"/>
              </a:rPr>
              <a:t>WHY OPTIMIZE</a:t>
            </a:r>
          </a:p>
        </p:txBody>
      </p:sp>
      <p:sp>
        <p:nvSpPr>
          <p:cNvPr id="3" name="TextBox 2"/>
          <p:cNvSpPr txBox="1"/>
          <p:nvPr/>
        </p:nvSpPr>
        <p:spPr>
          <a:xfrm>
            <a:off x="685800" y="786384"/>
            <a:ext cx="10881360" cy="777240"/>
          </a:xfrm>
          <a:prstGeom prst="rect">
            <a:avLst/>
          </a:prstGeom>
          <a:noFill/>
        </p:spPr>
        <p:txBody>
          <a:bodyPr wrap="square" lIns="0" rIns="0" tIns="0" bIns="0">
            <a:spAutoFit/>
          </a:bodyPr>
          <a:lstStyle/>
          <a:p>
            <a:pPr algn="l">
              <a:lnSpc>
                <a:spcPct val="105000"/>
              </a:lnSpc>
              <a:spcAft>
                <a:spcPts val="200"/>
              </a:spcAft>
            </a:pPr>
            <a:r>
              <a:rPr sz="3200" b="1" i="0">
                <a:solidFill>
                  <a:srgbClr val="12343B"/>
                </a:solidFill>
                <a:latin typeface="Cambria"/>
              </a:rPr>
              <a:t>Training and serving are two different jobs</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lnSpc>
                <a:spcPct val="105000"/>
              </a:lnSpc>
              <a:spcAft>
                <a:spcPts val="200"/>
              </a:spcAft>
            </a:pPr>
            <a:r>
              <a:rPr sz="1050" b="0" i="0">
                <a:solidFill>
                  <a:srgbClr val="9AB4B8"/>
                </a:solidFill>
                <a:latin typeface="Calibri"/>
              </a:rPr>
              <a:t>Session 38  ·  Model Optimization</a:t>
            </a:r>
          </a:p>
        </p:txBody>
      </p:sp>
      <p:sp>
        <p:nvSpPr>
          <p:cNvPr id="5" name="Rounded Rectangle 4"/>
          <p:cNvSpPr/>
          <p:nvPr/>
        </p:nvSpPr>
        <p:spPr>
          <a:xfrm>
            <a:off x="777240" y="1783080"/>
            <a:ext cx="5230368" cy="17830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033271" y="2039112"/>
            <a:ext cx="4718304" cy="292608"/>
          </a:xfrm>
          <a:prstGeom prst="rect">
            <a:avLst/>
          </a:prstGeom>
          <a:noFill/>
        </p:spPr>
        <p:txBody>
          <a:bodyPr wrap="square" lIns="0" rIns="0" tIns="0" bIns="0">
            <a:spAutoFit/>
          </a:bodyPr>
          <a:lstStyle/>
          <a:p>
            <a:pPr algn="l">
              <a:lnSpc>
                <a:spcPct val="105000"/>
              </a:lnSpc>
              <a:spcAft>
                <a:spcPts val="200"/>
              </a:spcAft>
            </a:pPr>
            <a:r>
              <a:rPr sz="1350" b="1" i="0">
                <a:solidFill>
                  <a:srgbClr val="028090"/>
                </a:solidFill>
                <a:latin typeface="Calibri"/>
              </a:rPr>
              <a:t>Training cares about accuracy</a:t>
            </a:r>
          </a:p>
        </p:txBody>
      </p:sp>
      <p:sp>
        <p:nvSpPr>
          <p:cNvPr id="7" name="TextBox 6"/>
          <p:cNvSpPr txBox="1"/>
          <p:nvPr/>
        </p:nvSpPr>
        <p:spPr>
          <a:xfrm>
            <a:off x="1033271" y="2423160"/>
            <a:ext cx="4718304" cy="886968"/>
          </a:xfrm>
          <a:prstGeom prst="rect">
            <a:avLst/>
          </a:prstGeom>
          <a:noFill/>
        </p:spPr>
        <p:txBody>
          <a:bodyPr wrap="square" lIns="0" rIns="0" tIns="0" bIns="0">
            <a:spAutoFit/>
          </a:bodyPr>
          <a:lstStyle/>
          <a:p>
            <a:pPr algn="l">
              <a:lnSpc>
                <a:spcPct val="122000"/>
              </a:lnSpc>
              <a:spcAft>
                <a:spcPts val="400"/>
              </a:spcAft>
            </a:pPr>
            <a:r>
              <a:rPr sz="1250" b="0" i="0">
                <a:solidFill>
                  <a:srgbClr val="5A7A80"/>
                </a:solidFill>
                <a:latin typeface="Calibri"/>
              </a:rPr>
              <a:t>One A100 or a rented cloud GPU, batch size 64, and a run that is allowed to take hours.</a:t>
            </a:r>
          </a:p>
          <a:p>
            <a:pPr algn="l">
              <a:lnSpc>
                <a:spcPct val="122000"/>
              </a:lnSpc>
              <a:spcAft>
                <a:spcPts val="400"/>
              </a:spcAft>
            </a:pPr>
            <a:r>
              <a:rPr sz="1250" b="0" i="0">
                <a:solidFill>
                  <a:srgbClr val="5A7A80"/>
                </a:solidFill>
                <a:latin typeface="Calibri"/>
              </a:rPr>
              <a:t>Nobody watches the clock on a single image.</a:t>
            </a:r>
          </a:p>
        </p:txBody>
      </p:sp>
      <p:sp>
        <p:nvSpPr>
          <p:cNvPr id="8" name="Rounded Rectangle 7"/>
          <p:cNvSpPr/>
          <p:nvPr/>
        </p:nvSpPr>
        <p:spPr>
          <a:xfrm>
            <a:off x="6144768" y="1783080"/>
            <a:ext cx="5230368" cy="17830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400800" y="2039112"/>
            <a:ext cx="4718304" cy="292608"/>
          </a:xfrm>
          <a:prstGeom prst="rect">
            <a:avLst/>
          </a:prstGeom>
          <a:noFill/>
        </p:spPr>
        <p:txBody>
          <a:bodyPr wrap="square" lIns="0" rIns="0" tIns="0" bIns="0">
            <a:spAutoFit/>
          </a:bodyPr>
          <a:lstStyle/>
          <a:p>
            <a:pPr algn="l">
              <a:lnSpc>
                <a:spcPct val="105000"/>
              </a:lnSpc>
              <a:spcAft>
                <a:spcPts val="200"/>
              </a:spcAft>
            </a:pPr>
            <a:r>
              <a:rPr sz="1350" b="1" i="0">
                <a:solidFill>
                  <a:srgbClr val="C15B4E"/>
                </a:solidFill>
                <a:latin typeface="Calibri"/>
              </a:rPr>
              <a:t>Serving cares about the worst case</a:t>
            </a:r>
          </a:p>
        </p:txBody>
      </p:sp>
      <p:sp>
        <p:nvSpPr>
          <p:cNvPr id="10" name="TextBox 9"/>
          <p:cNvSpPr txBox="1"/>
          <p:nvPr/>
        </p:nvSpPr>
        <p:spPr>
          <a:xfrm>
            <a:off x="6400800" y="2423160"/>
            <a:ext cx="4718304" cy="886968"/>
          </a:xfrm>
          <a:prstGeom prst="rect">
            <a:avLst/>
          </a:prstGeom>
          <a:noFill/>
        </p:spPr>
        <p:txBody>
          <a:bodyPr wrap="square" lIns="0" rIns="0" tIns="0" bIns="0">
            <a:spAutoFit/>
          </a:bodyPr>
          <a:lstStyle/>
          <a:p>
            <a:pPr algn="l">
              <a:lnSpc>
                <a:spcPct val="122000"/>
              </a:lnSpc>
              <a:spcAft>
                <a:spcPts val="400"/>
              </a:spcAft>
            </a:pPr>
            <a:r>
              <a:rPr sz="1250" b="0" i="0">
                <a:solidFill>
                  <a:srgbClr val="5A7A80"/>
                </a:solidFill>
                <a:latin typeface="Calibri"/>
              </a:rPr>
              <a:t>A Jetson on a pole, 30 frames a second, 8 camera streams, a fixed power budget and a customer waiting for the box to light up.</a:t>
            </a:r>
          </a:p>
          <a:p>
            <a:pPr algn="l">
              <a:lnSpc>
                <a:spcPct val="122000"/>
              </a:lnSpc>
              <a:spcAft>
                <a:spcPts val="400"/>
              </a:spcAft>
            </a:pPr>
            <a:r>
              <a:rPr sz="1250" b="0" i="0">
                <a:solidFill>
                  <a:srgbClr val="5A7A80"/>
                </a:solidFill>
                <a:latin typeface="Calibri"/>
              </a:rPr>
              <a:t>The clock is the product.</a:t>
            </a:r>
          </a:p>
        </p:txBody>
      </p:sp>
      <p:sp>
        <p:nvSpPr>
          <p:cNvPr id="11" name="Rounded Rectangle 10"/>
          <p:cNvSpPr/>
          <p:nvPr/>
        </p:nvSpPr>
        <p:spPr>
          <a:xfrm>
            <a:off x="777240" y="3767328"/>
            <a:ext cx="10607040" cy="914400"/>
          </a:xfrm>
          <a:prstGeom prst="roundRect">
            <a:avLst>
              <a:gd name="adj" fmla="val 6000"/>
            </a:avLst>
          </a:prstGeom>
          <a:solidFill>
            <a:srgbClr val="D6E7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33271" y="3986784"/>
            <a:ext cx="10094976" cy="548640"/>
          </a:xfrm>
          <a:prstGeom prst="rect">
            <a:avLst/>
          </a:prstGeom>
          <a:noFill/>
        </p:spPr>
        <p:txBody>
          <a:bodyPr wrap="square" lIns="0" rIns="0" tIns="0" bIns="0">
            <a:spAutoFit/>
          </a:bodyPr>
          <a:lstStyle/>
          <a:p>
            <a:pPr algn="l">
              <a:lnSpc>
                <a:spcPct val="125000"/>
              </a:lnSpc>
              <a:spcAft>
                <a:spcPts val="200"/>
              </a:spcAft>
            </a:pPr>
            <a:r>
              <a:rPr sz="1250" b="1" i="0">
                <a:solidFill>
                  <a:srgbClr val="12343B"/>
                </a:solidFill>
                <a:latin typeface="Calibri"/>
              </a:rPr>
              <a:t>The gap is not small. </a:t>
            </a:r>
            <a:r>
              <a:rPr sz="1250" b="0" i="0">
                <a:solidFill>
                  <a:srgbClr val="5A7A80"/>
                </a:solidFill>
                <a:latin typeface="Calibri"/>
              </a:rPr>
              <a:t>The same YOLO detector that needs 1.06 ms per image in plain FP32 on an RTX 3080 needs 0.52 ms after export and INT8 compilation. Same weights, same architecture, half the time and a quarter of the file size.</a:t>
            </a:r>
          </a:p>
        </p:txBody>
      </p:sp>
      <p:sp>
        <p:nvSpPr>
          <p:cNvPr id="13" name="Rounded Rectangle 12"/>
          <p:cNvSpPr/>
          <p:nvPr/>
        </p:nvSpPr>
        <p:spPr>
          <a:xfrm>
            <a:off x="777240" y="4992624"/>
            <a:ext cx="3419856" cy="11887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96695" y="5212080"/>
            <a:ext cx="2980944" cy="292608"/>
          </a:xfrm>
          <a:prstGeom prst="rect">
            <a:avLst/>
          </a:prstGeom>
          <a:noFill/>
        </p:spPr>
        <p:txBody>
          <a:bodyPr wrap="square" lIns="0" rIns="0" tIns="0" bIns="0">
            <a:spAutoFit/>
          </a:bodyPr>
          <a:lstStyle/>
          <a:p>
            <a:pPr algn="l">
              <a:lnSpc>
                <a:spcPct val="105000"/>
              </a:lnSpc>
              <a:spcAft>
                <a:spcPts val="200"/>
              </a:spcAft>
            </a:pPr>
            <a:r>
              <a:rPr sz="1350" b="1" i="0">
                <a:solidFill>
                  <a:srgbClr val="12343B"/>
                </a:solidFill>
                <a:latin typeface="Calibri"/>
              </a:rPr>
              <a:t>You cannot buy your way out</a:t>
            </a:r>
          </a:p>
        </p:txBody>
      </p:sp>
      <p:sp>
        <p:nvSpPr>
          <p:cNvPr id="15" name="TextBox 14"/>
          <p:cNvSpPr txBox="1"/>
          <p:nvPr/>
        </p:nvSpPr>
        <p:spPr>
          <a:xfrm>
            <a:off x="996695" y="5596128"/>
            <a:ext cx="2980944" cy="365760"/>
          </a:xfrm>
          <a:prstGeom prst="rect">
            <a:avLst/>
          </a:prstGeom>
          <a:noFill/>
        </p:spPr>
        <p:txBody>
          <a:bodyPr wrap="square" lIns="0" rIns="0" tIns="0" bIns="0">
            <a:spAutoFit/>
          </a:bodyPr>
          <a:lstStyle/>
          <a:p>
            <a:pPr algn="l">
              <a:lnSpc>
                <a:spcPct val="122000"/>
              </a:lnSpc>
              <a:spcAft>
                <a:spcPts val="400"/>
              </a:spcAft>
            </a:pPr>
            <a:r>
              <a:rPr sz="1150" b="0" i="0">
                <a:solidFill>
                  <a:srgbClr val="5A7A80"/>
                </a:solidFill>
                <a:latin typeface="Calibri"/>
              </a:rPr>
              <a:t>Doubling GPUs doubles cost. Optimization is the only lever that improves cost per stream.</a:t>
            </a:r>
          </a:p>
        </p:txBody>
      </p:sp>
      <p:sp>
        <p:nvSpPr>
          <p:cNvPr id="16" name="Rounded Rectangle 15"/>
          <p:cNvSpPr/>
          <p:nvPr/>
        </p:nvSpPr>
        <p:spPr>
          <a:xfrm>
            <a:off x="4370832" y="4992624"/>
            <a:ext cx="3419856" cy="11887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590288" y="5212080"/>
            <a:ext cx="2980944" cy="292608"/>
          </a:xfrm>
          <a:prstGeom prst="rect">
            <a:avLst/>
          </a:prstGeom>
          <a:noFill/>
        </p:spPr>
        <p:txBody>
          <a:bodyPr wrap="square" lIns="0" rIns="0" tIns="0" bIns="0">
            <a:spAutoFit/>
          </a:bodyPr>
          <a:lstStyle/>
          <a:p>
            <a:pPr algn="l">
              <a:lnSpc>
                <a:spcPct val="105000"/>
              </a:lnSpc>
              <a:spcAft>
                <a:spcPts val="200"/>
              </a:spcAft>
            </a:pPr>
            <a:r>
              <a:rPr sz="1350" b="1" i="0">
                <a:solidFill>
                  <a:srgbClr val="12343B"/>
                </a:solidFill>
                <a:latin typeface="Calibri"/>
              </a:rPr>
              <a:t>The model is already trained</a:t>
            </a:r>
          </a:p>
        </p:txBody>
      </p:sp>
      <p:sp>
        <p:nvSpPr>
          <p:cNvPr id="18" name="TextBox 17"/>
          <p:cNvSpPr txBox="1"/>
          <p:nvPr/>
        </p:nvSpPr>
        <p:spPr>
          <a:xfrm>
            <a:off x="4590288" y="5596128"/>
            <a:ext cx="2980944" cy="365760"/>
          </a:xfrm>
          <a:prstGeom prst="rect">
            <a:avLst/>
          </a:prstGeom>
          <a:noFill/>
        </p:spPr>
        <p:txBody>
          <a:bodyPr wrap="square" lIns="0" rIns="0" tIns="0" bIns="0">
            <a:spAutoFit/>
          </a:bodyPr>
          <a:lstStyle/>
          <a:p>
            <a:pPr algn="l">
              <a:lnSpc>
                <a:spcPct val="122000"/>
              </a:lnSpc>
              <a:spcAft>
                <a:spcPts val="400"/>
              </a:spcAft>
            </a:pPr>
            <a:r>
              <a:rPr sz="1150" b="0" i="0">
                <a:solidFill>
                  <a:srgbClr val="5A7A80"/>
                </a:solidFill>
                <a:latin typeface="Calibri"/>
              </a:rPr>
              <a:t>Everything today happens after training. We are not changing the architecture.</a:t>
            </a:r>
          </a:p>
        </p:txBody>
      </p:sp>
      <p:sp>
        <p:nvSpPr>
          <p:cNvPr id="19" name="Rounded Rectangle 18"/>
          <p:cNvSpPr/>
          <p:nvPr/>
        </p:nvSpPr>
        <p:spPr>
          <a:xfrm>
            <a:off x="7964424" y="4992624"/>
            <a:ext cx="3419856" cy="11887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183880" y="5212080"/>
            <a:ext cx="2980944" cy="292608"/>
          </a:xfrm>
          <a:prstGeom prst="rect">
            <a:avLst/>
          </a:prstGeom>
          <a:noFill/>
        </p:spPr>
        <p:txBody>
          <a:bodyPr wrap="square" lIns="0" rIns="0" tIns="0" bIns="0">
            <a:spAutoFit/>
          </a:bodyPr>
          <a:lstStyle/>
          <a:p>
            <a:pPr algn="l">
              <a:lnSpc>
                <a:spcPct val="105000"/>
              </a:lnSpc>
              <a:spcAft>
                <a:spcPts val="200"/>
              </a:spcAft>
            </a:pPr>
            <a:r>
              <a:rPr sz="1350" b="1" i="0">
                <a:solidFill>
                  <a:srgbClr val="12343B"/>
                </a:solidFill>
                <a:latin typeface="Calibri"/>
              </a:rPr>
              <a:t>It is a compiler problem</a:t>
            </a:r>
          </a:p>
        </p:txBody>
      </p:sp>
      <p:sp>
        <p:nvSpPr>
          <p:cNvPr id="21" name="TextBox 20"/>
          <p:cNvSpPr txBox="1"/>
          <p:nvPr/>
        </p:nvSpPr>
        <p:spPr>
          <a:xfrm>
            <a:off x="8183880" y="5596128"/>
            <a:ext cx="2980944" cy="365760"/>
          </a:xfrm>
          <a:prstGeom prst="rect">
            <a:avLst/>
          </a:prstGeom>
          <a:noFill/>
        </p:spPr>
        <p:txBody>
          <a:bodyPr wrap="square" lIns="0" rIns="0" tIns="0" bIns="0">
            <a:spAutoFit/>
          </a:bodyPr>
          <a:lstStyle/>
          <a:p>
            <a:pPr algn="l">
              <a:lnSpc>
                <a:spcPct val="122000"/>
              </a:lnSpc>
              <a:spcAft>
                <a:spcPts val="400"/>
              </a:spcAft>
            </a:pPr>
            <a:r>
              <a:rPr sz="1150" b="0" i="0">
                <a:solidFill>
                  <a:srgbClr val="5A7A80"/>
                </a:solidFill>
                <a:latin typeface="Calibri"/>
              </a:rPr>
              <a:t>Most of the win comes from how the graph is compiled and executed, not from the maths.</a:t>
            </a:r>
          </a:p>
        </p:txBody>
      </p:sp>
      <p:sp>
        <p:nvSpPr>
          <p:cNvPr id="22" name="TextBox 21"/>
          <p:cNvSpPr txBox="1"/>
          <p:nvPr/>
        </p:nvSpPr>
        <p:spPr>
          <a:xfrm>
            <a:off x="777240" y="4718304"/>
            <a:ext cx="10607040" cy="310896"/>
          </a:xfrm>
          <a:prstGeom prst="rect">
            <a:avLst/>
          </a:prstGeom>
          <a:noFill/>
        </p:spPr>
        <p:txBody>
          <a:bodyPr wrap="square" lIns="0" rIns="0" tIns="0" bIns="0">
            <a:spAutoFit/>
          </a:bodyPr>
          <a:lstStyle/>
          <a:p>
            <a:pPr algn="l">
              <a:lnSpc>
                <a:spcPct val="115000"/>
              </a:lnSpc>
              <a:spcAft>
                <a:spcPts val="200"/>
              </a:spcAft>
            </a:pPr>
            <a:r>
              <a:rPr sz="950" b="0" i="0">
                <a:solidFill>
                  <a:srgbClr val="8FA9AE"/>
                </a:solidFill>
                <a:latin typeface="Calibri"/>
              </a:rPr>
              <a:t>Latency numbers: Ultralytics YOLO26 TensorRT benchmarks, RTX 3080 12GB, COCO detection.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lnSpc>
                <a:spcPct val="105000"/>
              </a:lnSpc>
              <a:spcAft>
                <a:spcPts val="200"/>
              </a:spcAft>
            </a:pPr>
            <a:r>
              <a:rPr sz="1200" b="1" i="0">
                <a:solidFill>
                  <a:srgbClr val="028090"/>
                </a:solidFill>
                <a:latin typeface="Calibri"/>
              </a:rPr>
              <a:t>THE TARGETS</a:t>
            </a:r>
          </a:p>
        </p:txBody>
      </p:sp>
      <p:sp>
        <p:nvSpPr>
          <p:cNvPr id="3" name="TextBox 2"/>
          <p:cNvSpPr txBox="1"/>
          <p:nvPr/>
        </p:nvSpPr>
        <p:spPr>
          <a:xfrm>
            <a:off x="685800" y="786384"/>
            <a:ext cx="10881360" cy="777240"/>
          </a:xfrm>
          <a:prstGeom prst="rect">
            <a:avLst/>
          </a:prstGeom>
          <a:noFill/>
        </p:spPr>
        <p:txBody>
          <a:bodyPr wrap="square" lIns="0" rIns="0" tIns="0" bIns="0">
            <a:spAutoFit/>
          </a:bodyPr>
          <a:lstStyle/>
          <a:p>
            <a:pPr algn="l">
              <a:lnSpc>
                <a:spcPct val="105000"/>
              </a:lnSpc>
              <a:spcAft>
                <a:spcPts val="200"/>
              </a:spcAft>
            </a:pPr>
            <a:r>
              <a:rPr sz="3200" b="1" i="0">
                <a:solidFill>
                  <a:srgbClr val="12343B"/>
                </a:solidFill>
                <a:latin typeface="Cambria"/>
              </a:rPr>
              <a:t>Optimize is five different words</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lnSpc>
                <a:spcPct val="105000"/>
              </a:lnSpc>
              <a:spcAft>
                <a:spcPts val="200"/>
              </a:spcAft>
            </a:pPr>
            <a:r>
              <a:rPr sz="1050" b="0" i="0">
                <a:solidFill>
                  <a:srgbClr val="9AB4B8"/>
                </a:solidFill>
                <a:latin typeface="Calibri"/>
              </a:rPr>
              <a:t>Session 38  ·  Model Optimization</a:t>
            </a:r>
          </a:p>
        </p:txBody>
      </p:sp>
      <p:sp>
        <p:nvSpPr>
          <p:cNvPr id="5" name="Rounded Rectangle 4"/>
          <p:cNvSpPr/>
          <p:nvPr/>
        </p:nvSpPr>
        <p:spPr>
          <a:xfrm>
            <a:off x="777240" y="1783080"/>
            <a:ext cx="2011680" cy="1874519"/>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978408" y="1993392"/>
            <a:ext cx="310896" cy="31089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78408" y="1993392"/>
            <a:ext cx="310896" cy="310896"/>
          </a:xfrm>
          <a:prstGeom prst="rect">
            <a:avLst/>
          </a:prstGeom>
          <a:noFill/>
        </p:spPr>
        <p:txBody>
          <a:bodyPr wrap="square" lIns="0" rIns="0" tIns="0" bIns="0" anchor="ctr">
            <a:spAutoFit/>
          </a:bodyPr>
          <a:lstStyle/>
          <a:p>
            <a:pPr algn="ctr">
              <a:lnSpc>
                <a:spcPct val="115000"/>
              </a:lnSpc>
              <a:spcAft>
                <a:spcPts val="200"/>
              </a:spcAft>
            </a:pPr>
            <a:r>
              <a:rPr sz="1100" b="1" i="0">
                <a:solidFill>
                  <a:srgbClr val="FFFFFF"/>
                </a:solidFill>
                <a:latin typeface="Calibri"/>
              </a:rPr>
              <a:t>1</a:t>
            </a:r>
          </a:p>
        </p:txBody>
      </p:sp>
      <p:sp>
        <p:nvSpPr>
          <p:cNvPr id="8" name="TextBox 7"/>
          <p:cNvSpPr txBox="1"/>
          <p:nvPr/>
        </p:nvSpPr>
        <p:spPr>
          <a:xfrm>
            <a:off x="978408" y="2432304"/>
            <a:ext cx="1645920" cy="256032"/>
          </a:xfrm>
          <a:prstGeom prst="rect">
            <a:avLst/>
          </a:prstGeom>
          <a:noFill/>
        </p:spPr>
        <p:txBody>
          <a:bodyPr wrap="square" lIns="0" rIns="0" tIns="0" bIns="0">
            <a:spAutoFit/>
          </a:bodyPr>
          <a:lstStyle/>
          <a:p>
            <a:pPr algn="l">
              <a:lnSpc>
                <a:spcPct val="115000"/>
              </a:lnSpc>
              <a:spcAft>
                <a:spcPts val="200"/>
              </a:spcAft>
            </a:pPr>
            <a:r>
              <a:rPr sz="1350" b="1" i="0">
                <a:solidFill>
                  <a:srgbClr val="12343B"/>
                </a:solidFill>
                <a:latin typeface="Calibri"/>
              </a:rPr>
              <a:t>Latency</a:t>
            </a:r>
          </a:p>
        </p:txBody>
      </p:sp>
      <p:sp>
        <p:nvSpPr>
          <p:cNvPr id="9" name="TextBox 8"/>
          <p:cNvSpPr txBox="1"/>
          <p:nvPr/>
        </p:nvSpPr>
        <p:spPr>
          <a:xfrm>
            <a:off x="978408" y="2724912"/>
            <a:ext cx="1645920" cy="548640"/>
          </a:xfrm>
          <a:prstGeom prst="rect">
            <a:avLst/>
          </a:prstGeom>
          <a:noFill/>
        </p:spPr>
        <p:txBody>
          <a:bodyPr wrap="square" lIns="0" rIns="0" tIns="0" bIns="0">
            <a:spAutoFit/>
          </a:bodyPr>
          <a:lstStyle/>
          <a:p>
            <a:pPr algn="l">
              <a:lnSpc>
                <a:spcPct val="120000"/>
              </a:lnSpc>
              <a:spcAft>
                <a:spcPts val="200"/>
              </a:spcAft>
            </a:pPr>
            <a:r>
              <a:rPr sz="1150" b="0" i="0">
                <a:solidFill>
                  <a:srgbClr val="5A7A80"/>
                </a:solidFill>
                <a:latin typeface="Calibri"/>
              </a:rPr>
              <a:t>Time for one image, end to end.</a:t>
            </a:r>
          </a:p>
        </p:txBody>
      </p:sp>
      <p:sp>
        <p:nvSpPr>
          <p:cNvPr id="10" name="TextBox 9"/>
          <p:cNvSpPr txBox="1"/>
          <p:nvPr/>
        </p:nvSpPr>
        <p:spPr>
          <a:xfrm>
            <a:off x="978408" y="3273552"/>
            <a:ext cx="1645920" cy="310896"/>
          </a:xfrm>
          <a:prstGeom prst="rect">
            <a:avLst/>
          </a:prstGeom>
          <a:noFill/>
        </p:spPr>
        <p:txBody>
          <a:bodyPr wrap="square" lIns="0" rIns="0" tIns="0" bIns="0">
            <a:spAutoFit/>
          </a:bodyPr>
          <a:lstStyle/>
          <a:p>
            <a:pPr algn="l">
              <a:lnSpc>
                <a:spcPct val="115000"/>
              </a:lnSpc>
              <a:spcAft>
                <a:spcPts val="200"/>
              </a:spcAft>
            </a:pPr>
            <a:r>
              <a:rPr sz="1050" b="0" i="0">
                <a:solidFill>
                  <a:srgbClr val="028090"/>
                </a:solidFill>
                <a:latin typeface="Calibri"/>
              </a:rPr>
              <a:t>Interactive apps, robotics, AR</a:t>
            </a:r>
          </a:p>
        </p:txBody>
      </p:sp>
      <p:sp>
        <p:nvSpPr>
          <p:cNvPr id="11" name="Rounded Rectangle 10"/>
          <p:cNvSpPr/>
          <p:nvPr/>
        </p:nvSpPr>
        <p:spPr>
          <a:xfrm>
            <a:off x="2935224" y="1783080"/>
            <a:ext cx="2011680" cy="1874519"/>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3136392" y="1993392"/>
            <a:ext cx="310896" cy="31089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136392" y="1993392"/>
            <a:ext cx="310896" cy="310896"/>
          </a:xfrm>
          <a:prstGeom prst="rect">
            <a:avLst/>
          </a:prstGeom>
          <a:noFill/>
        </p:spPr>
        <p:txBody>
          <a:bodyPr wrap="square" lIns="0" rIns="0" tIns="0" bIns="0" anchor="ctr">
            <a:spAutoFit/>
          </a:bodyPr>
          <a:lstStyle/>
          <a:p>
            <a:pPr algn="ctr">
              <a:lnSpc>
                <a:spcPct val="115000"/>
              </a:lnSpc>
              <a:spcAft>
                <a:spcPts val="200"/>
              </a:spcAft>
            </a:pPr>
            <a:r>
              <a:rPr sz="1100" b="1" i="0">
                <a:solidFill>
                  <a:srgbClr val="FFFFFF"/>
                </a:solidFill>
                <a:latin typeface="Calibri"/>
              </a:rPr>
              <a:t>2</a:t>
            </a:r>
          </a:p>
        </p:txBody>
      </p:sp>
      <p:sp>
        <p:nvSpPr>
          <p:cNvPr id="14" name="TextBox 13"/>
          <p:cNvSpPr txBox="1"/>
          <p:nvPr/>
        </p:nvSpPr>
        <p:spPr>
          <a:xfrm>
            <a:off x="3136392" y="2432304"/>
            <a:ext cx="1645920" cy="256032"/>
          </a:xfrm>
          <a:prstGeom prst="rect">
            <a:avLst/>
          </a:prstGeom>
          <a:noFill/>
        </p:spPr>
        <p:txBody>
          <a:bodyPr wrap="square" lIns="0" rIns="0" tIns="0" bIns="0">
            <a:spAutoFit/>
          </a:bodyPr>
          <a:lstStyle/>
          <a:p>
            <a:pPr algn="l">
              <a:lnSpc>
                <a:spcPct val="115000"/>
              </a:lnSpc>
              <a:spcAft>
                <a:spcPts val="200"/>
              </a:spcAft>
            </a:pPr>
            <a:r>
              <a:rPr sz="1350" b="1" i="0">
                <a:solidFill>
                  <a:srgbClr val="12343B"/>
                </a:solidFill>
                <a:latin typeface="Calibri"/>
              </a:rPr>
              <a:t>Throughput</a:t>
            </a:r>
          </a:p>
        </p:txBody>
      </p:sp>
      <p:sp>
        <p:nvSpPr>
          <p:cNvPr id="15" name="TextBox 14"/>
          <p:cNvSpPr txBox="1"/>
          <p:nvPr/>
        </p:nvSpPr>
        <p:spPr>
          <a:xfrm>
            <a:off x="3136392" y="2724912"/>
            <a:ext cx="1645920" cy="548640"/>
          </a:xfrm>
          <a:prstGeom prst="rect">
            <a:avLst/>
          </a:prstGeom>
          <a:noFill/>
        </p:spPr>
        <p:txBody>
          <a:bodyPr wrap="square" lIns="0" rIns="0" tIns="0" bIns="0">
            <a:spAutoFit/>
          </a:bodyPr>
          <a:lstStyle/>
          <a:p>
            <a:pPr algn="l">
              <a:lnSpc>
                <a:spcPct val="120000"/>
              </a:lnSpc>
              <a:spcAft>
                <a:spcPts val="200"/>
              </a:spcAft>
            </a:pPr>
            <a:r>
              <a:rPr sz="1150" b="0" i="0">
                <a:solidFill>
                  <a:srgbClr val="5A7A80"/>
                </a:solidFill>
                <a:latin typeface="Calibri"/>
              </a:rPr>
              <a:t>Images per second at full load.</a:t>
            </a:r>
          </a:p>
        </p:txBody>
      </p:sp>
      <p:sp>
        <p:nvSpPr>
          <p:cNvPr id="16" name="TextBox 15"/>
          <p:cNvSpPr txBox="1"/>
          <p:nvPr/>
        </p:nvSpPr>
        <p:spPr>
          <a:xfrm>
            <a:off x="3136392" y="3273552"/>
            <a:ext cx="1645920" cy="310896"/>
          </a:xfrm>
          <a:prstGeom prst="rect">
            <a:avLst/>
          </a:prstGeom>
          <a:noFill/>
        </p:spPr>
        <p:txBody>
          <a:bodyPr wrap="square" lIns="0" rIns="0" tIns="0" bIns="0">
            <a:spAutoFit/>
          </a:bodyPr>
          <a:lstStyle/>
          <a:p>
            <a:pPr algn="l">
              <a:lnSpc>
                <a:spcPct val="115000"/>
              </a:lnSpc>
              <a:spcAft>
                <a:spcPts val="200"/>
              </a:spcAft>
            </a:pPr>
            <a:r>
              <a:rPr sz="1050" b="0" i="0">
                <a:solidFill>
                  <a:srgbClr val="028090"/>
                </a:solidFill>
                <a:latin typeface="Calibri"/>
              </a:rPr>
              <a:t>Batch jobs, video archives</a:t>
            </a:r>
          </a:p>
        </p:txBody>
      </p:sp>
      <p:sp>
        <p:nvSpPr>
          <p:cNvPr id="17" name="Rounded Rectangle 16"/>
          <p:cNvSpPr/>
          <p:nvPr/>
        </p:nvSpPr>
        <p:spPr>
          <a:xfrm>
            <a:off x="5093207" y="1783080"/>
            <a:ext cx="2011680" cy="1874519"/>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294375" y="1993392"/>
            <a:ext cx="310896" cy="31089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294375" y="1993392"/>
            <a:ext cx="310896" cy="310896"/>
          </a:xfrm>
          <a:prstGeom prst="rect">
            <a:avLst/>
          </a:prstGeom>
          <a:noFill/>
        </p:spPr>
        <p:txBody>
          <a:bodyPr wrap="square" lIns="0" rIns="0" tIns="0" bIns="0" anchor="ctr">
            <a:spAutoFit/>
          </a:bodyPr>
          <a:lstStyle/>
          <a:p>
            <a:pPr algn="ctr">
              <a:lnSpc>
                <a:spcPct val="115000"/>
              </a:lnSpc>
              <a:spcAft>
                <a:spcPts val="200"/>
              </a:spcAft>
            </a:pPr>
            <a:r>
              <a:rPr sz="1100" b="1" i="0">
                <a:solidFill>
                  <a:srgbClr val="FFFFFF"/>
                </a:solidFill>
                <a:latin typeface="Calibri"/>
              </a:rPr>
              <a:t>3</a:t>
            </a:r>
          </a:p>
        </p:txBody>
      </p:sp>
      <p:sp>
        <p:nvSpPr>
          <p:cNvPr id="20" name="TextBox 19"/>
          <p:cNvSpPr txBox="1"/>
          <p:nvPr/>
        </p:nvSpPr>
        <p:spPr>
          <a:xfrm>
            <a:off x="5294375" y="2432304"/>
            <a:ext cx="1645920" cy="256032"/>
          </a:xfrm>
          <a:prstGeom prst="rect">
            <a:avLst/>
          </a:prstGeom>
          <a:noFill/>
        </p:spPr>
        <p:txBody>
          <a:bodyPr wrap="square" lIns="0" rIns="0" tIns="0" bIns="0">
            <a:spAutoFit/>
          </a:bodyPr>
          <a:lstStyle/>
          <a:p>
            <a:pPr algn="l">
              <a:lnSpc>
                <a:spcPct val="115000"/>
              </a:lnSpc>
              <a:spcAft>
                <a:spcPts val="200"/>
              </a:spcAft>
            </a:pPr>
            <a:r>
              <a:rPr sz="1350" b="1" i="0">
                <a:solidFill>
                  <a:srgbClr val="12343B"/>
                </a:solidFill>
                <a:latin typeface="Calibri"/>
              </a:rPr>
              <a:t>Memory</a:t>
            </a:r>
          </a:p>
        </p:txBody>
      </p:sp>
      <p:sp>
        <p:nvSpPr>
          <p:cNvPr id="21" name="TextBox 20"/>
          <p:cNvSpPr txBox="1"/>
          <p:nvPr/>
        </p:nvSpPr>
        <p:spPr>
          <a:xfrm>
            <a:off x="5294375" y="2724912"/>
            <a:ext cx="1645920" cy="548640"/>
          </a:xfrm>
          <a:prstGeom prst="rect">
            <a:avLst/>
          </a:prstGeom>
          <a:noFill/>
        </p:spPr>
        <p:txBody>
          <a:bodyPr wrap="square" lIns="0" rIns="0" tIns="0" bIns="0">
            <a:spAutoFit/>
          </a:bodyPr>
          <a:lstStyle/>
          <a:p>
            <a:pPr algn="l">
              <a:lnSpc>
                <a:spcPct val="120000"/>
              </a:lnSpc>
              <a:spcAft>
                <a:spcPts val="200"/>
              </a:spcAft>
            </a:pPr>
            <a:r>
              <a:rPr sz="1150" b="0" i="0">
                <a:solidFill>
                  <a:srgbClr val="5A7A80"/>
                </a:solidFill>
                <a:latin typeface="Calibri"/>
              </a:rPr>
              <a:t>Peak VRAM while running.</a:t>
            </a:r>
          </a:p>
        </p:txBody>
      </p:sp>
      <p:sp>
        <p:nvSpPr>
          <p:cNvPr id="22" name="TextBox 21"/>
          <p:cNvSpPr txBox="1"/>
          <p:nvPr/>
        </p:nvSpPr>
        <p:spPr>
          <a:xfrm>
            <a:off x="5294375" y="3273552"/>
            <a:ext cx="1645920" cy="310896"/>
          </a:xfrm>
          <a:prstGeom prst="rect">
            <a:avLst/>
          </a:prstGeom>
          <a:noFill/>
        </p:spPr>
        <p:txBody>
          <a:bodyPr wrap="square" lIns="0" rIns="0" tIns="0" bIns="0">
            <a:spAutoFit/>
          </a:bodyPr>
          <a:lstStyle/>
          <a:p>
            <a:pPr algn="l">
              <a:lnSpc>
                <a:spcPct val="115000"/>
              </a:lnSpc>
              <a:spcAft>
                <a:spcPts val="200"/>
              </a:spcAft>
            </a:pPr>
            <a:r>
              <a:rPr sz="1050" b="0" i="0">
                <a:solidFill>
                  <a:srgbClr val="028090"/>
                </a:solidFill>
                <a:latin typeface="Calibri"/>
              </a:rPr>
              <a:t>Shared GPUs, many models per box</a:t>
            </a:r>
          </a:p>
        </p:txBody>
      </p:sp>
      <p:sp>
        <p:nvSpPr>
          <p:cNvPr id="23" name="Rounded Rectangle 22"/>
          <p:cNvSpPr/>
          <p:nvPr/>
        </p:nvSpPr>
        <p:spPr>
          <a:xfrm>
            <a:off x="7251192" y="1783080"/>
            <a:ext cx="2011680" cy="1874519"/>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7452360" y="1993392"/>
            <a:ext cx="310896" cy="31089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452360" y="1993392"/>
            <a:ext cx="310896" cy="310896"/>
          </a:xfrm>
          <a:prstGeom prst="rect">
            <a:avLst/>
          </a:prstGeom>
          <a:noFill/>
        </p:spPr>
        <p:txBody>
          <a:bodyPr wrap="square" lIns="0" rIns="0" tIns="0" bIns="0" anchor="ctr">
            <a:spAutoFit/>
          </a:bodyPr>
          <a:lstStyle/>
          <a:p>
            <a:pPr algn="ctr">
              <a:lnSpc>
                <a:spcPct val="115000"/>
              </a:lnSpc>
              <a:spcAft>
                <a:spcPts val="200"/>
              </a:spcAft>
            </a:pPr>
            <a:r>
              <a:rPr sz="1100" b="1" i="0">
                <a:solidFill>
                  <a:srgbClr val="FFFFFF"/>
                </a:solidFill>
                <a:latin typeface="Calibri"/>
              </a:rPr>
              <a:t>4</a:t>
            </a:r>
          </a:p>
        </p:txBody>
      </p:sp>
      <p:sp>
        <p:nvSpPr>
          <p:cNvPr id="26" name="TextBox 25"/>
          <p:cNvSpPr txBox="1"/>
          <p:nvPr/>
        </p:nvSpPr>
        <p:spPr>
          <a:xfrm>
            <a:off x="7452360" y="2432304"/>
            <a:ext cx="1645920" cy="256032"/>
          </a:xfrm>
          <a:prstGeom prst="rect">
            <a:avLst/>
          </a:prstGeom>
          <a:noFill/>
        </p:spPr>
        <p:txBody>
          <a:bodyPr wrap="square" lIns="0" rIns="0" tIns="0" bIns="0">
            <a:spAutoFit/>
          </a:bodyPr>
          <a:lstStyle/>
          <a:p>
            <a:pPr algn="l">
              <a:lnSpc>
                <a:spcPct val="115000"/>
              </a:lnSpc>
              <a:spcAft>
                <a:spcPts val="200"/>
              </a:spcAft>
            </a:pPr>
            <a:r>
              <a:rPr sz="1350" b="1" i="0">
                <a:solidFill>
                  <a:srgbClr val="12343B"/>
                </a:solidFill>
                <a:latin typeface="Calibri"/>
              </a:rPr>
              <a:t>Model size</a:t>
            </a:r>
          </a:p>
        </p:txBody>
      </p:sp>
      <p:sp>
        <p:nvSpPr>
          <p:cNvPr id="27" name="TextBox 26"/>
          <p:cNvSpPr txBox="1"/>
          <p:nvPr/>
        </p:nvSpPr>
        <p:spPr>
          <a:xfrm>
            <a:off x="7452360" y="2724912"/>
            <a:ext cx="1645920" cy="548640"/>
          </a:xfrm>
          <a:prstGeom prst="rect">
            <a:avLst/>
          </a:prstGeom>
          <a:noFill/>
        </p:spPr>
        <p:txBody>
          <a:bodyPr wrap="square" lIns="0" rIns="0" tIns="0" bIns="0">
            <a:spAutoFit/>
          </a:bodyPr>
          <a:lstStyle/>
          <a:p>
            <a:pPr algn="l">
              <a:lnSpc>
                <a:spcPct val="120000"/>
              </a:lnSpc>
              <a:spcAft>
                <a:spcPts val="200"/>
              </a:spcAft>
            </a:pPr>
            <a:r>
              <a:rPr sz="1150" b="0" i="0">
                <a:solidFill>
                  <a:srgbClr val="5A7A80"/>
                </a:solidFill>
                <a:latin typeface="Calibri"/>
              </a:rPr>
              <a:t>Bytes on disk.</a:t>
            </a:r>
          </a:p>
        </p:txBody>
      </p:sp>
      <p:sp>
        <p:nvSpPr>
          <p:cNvPr id="28" name="TextBox 27"/>
          <p:cNvSpPr txBox="1"/>
          <p:nvPr/>
        </p:nvSpPr>
        <p:spPr>
          <a:xfrm>
            <a:off x="7452360" y="3273552"/>
            <a:ext cx="1645920" cy="310896"/>
          </a:xfrm>
          <a:prstGeom prst="rect">
            <a:avLst/>
          </a:prstGeom>
          <a:noFill/>
        </p:spPr>
        <p:txBody>
          <a:bodyPr wrap="square" lIns="0" rIns="0" tIns="0" bIns="0">
            <a:spAutoFit/>
          </a:bodyPr>
          <a:lstStyle/>
          <a:p>
            <a:pPr algn="l">
              <a:lnSpc>
                <a:spcPct val="115000"/>
              </a:lnSpc>
              <a:spcAft>
                <a:spcPts val="200"/>
              </a:spcAft>
            </a:pPr>
            <a:r>
              <a:rPr sz="1050" b="0" i="0">
                <a:solidFill>
                  <a:srgbClr val="028090"/>
                </a:solidFill>
                <a:latin typeface="Calibri"/>
              </a:rPr>
              <a:t>Edge devices, OTA updates</a:t>
            </a:r>
          </a:p>
        </p:txBody>
      </p:sp>
      <p:sp>
        <p:nvSpPr>
          <p:cNvPr id="29" name="Rounded Rectangle 28"/>
          <p:cNvSpPr/>
          <p:nvPr/>
        </p:nvSpPr>
        <p:spPr>
          <a:xfrm>
            <a:off x="9409176" y="1783080"/>
            <a:ext cx="2011680" cy="1874519"/>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9610344" y="1993392"/>
            <a:ext cx="310896" cy="31089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610344" y="1993392"/>
            <a:ext cx="310896" cy="310896"/>
          </a:xfrm>
          <a:prstGeom prst="rect">
            <a:avLst/>
          </a:prstGeom>
          <a:noFill/>
        </p:spPr>
        <p:txBody>
          <a:bodyPr wrap="square" lIns="0" rIns="0" tIns="0" bIns="0" anchor="ctr">
            <a:spAutoFit/>
          </a:bodyPr>
          <a:lstStyle/>
          <a:p>
            <a:pPr algn="ctr">
              <a:lnSpc>
                <a:spcPct val="115000"/>
              </a:lnSpc>
              <a:spcAft>
                <a:spcPts val="200"/>
              </a:spcAft>
            </a:pPr>
            <a:r>
              <a:rPr sz="1100" b="1" i="0">
                <a:solidFill>
                  <a:srgbClr val="FFFFFF"/>
                </a:solidFill>
                <a:latin typeface="Calibri"/>
              </a:rPr>
              <a:t>5</a:t>
            </a:r>
          </a:p>
        </p:txBody>
      </p:sp>
      <p:sp>
        <p:nvSpPr>
          <p:cNvPr id="32" name="TextBox 31"/>
          <p:cNvSpPr txBox="1"/>
          <p:nvPr/>
        </p:nvSpPr>
        <p:spPr>
          <a:xfrm>
            <a:off x="9610344" y="2432304"/>
            <a:ext cx="1645920" cy="256032"/>
          </a:xfrm>
          <a:prstGeom prst="rect">
            <a:avLst/>
          </a:prstGeom>
          <a:noFill/>
        </p:spPr>
        <p:txBody>
          <a:bodyPr wrap="square" lIns="0" rIns="0" tIns="0" bIns="0">
            <a:spAutoFit/>
          </a:bodyPr>
          <a:lstStyle/>
          <a:p>
            <a:pPr algn="l">
              <a:lnSpc>
                <a:spcPct val="115000"/>
              </a:lnSpc>
              <a:spcAft>
                <a:spcPts val="200"/>
              </a:spcAft>
            </a:pPr>
            <a:r>
              <a:rPr sz="1350" b="1" i="0">
                <a:solidFill>
                  <a:srgbClr val="12343B"/>
                </a:solidFill>
                <a:latin typeface="Calibri"/>
              </a:rPr>
              <a:t>Cost and power</a:t>
            </a:r>
          </a:p>
        </p:txBody>
      </p:sp>
      <p:sp>
        <p:nvSpPr>
          <p:cNvPr id="33" name="TextBox 32"/>
          <p:cNvSpPr txBox="1"/>
          <p:nvPr/>
        </p:nvSpPr>
        <p:spPr>
          <a:xfrm>
            <a:off x="9610344" y="2724912"/>
            <a:ext cx="1645920" cy="548640"/>
          </a:xfrm>
          <a:prstGeom prst="rect">
            <a:avLst/>
          </a:prstGeom>
          <a:noFill/>
        </p:spPr>
        <p:txBody>
          <a:bodyPr wrap="square" lIns="0" rIns="0" tIns="0" bIns="0">
            <a:spAutoFit/>
          </a:bodyPr>
          <a:lstStyle/>
          <a:p>
            <a:pPr algn="l">
              <a:lnSpc>
                <a:spcPct val="120000"/>
              </a:lnSpc>
              <a:spcAft>
                <a:spcPts val="200"/>
              </a:spcAft>
            </a:pPr>
            <a:r>
              <a:rPr sz="1150" b="0" i="0">
                <a:solidFill>
                  <a:srgbClr val="5A7A80"/>
                </a:solidFill>
                <a:latin typeface="Calibri"/>
              </a:rPr>
              <a:t>Watts and dollars per stream.</a:t>
            </a:r>
          </a:p>
        </p:txBody>
      </p:sp>
      <p:sp>
        <p:nvSpPr>
          <p:cNvPr id="34" name="TextBox 33"/>
          <p:cNvSpPr txBox="1"/>
          <p:nvPr/>
        </p:nvSpPr>
        <p:spPr>
          <a:xfrm>
            <a:off x="9610344" y="3273552"/>
            <a:ext cx="1645920" cy="310896"/>
          </a:xfrm>
          <a:prstGeom prst="rect">
            <a:avLst/>
          </a:prstGeom>
          <a:noFill/>
        </p:spPr>
        <p:txBody>
          <a:bodyPr wrap="square" lIns="0" rIns="0" tIns="0" bIns="0">
            <a:spAutoFit/>
          </a:bodyPr>
          <a:lstStyle/>
          <a:p>
            <a:pPr algn="l">
              <a:lnSpc>
                <a:spcPct val="115000"/>
              </a:lnSpc>
              <a:spcAft>
                <a:spcPts val="200"/>
              </a:spcAft>
            </a:pPr>
            <a:r>
              <a:rPr sz="1050" b="0" i="0">
                <a:solidFill>
                  <a:srgbClr val="028090"/>
                </a:solidFill>
                <a:latin typeface="Calibri"/>
              </a:rPr>
              <a:t>Anything battery or cloud billed</a:t>
            </a:r>
          </a:p>
        </p:txBody>
      </p:sp>
      <p:sp>
        <p:nvSpPr>
          <p:cNvPr id="35" name="Rounded Rectangle 34"/>
          <p:cNvSpPr/>
          <p:nvPr/>
        </p:nvSpPr>
        <p:spPr>
          <a:xfrm>
            <a:off x="777240" y="3913632"/>
            <a:ext cx="10607040" cy="1005840"/>
          </a:xfrm>
          <a:prstGeom prst="roundRect">
            <a:avLst>
              <a:gd name="adj" fmla="val 6000"/>
            </a:avLst>
          </a:prstGeom>
          <a:solidFill>
            <a:srgbClr val="D6E7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033271" y="4142232"/>
            <a:ext cx="10094976" cy="566928"/>
          </a:xfrm>
          <a:prstGeom prst="rect">
            <a:avLst/>
          </a:prstGeom>
          <a:noFill/>
        </p:spPr>
        <p:txBody>
          <a:bodyPr wrap="square" lIns="0" rIns="0" tIns="0" bIns="0">
            <a:spAutoFit/>
          </a:bodyPr>
          <a:lstStyle/>
          <a:p>
            <a:pPr algn="l">
              <a:lnSpc>
                <a:spcPct val="125000"/>
              </a:lnSpc>
              <a:spcAft>
                <a:spcPts val="200"/>
              </a:spcAft>
            </a:pPr>
            <a:r>
              <a:rPr sz="1250" b="1" i="0">
                <a:solidFill>
                  <a:srgbClr val="12343B"/>
                </a:solidFill>
                <a:latin typeface="Calibri"/>
              </a:rPr>
              <a:t>These pull against each other. </a:t>
            </a:r>
            <a:r>
              <a:rPr sz="1250" b="0" i="0">
                <a:solidFill>
                  <a:srgbClr val="5A7A80"/>
                </a:solidFill>
                <a:latin typeface="Calibri"/>
              </a:rPr>
              <a:t>Bigger batches raise throughput and raise latency. Lower precision cuts memory and can cost accuracy. There is no setting that wins everything, so you pick the one metric the product is judged on and treat the rest as constraints.</a:t>
            </a:r>
          </a:p>
        </p:txBody>
      </p:sp>
      <p:sp>
        <p:nvSpPr>
          <p:cNvPr id="37" name="Rounded Rectangle 36"/>
          <p:cNvSpPr/>
          <p:nvPr/>
        </p:nvSpPr>
        <p:spPr>
          <a:xfrm>
            <a:off x="777240" y="5084064"/>
            <a:ext cx="10607040" cy="1078992"/>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1033271" y="5340096"/>
            <a:ext cx="10094976" cy="292608"/>
          </a:xfrm>
          <a:prstGeom prst="rect">
            <a:avLst/>
          </a:prstGeom>
          <a:noFill/>
        </p:spPr>
        <p:txBody>
          <a:bodyPr wrap="square" lIns="0" rIns="0" tIns="0" bIns="0">
            <a:spAutoFit/>
          </a:bodyPr>
          <a:lstStyle/>
          <a:p>
            <a:pPr algn="l">
              <a:lnSpc>
                <a:spcPct val="105000"/>
              </a:lnSpc>
              <a:spcAft>
                <a:spcPts val="200"/>
              </a:spcAft>
            </a:pPr>
            <a:r>
              <a:rPr sz="1350" b="1" i="0">
                <a:solidFill>
                  <a:srgbClr val="C15B4E"/>
                </a:solidFill>
                <a:latin typeface="Calibri"/>
              </a:rPr>
              <a:t>Accuracy is not a target, it is the budget</a:t>
            </a:r>
          </a:p>
        </p:txBody>
      </p:sp>
      <p:sp>
        <p:nvSpPr>
          <p:cNvPr id="39" name="TextBox 38"/>
          <p:cNvSpPr txBox="1"/>
          <p:nvPr/>
        </p:nvSpPr>
        <p:spPr>
          <a:xfrm>
            <a:off x="1033271" y="5724144"/>
            <a:ext cx="10094976" cy="182879"/>
          </a:xfrm>
          <a:prstGeom prst="rect">
            <a:avLst/>
          </a:prstGeom>
          <a:noFill/>
        </p:spPr>
        <p:txBody>
          <a:bodyPr wrap="square" lIns="0" rIns="0" tIns="0" bIns="0">
            <a:spAutoFit/>
          </a:bodyPr>
          <a:lstStyle/>
          <a:p>
            <a:pPr algn="l">
              <a:lnSpc>
                <a:spcPct val="122000"/>
              </a:lnSpc>
              <a:spcAft>
                <a:spcPts val="400"/>
              </a:spcAft>
            </a:pPr>
            <a:r>
              <a:rPr sz="1250" b="0" i="0">
                <a:solidFill>
                  <a:srgbClr val="5A7A80"/>
                </a:solidFill>
                <a:latin typeface="Calibri"/>
              </a:rPr>
              <a:t>Every technique in this session spends a little accuracy to buy speed or size. So before you optimize anything, write down the number you refuse to go below. For a detector that is usually mAP; for a classifier, top-1; for OCR, character error rate. Without that line you cannot tell a good trade from a bad 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lnSpc>
                <a:spcPct val="105000"/>
              </a:lnSpc>
              <a:spcAft>
                <a:spcPts val="200"/>
              </a:spcAft>
            </a:pPr>
            <a:r>
              <a:rPr sz="1200" b="1" i="0">
                <a:solidFill>
                  <a:srgbClr val="028090"/>
                </a:solidFill>
                <a:latin typeface="Calibri"/>
              </a:rPr>
              <a:t>THE PIPELINE</a:t>
            </a:r>
          </a:p>
        </p:txBody>
      </p:sp>
      <p:sp>
        <p:nvSpPr>
          <p:cNvPr id="3" name="TextBox 2"/>
          <p:cNvSpPr txBox="1"/>
          <p:nvPr/>
        </p:nvSpPr>
        <p:spPr>
          <a:xfrm>
            <a:off x="685800" y="786384"/>
            <a:ext cx="10881360" cy="777240"/>
          </a:xfrm>
          <a:prstGeom prst="rect">
            <a:avLst/>
          </a:prstGeom>
          <a:noFill/>
        </p:spPr>
        <p:txBody>
          <a:bodyPr wrap="square" lIns="0" rIns="0" tIns="0" bIns="0">
            <a:spAutoFit/>
          </a:bodyPr>
          <a:lstStyle/>
          <a:p>
            <a:pPr algn="l">
              <a:lnSpc>
                <a:spcPct val="105000"/>
              </a:lnSpc>
              <a:spcAft>
                <a:spcPts val="200"/>
              </a:spcAft>
            </a:pPr>
            <a:r>
              <a:rPr sz="3200" b="1" i="0">
                <a:solidFill>
                  <a:srgbClr val="12343B"/>
                </a:solidFill>
                <a:latin typeface="Cambria"/>
              </a:rPr>
              <a:t>From a training checkpoint to a running service</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lnSpc>
                <a:spcPct val="105000"/>
              </a:lnSpc>
              <a:spcAft>
                <a:spcPts val="200"/>
              </a:spcAft>
            </a:pPr>
            <a:r>
              <a:rPr sz="1050" b="0" i="0">
                <a:solidFill>
                  <a:srgbClr val="9AB4B8"/>
                </a:solidFill>
                <a:latin typeface="Calibri"/>
              </a:rPr>
              <a:t>Session 38  ·  Model Optimization</a:t>
            </a:r>
          </a:p>
        </p:txBody>
      </p:sp>
      <p:sp>
        <p:nvSpPr>
          <p:cNvPr id="5" name="Rounded Rectangle 4"/>
          <p:cNvSpPr/>
          <p:nvPr/>
        </p:nvSpPr>
        <p:spPr>
          <a:xfrm>
            <a:off x="777240" y="1828800"/>
            <a:ext cx="2395728" cy="15087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96695" y="2048256"/>
            <a:ext cx="1956816" cy="274320"/>
          </a:xfrm>
          <a:prstGeom prst="rect">
            <a:avLst/>
          </a:prstGeom>
          <a:noFill/>
        </p:spPr>
        <p:txBody>
          <a:bodyPr wrap="square" lIns="0" rIns="0" tIns="0" bIns="0">
            <a:spAutoFit/>
          </a:bodyPr>
          <a:lstStyle/>
          <a:p>
            <a:pPr algn="l">
              <a:lnSpc>
                <a:spcPct val="115000"/>
              </a:lnSpc>
              <a:spcAft>
                <a:spcPts val="200"/>
              </a:spcAft>
            </a:pPr>
            <a:r>
              <a:rPr sz="1350" b="1" i="0">
                <a:solidFill>
                  <a:srgbClr val="12343B"/>
                </a:solidFill>
                <a:latin typeface="Calibri"/>
              </a:rPr>
              <a:t>Trained model</a:t>
            </a:r>
          </a:p>
        </p:txBody>
      </p:sp>
      <p:sp>
        <p:nvSpPr>
          <p:cNvPr id="7" name="TextBox 6"/>
          <p:cNvSpPr txBox="1"/>
          <p:nvPr/>
        </p:nvSpPr>
        <p:spPr>
          <a:xfrm>
            <a:off x="996695" y="2395728"/>
            <a:ext cx="1956816" cy="822960"/>
          </a:xfrm>
          <a:prstGeom prst="rect">
            <a:avLst/>
          </a:prstGeom>
          <a:noFill/>
        </p:spPr>
        <p:txBody>
          <a:bodyPr wrap="square" lIns="0" rIns="0" tIns="0" bIns="0">
            <a:spAutoFit/>
          </a:bodyPr>
          <a:lstStyle/>
          <a:p>
            <a:pPr algn="l">
              <a:lnSpc>
                <a:spcPct val="120000"/>
              </a:lnSpc>
              <a:spcAft>
                <a:spcPts val="0"/>
              </a:spcAft>
            </a:pPr>
            <a:r>
              <a:rPr sz="1150" b="0" i="0">
                <a:solidFill>
                  <a:srgbClr val="5A7A80"/>
                </a:solidFill>
                <a:latin typeface="Calibri"/>
              </a:rPr>
              <a:t>PyTorch .pt</a:t>
            </a:r>
          </a:p>
          <a:p>
            <a:pPr algn="l">
              <a:lnSpc>
                <a:spcPct val="120000"/>
              </a:lnSpc>
              <a:spcAft>
                <a:spcPts val="0"/>
              </a:spcAft>
            </a:pPr>
            <a:r>
              <a:rPr sz="1150" b="0" i="0">
                <a:solidFill>
                  <a:srgbClr val="5A7A80"/>
                </a:solidFill>
                <a:latin typeface="Calibri"/>
              </a:rPr>
              <a:t>Python, autograd,</a:t>
            </a:r>
          </a:p>
          <a:p>
            <a:pPr algn="l">
              <a:lnSpc>
                <a:spcPct val="120000"/>
              </a:lnSpc>
              <a:spcAft>
                <a:spcPts val="0"/>
              </a:spcAft>
            </a:pPr>
            <a:r>
              <a:rPr sz="1150" b="0" i="0">
                <a:solidFill>
                  <a:srgbClr val="5A7A80"/>
                </a:solidFill>
                <a:latin typeface="Calibri"/>
              </a:rPr>
              <a:t>training code attached</a:t>
            </a:r>
          </a:p>
        </p:txBody>
      </p:sp>
      <p:sp>
        <p:nvSpPr>
          <p:cNvPr id="8" name="Right Arrow 7"/>
          <p:cNvSpPr/>
          <p:nvPr/>
        </p:nvSpPr>
        <p:spPr>
          <a:xfrm>
            <a:off x="3191256" y="2468880"/>
            <a:ext cx="365760" cy="237744"/>
          </a:xfrm>
          <a:prstGeom prst="rightArrow">
            <a:avLst/>
          </a:prstGeom>
          <a:solidFill>
            <a:srgbClr val="B6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3575304" y="1828800"/>
            <a:ext cx="2395728" cy="1508760"/>
          </a:xfrm>
          <a:prstGeom prst="roundRect">
            <a:avLst>
              <a:gd name="adj" fmla="val 6000"/>
            </a:avLst>
          </a:prstGeom>
          <a:solidFill>
            <a:srgbClr val="E3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794760" y="2048256"/>
            <a:ext cx="1956816" cy="274320"/>
          </a:xfrm>
          <a:prstGeom prst="rect">
            <a:avLst/>
          </a:prstGeom>
          <a:noFill/>
        </p:spPr>
        <p:txBody>
          <a:bodyPr wrap="square" lIns="0" rIns="0" tIns="0" bIns="0">
            <a:spAutoFit/>
          </a:bodyPr>
          <a:lstStyle/>
          <a:p>
            <a:pPr algn="l">
              <a:lnSpc>
                <a:spcPct val="115000"/>
              </a:lnSpc>
              <a:spcAft>
                <a:spcPts val="200"/>
              </a:spcAft>
            </a:pPr>
            <a:r>
              <a:rPr sz="1350" b="1" i="0">
                <a:solidFill>
                  <a:srgbClr val="028090"/>
                </a:solidFill>
                <a:latin typeface="Calibri"/>
              </a:rPr>
              <a:t>ONNX graph</a:t>
            </a:r>
          </a:p>
        </p:txBody>
      </p:sp>
      <p:sp>
        <p:nvSpPr>
          <p:cNvPr id="11" name="TextBox 10"/>
          <p:cNvSpPr txBox="1"/>
          <p:nvPr/>
        </p:nvSpPr>
        <p:spPr>
          <a:xfrm>
            <a:off x="3794760" y="2395728"/>
            <a:ext cx="1956816" cy="822960"/>
          </a:xfrm>
          <a:prstGeom prst="rect">
            <a:avLst/>
          </a:prstGeom>
          <a:noFill/>
        </p:spPr>
        <p:txBody>
          <a:bodyPr wrap="square" lIns="0" rIns="0" tIns="0" bIns="0">
            <a:spAutoFit/>
          </a:bodyPr>
          <a:lstStyle/>
          <a:p>
            <a:pPr algn="l">
              <a:lnSpc>
                <a:spcPct val="120000"/>
              </a:lnSpc>
              <a:spcAft>
                <a:spcPts val="0"/>
              </a:spcAft>
            </a:pPr>
            <a:r>
              <a:rPr sz="1150" b="0" i="0">
                <a:solidFill>
                  <a:srgbClr val="5A7A80"/>
                </a:solidFill>
                <a:latin typeface="Calibri"/>
              </a:rPr>
              <a:t>model.onnx</a:t>
            </a:r>
          </a:p>
          <a:p>
            <a:pPr algn="l">
              <a:lnSpc>
                <a:spcPct val="120000"/>
              </a:lnSpc>
              <a:spcAft>
                <a:spcPts val="0"/>
              </a:spcAft>
            </a:pPr>
            <a:r>
              <a:rPr sz="1150" b="0" i="0">
                <a:solidFill>
                  <a:srgbClr val="5A7A80"/>
                </a:solidFill>
                <a:latin typeface="Calibri"/>
              </a:rPr>
              <a:t>framework free,</a:t>
            </a:r>
          </a:p>
          <a:p>
            <a:pPr algn="l">
              <a:lnSpc>
                <a:spcPct val="120000"/>
              </a:lnSpc>
              <a:spcAft>
                <a:spcPts val="0"/>
              </a:spcAft>
            </a:pPr>
            <a:r>
              <a:rPr sz="1150" b="0" i="0">
                <a:solidFill>
                  <a:srgbClr val="5A7A80"/>
                </a:solidFill>
                <a:latin typeface="Calibri"/>
              </a:rPr>
              <a:t>one file, one standard</a:t>
            </a:r>
          </a:p>
        </p:txBody>
      </p:sp>
      <p:sp>
        <p:nvSpPr>
          <p:cNvPr id="12" name="Right Arrow 11"/>
          <p:cNvSpPr/>
          <p:nvPr/>
        </p:nvSpPr>
        <p:spPr>
          <a:xfrm>
            <a:off x="5989320" y="2468880"/>
            <a:ext cx="365760" cy="237744"/>
          </a:xfrm>
          <a:prstGeom prst="rightArrow">
            <a:avLst/>
          </a:prstGeom>
          <a:solidFill>
            <a:srgbClr val="B6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373368" y="1828800"/>
            <a:ext cx="2395728" cy="1508760"/>
          </a:xfrm>
          <a:prstGeom prst="roundRect">
            <a:avLst>
              <a:gd name="adj" fmla="val 6000"/>
            </a:avLst>
          </a:prstGeom>
          <a:solidFill>
            <a:srgbClr val="E3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592824" y="2048256"/>
            <a:ext cx="1956816" cy="274320"/>
          </a:xfrm>
          <a:prstGeom prst="rect">
            <a:avLst/>
          </a:prstGeom>
          <a:noFill/>
        </p:spPr>
        <p:txBody>
          <a:bodyPr wrap="square" lIns="0" rIns="0" tIns="0" bIns="0">
            <a:spAutoFit/>
          </a:bodyPr>
          <a:lstStyle/>
          <a:p>
            <a:pPr algn="l">
              <a:lnSpc>
                <a:spcPct val="115000"/>
              </a:lnSpc>
              <a:spcAft>
                <a:spcPts val="200"/>
              </a:spcAft>
            </a:pPr>
            <a:r>
              <a:rPr sz="1350" b="1" i="0">
                <a:solidFill>
                  <a:srgbClr val="028090"/>
                </a:solidFill>
                <a:latin typeface="Calibri"/>
              </a:rPr>
              <a:t>Optimized engine</a:t>
            </a:r>
          </a:p>
        </p:txBody>
      </p:sp>
      <p:sp>
        <p:nvSpPr>
          <p:cNvPr id="15" name="TextBox 14"/>
          <p:cNvSpPr txBox="1"/>
          <p:nvPr/>
        </p:nvSpPr>
        <p:spPr>
          <a:xfrm>
            <a:off x="6592824" y="2395728"/>
            <a:ext cx="1956816" cy="822960"/>
          </a:xfrm>
          <a:prstGeom prst="rect">
            <a:avLst/>
          </a:prstGeom>
          <a:noFill/>
        </p:spPr>
        <p:txBody>
          <a:bodyPr wrap="square" lIns="0" rIns="0" tIns="0" bIns="0">
            <a:spAutoFit/>
          </a:bodyPr>
          <a:lstStyle/>
          <a:p>
            <a:pPr algn="l">
              <a:lnSpc>
                <a:spcPct val="120000"/>
              </a:lnSpc>
              <a:spcAft>
                <a:spcPts val="0"/>
              </a:spcAft>
            </a:pPr>
            <a:r>
              <a:rPr sz="1150" b="0" i="0">
                <a:solidFill>
                  <a:srgbClr val="5A7A80"/>
                </a:solidFill>
                <a:latin typeface="Calibri"/>
              </a:rPr>
              <a:t>TensorRT .engine</a:t>
            </a:r>
          </a:p>
          <a:p>
            <a:pPr algn="l">
              <a:lnSpc>
                <a:spcPct val="120000"/>
              </a:lnSpc>
              <a:spcAft>
                <a:spcPts val="0"/>
              </a:spcAft>
            </a:pPr>
            <a:r>
              <a:rPr sz="1150" b="0" i="0">
                <a:solidFill>
                  <a:srgbClr val="5A7A80"/>
                </a:solidFill>
                <a:latin typeface="Calibri"/>
              </a:rPr>
              <a:t>compiled and tuned</a:t>
            </a:r>
          </a:p>
          <a:p>
            <a:pPr algn="l">
              <a:lnSpc>
                <a:spcPct val="120000"/>
              </a:lnSpc>
              <a:spcAft>
                <a:spcPts val="0"/>
              </a:spcAft>
            </a:pPr>
            <a:r>
              <a:rPr sz="1150" b="0" i="0">
                <a:solidFill>
                  <a:srgbClr val="5A7A80"/>
                </a:solidFill>
                <a:latin typeface="Calibri"/>
              </a:rPr>
              <a:t>for one GPU</a:t>
            </a:r>
          </a:p>
        </p:txBody>
      </p:sp>
      <p:sp>
        <p:nvSpPr>
          <p:cNvPr id="16" name="Right Arrow 15"/>
          <p:cNvSpPr/>
          <p:nvPr/>
        </p:nvSpPr>
        <p:spPr>
          <a:xfrm>
            <a:off x="8787384" y="2468880"/>
            <a:ext cx="365760" cy="237744"/>
          </a:xfrm>
          <a:prstGeom prst="rightArrow">
            <a:avLst/>
          </a:prstGeom>
          <a:solidFill>
            <a:srgbClr val="B6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9171432" y="1828800"/>
            <a:ext cx="2395728" cy="15087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390888" y="2048256"/>
            <a:ext cx="1956816" cy="274320"/>
          </a:xfrm>
          <a:prstGeom prst="rect">
            <a:avLst/>
          </a:prstGeom>
          <a:noFill/>
        </p:spPr>
        <p:txBody>
          <a:bodyPr wrap="square" lIns="0" rIns="0" tIns="0" bIns="0">
            <a:spAutoFit/>
          </a:bodyPr>
          <a:lstStyle/>
          <a:p>
            <a:pPr algn="l">
              <a:lnSpc>
                <a:spcPct val="115000"/>
              </a:lnSpc>
              <a:spcAft>
                <a:spcPts val="200"/>
              </a:spcAft>
            </a:pPr>
            <a:r>
              <a:rPr sz="1350" b="1" i="0">
                <a:solidFill>
                  <a:srgbClr val="12343B"/>
                </a:solidFill>
                <a:latin typeface="Calibri"/>
              </a:rPr>
              <a:t>Serving runtime</a:t>
            </a:r>
          </a:p>
        </p:txBody>
      </p:sp>
      <p:sp>
        <p:nvSpPr>
          <p:cNvPr id="19" name="TextBox 18"/>
          <p:cNvSpPr txBox="1"/>
          <p:nvPr/>
        </p:nvSpPr>
        <p:spPr>
          <a:xfrm>
            <a:off x="9390888" y="2395728"/>
            <a:ext cx="1956816" cy="822960"/>
          </a:xfrm>
          <a:prstGeom prst="rect">
            <a:avLst/>
          </a:prstGeom>
          <a:noFill/>
        </p:spPr>
        <p:txBody>
          <a:bodyPr wrap="square" lIns="0" rIns="0" tIns="0" bIns="0">
            <a:spAutoFit/>
          </a:bodyPr>
          <a:lstStyle/>
          <a:p>
            <a:pPr algn="l">
              <a:lnSpc>
                <a:spcPct val="120000"/>
              </a:lnSpc>
              <a:spcAft>
                <a:spcPts val="0"/>
              </a:spcAft>
            </a:pPr>
            <a:r>
              <a:rPr sz="1150" b="0" i="0">
                <a:solidFill>
                  <a:srgbClr val="5A7A80"/>
                </a:solidFill>
                <a:latin typeface="Calibri"/>
              </a:rPr>
              <a:t>FastAPI, Triton,</a:t>
            </a:r>
          </a:p>
          <a:p>
            <a:pPr algn="l">
              <a:lnSpc>
                <a:spcPct val="120000"/>
              </a:lnSpc>
              <a:spcAft>
                <a:spcPts val="0"/>
              </a:spcAft>
            </a:pPr>
            <a:r>
              <a:rPr sz="1150" b="0" i="0">
                <a:solidFill>
                  <a:srgbClr val="5A7A80"/>
                </a:solidFill>
                <a:latin typeface="Calibri"/>
              </a:rPr>
              <a:t>DeepStream, or your</a:t>
            </a:r>
          </a:p>
          <a:p>
            <a:pPr algn="l">
              <a:lnSpc>
                <a:spcPct val="120000"/>
              </a:lnSpc>
              <a:spcAft>
                <a:spcPts val="0"/>
              </a:spcAft>
            </a:pPr>
            <a:r>
              <a:rPr sz="1150" b="0" i="0">
                <a:solidFill>
                  <a:srgbClr val="5A7A80"/>
                </a:solidFill>
                <a:latin typeface="Calibri"/>
              </a:rPr>
              <a:t>own C++ loop</a:t>
            </a:r>
          </a:p>
        </p:txBody>
      </p:sp>
      <p:sp>
        <p:nvSpPr>
          <p:cNvPr id="20" name="TextBox 19"/>
          <p:cNvSpPr txBox="1"/>
          <p:nvPr/>
        </p:nvSpPr>
        <p:spPr>
          <a:xfrm>
            <a:off x="987552" y="3493008"/>
            <a:ext cx="2377440" cy="237744"/>
          </a:xfrm>
          <a:prstGeom prst="rect">
            <a:avLst/>
          </a:prstGeom>
          <a:noFill/>
        </p:spPr>
        <p:txBody>
          <a:bodyPr wrap="square" lIns="0" rIns="0" tIns="0" bIns="0">
            <a:spAutoFit/>
          </a:bodyPr>
          <a:lstStyle/>
          <a:p>
            <a:pPr algn="ctr">
              <a:lnSpc>
                <a:spcPct val="115000"/>
              </a:lnSpc>
              <a:spcAft>
                <a:spcPts val="200"/>
              </a:spcAft>
            </a:pPr>
            <a:r>
              <a:rPr sz="1050" b="1" i="0">
                <a:solidFill>
                  <a:srgbClr val="02C39A"/>
                </a:solidFill>
                <a:latin typeface="Calibri"/>
              </a:rPr>
              <a:t>EXPORT</a:t>
            </a:r>
          </a:p>
        </p:txBody>
      </p:sp>
      <p:sp>
        <p:nvSpPr>
          <p:cNvPr id="21" name="TextBox 20"/>
          <p:cNvSpPr txBox="1"/>
          <p:nvPr/>
        </p:nvSpPr>
        <p:spPr>
          <a:xfrm>
            <a:off x="850392" y="3749039"/>
            <a:ext cx="2651760" cy="457200"/>
          </a:xfrm>
          <a:prstGeom prst="rect">
            <a:avLst/>
          </a:prstGeom>
          <a:noFill/>
        </p:spPr>
        <p:txBody>
          <a:bodyPr wrap="square" lIns="0" rIns="0" tIns="0" bIns="0">
            <a:spAutoFit/>
          </a:bodyPr>
          <a:lstStyle/>
          <a:p>
            <a:pPr algn="ctr">
              <a:lnSpc>
                <a:spcPct val="118000"/>
              </a:lnSpc>
              <a:spcAft>
                <a:spcPts val="200"/>
              </a:spcAft>
            </a:pPr>
            <a:r>
              <a:rPr sz="1150" b="0" i="0">
                <a:solidFill>
                  <a:srgbClr val="5A7A80"/>
                </a:solidFill>
                <a:latin typeface="Calibri"/>
              </a:rPr>
              <a:t>Trace the model once and freeze the graph</a:t>
            </a:r>
          </a:p>
        </p:txBody>
      </p:sp>
      <p:sp>
        <p:nvSpPr>
          <p:cNvPr id="22" name="TextBox 21"/>
          <p:cNvSpPr txBox="1"/>
          <p:nvPr/>
        </p:nvSpPr>
        <p:spPr>
          <a:xfrm>
            <a:off x="3785616" y="3493008"/>
            <a:ext cx="2377440" cy="237744"/>
          </a:xfrm>
          <a:prstGeom prst="rect">
            <a:avLst/>
          </a:prstGeom>
          <a:noFill/>
        </p:spPr>
        <p:txBody>
          <a:bodyPr wrap="square" lIns="0" rIns="0" tIns="0" bIns="0">
            <a:spAutoFit/>
          </a:bodyPr>
          <a:lstStyle/>
          <a:p>
            <a:pPr algn="ctr">
              <a:lnSpc>
                <a:spcPct val="115000"/>
              </a:lnSpc>
              <a:spcAft>
                <a:spcPts val="200"/>
              </a:spcAft>
            </a:pPr>
            <a:r>
              <a:rPr sz="1050" b="1" i="0">
                <a:solidFill>
                  <a:srgbClr val="02C39A"/>
                </a:solidFill>
                <a:latin typeface="Calibri"/>
              </a:rPr>
              <a:t>COMPILE</a:t>
            </a:r>
          </a:p>
        </p:txBody>
      </p:sp>
      <p:sp>
        <p:nvSpPr>
          <p:cNvPr id="23" name="TextBox 22"/>
          <p:cNvSpPr txBox="1"/>
          <p:nvPr/>
        </p:nvSpPr>
        <p:spPr>
          <a:xfrm>
            <a:off x="3648456" y="3749039"/>
            <a:ext cx="2651760" cy="457200"/>
          </a:xfrm>
          <a:prstGeom prst="rect">
            <a:avLst/>
          </a:prstGeom>
          <a:noFill/>
        </p:spPr>
        <p:txBody>
          <a:bodyPr wrap="square" lIns="0" rIns="0" tIns="0" bIns="0">
            <a:spAutoFit/>
          </a:bodyPr>
          <a:lstStyle/>
          <a:p>
            <a:pPr algn="ctr">
              <a:lnSpc>
                <a:spcPct val="118000"/>
              </a:lnSpc>
              <a:spcAft>
                <a:spcPts val="200"/>
              </a:spcAft>
            </a:pPr>
            <a:r>
              <a:rPr sz="1150" b="0" i="0">
                <a:solidFill>
                  <a:srgbClr val="5A7A80"/>
                </a:solidFill>
                <a:latin typeface="Calibri"/>
              </a:rPr>
              <a:t>Fuse, tune and pick precision for this GPU</a:t>
            </a:r>
          </a:p>
        </p:txBody>
      </p:sp>
      <p:sp>
        <p:nvSpPr>
          <p:cNvPr id="24" name="TextBox 23"/>
          <p:cNvSpPr txBox="1"/>
          <p:nvPr/>
        </p:nvSpPr>
        <p:spPr>
          <a:xfrm>
            <a:off x="6583680" y="3493008"/>
            <a:ext cx="2377440" cy="237744"/>
          </a:xfrm>
          <a:prstGeom prst="rect">
            <a:avLst/>
          </a:prstGeom>
          <a:noFill/>
        </p:spPr>
        <p:txBody>
          <a:bodyPr wrap="square" lIns="0" rIns="0" tIns="0" bIns="0">
            <a:spAutoFit/>
          </a:bodyPr>
          <a:lstStyle/>
          <a:p>
            <a:pPr algn="ctr">
              <a:lnSpc>
                <a:spcPct val="115000"/>
              </a:lnSpc>
              <a:spcAft>
                <a:spcPts val="200"/>
              </a:spcAft>
            </a:pPr>
            <a:r>
              <a:rPr sz="1050" b="1" i="0">
                <a:solidFill>
                  <a:srgbClr val="02C39A"/>
                </a:solidFill>
                <a:latin typeface="Calibri"/>
              </a:rPr>
              <a:t>DEPLOY</a:t>
            </a:r>
          </a:p>
        </p:txBody>
      </p:sp>
      <p:sp>
        <p:nvSpPr>
          <p:cNvPr id="25" name="TextBox 24"/>
          <p:cNvSpPr txBox="1"/>
          <p:nvPr/>
        </p:nvSpPr>
        <p:spPr>
          <a:xfrm>
            <a:off x="6446520" y="3749039"/>
            <a:ext cx="2651760" cy="457200"/>
          </a:xfrm>
          <a:prstGeom prst="rect">
            <a:avLst/>
          </a:prstGeom>
          <a:noFill/>
        </p:spPr>
        <p:txBody>
          <a:bodyPr wrap="square" lIns="0" rIns="0" tIns="0" bIns="0">
            <a:spAutoFit/>
          </a:bodyPr>
          <a:lstStyle/>
          <a:p>
            <a:pPr algn="ctr">
              <a:lnSpc>
                <a:spcPct val="118000"/>
              </a:lnSpc>
              <a:spcAft>
                <a:spcPts val="200"/>
              </a:spcAft>
            </a:pPr>
            <a:r>
              <a:rPr sz="1150" b="0" i="0">
                <a:solidFill>
                  <a:srgbClr val="5A7A80"/>
                </a:solidFill>
                <a:latin typeface="Calibri"/>
              </a:rPr>
              <a:t>Feed it frames and keep the GPU busy</a:t>
            </a:r>
          </a:p>
        </p:txBody>
      </p:sp>
      <p:sp>
        <p:nvSpPr>
          <p:cNvPr id="26" name="Rounded Rectangle 25"/>
          <p:cNvSpPr/>
          <p:nvPr/>
        </p:nvSpPr>
        <p:spPr>
          <a:xfrm>
            <a:off x="777240" y="4526280"/>
            <a:ext cx="10607040" cy="1737360"/>
          </a:xfrm>
          <a:prstGeom prst="roundRect">
            <a:avLst>
              <a:gd name="adj" fmla="val 6000"/>
            </a:avLst>
          </a:prstGeom>
          <a:solidFill>
            <a:srgbClr val="D6E7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033271" y="4773168"/>
            <a:ext cx="10094976" cy="1280160"/>
          </a:xfrm>
          <a:prstGeom prst="rect">
            <a:avLst/>
          </a:prstGeom>
          <a:noFill/>
        </p:spPr>
        <p:txBody>
          <a:bodyPr wrap="square" lIns="0" rIns="0" tIns="0" bIns="0">
            <a:spAutoFit/>
          </a:bodyPr>
          <a:lstStyle/>
          <a:p>
            <a:pPr algn="l">
              <a:lnSpc>
                <a:spcPct val="125000"/>
              </a:lnSpc>
              <a:spcAft>
                <a:spcPts val="800"/>
              </a:spcAft>
            </a:pPr>
            <a:r>
              <a:rPr sz="1250" b="1" i="0">
                <a:solidFill>
                  <a:srgbClr val="12343B"/>
                </a:solidFill>
                <a:latin typeface="Calibri"/>
              </a:rPr>
              <a:t>Quantization and pruning are not stages. </a:t>
            </a:r>
            <a:r>
              <a:rPr sz="1250" b="0" i="0">
                <a:solidFill>
                  <a:srgbClr val="5A7A80"/>
                </a:solidFill>
                <a:latin typeface="Calibri"/>
              </a:rPr>
              <a:t>They are decisions you make inside the export and compile steps, which is why they appear later in the session rather than as their own boxes here.</a:t>
            </a:r>
          </a:p>
          <a:p>
            <a:pPr algn="l">
              <a:lnSpc>
                <a:spcPct val="125000"/>
              </a:lnSpc>
              <a:spcAft>
                <a:spcPts val="800"/>
              </a:spcAft>
            </a:pPr>
            <a:r>
              <a:rPr sz="1250" b="1" i="0">
                <a:solidFill>
                  <a:srgbClr val="12343B"/>
                </a:solidFill>
                <a:latin typeface="Calibri"/>
              </a:rPr>
              <a:t>Each arrow is lossy in one direction only. </a:t>
            </a:r>
            <a:r>
              <a:rPr sz="1250" b="0" i="0">
                <a:solidFill>
                  <a:srgbClr val="5A7A80"/>
                </a:solidFill>
                <a:latin typeface="Calibri"/>
              </a:rPr>
              <a:t>Once you are in ONNX you cannot train, and once you are in a TensorRT engine you cannot move to another GPU without rebuilding.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lnSpc>
                <a:spcPct val="105000"/>
              </a:lnSpc>
              <a:spcAft>
                <a:spcPts val="200"/>
              </a:spcAft>
            </a:pPr>
            <a:r>
              <a:rPr sz="1200" b="1" i="0">
                <a:solidFill>
                  <a:srgbClr val="028090"/>
                </a:solidFill>
                <a:latin typeface="Calibri"/>
              </a:rPr>
              <a:t>ONNX · THE PROBLEM</a:t>
            </a:r>
          </a:p>
        </p:txBody>
      </p:sp>
      <p:sp>
        <p:nvSpPr>
          <p:cNvPr id="3" name="TextBox 2"/>
          <p:cNvSpPr txBox="1"/>
          <p:nvPr/>
        </p:nvSpPr>
        <p:spPr>
          <a:xfrm>
            <a:off x="685800" y="786384"/>
            <a:ext cx="10881360" cy="777240"/>
          </a:xfrm>
          <a:prstGeom prst="rect">
            <a:avLst/>
          </a:prstGeom>
          <a:noFill/>
        </p:spPr>
        <p:txBody>
          <a:bodyPr wrap="square" lIns="0" rIns="0" tIns="0" bIns="0">
            <a:spAutoFit/>
          </a:bodyPr>
          <a:lstStyle/>
          <a:p>
            <a:pPr algn="l">
              <a:lnSpc>
                <a:spcPct val="105000"/>
              </a:lnSpc>
              <a:spcAft>
                <a:spcPts val="200"/>
              </a:spcAft>
            </a:pPr>
            <a:r>
              <a:rPr sz="3200" b="1" i="0">
                <a:solidFill>
                  <a:srgbClr val="12343B"/>
                </a:solidFill>
                <a:latin typeface="Cambria"/>
              </a:rPr>
              <a:t>One file every runtime agrees to read</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lnSpc>
                <a:spcPct val="105000"/>
              </a:lnSpc>
              <a:spcAft>
                <a:spcPts val="200"/>
              </a:spcAft>
            </a:pPr>
            <a:r>
              <a:rPr sz="1050" b="0" i="0">
                <a:solidFill>
                  <a:srgbClr val="9AB4B8"/>
                </a:solidFill>
                <a:latin typeface="Calibri"/>
              </a:rPr>
              <a:t>Session 38  ·  Model Optimization</a:t>
            </a:r>
          </a:p>
        </p:txBody>
      </p:sp>
      <p:sp>
        <p:nvSpPr>
          <p:cNvPr id="5" name="TextBox 4"/>
          <p:cNvSpPr txBox="1"/>
          <p:nvPr/>
        </p:nvSpPr>
        <p:spPr>
          <a:xfrm>
            <a:off x="777240" y="1737360"/>
            <a:ext cx="5120640" cy="274320"/>
          </a:xfrm>
          <a:prstGeom prst="rect">
            <a:avLst/>
          </a:prstGeom>
          <a:noFill/>
        </p:spPr>
        <p:txBody>
          <a:bodyPr wrap="square" lIns="0" rIns="0" tIns="0" bIns="0">
            <a:spAutoFit/>
          </a:bodyPr>
          <a:lstStyle/>
          <a:p>
            <a:pPr algn="l">
              <a:lnSpc>
                <a:spcPct val="115000"/>
              </a:lnSpc>
              <a:spcAft>
                <a:spcPts val="200"/>
              </a:spcAft>
            </a:pPr>
            <a:r>
              <a:rPr sz="1050" b="1" i="0">
                <a:solidFill>
                  <a:srgbClr val="C15B4E"/>
                </a:solidFill>
                <a:latin typeface="Calibri"/>
              </a:rPr>
              <a:t>WITHOUT A COMMON FORMAT</a:t>
            </a:r>
          </a:p>
        </p:txBody>
      </p:sp>
      <p:sp>
        <p:nvSpPr>
          <p:cNvPr id="6" name="Rounded Rectangle 5"/>
          <p:cNvSpPr/>
          <p:nvPr/>
        </p:nvSpPr>
        <p:spPr>
          <a:xfrm>
            <a:off x="777240" y="2121408"/>
            <a:ext cx="1554480" cy="420624"/>
          </a:xfrm>
          <a:prstGeom prst="roundRect">
            <a:avLst>
              <a:gd name="adj" fmla="val 14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68680" y="2121408"/>
            <a:ext cx="1371600" cy="420624"/>
          </a:xfrm>
          <a:prstGeom prst="rect">
            <a:avLst/>
          </a:prstGeom>
          <a:noFill/>
        </p:spPr>
        <p:txBody>
          <a:bodyPr wrap="square" lIns="0" rIns="0" tIns="0" bIns="0" anchor="ctr">
            <a:spAutoFit/>
          </a:bodyPr>
          <a:lstStyle/>
          <a:p>
            <a:pPr algn="ctr">
              <a:lnSpc>
                <a:spcPct val="112000"/>
              </a:lnSpc>
              <a:spcAft>
                <a:spcPts val="200"/>
              </a:spcAft>
            </a:pPr>
            <a:r>
              <a:rPr sz="1200" b="1" i="0">
                <a:solidFill>
                  <a:srgbClr val="12343B"/>
                </a:solidFill>
                <a:latin typeface="Calibri"/>
              </a:rPr>
              <a:t>PyTorch</a:t>
            </a:r>
          </a:p>
        </p:txBody>
      </p:sp>
      <p:sp>
        <p:nvSpPr>
          <p:cNvPr id="8" name="Rounded Rectangle 7"/>
          <p:cNvSpPr/>
          <p:nvPr/>
        </p:nvSpPr>
        <p:spPr>
          <a:xfrm>
            <a:off x="777240" y="2688336"/>
            <a:ext cx="1554480" cy="420624"/>
          </a:xfrm>
          <a:prstGeom prst="roundRect">
            <a:avLst>
              <a:gd name="adj" fmla="val 14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2688336"/>
            <a:ext cx="1371600" cy="420624"/>
          </a:xfrm>
          <a:prstGeom prst="rect">
            <a:avLst/>
          </a:prstGeom>
          <a:noFill/>
        </p:spPr>
        <p:txBody>
          <a:bodyPr wrap="square" lIns="0" rIns="0" tIns="0" bIns="0" anchor="ctr">
            <a:spAutoFit/>
          </a:bodyPr>
          <a:lstStyle/>
          <a:p>
            <a:pPr algn="ctr">
              <a:lnSpc>
                <a:spcPct val="112000"/>
              </a:lnSpc>
              <a:spcAft>
                <a:spcPts val="200"/>
              </a:spcAft>
            </a:pPr>
            <a:r>
              <a:rPr sz="1200" b="1" i="0">
                <a:solidFill>
                  <a:srgbClr val="12343B"/>
                </a:solidFill>
                <a:latin typeface="Calibri"/>
              </a:rPr>
              <a:t>TensorFlow</a:t>
            </a:r>
          </a:p>
        </p:txBody>
      </p:sp>
      <p:sp>
        <p:nvSpPr>
          <p:cNvPr id="10" name="Rounded Rectangle 9"/>
          <p:cNvSpPr/>
          <p:nvPr/>
        </p:nvSpPr>
        <p:spPr>
          <a:xfrm>
            <a:off x="777240" y="3255263"/>
            <a:ext cx="1554480" cy="420624"/>
          </a:xfrm>
          <a:prstGeom prst="roundRect">
            <a:avLst>
              <a:gd name="adj" fmla="val 14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68680" y="3255263"/>
            <a:ext cx="1371600" cy="420624"/>
          </a:xfrm>
          <a:prstGeom prst="rect">
            <a:avLst/>
          </a:prstGeom>
          <a:noFill/>
        </p:spPr>
        <p:txBody>
          <a:bodyPr wrap="square" lIns="0" rIns="0" tIns="0" bIns="0" anchor="ctr">
            <a:spAutoFit/>
          </a:bodyPr>
          <a:lstStyle/>
          <a:p>
            <a:pPr algn="ctr">
              <a:lnSpc>
                <a:spcPct val="112000"/>
              </a:lnSpc>
              <a:spcAft>
                <a:spcPts val="200"/>
              </a:spcAft>
            </a:pPr>
            <a:r>
              <a:rPr sz="1200" b="1" i="0">
                <a:solidFill>
                  <a:srgbClr val="12343B"/>
                </a:solidFill>
                <a:latin typeface="Calibri"/>
              </a:rPr>
              <a:t>JAX</a:t>
            </a:r>
          </a:p>
        </p:txBody>
      </p:sp>
      <p:sp>
        <p:nvSpPr>
          <p:cNvPr id="12" name="Rounded Rectangle 11"/>
          <p:cNvSpPr/>
          <p:nvPr/>
        </p:nvSpPr>
        <p:spPr>
          <a:xfrm>
            <a:off x="4160520" y="2121408"/>
            <a:ext cx="1554480" cy="420624"/>
          </a:xfrm>
          <a:prstGeom prst="roundRect">
            <a:avLst>
              <a:gd name="adj" fmla="val 14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251959" y="2121408"/>
            <a:ext cx="1371600" cy="420624"/>
          </a:xfrm>
          <a:prstGeom prst="rect">
            <a:avLst/>
          </a:prstGeom>
          <a:noFill/>
        </p:spPr>
        <p:txBody>
          <a:bodyPr wrap="square" lIns="0" rIns="0" tIns="0" bIns="0" anchor="ctr">
            <a:spAutoFit/>
          </a:bodyPr>
          <a:lstStyle/>
          <a:p>
            <a:pPr algn="ctr">
              <a:lnSpc>
                <a:spcPct val="112000"/>
              </a:lnSpc>
              <a:spcAft>
                <a:spcPts val="200"/>
              </a:spcAft>
            </a:pPr>
            <a:r>
              <a:rPr sz="1200" b="1" i="0">
                <a:solidFill>
                  <a:srgbClr val="12343B"/>
                </a:solidFill>
                <a:latin typeface="Calibri"/>
              </a:rPr>
              <a:t>TensorRT</a:t>
            </a:r>
          </a:p>
        </p:txBody>
      </p:sp>
      <p:sp>
        <p:nvSpPr>
          <p:cNvPr id="14" name="Rounded Rectangle 13"/>
          <p:cNvSpPr/>
          <p:nvPr/>
        </p:nvSpPr>
        <p:spPr>
          <a:xfrm>
            <a:off x="4160520" y="2688336"/>
            <a:ext cx="1554480" cy="420624"/>
          </a:xfrm>
          <a:prstGeom prst="roundRect">
            <a:avLst>
              <a:gd name="adj" fmla="val 14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251959" y="2688336"/>
            <a:ext cx="1371600" cy="420624"/>
          </a:xfrm>
          <a:prstGeom prst="rect">
            <a:avLst/>
          </a:prstGeom>
          <a:noFill/>
        </p:spPr>
        <p:txBody>
          <a:bodyPr wrap="square" lIns="0" rIns="0" tIns="0" bIns="0" anchor="ctr">
            <a:spAutoFit/>
          </a:bodyPr>
          <a:lstStyle/>
          <a:p>
            <a:pPr algn="ctr">
              <a:lnSpc>
                <a:spcPct val="112000"/>
              </a:lnSpc>
              <a:spcAft>
                <a:spcPts val="200"/>
              </a:spcAft>
            </a:pPr>
            <a:r>
              <a:rPr sz="1200" b="1" i="0">
                <a:solidFill>
                  <a:srgbClr val="12343B"/>
                </a:solidFill>
                <a:latin typeface="Calibri"/>
              </a:rPr>
              <a:t>CoreML</a:t>
            </a:r>
          </a:p>
        </p:txBody>
      </p:sp>
      <p:sp>
        <p:nvSpPr>
          <p:cNvPr id="16" name="Rounded Rectangle 15"/>
          <p:cNvSpPr/>
          <p:nvPr/>
        </p:nvSpPr>
        <p:spPr>
          <a:xfrm>
            <a:off x="4160520" y="3255263"/>
            <a:ext cx="1554480" cy="420624"/>
          </a:xfrm>
          <a:prstGeom prst="roundRect">
            <a:avLst>
              <a:gd name="adj" fmla="val 14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251959" y="3255263"/>
            <a:ext cx="1371600" cy="420624"/>
          </a:xfrm>
          <a:prstGeom prst="rect">
            <a:avLst/>
          </a:prstGeom>
          <a:noFill/>
        </p:spPr>
        <p:txBody>
          <a:bodyPr wrap="square" lIns="0" rIns="0" tIns="0" bIns="0" anchor="ctr">
            <a:spAutoFit/>
          </a:bodyPr>
          <a:lstStyle/>
          <a:p>
            <a:pPr algn="ctr">
              <a:lnSpc>
                <a:spcPct val="112000"/>
              </a:lnSpc>
              <a:spcAft>
                <a:spcPts val="200"/>
              </a:spcAft>
            </a:pPr>
            <a:r>
              <a:rPr sz="1200" b="1" i="0">
                <a:solidFill>
                  <a:srgbClr val="12343B"/>
                </a:solidFill>
                <a:latin typeface="Calibri"/>
              </a:rPr>
              <a:t>OpenVINO</a:t>
            </a:r>
          </a:p>
        </p:txBody>
      </p:sp>
      <p:cxnSp>
        <p:nvCxnSpPr>
          <p:cNvPr id="18" name="Connector 17"/>
          <p:cNvCxnSpPr/>
          <p:nvPr/>
        </p:nvCxnSpPr>
        <p:spPr>
          <a:xfrm>
            <a:off x="2331720" y="2331720"/>
            <a:ext cx="1828800" cy="0"/>
          </a:xfrm>
          <a:prstGeom prst="line">
            <a:avLst/>
          </a:prstGeom>
          <a:ln w="12700">
            <a:solidFill>
              <a:srgbClr val="E0C4C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331720" y="2331720"/>
            <a:ext cx="1828800" cy="566928"/>
          </a:xfrm>
          <a:prstGeom prst="line">
            <a:avLst/>
          </a:prstGeom>
          <a:ln w="12700">
            <a:solidFill>
              <a:srgbClr val="E0C4C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331720" y="2331720"/>
            <a:ext cx="1828800" cy="1133856"/>
          </a:xfrm>
          <a:prstGeom prst="line">
            <a:avLst/>
          </a:prstGeom>
          <a:ln w="12700">
            <a:solidFill>
              <a:srgbClr val="E0C4C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331720" y="2331720"/>
            <a:ext cx="1828800" cy="566928"/>
          </a:xfrm>
          <a:prstGeom prst="line">
            <a:avLst/>
          </a:prstGeom>
          <a:ln w="12700">
            <a:solidFill>
              <a:srgbClr val="E0C4C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331720" y="2898648"/>
            <a:ext cx="1828800" cy="0"/>
          </a:xfrm>
          <a:prstGeom prst="line">
            <a:avLst/>
          </a:prstGeom>
          <a:ln w="12700">
            <a:solidFill>
              <a:srgbClr val="E0C4C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331720" y="2898648"/>
            <a:ext cx="1828800" cy="566928"/>
          </a:xfrm>
          <a:prstGeom prst="line">
            <a:avLst/>
          </a:prstGeom>
          <a:ln w="12700">
            <a:solidFill>
              <a:srgbClr val="E0C4C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331720" y="2331720"/>
            <a:ext cx="1828800" cy="1133856"/>
          </a:xfrm>
          <a:prstGeom prst="line">
            <a:avLst/>
          </a:prstGeom>
          <a:ln w="12700">
            <a:solidFill>
              <a:srgbClr val="E0C4C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331720" y="2898648"/>
            <a:ext cx="1828800" cy="566928"/>
          </a:xfrm>
          <a:prstGeom prst="line">
            <a:avLst/>
          </a:prstGeom>
          <a:ln w="12700">
            <a:solidFill>
              <a:srgbClr val="E0C4C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331720" y="3465576"/>
            <a:ext cx="1828800" cy="0"/>
          </a:xfrm>
          <a:prstGeom prst="line">
            <a:avLst/>
          </a:prstGeom>
          <a:ln w="12700">
            <a:solidFill>
              <a:srgbClr val="E0C4C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3931920"/>
            <a:ext cx="5120640" cy="310896"/>
          </a:xfrm>
          <a:prstGeom prst="rect">
            <a:avLst/>
          </a:prstGeom>
          <a:noFill/>
        </p:spPr>
        <p:txBody>
          <a:bodyPr wrap="square" lIns="0" rIns="0" tIns="0" bIns="0">
            <a:spAutoFit/>
          </a:bodyPr>
          <a:lstStyle/>
          <a:p>
            <a:pPr algn="l">
              <a:lnSpc>
                <a:spcPct val="115000"/>
              </a:lnSpc>
              <a:spcAft>
                <a:spcPts val="200"/>
              </a:spcAft>
            </a:pPr>
            <a:r>
              <a:rPr sz="1200" b="0" i="0">
                <a:solidFill>
                  <a:srgbClr val="C15B4E"/>
                </a:solidFill>
                <a:latin typeface="Calibri"/>
              </a:rPr>
              <a:t>3 frameworks × 3 targets = 9 converters to write and keep alive.</a:t>
            </a:r>
          </a:p>
        </p:txBody>
      </p:sp>
      <p:sp>
        <p:nvSpPr>
          <p:cNvPr id="28" name="TextBox 27"/>
          <p:cNvSpPr txBox="1"/>
          <p:nvPr/>
        </p:nvSpPr>
        <p:spPr>
          <a:xfrm>
            <a:off x="6355080" y="1737360"/>
            <a:ext cx="5029200" cy="274320"/>
          </a:xfrm>
          <a:prstGeom prst="rect">
            <a:avLst/>
          </a:prstGeom>
          <a:noFill/>
        </p:spPr>
        <p:txBody>
          <a:bodyPr wrap="square" lIns="0" rIns="0" tIns="0" bIns="0">
            <a:spAutoFit/>
          </a:bodyPr>
          <a:lstStyle/>
          <a:p>
            <a:pPr algn="l">
              <a:lnSpc>
                <a:spcPct val="115000"/>
              </a:lnSpc>
              <a:spcAft>
                <a:spcPts val="200"/>
              </a:spcAft>
            </a:pPr>
            <a:r>
              <a:rPr sz="1050" b="1" i="0">
                <a:solidFill>
                  <a:srgbClr val="028090"/>
                </a:solidFill>
                <a:latin typeface="Calibri"/>
              </a:rPr>
              <a:t>WITH ONNX IN THE MIDDLE</a:t>
            </a:r>
          </a:p>
        </p:txBody>
      </p:sp>
      <p:sp>
        <p:nvSpPr>
          <p:cNvPr id="29" name="Rounded Rectangle 28"/>
          <p:cNvSpPr/>
          <p:nvPr/>
        </p:nvSpPr>
        <p:spPr>
          <a:xfrm>
            <a:off x="6355080" y="2121408"/>
            <a:ext cx="1417320" cy="420624"/>
          </a:xfrm>
          <a:prstGeom prst="roundRect">
            <a:avLst>
              <a:gd name="adj" fmla="val 14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446520" y="2121408"/>
            <a:ext cx="1234440" cy="420624"/>
          </a:xfrm>
          <a:prstGeom prst="rect">
            <a:avLst/>
          </a:prstGeom>
          <a:noFill/>
        </p:spPr>
        <p:txBody>
          <a:bodyPr wrap="square" lIns="0" rIns="0" tIns="0" bIns="0" anchor="ctr">
            <a:spAutoFit/>
          </a:bodyPr>
          <a:lstStyle/>
          <a:p>
            <a:pPr algn="ctr">
              <a:lnSpc>
                <a:spcPct val="112000"/>
              </a:lnSpc>
              <a:spcAft>
                <a:spcPts val="200"/>
              </a:spcAft>
            </a:pPr>
            <a:r>
              <a:rPr sz="1200" b="1" i="0">
                <a:solidFill>
                  <a:srgbClr val="12343B"/>
                </a:solidFill>
                <a:latin typeface="Calibri"/>
              </a:rPr>
              <a:t>PyTorch</a:t>
            </a:r>
          </a:p>
        </p:txBody>
      </p:sp>
      <p:sp>
        <p:nvSpPr>
          <p:cNvPr id="31" name="Rounded Rectangle 30"/>
          <p:cNvSpPr/>
          <p:nvPr/>
        </p:nvSpPr>
        <p:spPr>
          <a:xfrm>
            <a:off x="6355080" y="2688336"/>
            <a:ext cx="1417320" cy="420624"/>
          </a:xfrm>
          <a:prstGeom prst="roundRect">
            <a:avLst>
              <a:gd name="adj" fmla="val 14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446520" y="2688336"/>
            <a:ext cx="1234440" cy="420624"/>
          </a:xfrm>
          <a:prstGeom prst="rect">
            <a:avLst/>
          </a:prstGeom>
          <a:noFill/>
        </p:spPr>
        <p:txBody>
          <a:bodyPr wrap="square" lIns="0" rIns="0" tIns="0" bIns="0" anchor="ctr">
            <a:spAutoFit/>
          </a:bodyPr>
          <a:lstStyle/>
          <a:p>
            <a:pPr algn="ctr">
              <a:lnSpc>
                <a:spcPct val="112000"/>
              </a:lnSpc>
              <a:spcAft>
                <a:spcPts val="200"/>
              </a:spcAft>
            </a:pPr>
            <a:r>
              <a:rPr sz="1200" b="1" i="0">
                <a:solidFill>
                  <a:srgbClr val="12343B"/>
                </a:solidFill>
                <a:latin typeface="Calibri"/>
              </a:rPr>
              <a:t>TensorFlow</a:t>
            </a:r>
          </a:p>
        </p:txBody>
      </p:sp>
      <p:sp>
        <p:nvSpPr>
          <p:cNvPr id="33" name="Rounded Rectangle 32"/>
          <p:cNvSpPr/>
          <p:nvPr/>
        </p:nvSpPr>
        <p:spPr>
          <a:xfrm>
            <a:off x="6355080" y="3255263"/>
            <a:ext cx="1417320" cy="420624"/>
          </a:xfrm>
          <a:prstGeom prst="roundRect">
            <a:avLst>
              <a:gd name="adj" fmla="val 14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46520" y="3255263"/>
            <a:ext cx="1234440" cy="420624"/>
          </a:xfrm>
          <a:prstGeom prst="rect">
            <a:avLst/>
          </a:prstGeom>
          <a:noFill/>
        </p:spPr>
        <p:txBody>
          <a:bodyPr wrap="square" lIns="0" rIns="0" tIns="0" bIns="0" anchor="ctr">
            <a:spAutoFit/>
          </a:bodyPr>
          <a:lstStyle/>
          <a:p>
            <a:pPr algn="ctr">
              <a:lnSpc>
                <a:spcPct val="112000"/>
              </a:lnSpc>
              <a:spcAft>
                <a:spcPts val="200"/>
              </a:spcAft>
            </a:pPr>
            <a:r>
              <a:rPr sz="1200" b="1" i="0">
                <a:solidFill>
                  <a:srgbClr val="12343B"/>
                </a:solidFill>
                <a:latin typeface="Calibri"/>
              </a:rPr>
              <a:t>JAX</a:t>
            </a:r>
          </a:p>
        </p:txBody>
      </p:sp>
      <p:sp>
        <p:nvSpPr>
          <p:cNvPr id="35" name="Rounded Rectangle 34"/>
          <p:cNvSpPr/>
          <p:nvPr/>
        </p:nvSpPr>
        <p:spPr>
          <a:xfrm>
            <a:off x="8321040" y="2404872"/>
            <a:ext cx="1051560" cy="768096"/>
          </a:xfrm>
          <a:prstGeom prst="roundRect">
            <a:avLst>
              <a:gd name="adj" fmla="val 14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412480" y="2404872"/>
            <a:ext cx="868680" cy="768096"/>
          </a:xfrm>
          <a:prstGeom prst="rect">
            <a:avLst/>
          </a:prstGeom>
          <a:noFill/>
        </p:spPr>
        <p:txBody>
          <a:bodyPr wrap="square" lIns="0" rIns="0" tIns="0" bIns="0" anchor="ctr">
            <a:spAutoFit/>
          </a:bodyPr>
          <a:lstStyle/>
          <a:p>
            <a:pPr algn="ctr">
              <a:lnSpc>
                <a:spcPct val="112000"/>
              </a:lnSpc>
              <a:spcAft>
                <a:spcPts val="200"/>
              </a:spcAft>
            </a:pPr>
            <a:r>
              <a:rPr sz="1300" b="1" i="0">
                <a:solidFill>
                  <a:srgbClr val="FFFFFF"/>
                </a:solidFill>
                <a:latin typeface="Calibri"/>
              </a:rPr>
              <a:t>ONNX</a:t>
            </a:r>
          </a:p>
        </p:txBody>
      </p:sp>
      <p:sp>
        <p:nvSpPr>
          <p:cNvPr id="37" name="Rounded Rectangle 36"/>
          <p:cNvSpPr/>
          <p:nvPr/>
        </p:nvSpPr>
        <p:spPr>
          <a:xfrm>
            <a:off x="9921240" y="2121408"/>
            <a:ext cx="1463040" cy="420624"/>
          </a:xfrm>
          <a:prstGeom prst="roundRect">
            <a:avLst>
              <a:gd name="adj" fmla="val 14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10012680" y="2121408"/>
            <a:ext cx="1280160" cy="420624"/>
          </a:xfrm>
          <a:prstGeom prst="rect">
            <a:avLst/>
          </a:prstGeom>
          <a:noFill/>
        </p:spPr>
        <p:txBody>
          <a:bodyPr wrap="square" lIns="0" rIns="0" tIns="0" bIns="0" anchor="ctr">
            <a:spAutoFit/>
          </a:bodyPr>
          <a:lstStyle/>
          <a:p>
            <a:pPr algn="ctr">
              <a:lnSpc>
                <a:spcPct val="112000"/>
              </a:lnSpc>
              <a:spcAft>
                <a:spcPts val="200"/>
              </a:spcAft>
            </a:pPr>
            <a:r>
              <a:rPr sz="1200" b="1" i="0">
                <a:solidFill>
                  <a:srgbClr val="12343B"/>
                </a:solidFill>
                <a:latin typeface="Calibri"/>
              </a:rPr>
              <a:t>TensorRT</a:t>
            </a:r>
          </a:p>
        </p:txBody>
      </p:sp>
      <p:sp>
        <p:nvSpPr>
          <p:cNvPr id="39" name="Rounded Rectangle 38"/>
          <p:cNvSpPr/>
          <p:nvPr/>
        </p:nvSpPr>
        <p:spPr>
          <a:xfrm>
            <a:off x="9921240" y="2688336"/>
            <a:ext cx="1463040" cy="420624"/>
          </a:xfrm>
          <a:prstGeom prst="roundRect">
            <a:avLst>
              <a:gd name="adj" fmla="val 14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10012680" y="2688336"/>
            <a:ext cx="1280160" cy="420624"/>
          </a:xfrm>
          <a:prstGeom prst="rect">
            <a:avLst/>
          </a:prstGeom>
          <a:noFill/>
        </p:spPr>
        <p:txBody>
          <a:bodyPr wrap="square" lIns="0" rIns="0" tIns="0" bIns="0" anchor="ctr">
            <a:spAutoFit/>
          </a:bodyPr>
          <a:lstStyle/>
          <a:p>
            <a:pPr algn="ctr">
              <a:lnSpc>
                <a:spcPct val="112000"/>
              </a:lnSpc>
              <a:spcAft>
                <a:spcPts val="200"/>
              </a:spcAft>
            </a:pPr>
            <a:r>
              <a:rPr sz="1200" b="1" i="0">
                <a:solidFill>
                  <a:srgbClr val="12343B"/>
                </a:solidFill>
                <a:latin typeface="Calibri"/>
              </a:rPr>
              <a:t>CoreML</a:t>
            </a:r>
          </a:p>
        </p:txBody>
      </p:sp>
      <p:sp>
        <p:nvSpPr>
          <p:cNvPr id="41" name="Rounded Rectangle 40"/>
          <p:cNvSpPr/>
          <p:nvPr/>
        </p:nvSpPr>
        <p:spPr>
          <a:xfrm>
            <a:off x="9921240" y="3255263"/>
            <a:ext cx="1463040" cy="420624"/>
          </a:xfrm>
          <a:prstGeom prst="roundRect">
            <a:avLst>
              <a:gd name="adj" fmla="val 14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10012680" y="3255263"/>
            <a:ext cx="1280160" cy="420624"/>
          </a:xfrm>
          <a:prstGeom prst="rect">
            <a:avLst/>
          </a:prstGeom>
          <a:noFill/>
        </p:spPr>
        <p:txBody>
          <a:bodyPr wrap="square" lIns="0" rIns="0" tIns="0" bIns="0" anchor="ctr">
            <a:spAutoFit/>
          </a:bodyPr>
          <a:lstStyle/>
          <a:p>
            <a:pPr algn="ctr">
              <a:lnSpc>
                <a:spcPct val="112000"/>
              </a:lnSpc>
              <a:spcAft>
                <a:spcPts val="200"/>
              </a:spcAft>
            </a:pPr>
            <a:r>
              <a:rPr sz="1200" b="1" i="0">
                <a:solidFill>
                  <a:srgbClr val="12343B"/>
                </a:solidFill>
                <a:latin typeface="Calibri"/>
              </a:rPr>
              <a:t>OpenVINO</a:t>
            </a:r>
          </a:p>
        </p:txBody>
      </p:sp>
      <p:cxnSp>
        <p:nvCxnSpPr>
          <p:cNvPr id="43" name="Connector 42"/>
          <p:cNvCxnSpPr/>
          <p:nvPr/>
        </p:nvCxnSpPr>
        <p:spPr>
          <a:xfrm>
            <a:off x="7772400" y="2331720"/>
            <a:ext cx="548640" cy="457200"/>
          </a:xfrm>
          <a:prstGeom prst="line">
            <a:avLst/>
          </a:prstGeom>
          <a:ln w="15240">
            <a:solidFill>
              <a:srgbClr val="B6D4C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9372600" y="2331720"/>
            <a:ext cx="548640" cy="457200"/>
          </a:xfrm>
          <a:prstGeom prst="line">
            <a:avLst/>
          </a:prstGeom>
          <a:ln w="15240">
            <a:solidFill>
              <a:srgbClr val="B6D4C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7772400" y="2788920"/>
            <a:ext cx="548640" cy="109728"/>
          </a:xfrm>
          <a:prstGeom prst="line">
            <a:avLst/>
          </a:prstGeom>
          <a:ln w="15240">
            <a:solidFill>
              <a:srgbClr val="B6D4CF"/>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372600" y="2788920"/>
            <a:ext cx="548640" cy="109728"/>
          </a:xfrm>
          <a:prstGeom prst="line">
            <a:avLst/>
          </a:prstGeom>
          <a:ln w="15240">
            <a:solidFill>
              <a:srgbClr val="B6D4C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7772400" y="2788920"/>
            <a:ext cx="548640" cy="676656"/>
          </a:xfrm>
          <a:prstGeom prst="line">
            <a:avLst/>
          </a:prstGeom>
          <a:ln w="15240">
            <a:solidFill>
              <a:srgbClr val="B6D4CF"/>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372600" y="2788920"/>
            <a:ext cx="548640" cy="676656"/>
          </a:xfrm>
          <a:prstGeom prst="line">
            <a:avLst/>
          </a:prstGeom>
          <a:ln w="15240">
            <a:solidFill>
              <a:srgbClr val="B6D4CF"/>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355080" y="3931920"/>
            <a:ext cx="5029200" cy="310896"/>
          </a:xfrm>
          <a:prstGeom prst="rect">
            <a:avLst/>
          </a:prstGeom>
          <a:noFill/>
        </p:spPr>
        <p:txBody>
          <a:bodyPr wrap="square" lIns="0" rIns="0" tIns="0" bIns="0">
            <a:spAutoFit/>
          </a:bodyPr>
          <a:lstStyle/>
          <a:p>
            <a:pPr algn="l">
              <a:lnSpc>
                <a:spcPct val="115000"/>
              </a:lnSpc>
              <a:spcAft>
                <a:spcPts val="200"/>
              </a:spcAft>
            </a:pPr>
            <a:r>
              <a:rPr sz="1200" b="0" i="0">
                <a:solidFill>
                  <a:srgbClr val="028090"/>
                </a:solidFill>
                <a:latin typeface="Calibri"/>
              </a:rPr>
              <a:t>3 exporters + 3 importers = 6, and each new target costs one, not three.</a:t>
            </a:r>
          </a:p>
        </p:txBody>
      </p:sp>
      <p:sp>
        <p:nvSpPr>
          <p:cNvPr id="50" name="Rounded Rectangle 49"/>
          <p:cNvSpPr/>
          <p:nvPr/>
        </p:nvSpPr>
        <p:spPr>
          <a:xfrm>
            <a:off x="777240" y="4498848"/>
            <a:ext cx="5230368" cy="17830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1033271" y="4754880"/>
            <a:ext cx="4718304" cy="292608"/>
          </a:xfrm>
          <a:prstGeom prst="rect">
            <a:avLst/>
          </a:prstGeom>
          <a:noFill/>
        </p:spPr>
        <p:txBody>
          <a:bodyPr wrap="square" lIns="0" rIns="0" tIns="0" bIns="0">
            <a:spAutoFit/>
          </a:bodyPr>
          <a:lstStyle/>
          <a:p>
            <a:pPr algn="l">
              <a:lnSpc>
                <a:spcPct val="105000"/>
              </a:lnSpc>
              <a:spcAft>
                <a:spcPts val="200"/>
              </a:spcAft>
            </a:pPr>
            <a:r>
              <a:rPr sz="1350" b="1" i="0">
                <a:solidFill>
                  <a:srgbClr val="12343B"/>
                </a:solidFill>
                <a:latin typeface="Calibri"/>
              </a:rPr>
              <a:t>What is actually in the file</a:t>
            </a:r>
          </a:p>
        </p:txBody>
      </p:sp>
      <p:sp>
        <p:nvSpPr>
          <p:cNvPr id="52" name="TextBox 51"/>
          <p:cNvSpPr txBox="1"/>
          <p:nvPr/>
        </p:nvSpPr>
        <p:spPr>
          <a:xfrm>
            <a:off x="1033271" y="5138928"/>
            <a:ext cx="4718304" cy="886968"/>
          </a:xfrm>
          <a:prstGeom prst="rect">
            <a:avLst/>
          </a:prstGeom>
          <a:noFill/>
        </p:spPr>
        <p:txBody>
          <a:bodyPr wrap="square" lIns="0" rIns="0" tIns="0" bIns="0">
            <a:spAutoFit/>
          </a:bodyPr>
          <a:lstStyle/>
          <a:p>
            <a:pPr algn="l">
              <a:lnSpc>
                <a:spcPct val="122000"/>
              </a:lnSpc>
              <a:spcAft>
                <a:spcPts val="400"/>
              </a:spcAft>
            </a:pPr>
            <a:r>
              <a:rPr sz="1250" b="0" i="0">
                <a:solidFill>
                  <a:srgbClr val="5A7A80"/>
                </a:solidFill>
                <a:latin typeface="Calibri"/>
              </a:rPr>
              <a:t>A protobuf holding a directed acyclic graph.</a:t>
            </a:r>
          </a:p>
          <a:p>
            <a:pPr algn="l">
              <a:lnSpc>
                <a:spcPct val="122000"/>
              </a:lnSpc>
              <a:spcAft>
                <a:spcPts val="400"/>
              </a:spcAft>
            </a:pPr>
            <a:r>
              <a:rPr sz="1250" b="0" i="0">
                <a:solidFill>
                  <a:srgbClr val="5A7A80"/>
                </a:solidFill>
                <a:latin typeface="Calibri"/>
              </a:rPr>
              <a:t>Nodes are standard operators (Conv, Relu, MatMul, Resize), edges are named tensors, and the trained weights ride along as initializers.</a:t>
            </a:r>
          </a:p>
        </p:txBody>
      </p:sp>
      <p:sp>
        <p:nvSpPr>
          <p:cNvPr id="53" name="Rounded Rectangle 52"/>
          <p:cNvSpPr/>
          <p:nvPr/>
        </p:nvSpPr>
        <p:spPr>
          <a:xfrm>
            <a:off x="6144768" y="4498848"/>
            <a:ext cx="5230368" cy="17830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6400800" y="4754880"/>
            <a:ext cx="4718304" cy="292608"/>
          </a:xfrm>
          <a:prstGeom prst="rect">
            <a:avLst/>
          </a:prstGeom>
          <a:noFill/>
        </p:spPr>
        <p:txBody>
          <a:bodyPr wrap="square" lIns="0" rIns="0" tIns="0" bIns="0">
            <a:spAutoFit/>
          </a:bodyPr>
          <a:lstStyle/>
          <a:p>
            <a:pPr algn="l">
              <a:lnSpc>
                <a:spcPct val="105000"/>
              </a:lnSpc>
              <a:spcAft>
                <a:spcPts val="200"/>
              </a:spcAft>
            </a:pPr>
            <a:r>
              <a:rPr sz="1350" b="1" i="0">
                <a:solidFill>
                  <a:srgbClr val="12343B"/>
                </a:solidFill>
                <a:latin typeface="Calibri"/>
              </a:rPr>
              <a:t>Why the opset number matters</a:t>
            </a:r>
          </a:p>
        </p:txBody>
      </p:sp>
      <p:sp>
        <p:nvSpPr>
          <p:cNvPr id="55" name="TextBox 54"/>
          <p:cNvSpPr txBox="1"/>
          <p:nvPr/>
        </p:nvSpPr>
        <p:spPr>
          <a:xfrm>
            <a:off x="6400800" y="5138928"/>
            <a:ext cx="4718304" cy="886968"/>
          </a:xfrm>
          <a:prstGeom prst="rect">
            <a:avLst/>
          </a:prstGeom>
          <a:noFill/>
        </p:spPr>
        <p:txBody>
          <a:bodyPr wrap="square" lIns="0" rIns="0" tIns="0" bIns="0">
            <a:spAutoFit/>
          </a:bodyPr>
          <a:lstStyle/>
          <a:p>
            <a:pPr algn="l">
              <a:lnSpc>
                <a:spcPct val="122000"/>
              </a:lnSpc>
              <a:spcAft>
                <a:spcPts val="400"/>
              </a:spcAft>
            </a:pPr>
            <a:r>
              <a:rPr sz="1250" b="0" i="0">
                <a:solidFill>
                  <a:srgbClr val="5A7A80"/>
                </a:solidFill>
                <a:latin typeface="Calibri"/>
              </a:rPr>
              <a:t>Operators are versioned. An export at opset 17 uses the definitions frozen in that release, so a runtime that supports opset 17 can run your model years later without you shipping PyTorch alongside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lnSpc>
                <a:spcPct val="105000"/>
              </a:lnSpc>
              <a:spcAft>
                <a:spcPts val="200"/>
              </a:spcAft>
            </a:pPr>
            <a:r>
              <a:rPr sz="1200" b="1" i="0">
                <a:solidFill>
                  <a:srgbClr val="028090"/>
                </a:solidFill>
                <a:latin typeface="Calibri"/>
              </a:rPr>
              <a:t>ONNX · EXPORT</a:t>
            </a:r>
          </a:p>
        </p:txBody>
      </p:sp>
      <p:sp>
        <p:nvSpPr>
          <p:cNvPr id="3" name="TextBox 2"/>
          <p:cNvSpPr txBox="1"/>
          <p:nvPr/>
        </p:nvSpPr>
        <p:spPr>
          <a:xfrm>
            <a:off x="685800" y="786384"/>
            <a:ext cx="10881360" cy="777240"/>
          </a:xfrm>
          <a:prstGeom prst="rect">
            <a:avLst/>
          </a:prstGeom>
          <a:noFill/>
        </p:spPr>
        <p:txBody>
          <a:bodyPr wrap="square" lIns="0" rIns="0" tIns="0" bIns="0">
            <a:spAutoFit/>
          </a:bodyPr>
          <a:lstStyle/>
          <a:p>
            <a:pPr algn="l">
              <a:lnSpc>
                <a:spcPct val="105000"/>
              </a:lnSpc>
              <a:spcAft>
                <a:spcPts val="200"/>
              </a:spcAft>
            </a:pPr>
            <a:r>
              <a:rPr sz="3200" b="1" i="0">
                <a:solidFill>
                  <a:srgbClr val="12343B"/>
                </a:solidFill>
                <a:latin typeface="Cambria"/>
              </a:rPr>
              <a:t>What torch.onnx.export really does</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lnSpc>
                <a:spcPct val="105000"/>
              </a:lnSpc>
              <a:spcAft>
                <a:spcPts val="200"/>
              </a:spcAft>
            </a:pPr>
            <a:r>
              <a:rPr sz="1050" b="0" i="0">
                <a:solidFill>
                  <a:srgbClr val="9AB4B8"/>
                </a:solidFill>
                <a:latin typeface="Calibri"/>
              </a:rPr>
              <a:t>Session 38  ·  Model Optimization</a:t>
            </a:r>
          </a:p>
        </p:txBody>
      </p:sp>
      <p:sp>
        <p:nvSpPr>
          <p:cNvPr id="5" name="Rounded Rectangle 4"/>
          <p:cNvSpPr/>
          <p:nvPr/>
        </p:nvSpPr>
        <p:spPr>
          <a:xfrm>
            <a:off x="777240" y="1783080"/>
            <a:ext cx="2395728" cy="1298448"/>
          </a:xfrm>
          <a:prstGeom prst="roundRect">
            <a:avLst>
              <a:gd name="adj" fmla="val 6000"/>
            </a:avLst>
          </a:prstGeom>
          <a:solidFill>
            <a:srgbClr val="E3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78408" y="1956816"/>
            <a:ext cx="1993392" cy="256032"/>
          </a:xfrm>
          <a:prstGeom prst="rect">
            <a:avLst/>
          </a:prstGeom>
          <a:noFill/>
        </p:spPr>
        <p:txBody>
          <a:bodyPr wrap="square" lIns="0" rIns="0" tIns="0" bIns="0">
            <a:spAutoFit/>
          </a:bodyPr>
          <a:lstStyle/>
          <a:p>
            <a:pPr algn="l">
              <a:lnSpc>
                <a:spcPct val="115000"/>
              </a:lnSpc>
              <a:spcAft>
                <a:spcPts val="200"/>
              </a:spcAft>
            </a:pPr>
            <a:r>
              <a:rPr sz="1250" b="1" i="0">
                <a:solidFill>
                  <a:srgbClr val="028090"/>
                </a:solidFill>
                <a:latin typeface="Calibri"/>
              </a:rPr>
              <a:t>1 · Feed</a:t>
            </a:r>
          </a:p>
        </p:txBody>
      </p:sp>
      <p:sp>
        <p:nvSpPr>
          <p:cNvPr id="7" name="TextBox 6"/>
          <p:cNvSpPr txBox="1"/>
          <p:nvPr/>
        </p:nvSpPr>
        <p:spPr>
          <a:xfrm>
            <a:off x="978408" y="2267712"/>
            <a:ext cx="1993392" cy="731520"/>
          </a:xfrm>
          <a:prstGeom prst="rect">
            <a:avLst/>
          </a:prstGeom>
          <a:noFill/>
        </p:spPr>
        <p:txBody>
          <a:bodyPr wrap="square" lIns="0" rIns="0" tIns="0" bIns="0">
            <a:spAutoFit/>
          </a:bodyPr>
          <a:lstStyle/>
          <a:p>
            <a:pPr algn="l">
              <a:lnSpc>
                <a:spcPct val="118000"/>
              </a:lnSpc>
              <a:spcAft>
                <a:spcPts val="0"/>
              </a:spcAft>
            </a:pPr>
            <a:r>
              <a:rPr sz="1150" b="0" i="0">
                <a:solidFill>
                  <a:srgbClr val="5A7A80"/>
                </a:solidFill>
                <a:latin typeface="Calibri"/>
              </a:rPr>
              <a:t>Push one dummy input</a:t>
            </a:r>
          </a:p>
          <a:p>
            <a:pPr algn="l">
              <a:lnSpc>
                <a:spcPct val="118000"/>
              </a:lnSpc>
              <a:spcAft>
                <a:spcPts val="0"/>
              </a:spcAft>
            </a:pPr>
            <a:r>
              <a:rPr sz="1150" b="0" i="0">
                <a:solidFill>
                  <a:srgbClr val="5A7A80"/>
                </a:solidFill>
                <a:latin typeface="Calibri"/>
              </a:rPr>
              <a:t>of the right shape</a:t>
            </a:r>
          </a:p>
          <a:p>
            <a:pPr algn="l">
              <a:lnSpc>
                <a:spcPct val="118000"/>
              </a:lnSpc>
              <a:spcAft>
                <a:spcPts val="0"/>
              </a:spcAft>
            </a:pPr>
            <a:r>
              <a:rPr sz="1150" b="0" i="0">
                <a:solidFill>
                  <a:srgbClr val="5A7A80"/>
                </a:solidFill>
                <a:latin typeface="Calibri"/>
              </a:rPr>
              <a:t>through the model</a:t>
            </a:r>
          </a:p>
        </p:txBody>
      </p:sp>
      <p:sp>
        <p:nvSpPr>
          <p:cNvPr id="8" name="Right Arrow 7"/>
          <p:cNvSpPr/>
          <p:nvPr/>
        </p:nvSpPr>
        <p:spPr>
          <a:xfrm>
            <a:off x="3191256" y="2313432"/>
            <a:ext cx="365760" cy="237744"/>
          </a:xfrm>
          <a:prstGeom prst="rightArrow">
            <a:avLst/>
          </a:prstGeom>
          <a:solidFill>
            <a:srgbClr val="B6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3575304" y="1783080"/>
            <a:ext cx="2395728" cy="1298448"/>
          </a:xfrm>
          <a:prstGeom prst="roundRect">
            <a:avLst>
              <a:gd name="adj" fmla="val 6000"/>
            </a:avLst>
          </a:prstGeom>
          <a:solidFill>
            <a:srgbClr val="E3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776472" y="1956816"/>
            <a:ext cx="1993392" cy="256032"/>
          </a:xfrm>
          <a:prstGeom prst="rect">
            <a:avLst/>
          </a:prstGeom>
          <a:noFill/>
        </p:spPr>
        <p:txBody>
          <a:bodyPr wrap="square" lIns="0" rIns="0" tIns="0" bIns="0">
            <a:spAutoFit/>
          </a:bodyPr>
          <a:lstStyle/>
          <a:p>
            <a:pPr algn="l">
              <a:lnSpc>
                <a:spcPct val="115000"/>
              </a:lnSpc>
              <a:spcAft>
                <a:spcPts val="200"/>
              </a:spcAft>
            </a:pPr>
            <a:r>
              <a:rPr sz="1250" b="1" i="0">
                <a:solidFill>
                  <a:srgbClr val="028090"/>
                </a:solidFill>
                <a:latin typeface="Calibri"/>
              </a:rPr>
              <a:t>2 · Trace</a:t>
            </a:r>
          </a:p>
        </p:txBody>
      </p:sp>
      <p:sp>
        <p:nvSpPr>
          <p:cNvPr id="11" name="TextBox 10"/>
          <p:cNvSpPr txBox="1"/>
          <p:nvPr/>
        </p:nvSpPr>
        <p:spPr>
          <a:xfrm>
            <a:off x="3776472" y="2267712"/>
            <a:ext cx="1993392" cy="731520"/>
          </a:xfrm>
          <a:prstGeom prst="rect">
            <a:avLst/>
          </a:prstGeom>
          <a:noFill/>
        </p:spPr>
        <p:txBody>
          <a:bodyPr wrap="square" lIns="0" rIns="0" tIns="0" bIns="0">
            <a:spAutoFit/>
          </a:bodyPr>
          <a:lstStyle/>
          <a:p>
            <a:pPr algn="l">
              <a:lnSpc>
                <a:spcPct val="118000"/>
              </a:lnSpc>
              <a:spcAft>
                <a:spcPts val="0"/>
              </a:spcAft>
            </a:pPr>
            <a:r>
              <a:rPr sz="1150" b="0" i="0">
                <a:solidFill>
                  <a:srgbClr val="5A7A80"/>
                </a:solidFill>
                <a:latin typeface="Calibri"/>
              </a:rPr>
              <a:t>Record every operator</a:t>
            </a:r>
          </a:p>
          <a:p>
            <a:pPr algn="l">
              <a:lnSpc>
                <a:spcPct val="118000"/>
              </a:lnSpc>
              <a:spcAft>
                <a:spcPts val="0"/>
              </a:spcAft>
            </a:pPr>
            <a:r>
              <a:rPr sz="1150" b="0" i="0">
                <a:solidFill>
                  <a:srgbClr val="5A7A80"/>
                </a:solidFill>
                <a:latin typeface="Calibri"/>
              </a:rPr>
              <a:t>that actually executed</a:t>
            </a:r>
          </a:p>
          <a:p>
            <a:pPr algn="l">
              <a:lnSpc>
                <a:spcPct val="118000"/>
              </a:lnSpc>
              <a:spcAft>
                <a:spcPts val="0"/>
              </a:spcAft>
            </a:pPr>
            <a:r>
              <a:rPr sz="1150" b="0" i="0">
                <a:solidFill>
                  <a:srgbClr val="5A7A80"/>
                </a:solidFill>
                <a:latin typeface="Calibri"/>
              </a:rPr>
              <a:t>on that input</a:t>
            </a:r>
          </a:p>
        </p:txBody>
      </p:sp>
      <p:sp>
        <p:nvSpPr>
          <p:cNvPr id="12" name="Right Arrow 11"/>
          <p:cNvSpPr/>
          <p:nvPr/>
        </p:nvSpPr>
        <p:spPr>
          <a:xfrm>
            <a:off x="5989320" y="2313432"/>
            <a:ext cx="365760" cy="237744"/>
          </a:xfrm>
          <a:prstGeom prst="rightArrow">
            <a:avLst/>
          </a:prstGeom>
          <a:solidFill>
            <a:srgbClr val="B6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373368" y="1783080"/>
            <a:ext cx="2395728" cy="1298448"/>
          </a:xfrm>
          <a:prstGeom prst="roundRect">
            <a:avLst>
              <a:gd name="adj" fmla="val 6000"/>
            </a:avLst>
          </a:prstGeom>
          <a:solidFill>
            <a:srgbClr val="E3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574536" y="1956816"/>
            <a:ext cx="1993392" cy="256032"/>
          </a:xfrm>
          <a:prstGeom prst="rect">
            <a:avLst/>
          </a:prstGeom>
          <a:noFill/>
        </p:spPr>
        <p:txBody>
          <a:bodyPr wrap="square" lIns="0" rIns="0" tIns="0" bIns="0">
            <a:spAutoFit/>
          </a:bodyPr>
          <a:lstStyle/>
          <a:p>
            <a:pPr algn="l">
              <a:lnSpc>
                <a:spcPct val="115000"/>
              </a:lnSpc>
              <a:spcAft>
                <a:spcPts val="200"/>
              </a:spcAft>
            </a:pPr>
            <a:r>
              <a:rPr sz="1250" b="1" i="0">
                <a:solidFill>
                  <a:srgbClr val="028090"/>
                </a:solidFill>
                <a:latin typeface="Calibri"/>
              </a:rPr>
              <a:t>3 · Map</a:t>
            </a:r>
          </a:p>
        </p:txBody>
      </p:sp>
      <p:sp>
        <p:nvSpPr>
          <p:cNvPr id="15" name="TextBox 14"/>
          <p:cNvSpPr txBox="1"/>
          <p:nvPr/>
        </p:nvSpPr>
        <p:spPr>
          <a:xfrm>
            <a:off x="6574536" y="2267712"/>
            <a:ext cx="1993392" cy="731520"/>
          </a:xfrm>
          <a:prstGeom prst="rect">
            <a:avLst/>
          </a:prstGeom>
          <a:noFill/>
        </p:spPr>
        <p:txBody>
          <a:bodyPr wrap="square" lIns="0" rIns="0" tIns="0" bIns="0">
            <a:spAutoFit/>
          </a:bodyPr>
          <a:lstStyle/>
          <a:p>
            <a:pPr algn="l">
              <a:lnSpc>
                <a:spcPct val="118000"/>
              </a:lnSpc>
              <a:spcAft>
                <a:spcPts val="0"/>
              </a:spcAft>
            </a:pPr>
            <a:r>
              <a:rPr sz="1150" b="0" i="0">
                <a:solidFill>
                  <a:srgbClr val="5A7A80"/>
                </a:solidFill>
                <a:latin typeface="Calibri"/>
              </a:rPr>
              <a:t>Translate each PyTorch</a:t>
            </a:r>
          </a:p>
          <a:p>
            <a:pPr algn="l">
              <a:lnSpc>
                <a:spcPct val="118000"/>
              </a:lnSpc>
              <a:spcAft>
                <a:spcPts val="0"/>
              </a:spcAft>
            </a:pPr>
            <a:r>
              <a:rPr sz="1150" b="0" i="0">
                <a:solidFill>
                  <a:srgbClr val="5A7A80"/>
                </a:solidFill>
                <a:latin typeface="Calibri"/>
              </a:rPr>
              <a:t>op into its ONNX</a:t>
            </a:r>
          </a:p>
          <a:p>
            <a:pPr algn="l">
              <a:lnSpc>
                <a:spcPct val="118000"/>
              </a:lnSpc>
              <a:spcAft>
                <a:spcPts val="0"/>
              </a:spcAft>
            </a:pPr>
            <a:r>
              <a:rPr sz="1150" b="0" i="0">
                <a:solidFill>
                  <a:srgbClr val="5A7A80"/>
                </a:solidFill>
                <a:latin typeface="Calibri"/>
              </a:rPr>
              <a:t>equivalent at your opset</a:t>
            </a:r>
          </a:p>
        </p:txBody>
      </p:sp>
      <p:sp>
        <p:nvSpPr>
          <p:cNvPr id="16" name="Right Arrow 15"/>
          <p:cNvSpPr/>
          <p:nvPr/>
        </p:nvSpPr>
        <p:spPr>
          <a:xfrm>
            <a:off x="8787384" y="2313432"/>
            <a:ext cx="365760" cy="237744"/>
          </a:xfrm>
          <a:prstGeom prst="rightArrow">
            <a:avLst/>
          </a:prstGeom>
          <a:solidFill>
            <a:srgbClr val="B6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9171432" y="1783080"/>
            <a:ext cx="2395728" cy="1298448"/>
          </a:xfrm>
          <a:prstGeom prst="roundRect">
            <a:avLst>
              <a:gd name="adj" fmla="val 6000"/>
            </a:avLst>
          </a:prstGeom>
          <a:solidFill>
            <a:srgbClr val="E3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372600" y="1956816"/>
            <a:ext cx="1993392" cy="256032"/>
          </a:xfrm>
          <a:prstGeom prst="rect">
            <a:avLst/>
          </a:prstGeom>
          <a:noFill/>
        </p:spPr>
        <p:txBody>
          <a:bodyPr wrap="square" lIns="0" rIns="0" tIns="0" bIns="0">
            <a:spAutoFit/>
          </a:bodyPr>
          <a:lstStyle/>
          <a:p>
            <a:pPr algn="l">
              <a:lnSpc>
                <a:spcPct val="115000"/>
              </a:lnSpc>
              <a:spcAft>
                <a:spcPts val="200"/>
              </a:spcAft>
            </a:pPr>
            <a:r>
              <a:rPr sz="1250" b="1" i="0">
                <a:solidFill>
                  <a:srgbClr val="028090"/>
                </a:solidFill>
                <a:latin typeface="Calibri"/>
              </a:rPr>
              <a:t>4 · Freeze</a:t>
            </a:r>
          </a:p>
        </p:txBody>
      </p:sp>
      <p:sp>
        <p:nvSpPr>
          <p:cNvPr id="19" name="TextBox 18"/>
          <p:cNvSpPr txBox="1"/>
          <p:nvPr/>
        </p:nvSpPr>
        <p:spPr>
          <a:xfrm>
            <a:off x="9372600" y="2267712"/>
            <a:ext cx="1993392" cy="731520"/>
          </a:xfrm>
          <a:prstGeom prst="rect">
            <a:avLst/>
          </a:prstGeom>
          <a:noFill/>
        </p:spPr>
        <p:txBody>
          <a:bodyPr wrap="square" lIns="0" rIns="0" tIns="0" bIns="0">
            <a:spAutoFit/>
          </a:bodyPr>
          <a:lstStyle/>
          <a:p>
            <a:pPr algn="l">
              <a:lnSpc>
                <a:spcPct val="118000"/>
              </a:lnSpc>
              <a:spcAft>
                <a:spcPts val="0"/>
              </a:spcAft>
            </a:pPr>
            <a:r>
              <a:rPr sz="1150" b="0" i="0">
                <a:solidFill>
                  <a:srgbClr val="5A7A80"/>
                </a:solidFill>
                <a:latin typeface="Calibri"/>
              </a:rPr>
              <a:t>Write graph plus</a:t>
            </a:r>
          </a:p>
          <a:p>
            <a:pPr algn="l">
              <a:lnSpc>
                <a:spcPct val="118000"/>
              </a:lnSpc>
              <a:spcAft>
                <a:spcPts val="0"/>
              </a:spcAft>
            </a:pPr>
            <a:r>
              <a:rPr sz="1150" b="0" i="0">
                <a:solidFill>
                  <a:srgbClr val="5A7A80"/>
                </a:solidFill>
                <a:latin typeface="Calibri"/>
              </a:rPr>
              <a:t>weights into a single</a:t>
            </a:r>
          </a:p>
          <a:p>
            <a:pPr algn="l">
              <a:lnSpc>
                <a:spcPct val="118000"/>
              </a:lnSpc>
              <a:spcAft>
                <a:spcPts val="0"/>
              </a:spcAft>
            </a:pPr>
            <a:r>
              <a:rPr sz="1150" b="0" i="0">
                <a:solidFill>
                  <a:srgbClr val="5A7A80"/>
                </a:solidFill>
                <a:latin typeface="Calibri"/>
              </a:rPr>
              <a:t>.onnx protobuf</a:t>
            </a:r>
          </a:p>
        </p:txBody>
      </p:sp>
      <p:sp>
        <p:nvSpPr>
          <p:cNvPr id="20" name="Rounded Rectangle 19"/>
          <p:cNvSpPr/>
          <p:nvPr/>
        </p:nvSpPr>
        <p:spPr>
          <a:xfrm>
            <a:off x="777240" y="3310128"/>
            <a:ext cx="5230368" cy="14630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33271" y="3566160"/>
            <a:ext cx="4718304" cy="292608"/>
          </a:xfrm>
          <a:prstGeom prst="rect">
            <a:avLst/>
          </a:prstGeom>
          <a:noFill/>
        </p:spPr>
        <p:txBody>
          <a:bodyPr wrap="square" lIns="0" rIns="0" tIns="0" bIns="0">
            <a:spAutoFit/>
          </a:bodyPr>
          <a:lstStyle/>
          <a:p>
            <a:pPr algn="l">
              <a:lnSpc>
                <a:spcPct val="105000"/>
              </a:lnSpc>
              <a:spcAft>
                <a:spcPts val="200"/>
              </a:spcAft>
            </a:pPr>
            <a:r>
              <a:rPr sz="1350" b="1" i="0">
                <a:solidFill>
                  <a:srgbClr val="028090"/>
                </a:solidFill>
                <a:latin typeface="Calibri"/>
              </a:rPr>
              <a:t>Then the runtime rewrites it again</a:t>
            </a:r>
          </a:p>
        </p:txBody>
      </p:sp>
      <p:sp>
        <p:nvSpPr>
          <p:cNvPr id="22" name="TextBox 21"/>
          <p:cNvSpPr txBox="1"/>
          <p:nvPr/>
        </p:nvSpPr>
        <p:spPr>
          <a:xfrm>
            <a:off x="1033271" y="3950208"/>
            <a:ext cx="4718304" cy="566928"/>
          </a:xfrm>
          <a:prstGeom prst="rect">
            <a:avLst/>
          </a:prstGeom>
          <a:noFill/>
        </p:spPr>
        <p:txBody>
          <a:bodyPr wrap="square" lIns="0" rIns="0" tIns="0" bIns="0">
            <a:spAutoFit/>
          </a:bodyPr>
          <a:lstStyle/>
          <a:p>
            <a:pPr algn="l">
              <a:lnSpc>
                <a:spcPct val="122000"/>
              </a:lnSpc>
              <a:spcAft>
                <a:spcPts val="400"/>
              </a:spcAft>
            </a:pPr>
            <a:r>
              <a:rPr sz="1250" b="0" i="0">
                <a:solidFill>
                  <a:srgbClr val="5A7A80"/>
                </a:solidFill>
                <a:latin typeface="Calibri"/>
              </a:rPr>
              <a:t>ONNX Runtime applies graph optimizations on load: constant folding, dropping Identity and Dropout nodes, and fusing Conv with BatchNorm or with Add. Free speed before any hardware trick.</a:t>
            </a:r>
          </a:p>
        </p:txBody>
      </p:sp>
      <p:sp>
        <p:nvSpPr>
          <p:cNvPr id="23" name="Rounded Rectangle 22"/>
          <p:cNvSpPr/>
          <p:nvPr/>
        </p:nvSpPr>
        <p:spPr>
          <a:xfrm>
            <a:off x="6144768" y="3310128"/>
            <a:ext cx="5230368" cy="14630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00800" y="3566160"/>
            <a:ext cx="4718304" cy="292608"/>
          </a:xfrm>
          <a:prstGeom prst="rect">
            <a:avLst/>
          </a:prstGeom>
          <a:noFill/>
        </p:spPr>
        <p:txBody>
          <a:bodyPr wrap="square" lIns="0" rIns="0" tIns="0" bIns="0">
            <a:spAutoFit/>
          </a:bodyPr>
          <a:lstStyle/>
          <a:p>
            <a:pPr algn="l">
              <a:lnSpc>
                <a:spcPct val="105000"/>
              </a:lnSpc>
              <a:spcAft>
                <a:spcPts val="200"/>
              </a:spcAft>
            </a:pPr>
            <a:r>
              <a:rPr sz="1350" b="1" i="0">
                <a:solidFill>
                  <a:srgbClr val="028090"/>
                </a:solidFill>
                <a:latin typeface="Calibri"/>
              </a:rPr>
              <a:t>The two flags people get wrong</a:t>
            </a:r>
          </a:p>
        </p:txBody>
      </p:sp>
      <p:sp>
        <p:nvSpPr>
          <p:cNvPr id="25" name="TextBox 24"/>
          <p:cNvSpPr txBox="1"/>
          <p:nvPr/>
        </p:nvSpPr>
        <p:spPr>
          <a:xfrm>
            <a:off x="6400800" y="3950208"/>
            <a:ext cx="4718304" cy="566928"/>
          </a:xfrm>
          <a:prstGeom prst="rect">
            <a:avLst/>
          </a:prstGeom>
          <a:noFill/>
        </p:spPr>
        <p:txBody>
          <a:bodyPr wrap="square" lIns="0" rIns="0" tIns="0" bIns="0">
            <a:spAutoFit/>
          </a:bodyPr>
          <a:lstStyle/>
          <a:p>
            <a:pPr algn="l">
              <a:lnSpc>
                <a:spcPct val="122000"/>
              </a:lnSpc>
              <a:spcAft>
                <a:spcPts val="400"/>
              </a:spcAft>
            </a:pPr>
            <a:r>
              <a:rPr sz="1250" b="0" i="0">
                <a:solidFill>
                  <a:srgbClr val="5A7A80"/>
                </a:solidFill>
                <a:latin typeface="Calibri"/>
              </a:rPr>
              <a:t>opset_version fixes which operator definitions you are targeting.</a:t>
            </a:r>
          </a:p>
          <a:p>
            <a:pPr algn="l">
              <a:lnSpc>
                <a:spcPct val="122000"/>
              </a:lnSpc>
              <a:spcAft>
                <a:spcPts val="400"/>
              </a:spcAft>
            </a:pPr>
            <a:r>
              <a:rPr sz="1250" b="0" i="0">
                <a:solidFill>
                  <a:srgbClr val="5A7A80"/>
                </a:solidFill>
                <a:latin typeface="Calibri"/>
              </a:rPr>
              <a:t>dynamic_axes marks batch, height and width as variable, otherwise the graph is hard wired to your dummy input shape forever.</a:t>
            </a:r>
          </a:p>
        </p:txBody>
      </p:sp>
      <p:sp>
        <p:nvSpPr>
          <p:cNvPr id="26" name="Rounded Rectangle 25"/>
          <p:cNvSpPr/>
          <p:nvPr/>
        </p:nvSpPr>
        <p:spPr>
          <a:xfrm>
            <a:off x="777240" y="4919472"/>
            <a:ext cx="10607040" cy="1353312"/>
          </a:xfrm>
          <a:prstGeom prst="roundRect">
            <a:avLst>
              <a:gd name="adj" fmla="val 6000"/>
            </a:avLst>
          </a:prstGeom>
          <a:solidFill>
            <a:srgbClr val="FAEE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033271" y="5120640"/>
            <a:ext cx="10094976" cy="256032"/>
          </a:xfrm>
          <a:prstGeom prst="rect">
            <a:avLst/>
          </a:prstGeom>
          <a:noFill/>
        </p:spPr>
        <p:txBody>
          <a:bodyPr wrap="square" lIns="0" rIns="0" tIns="0" bIns="0">
            <a:spAutoFit/>
          </a:bodyPr>
          <a:lstStyle/>
          <a:p>
            <a:pPr algn="l">
              <a:lnSpc>
                <a:spcPct val="115000"/>
              </a:lnSpc>
              <a:spcAft>
                <a:spcPts val="200"/>
              </a:spcAft>
            </a:pPr>
            <a:r>
              <a:rPr sz="1050" b="1" i="0">
                <a:solidFill>
                  <a:srgbClr val="C15B4E"/>
                </a:solidFill>
                <a:latin typeface="Calibri"/>
              </a:rPr>
              <a:t>TRACING IS NOT READING YOUR CODE</a:t>
            </a:r>
          </a:p>
        </p:txBody>
      </p:sp>
      <p:sp>
        <p:nvSpPr>
          <p:cNvPr id="28" name="TextBox 27"/>
          <p:cNvSpPr txBox="1"/>
          <p:nvPr/>
        </p:nvSpPr>
        <p:spPr>
          <a:xfrm>
            <a:off x="1033271" y="5431536"/>
            <a:ext cx="10094976" cy="731520"/>
          </a:xfrm>
          <a:prstGeom prst="rect">
            <a:avLst/>
          </a:prstGeom>
          <a:noFill/>
        </p:spPr>
        <p:txBody>
          <a:bodyPr wrap="square" lIns="0" rIns="0" tIns="0" bIns="0">
            <a:spAutoFit/>
          </a:bodyPr>
          <a:lstStyle/>
          <a:p>
            <a:pPr algn="l">
              <a:lnSpc>
                <a:spcPct val="120000"/>
              </a:lnSpc>
              <a:spcAft>
                <a:spcPts val="500"/>
              </a:spcAft>
            </a:pPr>
            <a:r>
              <a:rPr sz="1200" b="0" i="0">
                <a:solidFill>
                  <a:srgbClr val="5A7A80"/>
                </a:solidFill>
                <a:latin typeface="Calibri"/>
              </a:rPr>
              <a:t>An if that took the True branch on the dummy input is baked in as True, and a Python loop is unrolled to the exact number of iterations it ran.</a:t>
            </a:r>
          </a:p>
          <a:p>
            <a:pPr algn="l">
              <a:lnSpc>
                <a:spcPct val="120000"/>
              </a:lnSpc>
              <a:spcAft>
                <a:spcPts val="500"/>
              </a:spcAft>
            </a:pPr>
            <a:r>
              <a:rPr sz="1200" b="0" i="0">
                <a:solidFill>
                  <a:srgbClr val="5A7A80"/>
                </a:solidFill>
                <a:latin typeface="Calibri"/>
              </a:rPr>
              <a:t>So after every export, run the ONNX model and the PyTorch model on the same real images and compare the outputs numerically before you trust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lnSpc>
                <a:spcPct val="105000"/>
              </a:lnSpc>
              <a:spcAft>
                <a:spcPts val="200"/>
              </a:spcAft>
            </a:pPr>
            <a:r>
              <a:rPr sz="1200" b="1" i="0">
                <a:solidFill>
                  <a:srgbClr val="028090"/>
                </a:solidFill>
                <a:latin typeface="Calibri"/>
              </a:rPr>
              <a:t>TENSORRT · HOW IT WORKS</a:t>
            </a:r>
          </a:p>
        </p:txBody>
      </p:sp>
      <p:sp>
        <p:nvSpPr>
          <p:cNvPr id="3" name="TextBox 2"/>
          <p:cNvSpPr txBox="1"/>
          <p:nvPr/>
        </p:nvSpPr>
        <p:spPr>
          <a:xfrm>
            <a:off x="685800" y="786384"/>
            <a:ext cx="10881360" cy="777240"/>
          </a:xfrm>
          <a:prstGeom prst="rect">
            <a:avLst/>
          </a:prstGeom>
          <a:noFill/>
        </p:spPr>
        <p:txBody>
          <a:bodyPr wrap="square" lIns="0" rIns="0" tIns="0" bIns="0">
            <a:spAutoFit/>
          </a:bodyPr>
          <a:lstStyle/>
          <a:p>
            <a:pPr algn="l">
              <a:lnSpc>
                <a:spcPct val="105000"/>
              </a:lnSpc>
              <a:spcAft>
                <a:spcPts val="200"/>
              </a:spcAft>
            </a:pPr>
            <a:r>
              <a:rPr sz="3200" b="1" i="0">
                <a:solidFill>
                  <a:srgbClr val="12343B"/>
                </a:solidFill>
                <a:latin typeface="Cambria"/>
              </a:rPr>
              <a:t>A compiler, not a library</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lnSpc>
                <a:spcPct val="105000"/>
              </a:lnSpc>
              <a:spcAft>
                <a:spcPts val="200"/>
              </a:spcAft>
            </a:pPr>
            <a:r>
              <a:rPr sz="1050" b="0" i="0">
                <a:solidFill>
                  <a:srgbClr val="9AB4B8"/>
                </a:solidFill>
                <a:latin typeface="Calibri"/>
              </a:rPr>
              <a:t>Session 38  ·  Model Optimization</a:t>
            </a:r>
          </a:p>
        </p:txBody>
      </p:sp>
      <p:sp>
        <p:nvSpPr>
          <p:cNvPr id="5" name="Rounded Rectangle 4"/>
          <p:cNvSpPr/>
          <p:nvPr/>
        </p:nvSpPr>
        <p:spPr>
          <a:xfrm>
            <a:off x="777240" y="1783080"/>
            <a:ext cx="5230368" cy="21488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033271" y="2039112"/>
            <a:ext cx="4718304" cy="292608"/>
          </a:xfrm>
          <a:prstGeom prst="rect">
            <a:avLst/>
          </a:prstGeom>
          <a:noFill/>
        </p:spPr>
        <p:txBody>
          <a:bodyPr wrap="square" lIns="0" rIns="0" tIns="0" bIns="0">
            <a:spAutoFit/>
          </a:bodyPr>
          <a:lstStyle/>
          <a:p>
            <a:pPr algn="l">
              <a:lnSpc>
                <a:spcPct val="105000"/>
              </a:lnSpc>
              <a:spcAft>
                <a:spcPts val="200"/>
              </a:spcAft>
            </a:pPr>
            <a:r>
              <a:rPr sz="1350" b="1" i="0">
                <a:solidFill>
                  <a:srgbClr val="028090"/>
                </a:solidFill>
                <a:latin typeface="Calibri"/>
              </a:rPr>
              <a:t>Build phase · slow, done once, offline</a:t>
            </a:r>
          </a:p>
        </p:txBody>
      </p:sp>
      <p:sp>
        <p:nvSpPr>
          <p:cNvPr id="7" name="TextBox 6"/>
          <p:cNvSpPr txBox="1"/>
          <p:nvPr/>
        </p:nvSpPr>
        <p:spPr>
          <a:xfrm>
            <a:off x="1033271" y="2423160"/>
            <a:ext cx="4718304" cy="1252728"/>
          </a:xfrm>
          <a:prstGeom prst="rect">
            <a:avLst/>
          </a:prstGeom>
          <a:noFill/>
        </p:spPr>
        <p:txBody>
          <a:bodyPr wrap="square" lIns="0" rIns="0" tIns="0" bIns="0">
            <a:spAutoFit/>
          </a:bodyPr>
          <a:lstStyle/>
          <a:p>
            <a:pPr algn="l">
              <a:lnSpc>
                <a:spcPct val="122000"/>
              </a:lnSpc>
              <a:spcAft>
                <a:spcPts val="400"/>
              </a:spcAft>
            </a:pPr>
            <a:r>
              <a:rPr sz="1250" b="0" i="0">
                <a:solidFill>
                  <a:srgbClr val="5A7A80"/>
                </a:solidFill>
                <a:latin typeface="Calibri"/>
              </a:rPr>
              <a:t>The builder takes your ONNX graph plus a target precision and a batch profile, then physically benchmarks candidate CUDA kernels on the GPU in front of it and keeps the fastest one for every layer.</a:t>
            </a:r>
          </a:p>
          <a:p>
            <a:pPr algn="l">
              <a:lnSpc>
                <a:spcPct val="122000"/>
              </a:lnSpc>
              <a:spcAft>
                <a:spcPts val="400"/>
              </a:spcAft>
            </a:pPr>
            <a:r>
              <a:rPr sz="1250" b="0" i="0">
                <a:solidFill>
                  <a:srgbClr val="5A7A80"/>
                </a:solidFill>
                <a:latin typeface="Calibri"/>
              </a:rPr>
              <a:t>This takes minutes. It happens on your machine, not in the request path.</a:t>
            </a:r>
          </a:p>
        </p:txBody>
      </p:sp>
      <p:sp>
        <p:nvSpPr>
          <p:cNvPr id="8" name="Rounded Rectangle 7"/>
          <p:cNvSpPr/>
          <p:nvPr/>
        </p:nvSpPr>
        <p:spPr>
          <a:xfrm>
            <a:off x="6144768" y="1783080"/>
            <a:ext cx="5230368" cy="21488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400800" y="2039112"/>
            <a:ext cx="4718304" cy="292608"/>
          </a:xfrm>
          <a:prstGeom prst="rect">
            <a:avLst/>
          </a:prstGeom>
          <a:noFill/>
        </p:spPr>
        <p:txBody>
          <a:bodyPr wrap="square" lIns="0" rIns="0" tIns="0" bIns="0">
            <a:spAutoFit/>
          </a:bodyPr>
          <a:lstStyle/>
          <a:p>
            <a:pPr algn="l">
              <a:lnSpc>
                <a:spcPct val="105000"/>
              </a:lnSpc>
              <a:spcAft>
                <a:spcPts val="200"/>
              </a:spcAft>
            </a:pPr>
            <a:r>
              <a:rPr sz="1350" b="1" i="0">
                <a:solidFill>
                  <a:srgbClr val="028090"/>
                </a:solidFill>
                <a:latin typeface="Calibri"/>
              </a:rPr>
              <a:t>Runtime phase · fast, done per frame</a:t>
            </a:r>
          </a:p>
        </p:txBody>
      </p:sp>
      <p:sp>
        <p:nvSpPr>
          <p:cNvPr id="10" name="TextBox 9"/>
          <p:cNvSpPr txBox="1"/>
          <p:nvPr/>
        </p:nvSpPr>
        <p:spPr>
          <a:xfrm>
            <a:off x="6400800" y="2423160"/>
            <a:ext cx="4718304" cy="1252728"/>
          </a:xfrm>
          <a:prstGeom prst="rect">
            <a:avLst/>
          </a:prstGeom>
          <a:noFill/>
        </p:spPr>
        <p:txBody>
          <a:bodyPr wrap="square" lIns="0" rIns="0" tIns="0" bIns="0">
            <a:spAutoFit/>
          </a:bodyPr>
          <a:lstStyle/>
          <a:p>
            <a:pPr algn="l">
              <a:lnSpc>
                <a:spcPct val="122000"/>
              </a:lnSpc>
              <a:spcAft>
                <a:spcPts val="400"/>
              </a:spcAft>
            </a:pPr>
            <a:r>
              <a:rPr sz="1250" b="0" i="0">
                <a:solidFill>
                  <a:srgbClr val="5A7A80"/>
                </a:solidFill>
                <a:latin typeface="Calibri"/>
              </a:rPr>
              <a:t>The output is a serialized engine, also called a plan file: the graph, the chosen kernels, and the weights in one binary.</a:t>
            </a:r>
          </a:p>
          <a:p>
            <a:pPr algn="l">
              <a:lnSpc>
                <a:spcPct val="122000"/>
              </a:lnSpc>
              <a:spcAft>
                <a:spcPts val="400"/>
              </a:spcAft>
            </a:pPr>
            <a:r>
              <a:rPr sz="1250" b="0" i="0">
                <a:solidFill>
                  <a:srgbClr val="5A7A80"/>
                </a:solidFill>
                <a:latin typeface="Calibri"/>
              </a:rPr>
              <a:t>At serving time the runtime loads that engine and executes it. No graph analysis, no kernel search, no Python.</a:t>
            </a:r>
          </a:p>
        </p:txBody>
      </p:sp>
      <p:sp>
        <p:nvSpPr>
          <p:cNvPr id="11" name="Rounded Rectangle 10"/>
          <p:cNvSpPr/>
          <p:nvPr/>
        </p:nvSpPr>
        <p:spPr>
          <a:xfrm>
            <a:off x="777240" y="4224528"/>
            <a:ext cx="2395728" cy="694944"/>
          </a:xfrm>
          <a:prstGeom prst="roundRect">
            <a:avLst>
              <a:gd name="adj" fmla="val 14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68680" y="4224528"/>
            <a:ext cx="2212848" cy="694944"/>
          </a:xfrm>
          <a:prstGeom prst="rect">
            <a:avLst/>
          </a:prstGeom>
          <a:noFill/>
        </p:spPr>
        <p:txBody>
          <a:bodyPr wrap="square" lIns="0" rIns="0" tIns="0" bIns="0" anchor="ctr">
            <a:spAutoFit/>
          </a:bodyPr>
          <a:lstStyle/>
          <a:p>
            <a:pPr algn="ctr">
              <a:lnSpc>
                <a:spcPct val="112000"/>
              </a:lnSpc>
              <a:spcAft>
                <a:spcPts val="200"/>
              </a:spcAft>
            </a:pPr>
            <a:r>
              <a:rPr sz="1250" b="1" i="0">
                <a:solidFill>
                  <a:srgbClr val="12343B"/>
                </a:solidFill>
                <a:latin typeface="Calibri"/>
              </a:rPr>
              <a:t>model.onnx</a:t>
            </a:r>
          </a:p>
          <a:p>
            <a:pPr algn="ctr">
              <a:lnSpc>
                <a:spcPct val="112000"/>
              </a:lnSpc>
              <a:spcAft>
                <a:spcPts val="200"/>
              </a:spcAft>
            </a:pPr>
            <a:r>
              <a:rPr sz="1050" b="0" i="0">
                <a:solidFill>
                  <a:srgbClr val="5A7A80"/>
                </a:solidFill>
                <a:latin typeface="Calibri"/>
              </a:rPr>
              <a:t>portable</a:t>
            </a:r>
          </a:p>
        </p:txBody>
      </p:sp>
      <p:sp>
        <p:nvSpPr>
          <p:cNvPr id="13" name="Right Arrow 12"/>
          <p:cNvSpPr/>
          <p:nvPr/>
        </p:nvSpPr>
        <p:spPr>
          <a:xfrm>
            <a:off x="3209544" y="4453128"/>
            <a:ext cx="292608" cy="237744"/>
          </a:xfrm>
          <a:prstGeom prst="rightArrow">
            <a:avLst/>
          </a:prstGeom>
          <a:solidFill>
            <a:srgbClr val="B6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3538728" y="4224528"/>
            <a:ext cx="2395728" cy="694944"/>
          </a:xfrm>
          <a:prstGeom prst="roundRect">
            <a:avLst>
              <a:gd name="adj" fmla="val 14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30168" y="4224528"/>
            <a:ext cx="2212848" cy="694944"/>
          </a:xfrm>
          <a:prstGeom prst="rect">
            <a:avLst/>
          </a:prstGeom>
          <a:noFill/>
        </p:spPr>
        <p:txBody>
          <a:bodyPr wrap="square" lIns="0" rIns="0" tIns="0" bIns="0" anchor="ctr">
            <a:spAutoFit/>
          </a:bodyPr>
          <a:lstStyle/>
          <a:p>
            <a:pPr algn="ctr">
              <a:lnSpc>
                <a:spcPct val="112000"/>
              </a:lnSpc>
              <a:spcAft>
                <a:spcPts val="200"/>
              </a:spcAft>
            </a:pPr>
            <a:r>
              <a:rPr sz="1250" b="1" i="0">
                <a:solidFill>
                  <a:srgbClr val="FFFFFF"/>
                </a:solidFill>
                <a:latin typeface="Calibri"/>
              </a:rPr>
              <a:t>trtexec / builder</a:t>
            </a:r>
          </a:p>
          <a:p>
            <a:pPr algn="ctr">
              <a:lnSpc>
                <a:spcPct val="112000"/>
              </a:lnSpc>
              <a:spcAft>
                <a:spcPts val="200"/>
              </a:spcAft>
            </a:pPr>
            <a:r>
              <a:rPr sz="1050" b="0" i="0">
                <a:solidFill>
                  <a:srgbClr val="B9E4E8"/>
                </a:solidFill>
                <a:latin typeface="Calibri"/>
              </a:rPr>
              <a:t>minutes</a:t>
            </a:r>
          </a:p>
        </p:txBody>
      </p:sp>
      <p:sp>
        <p:nvSpPr>
          <p:cNvPr id="16" name="Right Arrow 15"/>
          <p:cNvSpPr/>
          <p:nvPr/>
        </p:nvSpPr>
        <p:spPr>
          <a:xfrm>
            <a:off x="5971032" y="4453128"/>
            <a:ext cx="292608" cy="237744"/>
          </a:xfrm>
          <a:prstGeom prst="rightArrow">
            <a:avLst/>
          </a:prstGeom>
          <a:solidFill>
            <a:srgbClr val="B6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6300216" y="4224528"/>
            <a:ext cx="2395728" cy="694944"/>
          </a:xfrm>
          <a:prstGeom prst="roundRect">
            <a:avLst>
              <a:gd name="adj" fmla="val 14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391655" y="4224528"/>
            <a:ext cx="2212848" cy="694944"/>
          </a:xfrm>
          <a:prstGeom prst="rect">
            <a:avLst/>
          </a:prstGeom>
          <a:noFill/>
        </p:spPr>
        <p:txBody>
          <a:bodyPr wrap="square" lIns="0" rIns="0" tIns="0" bIns="0" anchor="ctr">
            <a:spAutoFit/>
          </a:bodyPr>
          <a:lstStyle/>
          <a:p>
            <a:pPr algn="ctr">
              <a:lnSpc>
                <a:spcPct val="112000"/>
              </a:lnSpc>
              <a:spcAft>
                <a:spcPts val="200"/>
              </a:spcAft>
            </a:pPr>
            <a:r>
              <a:rPr sz="1250" b="1" i="0">
                <a:solidFill>
                  <a:srgbClr val="12343B"/>
                </a:solidFill>
                <a:latin typeface="Calibri"/>
              </a:rPr>
              <a:t>model.engine</a:t>
            </a:r>
          </a:p>
          <a:p>
            <a:pPr algn="ctr">
              <a:lnSpc>
                <a:spcPct val="112000"/>
              </a:lnSpc>
              <a:spcAft>
                <a:spcPts val="200"/>
              </a:spcAft>
            </a:pPr>
            <a:r>
              <a:rPr sz="1050" b="0" i="0">
                <a:solidFill>
                  <a:srgbClr val="5A7A80"/>
                </a:solidFill>
                <a:latin typeface="Calibri"/>
              </a:rPr>
              <a:t>binary</a:t>
            </a:r>
          </a:p>
        </p:txBody>
      </p:sp>
      <p:sp>
        <p:nvSpPr>
          <p:cNvPr id="19" name="Right Arrow 18"/>
          <p:cNvSpPr/>
          <p:nvPr/>
        </p:nvSpPr>
        <p:spPr>
          <a:xfrm>
            <a:off x="8732520" y="4453128"/>
            <a:ext cx="292608" cy="237744"/>
          </a:xfrm>
          <a:prstGeom prst="rightArrow">
            <a:avLst/>
          </a:prstGeom>
          <a:solidFill>
            <a:srgbClr val="B6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9061704" y="4224528"/>
            <a:ext cx="2395728" cy="694944"/>
          </a:xfrm>
          <a:prstGeom prst="roundRect">
            <a:avLst>
              <a:gd name="adj" fmla="val 14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153144" y="4224528"/>
            <a:ext cx="2212848" cy="694944"/>
          </a:xfrm>
          <a:prstGeom prst="rect">
            <a:avLst/>
          </a:prstGeom>
          <a:noFill/>
        </p:spPr>
        <p:txBody>
          <a:bodyPr wrap="square" lIns="0" rIns="0" tIns="0" bIns="0" anchor="ctr">
            <a:spAutoFit/>
          </a:bodyPr>
          <a:lstStyle/>
          <a:p>
            <a:pPr algn="ctr">
              <a:lnSpc>
                <a:spcPct val="112000"/>
              </a:lnSpc>
              <a:spcAft>
                <a:spcPts val="200"/>
              </a:spcAft>
            </a:pPr>
            <a:r>
              <a:rPr sz="1250" b="1" i="0">
                <a:solidFill>
                  <a:srgbClr val="12343B"/>
                </a:solidFill>
                <a:latin typeface="Calibri"/>
              </a:rPr>
              <a:t>IExecutionContext</a:t>
            </a:r>
          </a:p>
          <a:p>
            <a:pPr algn="ctr">
              <a:lnSpc>
                <a:spcPct val="112000"/>
              </a:lnSpc>
              <a:spcAft>
                <a:spcPts val="200"/>
              </a:spcAft>
            </a:pPr>
            <a:r>
              <a:rPr sz="1050" b="0" i="0">
                <a:solidFill>
                  <a:srgbClr val="5A7A80"/>
                </a:solidFill>
                <a:latin typeface="Calibri"/>
              </a:rPr>
              <a:t>per frame</a:t>
            </a:r>
          </a:p>
        </p:txBody>
      </p:sp>
      <p:sp>
        <p:nvSpPr>
          <p:cNvPr id="22" name="Rounded Rectangle 21"/>
          <p:cNvSpPr/>
          <p:nvPr/>
        </p:nvSpPr>
        <p:spPr>
          <a:xfrm>
            <a:off x="777240" y="5193792"/>
            <a:ext cx="10607040" cy="1005840"/>
          </a:xfrm>
          <a:prstGeom prst="roundRect">
            <a:avLst>
              <a:gd name="adj" fmla="val 6000"/>
            </a:avLst>
          </a:prstGeom>
          <a:solidFill>
            <a:srgbClr val="FAEE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033271" y="5431536"/>
            <a:ext cx="10094976" cy="548640"/>
          </a:xfrm>
          <a:prstGeom prst="rect">
            <a:avLst/>
          </a:prstGeom>
          <a:noFill/>
        </p:spPr>
        <p:txBody>
          <a:bodyPr wrap="square" lIns="0" rIns="0" tIns="0" bIns="0">
            <a:spAutoFit/>
          </a:bodyPr>
          <a:lstStyle/>
          <a:p>
            <a:pPr algn="l">
              <a:lnSpc>
                <a:spcPct val="122000"/>
              </a:lnSpc>
              <a:spcAft>
                <a:spcPts val="200"/>
              </a:spcAft>
            </a:pPr>
            <a:r>
              <a:rPr sz="1200" b="1" i="0">
                <a:solidFill>
                  <a:srgbClr val="C15B4E"/>
                </a:solidFill>
                <a:latin typeface="Calibri"/>
              </a:rPr>
              <a:t>An engine is not portable. </a:t>
            </a:r>
            <a:r>
              <a:rPr sz="1200" b="0" i="0">
                <a:solidFill>
                  <a:srgbClr val="5A7A80"/>
                </a:solidFill>
                <a:latin typeface="Calibri"/>
              </a:rPr>
              <a:t>NVIDIA states engines are only guaranteed to work with the same OS, CPU architecture, GPU model and TensorRT version they were built with. Build on the deployment device, or build in the exact container you will deploy.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lnSpc>
                <a:spcPct val="105000"/>
              </a:lnSpc>
              <a:spcAft>
                <a:spcPts val="200"/>
              </a:spcAft>
            </a:pPr>
            <a:r>
              <a:rPr sz="1200" b="1" i="0">
                <a:solidFill>
                  <a:srgbClr val="028090"/>
                </a:solidFill>
                <a:latin typeface="Calibri"/>
              </a:rPr>
              <a:t>TENSORRT · THE OPTIMIZATIONS</a:t>
            </a:r>
          </a:p>
        </p:txBody>
      </p:sp>
      <p:sp>
        <p:nvSpPr>
          <p:cNvPr id="3" name="TextBox 2"/>
          <p:cNvSpPr txBox="1"/>
          <p:nvPr/>
        </p:nvSpPr>
        <p:spPr>
          <a:xfrm>
            <a:off x="685800" y="786384"/>
            <a:ext cx="10881360" cy="777240"/>
          </a:xfrm>
          <a:prstGeom prst="rect">
            <a:avLst/>
          </a:prstGeom>
          <a:noFill/>
        </p:spPr>
        <p:txBody>
          <a:bodyPr wrap="square" lIns="0" rIns="0" tIns="0" bIns="0">
            <a:spAutoFit/>
          </a:bodyPr>
          <a:lstStyle/>
          <a:p>
            <a:pPr algn="l">
              <a:lnSpc>
                <a:spcPct val="105000"/>
              </a:lnSpc>
              <a:spcAft>
                <a:spcPts val="200"/>
              </a:spcAft>
            </a:pPr>
            <a:r>
              <a:rPr sz="3200" b="1" i="0">
                <a:solidFill>
                  <a:srgbClr val="12343B"/>
                </a:solidFill>
                <a:latin typeface="Cambria"/>
              </a:rPr>
              <a:t>Four things the builder does for you</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lnSpc>
                <a:spcPct val="105000"/>
              </a:lnSpc>
              <a:spcAft>
                <a:spcPts val="200"/>
              </a:spcAft>
            </a:pPr>
            <a:r>
              <a:rPr sz="1050" b="0" i="0">
                <a:solidFill>
                  <a:srgbClr val="9AB4B8"/>
                </a:solidFill>
                <a:latin typeface="Calibri"/>
              </a:rPr>
              <a:t>Session 38  ·  Model Optimization</a:t>
            </a:r>
          </a:p>
        </p:txBody>
      </p:sp>
      <p:sp>
        <p:nvSpPr>
          <p:cNvPr id="5" name="TextBox 4"/>
          <p:cNvSpPr txBox="1"/>
          <p:nvPr/>
        </p:nvSpPr>
        <p:spPr>
          <a:xfrm>
            <a:off x="777240" y="1737360"/>
            <a:ext cx="5230368" cy="256032"/>
          </a:xfrm>
          <a:prstGeom prst="rect">
            <a:avLst/>
          </a:prstGeom>
          <a:noFill/>
        </p:spPr>
        <p:txBody>
          <a:bodyPr wrap="square" lIns="0" rIns="0" tIns="0" bIns="0">
            <a:spAutoFit/>
          </a:bodyPr>
          <a:lstStyle/>
          <a:p>
            <a:pPr algn="l">
              <a:lnSpc>
                <a:spcPct val="115000"/>
              </a:lnSpc>
              <a:spcAft>
                <a:spcPts val="200"/>
              </a:spcAft>
            </a:pPr>
            <a:r>
              <a:rPr sz="1050" b="1" i="0">
                <a:solidFill>
                  <a:srgbClr val="028090"/>
                </a:solidFill>
                <a:latin typeface="Calibri"/>
              </a:rPr>
              <a:t>LAYER AND TENSOR FUSION</a:t>
            </a:r>
          </a:p>
        </p:txBody>
      </p:sp>
      <p:sp>
        <p:nvSpPr>
          <p:cNvPr id="6" name="Rounded Rectangle 5"/>
          <p:cNvSpPr/>
          <p:nvPr/>
        </p:nvSpPr>
        <p:spPr>
          <a:xfrm>
            <a:off x="777240" y="2084831"/>
            <a:ext cx="1115568" cy="512064"/>
          </a:xfrm>
          <a:prstGeom prst="roundRect">
            <a:avLst>
              <a:gd name="adj" fmla="val 14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68680" y="2084831"/>
            <a:ext cx="932688" cy="512064"/>
          </a:xfrm>
          <a:prstGeom prst="rect">
            <a:avLst/>
          </a:prstGeom>
          <a:noFill/>
        </p:spPr>
        <p:txBody>
          <a:bodyPr wrap="square" lIns="0" rIns="0" tIns="0" bIns="0" anchor="ctr">
            <a:spAutoFit/>
          </a:bodyPr>
          <a:lstStyle/>
          <a:p>
            <a:pPr algn="ctr">
              <a:lnSpc>
                <a:spcPct val="112000"/>
              </a:lnSpc>
              <a:spcAft>
                <a:spcPts val="200"/>
              </a:spcAft>
            </a:pPr>
            <a:r>
              <a:rPr sz="1200" b="1" i="0">
                <a:solidFill>
                  <a:srgbClr val="12343B"/>
                </a:solidFill>
                <a:latin typeface="Calibri"/>
              </a:rPr>
              <a:t>Conv</a:t>
            </a:r>
          </a:p>
        </p:txBody>
      </p:sp>
      <p:sp>
        <p:nvSpPr>
          <p:cNvPr id="8" name="Right Arrow 7"/>
          <p:cNvSpPr/>
          <p:nvPr/>
        </p:nvSpPr>
        <p:spPr>
          <a:xfrm>
            <a:off x="1911095" y="2221992"/>
            <a:ext cx="146304" cy="237744"/>
          </a:xfrm>
          <a:prstGeom prst="rightArrow">
            <a:avLst/>
          </a:prstGeom>
          <a:solidFill>
            <a:srgbClr val="B6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2075688" y="2084831"/>
            <a:ext cx="1115568" cy="512064"/>
          </a:xfrm>
          <a:prstGeom prst="roundRect">
            <a:avLst>
              <a:gd name="adj" fmla="val 14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2167128" y="2084831"/>
            <a:ext cx="932688" cy="512064"/>
          </a:xfrm>
          <a:prstGeom prst="rect">
            <a:avLst/>
          </a:prstGeom>
          <a:noFill/>
        </p:spPr>
        <p:txBody>
          <a:bodyPr wrap="square" lIns="0" rIns="0" tIns="0" bIns="0" anchor="ctr">
            <a:spAutoFit/>
          </a:bodyPr>
          <a:lstStyle/>
          <a:p>
            <a:pPr algn="ctr">
              <a:lnSpc>
                <a:spcPct val="112000"/>
              </a:lnSpc>
              <a:spcAft>
                <a:spcPts val="200"/>
              </a:spcAft>
            </a:pPr>
            <a:r>
              <a:rPr sz="1200" b="1" i="0">
                <a:solidFill>
                  <a:srgbClr val="12343B"/>
                </a:solidFill>
                <a:latin typeface="Calibri"/>
              </a:rPr>
              <a:t>Bias</a:t>
            </a:r>
          </a:p>
        </p:txBody>
      </p:sp>
      <p:sp>
        <p:nvSpPr>
          <p:cNvPr id="11" name="Right Arrow 10"/>
          <p:cNvSpPr/>
          <p:nvPr/>
        </p:nvSpPr>
        <p:spPr>
          <a:xfrm>
            <a:off x="3209544" y="2221992"/>
            <a:ext cx="146304" cy="237744"/>
          </a:xfrm>
          <a:prstGeom prst="rightArrow">
            <a:avLst/>
          </a:prstGeom>
          <a:solidFill>
            <a:srgbClr val="B6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3374136" y="2084831"/>
            <a:ext cx="1115568" cy="512064"/>
          </a:xfrm>
          <a:prstGeom prst="roundRect">
            <a:avLst>
              <a:gd name="adj" fmla="val 14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465576" y="2084831"/>
            <a:ext cx="932688" cy="512064"/>
          </a:xfrm>
          <a:prstGeom prst="rect">
            <a:avLst/>
          </a:prstGeom>
          <a:noFill/>
        </p:spPr>
        <p:txBody>
          <a:bodyPr wrap="square" lIns="0" rIns="0" tIns="0" bIns="0" anchor="ctr">
            <a:spAutoFit/>
          </a:bodyPr>
          <a:lstStyle/>
          <a:p>
            <a:pPr algn="ctr">
              <a:lnSpc>
                <a:spcPct val="112000"/>
              </a:lnSpc>
              <a:spcAft>
                <a:spcPts val="200"/>
              </a:spcAft>
            </a:pPr>
            <a:r>
              <a:rPr sz="1200" b="1" i="0">
                <a:solidFill>
                  <a:srgbClr val="12343B"/>
                </a:solidFill>
                <a:latin typeface="Calibri"/>
              </a:rPr>
              <a:t>ReLU</a:t>
            </a:r>
          </a:p>
        </p:txBody>
      </p:sp>
      <p:sp>
        <p:nvSpPr>
          <p:cNvPr id="14" name="TextBox 13"/>
          <p:cNvSpPr txBox="1"/>
          <p:nvPr/>
        </p:nvSpPr>
        <p:spPr>
          <a:xfrm>
            <a:off x="777240" y="2670048"/>
            <a:ext cx="3566160" cy="274320"/>
          </a:xfrm>
          <a:prstGeom prst="rect">
            <a:avLst/>
          </a:prstGeom>
          <a:noFill/>
        </p:spPr>
        <p:txBody>
          <a:bodyPr wrap="square" lIns="0" rIns="0" tIns="0" bIns="0">
            <a:spAutoFit/>
          </a:bodyPr>
          <a:lstStyle/>
          <a:p>
            <a:pPr algn="l">
              <a:lnSpc>
                <a:spcPct val="115000"/>
              </a:lnSpc>
              <a:spcAft>
                <a:spcPts val="200"/>
              </a:spcAft>
            </a:pPr>
            <a:r>
              <a:rPr sz="1150" b="0" i="0">
                <a:solidFill>
                  <a:srgbClr val="C15B4E"/>
                </a:solidFill>
                <a:latin typeface="Calibri"/>
              </a:rPr>
              <a:t>3 kernel launches, 3 trips to memory</a:t>
            </a:r>
          </a:p>
        </p:txBody>
      </p:sp>
      <p:sp>
        <p:nvSpPr>
          <p:cNvPr id="15" name="Right Arrow 14"/>
          <p:cNvSpPr/>
          <p:nvPr/>
        </p:nvSpPr>
        <p:spPr>
          <a:xfrm>
            <a:off x="4718304" y="2221992"/>
            <a:ext cx="365760" cy="237744"/>
          </a:xfrm>
          <a:prstGeom prst="rightArrow">
            <a:avLst/>
          </a:prstGeom>
          <a:solidFill>
            <a:srgbClr val="B6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193792" y="2084831"/>
            <a:ext cx="1463040" cy="512064"/>
          </a:xfrm>
          <a:prstGeom prst="roundRect">
            <a:avLst>
              <a:gd name="adj" fmla="val 14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285231" y="2084831"/>
            <a:ext cx="1280160" cy="512064"/>
          </a:xfrm>
          <a:prstGeom prst="rect">
            <a:avLst/>
          </a:prstGeom>
          <a:noFill/>
        </p:spPr>
        <p:txBody>
          <a:bodyPr wrap="square" lIns="0" rIns="0" tIns="0" bIns="0" anchor="ctr">
            <a:spAutoFit/>
          </a:bodyPr>
          <a:lstStyle/>
          <a:p>
            <a:pPr algn="ctr">
              <a:lnSpc>
                <a:spcPct val="112000"/>
              </a:lnSpc>
              <a:spcAft>
                <a:spcPts val="200"/>
              </a:spcAft>
            </a:pPr>
            <a:r>
              <a:rPr sz="1250" b="1" i="0">
                <a:solidFill>
                  <a:srgbClr val="FFFFFF"/>
                </a:solidFill>
                <a:latin typeface="Calibri"/>
              </a:rPr>
              <a:t>CBR</a:t>
            </a:r>
          </a:p>
        </p:txBody>
      </p:sp>
      <p:sp>
        <p:nvSpPr>
          <p:cNvPr id="18" name="TextBox 17"/>
          <p:cNvSpPr txBox="1"/>
          <p:nvPr/>
        </p:nvSpPr>
        <p:spPr>
          <a:xfrm>
            <a:off x="5193792" y="2670048"/>
            <a:ext cx="2926080" cy="274320"/>
          </a:xfrm>
          <a:prstGeom prst="rect">
            <a:avLst/>
          </a:prstGeom>
          <a:noFill/>
        </p:spPr>
        <p:txBody>
          <a:bodyPr wrap="square" lIns="0" rIns="0" tIns="0" bIns="0">
            <a:spAutoFit/>
          </a:bodyPr>
          <a:lstStyle/>
          <a:p>
            <a:pPr algn="l">
              <a:lnSpc>
                <a:spcPct val="115000"/>
              </a:lnSpc>
              <a:spcAft>
                <a:spcPts val="200"/>
              </a:spcAft>
            </a:pPr>
            <a:r>
              <a:rPr sz="1150" b="0" i="0">
                <a:solidFill>
                  <a:srgbClr val="028090"/>
                </a:solidFill>
                <a:latin typeface="Calibri"/>
              </a:rPr>
              <a:t>1 kernel, 1 trip</a:t>
            </a:r>
          </a:p>
        </p:txBody>
      </p:sp>
      <p:sp>
        <p:nvSpPr>
          <p:cNvPr id="19" name="TextBox 18"/>
          <p:cNvSpPr txBox="1"/>
          <p:nvPr/>
        </p:nvSpPr>
        <p:spPr>
          <a:xfrm>
            <a:off x="777240" y="3054096"/>
            <a:ext cx="10607040" cy="310896"/>
          </a:xfrm>
          <a:prstGeom prst="rect">
            <a:avLst/>
          </a:prstGeom>
          <a:noFill/>
        </p:spPr>
        <p:txBody>
          <a:bodyPr wrap="square" lIns="0" rIns="0" tIns="0" bIns="0">
            <a:spAutoFit/>
          </a:bodyPr>
          <a:lstStyle/>
          <a:p>
            <a:pPr algn="l">
              <a:lnSpc>
                <a:spcPct val="120000"/>
              </a:lnSpc>
              <a:spcAft>
                <a:spcPts val="200"/>
              </a:spcAft>
            </a:pPr>
            <a:r>
              <a:rPr sz="1200" b="0" i="0">
                <a:solidFill>
                  <a:srgbClr val="5A7A80"/>
                </a:solidFill>
                <a:latin typeface="Calibri"/>
              </a:rPr>
              <a:t>The maths is unchanged. What disappears is the launch overhead and the intermediate tensors being written to GPU memory and read straight back.</a:t>
            </a:r>
          </a:p>
        </p:txBody>
      </p:sp>
      <p:sp>
        <p:nvSpPr>
          <p:cNvPr id="20" name="Rounded Rectangle 19"/>
          <p:cNvSpPr/>
          <p:nvPr/>
        </p:nvSpPr>
        <p:spPr>
          <a:xfrm>
            <a:off x="777240" y="3529584"/>
            <a:ext cx="5230368" cy="1298448"/>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96695" y="3749039"/>
            <a:ext cx="4791456" cy="292608"/>
          </a:xfrm>
          <a:prstGeom prst="rect">
            <a:avLst/>
          </a:prstGeom>
          <a:noFill/>
        </p:spPr>
        <p:txBody>
          <a:bodyPr wrap="square" lIns="0" rIns="0" tIns="0" bIns="0">
            <a:spAutoFit/>
          </a:bodyPr>
          <a:lstStyle/>
          <a:p>
            <a:pPr algn="l">
              <a:lnSpc>
                <a:spcPct val="105000"/>
              </a:lnSpc>
              <a:spcAft>
                <a:spcPts val="200"/>
              </a:spcAft>
            </a:pPr>
            <a:r>
              <a:rPr sz="1350" b="1" i="0">
                <a:solidFill>
                  <a:srgbClr val="12343B"/>
                </a:solidFill>
                <a:latin typeface="Calibri"/>
              </a:rPr>
              <a:t>Kernel auto tuning</a:t>
            </a:r>
          </a:p>
        </p:txBody>
      </p:sp>
      <p:sp>
        <p:nvSpPr>
          <p:cNvPr id="22" name="TextBox 21"/>
          <p:cNvSpPr txBox="1"/>
          <p:nvPr/>
        </p:nvSpPr>
        <p:spPr>
          <a:xfrm>
            <a:off x="996695" y="4133087"/>
            <a:ext cx="4791456" cy="475488"/>
          </a:xfrm>
          <a:prstGeom prst="rect">
            <a:avLst/>
          </a:prstGeom>
          <a:noFill/>
        </p:spPr>
        <p:txBody>
          <a:bodyPr wrap="square" lIns="0" rIns="0" tIns="0" bIns="0">
            <a:spAutoFit/>
          </a:bodyPr>
          <a:lstStyle/>
          <a:p>
            <a:pPr algn="l">
              <a:lnSpc>
                <a:spcPct val="122000"/>
              </a:lnSpc>
              <a:spcAft>
                <a:spcPts val="400"/>
              </a:spcAft>
            </a:pPr>
            <a:r>
              <a:rPr sz="1150" b="0" i="0">
                <a:solidFill>
                  <a:srgbClr val="5A7A80"/>
                </a:solidFill>
                <a:latin typeface="Calibri"/>
              </a:rPr>
              <a:t>There are many valid CUDA implementations of a 3x3 convolution. The builder times them on your GPU, at your shapes, and keeps the winner. This is why the engine is device specific.</a:t>
            </a:r>
          </a:p>
        </p:txBody>
      </p:sp>
      <p:sp>
        <p:nvSpPr>
          <p:cNvPr id="23" name="Rounded Rectangle 22"/>
          <p:cNvSpPr/>
          <p:nvPr/>
        </p:nvSpPr>
        <p:spPr>
          <a:xfrm>
            <a:off x="6144768" y="3529584"/>
            <a:ext cx="5230368" cy="1298448"/>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364224" y="3749039"/>
            <a:ext cx="4791456" cy="292608"/>
          </a:xfrm>
          <a:prstGeom prst="rect">
            <a:avLst/>
          </a:prstGeom>
          <a:noFill/>
        </p:spPr>
        <p:txBody>
          <a:bodyPr wrap="square" lIns="0" rIns="0" tIns="0" bIns="0">
            <a:spAutoFit/>
          </a:bodyPr>
          <a:lstStyle/>
          <a:p>
            <a:pPr algn="l">
              <a:lnSpc>
                <a:spcPct val="105000"/>
              </a:lnSpc>
              <a:spcAft>
                <a:spcPts val="200"/>
              </a:spcAft>
            </a:pPr>
            <a:r>
              <a:rPr sz="1350" b="1" i="0">
                <a:solidFill>
                  <a:srgbClr val="12343B"/>
                </a:solidFill>
                <a:latin typeface="Calibri"/>
              </a:rPr>
              <a:t>Precision control</a:t>
            </a:r>
          </a:p>
        </p:txBody>
      </p:sp>
      <p:sp>
        <p:nvSpPr>
          <p:cNvPr id="25" name="TextBox 24"/>
          <p:cNvSpPr txBox="1"/>
          <p:nvPr/>
        </p:nvSpPr>
        <p:spPr>
          <a:xfrm>
            <a:off x="6364224" y="4133087"/>
            <a:ext cx="4791456" cy="475488"/>
          </a:xfrm>
          <a:prstGeom prst="rect">
            <a:avLst/>
          </a:prstGeom>
          <a:noFill/>
        </p:spPr>
        <p:txBody>
          <a:bodyPr wrap="square" lIns="0" rIns="0" tIns="0" bIns="0">
            <a:spAutoFit/>
          </a:bodyPr>
          <a:lstStyle/>
          <a:p>
            <a:pPr algn="l">
              <a:lnSpc>
                <a:spcPct val="122000"/>
              </a:lnSpc>
              <a:spcAft>
                <a:spcPts val="400"/>
              </a:spcAft>
            </a:pPr>
            <a:r>
              <a:rPr sz="1150" b="0" i="0">
                <a:solidFill>
                  <a:srgbClr val="5A7A80"/>
                </a:solidFill>
                <a:latin typeface="Calibri"/>
              </a:rPr>
              <a:t>You hand it a precision budget and it decides, layer by layer, where FP16 or INT8 is safe and where a layer must stay in higher precision.</a:t>
            </a:r>
          </a:p>
        </p:txBody>
      </p:sp>
      <p:sp>
        <p:nvSpPr>
          <p:cNvPr id="26" name="Rounded Rectangle 25"/>
          <p:cNvSpPr/>
          <p:nvPr/>
        </p:nvSpPr>
        <p:spPr>
          <a:xfrm>
            <a:off x="777240" y="4946904"/>
            <a:ext cx="5230368" cy="1298448"/>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96695" y="5166360"/>
            <a:ext cx="4791456" cy="292608"/>
          </a:xfrm>
          <a:prstGeom prst="rect">
            <a:avLst/>
          </a:prstGeom>
          <a:noFill/>
        </p:spPr>
        <p:txBody>
          <a:bodyPr wrap="square" lIns="0" rIns="0" tIns="0" bIns="0">
            <a:spAutoFit/>
          </a:bodyPr>
          <a:lstStyle/>
          <a:p>
            <a:pPr algn="l">
              <a:lnSpc>
                <a:spcPct val="105000"/>
              </a:lnSpc>
              <a:spcAft>
                <a:spcPts val="200"/>
              </a:spcAft>
            </a:pPr>
            <a:r>
              <a:rPr sz="1350" b="1" i="0">
                <a:solidFill>
                  <a:srgbClr val="12343B"/>
                </a:solidFill>
                <a:latin typeface="Calibri"/>
              </a:rPr>
              <a:t>Memory reuse</a:t>
            </a:r>
          </a:p>
        </p:txBody>
      </p:sp>
      <p:sp>
        <p:nvSpPr>
          <p:cNvPr id="28" name="TextBox 27"/>
          <p:cNvSpPr txBox="1"/>
          <p:nvPr/>
        </p:nvSpPr>
        <p:spPr>
          <a:xfrm>
            <a:off x="996695" y="5550408"/>
            <a:ext cx="4791456" cy="475488"/>
          </a:xfrm>
          <a:prstGeom prst="rect">
            <a:avLst/>
          </a:prstGeom>
          <a:noFill/>
        </p:spPr>
        <p:txBody>
          <a:bodyPr wrap="square" lIns="0" rIns="0" tIns="0" bIns="0">
            <a:spAutoFit/>
          </a:bodyPr>
          <a:lstStyle/>
          <a:p>
            <a:pPr algn="l">
              <a:lnSpc>
                <a:spcPct val="122000"/>
              </a:lnSpc>
              <a:spcAft>
                <a:spcPts val="400"/>
              </a:spcAft>
            </a:pPr>
            <a:r>
              <a:rPr sz="1150" b="0" i="0">
                <a:solidFill>
                  <a:srgbClr val="5A7A80"/>
                </a:solidFill>
                <a:latin typeface="Calibri"/>
              </a:rPr>
              <a:t>Tensors that are never alive at the same time share one allocation, so peak VRAM drops well below the sum of the activations.</a:t>
            </a:r>
          </a:p>
        </p:txBody>
      </p:sp>
      <p:sp>
        <p:nvSpPr>
          <p:cNvPr id="29" name="Rounded Rectangle 28"/>
          <p:cNvSpPr/>
          <p:nvPr/>
        </p:nvSpPr>
        <p:spPr>
          <a:xfrm>
            <a:off x="6144768" y="4946904"/>
            <a:ext cx="5230368" cy="1298448"/>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364224" y="5166360"/>
            <a:ext cx="4791456" cy="292608"/>
          </a:xfrm>
          <a:prstGeom prst="rect">
            <a:avLst/>
          </a:prstGeom>
          <a:noFill/>
        </p:spPr>
        <p:txBody>
          <a:bodyPr wrap="square" lIns="0" rIns="0" tIns="0" bIns="0">
            <a:spAutoFit/>
          </a:bodyPr>
          <a:lstStyle/>
          <a:p>
            <a:pPr algn="l">
              <a:lnSpc>
                <a:spcPct val="105000"/>
              </a:lnSpc>
              <a:spcAft>
                <a:spcPts val="200"/>
              </a:spcAft>
            </a:pPr>
            <a:r>
              <a:rPr sz="1350" b="1" i="0">
                <a:solidFill>
                  <a:srgbClr val="12343B"/>
                </a:solidFill>
                <a:latin typeface="Calibri"/>
              </a:rPr>
              <a:t>Streams and CUDA graphs</a:t>
            </a:r>
          </a:p>
        </p:txBody>
      </p:sp>
      <p:sp>
        <p:nvSpPr>
          <p:cNvPr id="31" name="TextBox 30"/>
          <p:cNvSpPr txBox="1"/>
          <p:nvPr/>
        </p:nvSpPr>
        <p:spPr>
          <a:xfrm>
            <a:off x="6364224" y="5550408"/>
            <a:ext cx="4791456" cy="475488"/>
          </a:xfrm>
          <a:prstGeom prst="rect">
            <a:avLst/>
          </a:prstGeom>
          <a:noFill/>
        </p:spPr>
        <p:txBody>
          <a:bodyPr wrap="square" lIns="0" rIns="0" tIns="0" bIns="0">
            <a:spAutoFit/>
          </a:bodyPr>
          <a:lstStyle/>
          <a:p>
            <a:pPr algn="l">
              <a:lnSpc>
                <a:spcPct val="122000"/>
              </a:lnSpc>
              <a:spcAft>
                <a:spcPts val="400"/>
              </a:spcAft>
            </a:pPr>
            <a:r>
              <a:rPr sz="1150" b="0" i="0">
                <a:solidFill>
                  <a:srgbClr val="5A7A80"/>
                </a:solidFill>
                <a:latin typeface="Calibri"/>
              </a:rPr>
              <a:t>Independent branches run concurrently, and the whole engine can be captured as a single graph launch so the CPU stops being the bottleneck.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lnSpc>
                <a:spcPct val="105000"/>
              </a:lnSpc>
              <a:spcAft>
                <a:spcPts val="200"/>
              </a:spcAft>
            </a:pPr>
            <a:r>
              <a:rPr sz="1200" b="1" i="0">
                <a:solidFill>
                  <a:srgbClr val="028090"/>
                </a:solidFill>
                <a:latin typeface="Calibri"/>
              </a:rPr>
              <a:t>QUANTIZATION · THE FORMATS</a:t>
            </a:r>
          </a:p>
        </p:txBody>
      </p:sp>
      <p:sp>
        <p:nvSpPr>
          <p:cNvPr id="3" name="TextBox 2"/>
          <p:cNvSpPr txBox="1"/>
          <p:nvPr/>
        </p:nvSpPr>
        <p:spPr>
          <a:xfrm>
            <a:off x="685800" y="786384"/>
            <a:ext cx="10881360" cy="777240"/>
          </a:xfrm>
          <a:prstGeom prst="rect">
            <a:avLst/>
          </a:prstGeom>
          <a:noFill/>
        </p:spPr>
        <p:txBody>
          <a:bodyPr wrap="square" lIns="0" rIns="0" tIns="0" bIns="0">
            <a:spAutoFit/>
          </a:bodyPr>
          <a:lstStyle/>
          <a:p>
            <a:pPr algn="l">
              <a:lnSpc>
                <a:spcPct val="105000"/>
              </a:lnSpc>
              <a:spcAft>
                <a:spcPts val="200"/>
              </a:spcAft>
            </a:pPr>
            <a:r>
              <a:rPr sz="3200" b="1" i="0">
                <a:solidFill>
                  <a:srgbClr val="12343B"/>
                </a:solidFill>
                <a:latin typeface="Cambria"/>
              </a:rPr>
              <a:t>Fewer bits per number</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lnSpc>
                <a:spcPct val="105000"/>
              </a:lnSpc>
              <a:spcAft>
                <a:spcPts val="200"/>
              </a:spcAft>
            </a:pPr>
            <a:r>
              <a:rPr sz="1050" b="0" i="0">
                <a:solidFill>
                  <a:srgbClr val="9AB4B8"/>
                </a:solidFill>
                <a:latin typeface="Calibri"/>
              </a:rPr>
              <a:t>Session 38  ·  Model Optimization</a:t>
            </a:r>
          </a:p>
        </p:txBody>
      </p:sp>
      <p:sp>
        <p:nvSpPr>
          <p:cNvPr id="5" name="TextBox 4"/>
          <p:cNvSpPr txBox="1"/>
          <p:nvPr/>
        </p:nvSpPr>
        <p:spPr>
          <a:xfrm>
            <a:off x="777240" y="1847088"/>
            <a:ext cx="777240" cy="310896"/>
          </a:xfrm>
          <a:prstGeom prst="rect">
            <a:avLst/>
          </a:prstGeom>
          <a:noFill/>
        </p:spPr>
        <p:txBody>
          <a:bodyPr wrap="square" lIns="0" rIns="0" tIns="0" bIns="0">
            <a:spAutoFit/>
          </a:bodyPr>
          <a:lstStyle/>
          <a:p>
            <a:pPr algn="l">
              <a:lnSpc>
                <a:spcPct val="115000"/>
              </a:lnSpc>
              <a:spcAft>
                <a:spcPts val="200"/>
              </a:spcAft>
            </a:pPr>
            <a:r>
              <a:rPr sz="1350" b="1" i="0">
                <a:solidFill>
                  <a:srgbClr val="12343B"/>
                </a:solidFill>
                <a:latin typeface="Calibri"/>
              </a:rPr>
              <a:t>FP32</a:t>
            </a:r>
          </a:p>
        </p:txBody>
      </p:sp>
      <p:sp>
        <p:nvSpPr>
          <p:cNvPr id="6" name="Rectangle 5"/>
          <p:cNvSpPr/>
          <p:nvPr/>
        </p:nvSpPr>
        <p:spPr>
          <a:xfrm>
            <a:off x="1691640" y="1828800"/>
            <a:ext cx="224028" cy="365760"/>
          </a:xfrm>
          <a:prstGeom prst="rect">
            <a:avLst/>
          </a:prstGeom>
          <a:solidFill>
            <a:srgbClr val="123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691640" y="1828800"/>
            <a:ext cx="224028" cy="365760"/>
          </a:xfrm>
          <a:prstGeom prst="rect">
            <a:avLst/>
          </a:prstGeom>
          <a:noFill/>
        </p:spPr>
        <p:txBody>
          <a:bodyPr wrap="square" lIns="0" rIns="0" tIns="0" bIns="0" anchor="ctr">
            <a:spAutoFit/>
          </a:bodyPr>
          <a:lstStyle/>
          <a:p>
            <a:pPr algn="ctr">
              <a:lnSpc>
                <a:spcPct val="115000"/>
              </a:lnSpc>
              <a:spcAft>
                <a:spcPts val="200"/>
              </a:spcAft>
            </a:pPr>
            <a:r>
              <a:rPr sz="950" b="1" i="0">
                <a:solidFill>
                  <a:srgbClr val="FFFFFF"/>
                </a:solidFill>
                <a:latin typeface="Calibri"/>
              </a:rPr>
              <a:t>S</a:t>
            </a:r>
          </a:p>
        </p:txBody>
      </p:sp>
      <p:sp>
        <p:nvSpPr>
          <p:cNvPr id="8" name="Rectangle 7"/>
          <p:cNvSpPr/>
          <p:nvPr/>
        </p:nvSpPr>
        <p:spPr>
          <a:xfrm>
            <a:off x="1915668" y="1828800"/>
            <a:ext cx="1792224" cy="36576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915668" y="1828800"/>
            <a:ext cx="1792224" cy="365760"/>
          </a:xfrm>
          <a:prstGeom prst="rect">
            <a:avLst/>
          </a:prstGeom>
          <a:noFill/>
        </p:spPr>
        <p:txBody>
          <a:bodyPr wrap="square" lIns="0" rIns="0" tIns="0" bIns="0" anchor="ctr">
            <a:spAutoFit/>
          </a:bodyPr>
          <a:lstStyle/>
          <a:p>
            <a:pPr algn="ctr">
              <a:lnSpc>
                <a:spcPct val="115000"/>
              </a:lnSpc>
              <a:spcAft>
                <a:spcPts val="200"/>
              </a:spcAft>
            </a:pPr>
            <a:r>
              <a:rPr sz="1000" b="1" i="0">
                <a:solidFill>
                  <a:srgbClr val="FFFFFF"/>
                </a:solidFill>
                <a:latin typeface="Calibri"/>
              </a:rPr>
              <a:t>exponent · 8</a:t>
            </a:r>
          </a:p>
        </p:txBody>
      </p:sp>
      <p:sp>
        <p:nvSpPr>
          <p:cNvPr id="10" name="Rectangle 9"/>
          <p:cNvSpPr/>
          <p:nvPr/>
        </p:nvSpPr>
        <p:spPr>
          <a:xfrm>
            <a:off x="3707891" y="1828800"/>
            <a:ext cx="5152644" cy="3657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707891" y="1828800"/>
            <a:ext cx="5152644" cy="365760"/>
          </a:xfrm>
          <a:prstGeom prst="rect">
            <a:avLst/>
          </a:prstGeom>
          <a:noFill/>
        </p:spPr>
        <p:txBody>
          <a:bodyPr wrap="square" lIns="0" rIns="0" tIns="0" bIns="0" anchor="ctr">
            <a:spAutoFit/>
          </a:bodyPr>
          <a:lstStyle/>
          <a:p>
            <a:pPr algn="ctr">
              <a:lnSpc>
                <a:spcPct val="115000"/>
              </a:lnSpc>
              <a:spcAft>
                <a:spcPts val="200"/>
              </a:spcAft>
            </a:pPr>
            <a:r>
              <a:rPr sz="1000" b="1" i="0">
                <a:solidFill>
                  <a:srgbClr val="FFFFFF"/>
                </a:solidFill>
                <a:latin typeface="Calibri"/>
              </a:rPr>
              <a:t>mantissa · 23</a:t>
            </a:r>
          </a:p>
        </p:txBody>
      </p:sp>
      <p:sp>
        <p:nvSpPr>
          <p:cNvPr id="12" name="TextBox 11"/>
          <p:cNvSpPr txBox="1"/>
          <p:nvPr/>
        </p:nvSpPr>
        <p:spPr>
          <a:xfrm>
            <a:off x="8988552" y="1874519"/>
            <a:ext cx="1828800" cy="292608"/>
          </a:xfrm>
          <a:prstGeom prst="rect">
            <a:avLst/>
          </a:prstGeom>
          <a:noFill/>
        </p:spPr>
        <p:txBody>
          <a:bodyPr wrap="square" lIns="0" rIns="0" tIns="0" bIns="0">
            <a:spAutoFit/>
          </a:bodyPr>
          <a:lstStyle/>
          <a:p>
            <a:pPr algn="l">
              <a:lnSpc>
                <a:spcPct val="115000"/>
              </a:lnSpc>
              <a:spcAft>
                <a:spcPts val="200"/>
              </a:spcAft>
            </a:pPr>
            <a:r>
              <a:rPr sz="1100" b="1" i="0">
                <a:solidFill>
                  <a:srgbClr val="5A7A80"/>
                </a:solidFill>
                <a:latin typeface="Calibri"/>
              </a:rPr>
              <a:t>32 bits</a:t>
            </a:r>
          </a:p>
        </p:txBody>
      </p:sp>
      <p:sp>
        <p:nvSpPr>
          <p:cNvPr id="13" name="TextBox 12"/>
          <p:cNvSpPr txBox="1"/>
          <p:nvPr/>
        </p:nvSpPr>
        <p:spPr>
          <a:xfrm>
            <a:off x="1691640" y="2249424"/>
            <a:ext cx="8778240" cy="274320"/>
          </a:xfrm>
          <a:prstGeom prst="rect">
            <a:avLst/>
          </a:prstGeom>
          <a:noFill/>
        </p:spPr>
        <p:txBody>
          <a:bodyPr wrap="square" lIns="0" rIns="0" tIns="0" bIns="0">
            <a:spAutoFit/>
          </a:bodyPr>
          <a:lstStyle/>
          <a:p>
            <a:pPr algn="l">
              <a:lnSpc>
                <a:spcPct val="115000"/>
              </a:lnSpc>
              <a:spcAft>
                <a:spcPts val="200"/>
              </a:spcAft>
            </a:pPr>
            <a:r>
              <a:rPr sz="1150" b="0" i="0">
                <a:solidFill>
                  <a:srgbClr val="5A7A80"/>
                </a:solidFill>
                <a:latin typeface="Calibri"/>
              </a:rPr>
              <a:t>4 bytes  ·  range ±3.4e38  ·  about 7 decimal digits  ·  the training default</a:t>
            </a:r>
          </a:p>
        </p:txBody>
      </p:sp>
      <p:sp>
        <p:nvSpPr>
          <p:cNvPr id="14" name="TextBox 13"/>
          <p:cNvSpPr txBox="1"/>
          <p:nvPr/>
        </p:nvSpPr>
        <p:spPr>
          <a:xfrm>
            <a:off x="777240" y="2779776"/>
            <a:ext cx="777240" cy="310896"/>
          </a:xfrm>
          <a:prstGeom prst="rect">
            <a:avLst/>
          </a:prstGeom>
          <a:noFill/>
        </p:spPr>
        <p:txBody>
          <a:bodyPr wrap="square" lIns="0" rIns="0" tIns="0" bIns="0">
            <a:spAutoFit/>
          </a:bodyPr>
          <a:lstStyle/>
          <a:p>
            <a:pPr algn="l">
              <a:lnSpc>
                <a:spcPct val="115000"/>
              </a:lnSpc>
              <a:spcAft>
                <a:spcPts val="200"/>
              </a:spcAft>
            </a:pPr>
            <a:r>
              <a:rPr sz="1350" b="1" i="0">
                <a:solidFill>
                  <a:srgbClr val="12343B"/>
                </a:solidFill>
                <a:latin typeface="Calibri"/>
              </a:rPr>
              <a:t>FP16</a:t>
            </a:r>
          </a:p>
        </p:txBody>
      </p:sp>
      <p:sp>
        <p:nvSpPr>
          <p:cNvPr id="15" name="Rectangle 14"/>
          <p:cNvSpPr/>
          <p:nvPr/>
        </p:nvSpPr>
        <p:spPr>
          <a:xfrm>
            <a:off x="1691640" y="2761488"/>
            <a:ext cx="224028" cy="365760"/>
          </a:xfrm>
          <a:prstGeom prst="rect">
            <a:avLst/>
          </a:prstGeom>
          <a:solidFill>
            <a:srgbClr val="123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691640" y="2761488"/>
            <a:ext cx="224028" cy="365760"/>
          </a:xfrm>
          <a:prstGeom prst="rect">
            <a:avLst/>
          </a:prstGeom>
          <a:noFill/>
        </p:spPr>
        <p:txBody>
          <a:bodyPr wrap="square" lIns="0" rIns="0" tIns="0" bIns="0" anchor="ctr">
            <a:spAutoFit/>
          </a:bodyPr>
          <a:lstStyle/>
          <a:p>
            <a:pPr algn="ctr">
              <a:lnSpc>
                <a:spcPct val="115000"/>
              </a:lnSpc>
              <a:spcAft>
                <a:spcPts val="200"/>
              </a:spcAft>
            </a:pPr>
            <a:r>
              <a:rPr sz="950" b="1" i="0">
                <a:solidFill>
                  <a:srgbClr val="FFFFFF"/>
                </a:solidFill>
                <a:latin typeface="Calibri"/>
              </a:rPr>
              <a:t>S</a:t>
            </a:r>
          </a:p>
        </p:txBody>
      </p:sp>
      <p:sp>
        <p:nvSpPr>
          <p:cNvPr id="17" name="Rectangle 16"/>
          <p:cNvSpPr/>
          <p:nvPr/>
        </p:nvSpPr>
        <p:spPr>
          <a:xfrm>
            <a:off x="1915668" y="2761488"/>
            <a:ext cx="1120140" cy="36576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915668" y="2761488"/>
            <a:ext cx="1120140" cy="365760"/>
          </a:xfrm>
          <a:prstGeom prst="rect">
            <a:avLst/>
          </a:prstGeom>
          <a:noFill/>
        </p:spPr>
        <p:txBody>
          <a:bodyPr wrap="square" lIns="0" rIns="0" tIns="0" bIns="0" anchor="ctr">
            <a:spAutoFit/>
          </a:bodyPr>
          <a:lstStyle/>
          <a:p>
            <a:pPr algn="ctr">
              <a:lnSpc>
                <a:spcPct val="115000"/>
              </a:lnSpc>
              <a:spcAft>
                <a:spcPts val="200"/>
              </a:spcAft>
            </a:pPr>
            <a:r>
              <a:rPr sz="1000" b="1" i="0">
                <a:solidFill>
                  <a:srgbClr val="FFFFFF"/>
                </a:solidFill>
                <a:latin typeface="Calibri"/>
              </a:rPr>
              <a:t>exponent · 5</a:t>
            </a:r>
          </a:p>
        </p:txBody>
      </p:sp>
      <p:sp>
        <p:nvSpPr>
          <p:cNvPr id="19" name="Rectangle 18"/>
          <p:cNvSpPr/>
          <p:nvPr/>
        </p:nvSpPr>
        <p:spPr>
          <a:xfrm>
            <a:off x="3035808" y="2761488"/>
            <a:ext cx="2240280" cy="3657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035808" y="2761488"/>
            <a:ext cx="2240280" cy="365760"/>
          </a:xfrm>
          <a:prstGeom prst="rect">
            <a:avLst/>
          </a:prstGeom>
          <a:noFill/>
        </p:spPr>
        <p:txBody>
          <a:bodyPr wrap="square" lIns="0" rIns="0" tIns="0" bIns="0" anchor="ctr">
            <a:spAutoFit/>
          </a:bodyPr>
          <a:lstStyle/>
          <a:p>
            <a:pPr algn="ctr">
              <a:lnSpc>
                <a:spcPct val="115000"/>
              </a:lnSpc>
              <a:spcAft>
                <a:spcPts val="200"/>
              </a:spcAft>
            </a:pPr>
            <a:r>
              <a:rPr sz="1000" b="1" i="0">
                <a:solidFill>
                  <a:srgbClr val="FFFFFF"/>
                </a:solidFill>
                <a:latin typeface="Calibri"/>
              </a:rPr>
              <a:t>mantissa · 10</a:t>
            </a:r>
          </a:p>
        </p:txBody>
      </p:sp>
      <p:sp>
        <p:nvSpPr>
          <p:cNvPr id="21" name="TextBox 20"/>
          <p:cNvSpPr txBox="1"/>
          <p:nvPr/>
        </p:nvSpPr>
        <p:spPr>
          <a:xfrm>
            <a:off x="5404104" y="2807208"/>
            <a:ext cx="1828800" cy="292608"/>
          </a:xfrm>
          <a:prstGeom prst="rect">
            <a:avLst/>
          </a:prstGeom>
          <a:noFill/>
        </p:spPr>
        <p:txBody>
          <a:bodyPr wrap="square" lIns="0" rIns="0" tIns="0" bIns="0">
            <a:spAutoFit/>
          </a:bodyPr>
          <a:lstStyle/>
          <a:p>
            <a:pPr algn="l">
              <a:lnSpc>
                <a:spcPct val="115000"/>
              </a:lnSpc>
              <a:spcAft>
                <a:spcPts val="200"/>
              </a:spcAft>
            </a:pPr>
            <a:r>
              <a:rPr sz="1100" b="1" i="0">
                <a:solidFill>
                  <a:srgbClr val="5A7A80"/>
                </a:solidFill>
                <a:latin typeface="Calibri"/>
              </a:rPr>
              <a:t>16 bits</a:t>
            </a:r>
          </a:p>
        </p:txBody>
      </p:sp>
      <p:sp>
        <p:nvSpPr>
          <p:cNvPr id="22" name="TextBox 21"/>
          <p:cNvSpPr txBox="1"/>
          <p:nvPr/>
        </p:nvSpPr>
        <p:spPr>
          <a:xfrm>
            <a:off x="1691640" y="3182112"/>
            <a:ext cx="8778240" cy="274320"/>
          </a:xfrm>
          <a:prstGeom prst="rect">
            <a:avLst/>
          </a:prstGeom>
          <a:noFill/>
        </p:spPr>
        <p:txBody>
          <a:bodyPr wrap="square" lIns="0" rIns="0" tIns="0" bIns="0">
            <a:spAutoFit/>
          </a:bodyPr>
          <a:lstStyle/>
          <a:p>
            <a:pPr algn="l">
              <a:lnSpc>
                <a:spcPct val="115000"/>
              </a:lnSpc>
              <a:spcAft>
                <a:spcPts val="200"/>
              </a:spcAft>
            </a:pPr>
            <a:r>
              <a:rPr sz="1150" b="0" i="0">
                <a:solidFill>
                  <a:srgbClr val="5A7A80"/>
                </a:solidFill>
                <a:latin typeface="Calibri"/>
              </a:rPr>
              <a:t>2 bytes  ·  range ±65504  ·  about 3 decimal digits  ·  the safe first win</a:t>
            </a:r>
          </a:p>
        </p:txBody>
      </p:sp>
      <p:sp>
        <p:nvSpPr>
          <p:cNvPr id="23" name="TextBox 22"/>
          <p:cNvSpPr txBox="1"/>
          <p:nvPr/>
        </p:nvSpPr>
        <p:spPr>
          <a:xfrm>
            <a:off x="777240" y="3712463"/>
            <a:ext cx="777240" cy="310896"/>
          </a:xfrm>
          <a:prstGeom prst="rect">
            <a:avLst/>
          </a:prstGeom>
          <a:noFill/>
        </p:spPr>
        <p:txBody>
          <a:bodyPr wrap="square" lIns="0" rIns="0" tIns="0" bIns="0">
            <a:spAutoFit/>
          </a:bodyPr>
          <a:lstStyle/>
          <a:p>
            <a:pPr algn="l">
              <a:lnSpc>
                <a:spcPct val="115000"/>
              </a:lnSpc>
              <a:spcAft>
                <a:spcPts val="200"/>
              </a:spcAft>
            </a:pPr>
            <a:r>
              <a:rPr sz="1350" b="1" i="0">
                <a:solidFill>
                  <a:srgbClr val="12343B"/>
                </a:solidFill>
                <a:latin typeface="Calibri"/>
              </a:rPr>
              <a:t>BF16</a:t>
            </a:r>
          </a:p>
        </p:txBody>
      </p:sp>
      <p:sp>
        <p:nvSpPr>
          <p:cNvPr id="24" name="Rectangle 23"/>
          <p:cNvSpPr/>
          <p:nvPr/>
        </p:nvSpPr>
        <p:spPr>
          <a:xfrm>
            <a:off x="1691640" y="3694176"/>
            <a:ext cx="224028" cy="365760"/>
          </a:xfrm>
          <a:prstGeom prst="rect">
            <a:avLst/>
          </a:prstGeom>
          <a:solidFill>
            <a:srgbClr val="123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691640" y="3694176"/>
            <a:ext cx="224028" cy="365760"/>
          </a:xfrm>
          <a:prstGeom prst="rect">
            <a:avLst/>
          </a:prstGeom>
          <a:noFill/>
        </p:spPr>
        <p:txBody>
          <a:bodyPr wrap="square" lIns="0" rIns="0" tIns="0" bIns="0" anchor="ctr">
            <a:spAutoFit/>
          </a:bodyPr>
          <a:lstStyle/>
          <a:p>
            <a:pPr algn="ctr">
              <a:lnSpc>
                <a:spcPct val="115000"/>
              </a:lnSpc>
              <a:spcAft>
                <a:spcPts val="200"/>
              </a:spcAft>
            </a:pPr>
            <a:r>
              <a:rPr sz="950" b="1" i="0">
                <a:solidFill>
                  <a:srgbClr val="FFFFFF"/>
                </a:solidFill>
                <a:latin typeface="Calibri"/>
              </a:rPr>
              <a:t>S</a:t>
            </a:r>
          </a:p>
        </p:txBody>
      </p:sp>
      <p:sp>
        <p:nvSpPr>
          <p:cNvPr id="26" name="Rectangle 25"/>
          <p:cNvSpPr/>
          <p:nvPr/>
        </p:nvSpPr>
        <p:spPr>
          <a:xfrm>
            <a:off x="1915668" y="3694176"/>
            <a:ext cx="1792224" cy="36576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915668" y="3694176"/>
            <a:ext cx="1792224" cy="365760"/>
          </a:xfrm>
          <a:prstGeom prst="rect">
            <a:avLst/>
          </a:prstGeom>
          <a:noFill/>
        </p:spPr>
        <p:txBody>
          <a:bodyPr wrap="square" lIns="0" rIns="0" tIns="0" bIns="0" anchor="ctr">
            <a:spAutoFit/>
          </a:bodyPr>
          <a:lstStyle/>
          <a:p>
            <a:pPr algn="ctr">
              <a:lnSpc>
                <a:spcPct val="115000"/>
              </a:lnSpc>
              <a:spcAft>
                <a:spcPts val="200"/>
              </a:spcAft>
            </a:pPr>
            <a:r>
              <a:rPr sz="1000" b="1" i="0">
                <a:solidFill>
                  <a:srgbClr val="FFFFFF"/>
                </a:solidFill>
                <a:latin typeface="Calibri"/>
              </a:rPr>
              <a:t>exponent · 8</a:t>
            </a:r>
          </a:p>
        </p:txBody>
      </p:sp>
      <p:sp>
        <p:nvSpPr>
          <p:cNvPr id="28" name="Rectangle 27"/>
          <p:cNvSpPr/>
          <p:nvPr/>
        </p:nvSpPr>
        <p:spPr>
          <a:xfrm>
            <a:off x="3707891" y="3694176"/>
            <a:ext cx="1568195" cy="3657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3707891" y="3694176"/>
            <a:ext cx="1568195" cy="365760"/>
          </a:xfrm>
          <a:prstGeom prst="rect">
            <a:avLst/>
          </a:prstGeom>
          <a:noFill/>
        </p:spPr>
        <p:txBody>
          <a:bodyPr wrap="square" lIns="0" rIns="0" tIns="0" bIns="0" anchor="ctr">
            <a:spAutoFit/>
          </a:bodyPr>
          <a:lstStyle/>
          <a:p>
            <a:pPr algn="ctr">
              <a:lnSpc>
                <a:spcPct val="115000"/>
              </a:lnSpc>
              <a:spcAft>
                <a:spcPts val="200"/>
              </a:spcAft>
            </a:pPr>
            <a:r>
              <a:rPr sz="1000" b="1" i="0">
                <a:solidFill>
                  <a:srgbClr val="FFFFFF"/>
                </a:solidFill>
                <a:latin typeface="Calibri"/>
              </a:rPr>
              <a:t>mantissa · 7</a:t>
            </a:r>
          </a:p>
        </p:txBody>
      </p:sp>
      <p:sp>
        <p:nvSpPr>
          <p:cNvPr id="30" name="TextBox 29"/>
          <p:cNvSpPr txBox="1"/>
          <p:nvPr/>
        </p:nvSpPr>
        <p:spPr>
          <a:xfrm>
            <a:off x="5404103" y="3739896"/>
            <a:ext cx="1828800" cy="292608"/>
          </a:xfrm>
          <a:prstGeom prst="rect">
            <a:avLst/>
          </a:prstGeom>
          <a:noFill/>
        </p:spPr>
        <p:txBody>
          <a:bodyPr wrap="square" lIns="0" rIns="0" tIns="0" bIns="0">
            <a:spAutoFit/>
          </a:bodyPr>
          <a:lstStyle/>
          <a:p>
            <a:pPr algn="l">
              <a:lnSpc>
                <a:spcPct val="115000"/>
              </a:lnSpc>
              <a:spcAft>
                <a:spcPts val="200"/>
              </a:spcAft>
            </a:pPr>
            <a:r>
              <a:rPr sz="1100" b="1" i="0">
                <a:solidFill>
                  <a:srgbClr val="5A7A80"/>
                </a:solidFill>
                <a:latin typeface="Calibri"/>
              </a:rPr>
              <a:t>16 bits</a:t>
            </a:r>
          </a:p>
        </p:txBody>
      </p:sp>
      <p:sp>
        <p:nvSpPr>
          <p:cNvPr id="31" name="TextBox 30"/>
          <p:cNvSpPr txBox="1"/>
          <p:nvPr/>
        </p:nvSpPr>
        <p:spPr>
          <a:xfrm>
            <a:off x="1691640" y="4114800"/>
            <a:ext cx="8778240" cy="274320"/>
          </a:xfrm>
          <a:prstGeom prst="rect">
            <a:avLst/>
          </a:prstGeom>
          <a:noFill/>
        </p:spPr>
        <p:txBody>
          <a:bodyPr wrap="square" lIns="0" rIns="0" tIns="0" bIns="0">
            <a:spAutoFit/>
          </a:bodyPr>
          <a:lstStyle/>
          <a:p>
            <a:pPr algn="l">
              <a:lnSpc>
                <a:spcPct val="115000"/>
              </a:lnSpc>
              <a:spcAft>
                <a:spcPts val="200"/>
              </a:spcAft>
            </a:pPr>
            <a:r>
              <a:rPr sz="1150" b="0" i="0">
                <a:solidFill>
                  <a:srgbClr val="5A7A80"/>
                </a:solidFill>
                <a:latin typeface="Calibri"/>
              </a:rPr>
              <a:t>2 bytes  ·  same range as FP32, less precision  ·  fewer overflow surprises</a:t>
            </a:r>
          </a:p>
        </p:txBody>
      </p:sp>
      <p:sp>
        <p:nvSpPr>
          <p:cNvPr id="32" name="TextBox 31"/>
          <p:cNvSpPr txBox="1"/>
          <p:nvPr/>
        </p:nvSpPr>
        <p:spPr>
          <a:xfrm>
            <a:off x="777240" y="4645152"/>
            <a:ext cx="777240" cy="310896"/>
          </a:xfrm>
          <a:prstGeom prst="rect">
            <a:avLst/>
          </a:prstGeom>
          <a:noFill/>
        </p:spPr>
        <p:txBody>
          <a:bodyPr wrap="square" lIns="0" rIns="0" tIns="0" bIns="0">
            <a:spAutoFit/>
          </a:bodyPr>
          <a:lstStyle/>
          <a:p>
            <a:pPr algn="l">
              <a:lnSpc>
                <a:spcPct val="115000"/>
              </a:lnSpc>
              <a:spcAft>
                <a:spcPts val="200"/>
              </a:spcAft>
            </a:pPr>
            <a:r>
              <a:rPr sz="1350" b="1" i="0">
                <a:solidFill>
                  <a:srgbClr val="12343B"/>
                </a:solidFill>
                <a:latin typeface="Calibri"/>
              </a:rPr>
              <a:t>INT8</a:t>
            </a:r>
          </a:p>
        </p:txBody>
      </p:sp>
      <p:sp>
        <p:nvSpPr>
          <p:cNvPr id="33" name="Rectangle 32"/>
          <p:cNvSpPr/>
          <p:nvPr/>
        </p:nvSpPr>
        <p:spPr>
          <a:xfrm>
            <a:off x="1691640" y="4626864"/>
            <a:ext cx="224028" cy="365760"/>
          </a:xfrm>
          <a:prstGeom prst="rect">
            <a:avLst/>
          </a:prstGeom>
          <a:solidFill>
            <a:srgbClr val="123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1691640" y="4626864"/>
            <a:ext cx="224028" cy="365760"/>
          </a:xfrm>
          <a:prstGeom prst="rect">
            <a:avLst/>
          </a:prstGeom>
          <a:noFill/>
        </p:spPr>
        <p:txBody>
          <a:bodyPr wrap="square" lIns="0" rIns="0" tIns="0" bIns="0" anchor="ctr">
            <a:spAutoFit/>
          </a:bodyPr>
          <a:lstStyle/>
          <a:p>
            <a:pPr algn="ctr">
              <a:lnSpc>
                <a:spcPct val="115000"/>
              </a:lnSpc>
              <a:spcAft>
                <a:spcPts val="200"/>
              </a:spcAft>
            </a:pPr>
            <a:r>
              <a:rPr sz="950" b="1" i="0">
                <a:solidFill>
                  <a:srgbClr val="FFFFFF"/>
                </a:solidFill>
                <a:latin typeface="Calibri"/>
              </a:rPr>
              <a:t>S</a:t>
            </a:r>
          </a:p>
        </p:txBody>
      </p:sp>
      <p:sp>
        <p:nvSpPr>
          <p:cNvPr id="35" name="Rectangle 34"/>
          <p:cNvSpPr/>
          <p:nvPr/>
        </p:nvSpPr>
        <p:spPr>
          <a:xfrm>
            <a:off x="1915668" y="4626864"/>
            <a:ext cx="1568195" cy="36576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915668" y="4626864"/>
            <a:ext cx="1568195" cy="365760"/>
          </a:xfrm>
          <a:prstGeom prst="rect">
            <a:avLst/>
          </a:prstGeom>
          <a:noFill/>
        </p:spPr>
        <p:txBody>
          <a:bodyPr wrap="square" lIns="0" rIns="0" tIns="0" bIns="0" anchor="ctr">
            <a:spAutoFit/>
          </a:bodyPr>
          <a:lstStyle/>
          <a:p>
            <a:pPr algn="ctr">
              <a:lnSpc>
                <a:spcPct val="115000"/>
              </a:lnSpc>
              <a:spcAft>
                <a:spcPts val="200"/>
              </a:spcAft>
            </a:pPr>
            <a:r>
              <a:rPr sz="1000" b="1" i="0">
                <a:solidFill>
                  <a:srgbClr val="FFFFFF"/>
                </a:solidFill>
                <a:latin typeface="Calibri"/>
              </a:rPr>
              <a:t>magnitude · 7</a:t>
            </a:r>
          </a:p>
        </p:txBody>
      </p:sp>
      <p:sp>
        <p:nvSpPr>
          <p:cNvPr id="37" name="TextBox 36"/>
          <p:cNvSpPr txBox="1"/>
          <p:nvPr/>
        </p:nvSpPr>
        <p:spPr>
          <a:xfrm>
            <a:off x="3611880" y="4672584"/>
            <a:ext cx="1828800" cy="292608"/>
          </a:xfrm>
          <a:prstGeom prst="rect">
            <a:avLst/>
          </a:prstGeom>
          <a:noFill/>
        </p:spPr>
        <p:txBody>
          <a:bodyPr wrap="square" lIns="0" rIns="0" tIns="0" bIns="0">
            <a:spAutoFit/>
          </a:bodyPr>
          <a:lstStyle/>
          <a:p>
            <a:pPr algn="l">
              <a:lnSpc>
                <a:spcPct val="115000"/>
              </a:lnSpc>
              <a:spcAft>
                <a:spcPts val="200"/>
              </a:spcAft>
            </a:pPr>
            <a:r>
              <a:rPr sz="1100" b="1" i="0">
                <a:solidFill>
                  <a:srgbClr val="5A7A80"/>
                </a:solidFill>
                <a:latin typeface="Calibri"/>
              </a:rPr>
              <a:t>8 bits</a:t>
            </a:r>
          </a:p>
        </p:txBody>
      </p:sp>
      <p:sp>
        <p:nvSpPr>
          <p:cNvPr id="38" name="TextBox 37"/>
          <p:cNvSpPr txBox="1"/>
          <p:nvPr/>
        </p:nvSpPr>
        <p:spPr>
          <a:xfrm>
            <a:off x="1691640" y="5047488"/>
            <a:ext cx="8778240" cy="274320"/>
          </a:xfrm>
          <a:prstGeom prst="rect">
            <a:avLst/>
          </a:prstGeom>
          <a:noFill/>
        </p:spPr>
        <p:txBody>
          <a:bodyPr wrap="square" lIns="0" rIns="0" tIns="0" bIns="0">
            <a:spAutoFit/>
          </a:bodyPr>
          <a:lstStyle/>
          <a:p>
            <a:pPr algn="l">
              <a:lnSpc>
                <a:spcPct val="115000"/>
              </a:lnSpc>
              <a:spcAft>
                <a:spcPts val="200"/>
              </a:spcAft>
            </a:pPr>
            <a:r>
              <a:rPr sz="1150" b="0" i="0">
                <a:solidFill>
                  <a:srgbClr val="5A7A80"/>
                </a:solidFill>
                <a:latin typeface="Calibri"/>
              </a:rPr>
              <a:t>1 byte  ·  256 values from -128 to +127  ·  needs calibration</a:t>
            </a:r>
          </a:p>
        </p:txBody>
      </p:sp>
      <p:sp>
        <p:nvSpPr>
          <p:cNvPr id="39" name="Rounded Rectangle 38"/>
          <p:cNvSpPr/>
          <p:nvPr/>
        </p:nvSpPr>
        <p:spPr>
          <a:xfrm>
            <a:off x="777240" y="5577840"/>
            <a:ext cx="10607040" cy="713232"/>
          </a:xfrm>
          <a:prstGeom prst="roundRect">
            <a:avLst>
              <a:gd name="adj" fmla="val 6000"/>
            </a:avLst>
          </a:prstGeom>
          <a:solidFill>
            <a:srgbClr val="D6E7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1033271" y="5742432"/>
            <a:ext cx="10094976" cy="402336"/>
          </a:xfrm>
          <a:prstGeom prst="rect">
            <a:avLst/>
          </a:prstGeom>
          <a:noFill/>
        </p:spPr>
        <p:txBody>
          <a:bodyPr wrap="square" lIns="0" rIns="0" tIns="0" bIns="0">
            <a:spAutoFit/>
          </a:bodyPr>
          <a:lstStyle/>
          <a:p>
            <a:pPr algn="l">
              <a:lnSpc>
                <a:spcPct val="122000"/>
              </a:lnSpc>
              <a:spcAft>
                <a:spcPts val="200"/>
              </a:spcAft>
            </a:pPr>
            <a:r>
              <a:rPr sz="1200" b="1" i="0">
                <a:solidFill>
                  <a:srgbClr val="12343B"/>
                </a:solidFill>
                <a:latin typeface="Calibri"/>
              </a:rPr>
              <a:t>Halving the bits does two things at once: </a:t>
            </a:r>
            <a:r>
              <a:rPr sz="1200" b="0" i="0">
                <a:solidFill>
                  <a:srgbClr val="5A7A80"/>
                </a:solidFill>
                <a:latin typeface="Calibri"/>
              </a:rPr>
              <a:t>the weights take half the space, and every read from memory moves twice as much useful data. On modern GPUs the second effect is usually the bigger 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lnSpc>
                <a:spcPct val="105000"/>
              </a:lnSpc>
              <a:spcAft>
                <a:spcPts val="200"/>
              </a:spcAft>
            </a:pPr>
            <a:r>
              <a:rPr sz="1200" b="1" i="0">
                <a:solidFill>
                  <a:srgbClr val="028090"/>
                </a:solidFill>
                <a:latin typeface="Calibri"/>
              </a:rPr>
              <a:t>QUANTIZATION · THE MAPPING</a:t>
            </a:r>
          </a:p>
        </p:txBody>
      </p:sp>
      <p:sp>
        <p:nvSpPr>
          <p:cNvPr id="3" name="TextBox 2"/>
          <p:cNvSpPr txBox="1"/>
          <p:nvPr/>
        </p:nvSpPr>
        <p:spPr>
          <a:xfrm>
            <a:off x="685800" y="786384"/>
            <a:ext cx="10881360" cy="777240"/>
          </a:xfrm>
          <a:prstGeom prst="rect">
            <a:avLst/>
          </a:prstGeom>
          <a:noFill/>
        </p:spPr>
        <p:txBody>
          <a:bodyPr wrap="square" lIns="0" rIns="0" tIns="0" bIns="0">
            <a:spAutoFit/>
          </a:bodyPr>
          <a:lstStyle/>
          <a:p>
            <a:pPr algn="l">
              <a:lnSpc>
                <a:spcPct val="105000"/>
              </a:lnSpc>
              <a:spcAft>
                <a:spcPts val="200"/>
              </a:spcAft>
            </a:pPr>
            <a:r>
              <a:rPr sz="3200" b="1" i="0">
                <a:solidFill>
                  <a:srgbClr val="12343B"/>
                </a:solidFill>
                <a:latin typeface="Cambria"/>
              </a:rPr>
              <a:t>Snapping a smooth range onto 256 steps</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lnSpc>
                <a:spcPct val="105000"/>
              </a:lnSpc>
              <a:spcAft>
                <a:spcPts val="200"/>
              </a:spcAft>
            </a:pPr>
            <a:r>
              <a:rPr sz="1050" b="0" i="0">
                <a:solidFill>
                  <a:srgbClr val="9AB4B8"/>
                </a:solidFill>
                <a:latin typeface="Calibri"/>
              </a:rPr>
              <a:t>Session 38  ·  Model Optimization</a:t>
            </a:r>
          </a:p>
        </p:txBody>
      </p:sp>
      <p:pic>
        <p:nvPicPr>
          <p:cNvPr id="5" name="Picture 4" descr="fig_quantization_mapping.png"/>
          <p:cNvPicPr>
            <a:picLocks noChangeAspect="1"/>
          </p:cNvPicPr>
          <p:nvPr/>
        </p:nvPicPr>
        <p:blipFill>
          <a:blip r:embed="rId2"/>
          <a:stretch>
            <a:fillRect/>
          </a:stretch>
        </p:blipFill>
        <p:spPr>
          <a:xfrm>
            <a:off x="777240" y="1783080"/>
            <a:ext cx="5989320" cy="3254140"/>
          </a:xfrm>
          <a:prstGeom prst="rect">
            <a:avLst/>
          </a:prstGeom>
        </p:spPr>
      </p:pic>
      <p:sp>
        <p:nvSpPr>
          <p:cNvPr id="6" name="Rounded Rectangle 5"/>
          <p:cNvSpPr/>
          <p:nvPr/>
        </p:nvSpPr>
        <p:spPr>
          <a:xfrm>
            <a:off x="7360920" y="1755648"/>
            <a:ext cx="4023360" cy="1847088"/>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580376" y="1975104"/>
            <a:ext cx="3584448" cy="292608"/>
          </a:xfrm>
          <a:prstGeom prst="rect">
            <a:avLst/>
          </a:prstGeom>
          <a:noFill/>
        </p:spPr>
        <p:txBody>
          <a:bodyPr wrap="square" lIns="0" rIns="0" tIns="0" bIns="0">
            <a:spAutoFit/>
          </a:bodyPr>
          <a:lstStyle/>
          <a:p>
            <a:pPr algn="l">
              <a:lnSpc>
                <a:spcPct val="105000"/>
              </a:lnSpc>
              <a:spcAft>
                <a:spcPts val="200"/>
              </a:spcAft>
            </a:pPr>
            <a:r>
              <a:rPr sz="1350" b="1" i="0">
                <a:solidFill>
                  <a:srgbClr val="12343B"/>
                </a:solidFill>
                <a:latin typeface="Calibri"/>
              </a:rPr>
              <a:t>Calibration finds the range</a:t>
            </a:r>
          </a:p>
        </p:txBody>
      </p:sp>
      <p:sp>
        <p:nvSpPr>
          <p:cNvPr id="8" name="TextBox 7"/>
          <p:cNvSpPr txBox="1"/>
          <p:nvPr/>
        </p:nvSpPr>
        <p:spPr>
          <a:xfrm>
            <a:off x="7580376" y="2359152"/>
            <a:ext cx="3584448" cy="1024128"/>
          </a:xfrm>
          <a:prstGeom prst="rect">
            <a:avLst/>
          </a:prstGeom>
          <a:noFill/>
        </p:spPr>
        <p:txBody>
          <a:bodyPr wrap="square" lIns="0" rIns="0" tIns="0" bIns="0">
            <a:spAutoFit/>
          </a:bodyPr>
          <a:lstStyle/>
          <a:p>
            <a:pPr algn="l">
              <a:lnSpc>
                <a:spcPct val="122000"/>
              </a:lnSpc>
              <a:spcAft>
                <a:spcPts val="400"/>
              </a:spcAft>
            </a:pPr>
            <a:r>
              <a:rPr sz="1150" b="0" i="0">
                <a:solidFill>
                  <a:srgbClr val="5A7A80"/>
                </a:solidFill>
                <a:latin typeface="Calibri"/>
              </a:rPr>
              <a:t>Weights you can measure exactly. Activations you cannot, so you run a few hundred representative images and record how far the values actually reach.</a:t>
            </a:r>
          </a:p>
        </p:txBody>
      </p:sp>
      <p:sp>
        <p:nvSpPr>
          <p:cNvPr id="9" name="Rounded Rectangle 8"/>
          <p:cNvSpPr/>
          <p:nvPr/>
        </p:nvSpPr>
        <p:spPr>
          <a:xfrm>
            <a:off x="7360920" y="3712463"/>
            <a:ext cx="4023360" cy="1335024"/>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580376" y="3931920"/>
            <a:ext cx="3584448" cy="292608"/>
          </a:xfrm>
          <a:prstGeom prst="rect">
            <a:avLst/>
          </a:prstGeom>
          <a:noFill/>
        </p:spPr>
        <p:txBody>
          <a:bodyPr wrap="square" lIns="0" rIns="0" tIns="0" bIns="0">
            <a:spAutoFit/>
          </a:bodyPr>
          <a:lstStyle/>
          <a:p>
            <a:pPr algn="l">
              <a:lnSpc>
                <a:spcPct val="105000"/>
              </a:lnSpc>
              <a:spcAft>
                <a:spcPts val="200"/>
              </a:spcAft>
            </a:pPr>
            <a:r>
              <a:rPr sz="1350" b="1" i="0">
                <a:solidFill>
                  <a:srgbClr val="028090"/>
                </a:solidFill>
                <a:latin typeface="Calibri"/>
              </a:rPr>
              <a:t>PTQ · after training</a:t>
            </a:r>
          </a:p>
        </p:txBody>
      </p:sp>
      <p:sp>
        <p:nvSpPr>
          <p:cNvPr id="11" name="TextBox 10"/>
          <p:cNvSpPr txBox="1"/>
          <p:nvPr/>
        </p:nvSpPr>
        <p:spPr>
          <a:xfrm>
            <a:off x="7580376" y="4315968"/>
            <a:ext cx="3584448" cy="512064"/>
          </a:xfrm>
          <a:prstGeom prst="rect">
            <a:avLst/>
          </a:prstGeom>
          <a:noFill/>
        </p:spPr>
        <p:txBody>
          <a:bodyPr wrap="square" lIns="0" rIns="0" tIns="0" bIns="0">
            <a:spAutoFit/>
          </a:bodyPr>
          <a:lstStyle/>
          <a:p>
            <a:pPr algn="l">
              <a:lnSpc>
                <a:spcPct val="122000"/>
              </a:lnSpc>
              <a:spcAft>
                <a:spcPts val="400"/>
              </a:spcAft>
            </a:pPr>
            <a:r>
              <a:rPr sz="1150" b="0" i="0">
                <a:solidFill>
                  <a:srgbClr val="5A7A80"/>
                </a:solidFill>
                <a:latin typeface="Calibri"/>
              </a:rPr>
              <a:t>Quantize a finished model using calibration data only. Minutes of work, no labels, no retraining. Start here.</a:t>
            </a:r>
          </a:p>
        </p:txBody>
      </p:sp>
      <p:sp>
        <p:nvSpPr>
          <p:cNvPr id="12" name="Rounded Rectangle 11"/>
          <p:cNvSpPr/>
          <p:nvPr/>
        </p:nvSpPr>
        <p:spPr>
          <a:xfrm>
            <a:off x="7360920" y="5157216"/>
            <a:ext cx="4023360" cy="1335024"/>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580376" y="5376672"/>
            <a:ext cx="3584448" cy="292608"/>
          </a:xfrm>
          <a:prstGeom prst="rect">
            <a:avLst/>
          </a:prstGeom>
          <a:noFill/>
        </p:spPr>
        <p:txBody>
          <a:bodyPr wrap="square" lIns="0" rIns="0" tIns="0" bIns="0">
            <a:spAutoFit/>
          </a:bodyPr>
          <a:lstStyle/>
          <a:p>
            <a:pPr algn="l">
              <a:lnSpc>
                <a:spcPct val="105000"/>
              </a:lnSpc>
              <a:spcAft>
                <a:spcPts val="200"/>
              </a:spcAft>
            </a:pPr>
            <a:r>
              <a:rPr sz="1350" b="1" i="0">
                <a:solidFill>
                  <a:srgbClr val="028090"/>
                </a:solidFill>
                <a:latin typeface="Calibri"/>
              </a:rPr>
              <a:t>QAT · during training</a:t>
            </a:r>
          </a:p>
        </p:txBody>
      </p:sp>
      <p:sp>
        <p:nvSpPr>
          <p:cNvPr id="14" name="TextBox 13"/>
          <p:cNvSpPr txBox="1"/>
          <p:nvPr/>
        </p:nvSpPr>
        <p:spPr>
          <a:xfrm>
            <a:off x="7580376" y="5760720"/>
            <a:ext cx="3584448" cy="512064"/>
          </a:xfrm>
          <a:prstGeom prst="rect">
            <a:avLst/>
          </a:prstGeom>
          <a:noFill/>
        </p:spPr>
        <p:txBody>
          <a:bodyPr wrap="square" lIns="0" rIns="0" tIns="0" bIns="0">
            <a:spAutoFit/>
          </a:bodyPr>
          <a:lstStyle/>
          <a:p>
            <a:pPr algn="l">
              <a:lnSpc>
                <a:spcPct val="122000"/>
              </a:lnSpc>
              <a:spcAft>
                <a:spcPts val="400"/>
              </a:spcAft>
            </a:pPr>
            <a:r>
              <a:rPr sz="1150" b="0" i="0">
                <a:solidFill>
                  <a:srgbClr val="5A7A80"/>
                </a:solidFill>
                <a:latin typeface="Calibri"/>
              </a:rPr>
              <a:t>Simulate the rounding in the forward pass so the weights learn to tolerate it. Costs a fine tuning run, recovers most of the lost accuracy.</a:t>
            </a:r>
          </a:p>
        </p:txBody>
      </p:sp>
      <p:sp>
        <p:nvSpPr>
          <p:cNvPr id="15" name="TextBox 14"/>
          <p:cNvSpPr txBox="1"/>
          <p:nvPr/>
        </p:nvSpPr>
        <p:spPr>
          <a:xfrm>
            <a:off x="777240" y="5193792"/>
            <a:ext cx="5989320" cy="310896"/>
          </a:xfrm>
          <a:prstGeom prst="rect">
            <a:avLst/>
          </a:prstGeom>
          <a:noFill/>
        </p:spPr>
        <p:txBody>
          <a:bodyPr wrap="square" lIns="0" rIns="0" tIns="0" bIns="0">
            <a:spAutoFit/>
          </a:bodyPr>
          <a:lstStyle/>
          <a:p>
            <a:pPr algn="l">
              <a:lnSpc>
                <a:spcPct val="115000"/>
              </a:lnSpc>
              <a:spcAft>
                <a:spcPts val="200"/>
              </a:spcAft>
            </a:pPr>
            <a:r>
              <a:rPr sz="950" b="0" i="0">
                <a:solidFill>
                  <a:srgbClr val="8FA9AE"/>
                </a:solidFill>
                <a:latin typeface="Calibri"/>
              </a:rPr>
              <a:t>Figure drawn for this session. Quantization form follows the ONNX Runtime definition: val_fp32 = scale × (val_quantized − zero_point).</a:t>
            </a:r>
          </a:p>
        </p:txBody>
      </p:sp>
      <p:sp>
        <p:nvSpPr>
          <p:cNvPr id="16" name="Rounded Rectangle 15"/>
          <p:cNvSpPr/>
          <p:nvPr/>
        </p:nvSpPr>
        <p:spPr>
          <a:xfrm>
            <a:off x="777240" y="5577840"/>
            <a:ext cx="5989320" cy="713232"/>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78408" y="5779007"/>
            <a:ext cx="5586983" cy="310896"/>
          </a:xfrm>
          <a:prstGeom prst="rect">
            <a:avLst/>
          </a:prstGeom>
          <a:noFill/>
        </p:spPr>
        <p:txBody>
          <a:bodyPr wrap="square" lIns="0" rIns="0" tIns="0" bIns="0">
            <a:spAutoFit/>
          </a:bodyPr>
          <a:lstStyle/>
          <a:p>
            <a:pPr algn="l">
              <a:lnSpc>
                <a:spcPct val="122000"/>
              </a:lnSpc>
              <a:spcAft>
                <a:spcPts val="400"/>
              </a:spcAft>
            </a:pPr>
            <a:r>
              <a:rPr sz="1150" b="0" i="0">
                <a:solidFill>
                  <a:srgbClr val="5A7A80"/>
                </a:solidFill>
                <a:latin typeface="Calibri"/>
              </a:rPr>
              <a:t>The whole game is choosing the range. Too wide and you waste levels on values that never occur; too narrow and the outliers clip.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lnSpc>
                <a:spcPct val="105000"/>
              </a:lnSpc>
              <a:spcAft>
                <a:spcPts val="200"/>
              </a:spcAft>
            </a:pPr>
            <a:r>
              <a:rPr sz="1200" b="1" i="0">
                <a:solidFill>
                  <a:srgbClr val="028090"/>
                </a:solidFill>
                <a:latin typeface="Calibri"/>
              </a:rPr>
              <a:t>PRUNING · THE IDEA</a:t>
            </a:r>
          </a:p>
        </p:txBody>
      </p:sp>
      <p:sp>
        <p:nvSpPr>
          <p:cNvPr id="3" name="TextBox 2"/>
          <p:cNvSpPr txBox="1"/>
          <p:nvPr/>
        </p:nvSpPr>
        <p:spPr>
          <a:xfrm>
            <a:off x="685800" y="786384"/>
            <a:ext cx="10881360" cy="777240"/>
          </a:xfrm>
          <a:prstGeom prst="rect">
            <a:avLst/>
          </a:prstGeom>
          <a:noFill/>
        </p:spPr>
        <p:txBody>
          <a:bodyPr wrap="square" lIns="0" rIns="0" tIns="0" bIns="0">
            <a:spAutoFit/>
          </a:bodyPr>
          <a:lstStyle/>
          <a:p>
            <a:pPr algn="l">
              <a:lnSpc>
                <a:spcPct val="105000"/>
              </a:lnSpc>
              <a:spcAft>
                <a:spcPts val="200"/>
              </a:spcAft>
            </a:pPr>
            <a:r>
              <a:rPr sz="3200" b="1" i="0">
                <a:solidFill>
                  <a:srgbClr val="12343B"/>
                </a:solidFill>
                <a:latin typeface="Cambria"/>
              </a:rPr>
              <a:t>Most trained networks are over parameterised</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lnSpc>
                <a:spcPct val="105000"/>
              </a:lnSpc>
              <a:spcAft>
                <a:spcPts val="200"/>
              </a:spcAft>
            </a:pPr>
            <a:r>
              <a:rPr sz="1050" b="0" i="0">
                <a:solidFill>
                  <a:srgbClr val="9AB4B8"/>
                </a:solidFill>
                <a:latin typeface="Calibri"/>
              </a:rPr>
              <a:t>Session 38  ·  Model Optimization</a:t>
            </a:r>
          </a:p>
        </p:txBody>
      </p:sp>
      <p:pic>
        <p:nvPicPr>
          <p:cNvPr id="5" name="Picture 4" descr="fig_pruning_synapses_han2015.png"/>
          <p:cNvPicPr>
            <a:picLocks noChangeAspect="1"/>
          </p:cNvPicPr>
          <p:nvPr/>
        </p:nvPicPr>
        <p:blipFill>
          <a:blip r:embed="rId2"/>
          <a:stretch>
            <a:fillRect/>
          </a:stretch>
        </p:blipFill>
        <p:spPr>
          <a:xfrm>
            <a:off x="777240" y="1783080"/>
            <a:ext cx="5760720" cy="3049793"/>
          </a:xfrm>
          <a:prstGeom prst="rect">
            <a:avLst/>
          </a:prstGeom>
        </p:spPr>
      </p:pic>
      <p:sp>
        <p:nvSpPr>
          <p:cNvPr id="6" name="TextBox 5"/>
          <p:cNvSpPr txBox="1"/>
          <p:nvPr/>
        </p:nvSpPr>
        <p:spPr>
          <a:xfrm>
            <a:off x="777240" y="4828032"/>
            <a:ext cx="5760720" cy="310896"/>
          </a:xfrm>
          <a:prstGeom prst="rect">
            <a:avLst/>
          </a:prstGeom>
          <a:noFill/>
        </p:spPr>
        <p:txBody>
          <a:bodyPr wrap="square" lIns="0" rIns="0" tIns="0" bIns="0">
            <a:spAutoFit/>
          </a:bodyPr>
          <a:lstStyle/>
          <a:p>
            <a:pPr algn="l">
              <a:lnSpc>
                <a:spcPct val="115000"/>
              </a:lnSpc>
              <a:spcAft>
                <a:spcPts val="200"/>
              </a:spcAft>
            </a:pPr>
            <a:r>
              <a:rPr sz="950" b="0" i="0">
                <a:solidFill>
                  <a:srgbClr val="8FA9AE"/>
                </a:solidFill>
                <a:latin typeface="Calibri"/>
              </a:rPr>
              <a:t>Han, Pool, Tran &amp; Dally (2015), Learning both Weights and Connections for Efficient Neural Networks, arXiv:1506.02626, Figure 3. Reproduced for teaching with attribution.</a:t>
            </a:r>
          </a:p>
        </p:txBody>
      </p:sp>
      <p:sp>
        <p:nvSpPr>
          <p:cNvPr id="7" name="Rounded Rectangle 6"/>
          <p:cNvSpPr/>
          <p:nvPr/>
        </p:nvSpPr>
        <p:spPr>
          <a:xfrm>
            <a:off x="6903720" y="1783080"/>
            <a:ext cx="4480560" cy="1572768"/>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123176" y="2002536"/>
            <a:ext cx="4041648" cy="292608"/>
          </a:xfrm>
          <a:prstGeom prst="rect">
            <a:avLst/>
          </a:prstGeom>
          <a:noFill/>
        </p:spPr>
        <p:txBody>
          <a:bodyPr wrap="square" lIns="0" rIns="0" tIns="0" bIns="0">
            <a:spAutoFit/>
          </a:bodyPr>
          <a:lstStyle/>
          <a:p>
            <a:pPr algn="l">
              <a:lnSpc>
                <a:spcPct val="105000"/>
              </a:lnSpc>
              <a:spcAft>
                <a:spcPts val="200"/>
              </a:spcAft>
            </a:pPr>
            <a:r>
              <a:rPr sz="1350" b="1" i="0">
                <a:solidFill>
                  <a:srgbClr val="12343B"/>
                </a:solidFill>
                <a:latin typeface="Calibri"/>
              </a:rPr>
              <a:t>The observation</a:t>
            </a:r>
          </a:p>
        </p:txBody>
      </p:sp>
      <p:sp>
        <p:nvSpPr>
          <p:cNvPr id="9" name="TextBox 8"/>
          <p:cNvSpPr txBox="1"/>
          <p:nvPr/>
        </p:nvSpPr>
        <p:spPr>
          <a:xfrm>
            <a:off x="7123176" y="2386584"/>
            <a:ext cx="4041648" cy="749808"/>
          </a:xfrm>
          <a:prstGeom prst="rect">
            <a:avLst/>
          </a:prstGeom>
          <a:noFill/>
        </p:spPr>
        <p:txBody>
          <a:bodyPr wrap="square" lIns="0" rIns="0" tIns="0" bIns="0">
            <a:spAutoFit/>
          </a:bodyPr>
          <a:lstStyle/>
          <a:p>
            <a:pPr algn="l">
              <a:lnSpc>
                <a:spcPct val="122000"/>
              </a:lnSpc>
              <a:spcAft>
                <a:spcPts val="400"/>
              </a:spcAft>
            </a:pPr>
            <a:r>
              <a:rPr sz="1150" b="0" i="0">
                <a:solidFill>
                  <a:srgbClr val="5A7A80"/>
                </a:solidFill>
                <a:latin typeface="Calibri"/>
              </a:rPr>
              <a:t>After training, a large share of weights sit very close to zero. They contribute almost nothing to the output, but you still store them and still multiply by them on every frame.</a:t>
            </a:r>
          </a:p>
        </p:txBody>
      </p:sp>
      <p:sp>
        <p:nvSpPr>
          <p:cNvPr id="10" name="Rounded Rectangle 9"/>
          <p:cNvSpPr/>
          <p:nvPr/>
        </p:nvSpPr>
        <p:spPr>
          <a:xfrm>
            <a:off x="6903720" y="3465576"/>
            <a:ext cx="4480560" cy="14173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23176" y="3685032"/>
            <a:ext cx="4041648" cy="292608"/>
          </a:xfrm>
          <a:prstGeom prst="rect">
            <a:avLst/>
          </a:prstGeom>
          <a:noFill/>
        </p:spPr>
        <p:txBody>
          <a:bodyPr wrap="square" lIns="0" rIns="0" tIns="0" bIns="0">
            <a:spAutoFit/>
          </a:bodyPr>
          <a:lstStyle/>
          <a:p>
            <a:pPr algn="l">
              <a:lnSpc>
                <a:spcPct val="105000"/>
              </a:lnSpc>
              <a:spcAft>
                <a:spcPts val="200"/>
              </a:spcAft>
            </a:pPr>
            <a:r>
              <a:rPr sz="1350" b="1" i="0">
                <a:solidFill>
                  <a:srgbClr val="028090"/>
                </a:solidFill>
                <a:latin typeface="Calibri"/>
              </a:rPr>
              <a:t>Magnitude pruning</a:t>
            </a:r>
          </a:p>
        </p:txBody>
      </p:sp>
      <p:sp>
        <p:nvSpPr>
          <p:cNvPr id="12" name="TextBox 11"/>
          <p:cNvSpPr txBox="1"/>
          <p:nvPr/>
        </p:nvSpPr>
        <p:spPr>
          <a:xfrm>
            <a:off x="7123176" y="4069080"/>
            <a:ext cx="4041648" cy="594360"/>
          </a:xfrm>
          <a:prstGeom prst="rect">
            <a:avLst/>
          </a:prstGeom>
          <a:noFill/>
        </p:spPr>
        <p:txBody>
          <a:bodyPr wrap="square" lIns="0" rIns="0" tIns="0" bIns="0">
            <a:spAutoFit/>
          </a:bodyPr>
          <a:lstStyle/>
          <a:p>
            <a:pPr algn="l">
              <a:lnSpc>
                <a:spcPct val="122000"/>
              </a:lnSpc>
              <a:spcAft>
                <a:spcPts val="400"/>
              </a:spcAft>
            </a:pPr>
            <a:r>
              <a:rPr sz="1150" b="0" i="0">
                <a:solidFill>
                  <a:srgbClr val="5A7A80"/>
                </a:solidFill>
                <a:latin typeface="Calibri"/>
              </a:rPr>
              <a:t>Rank weights by absolute value, zero the smallest fraction, keep the rest. Crude, and still the baseline everything else is measured against.</a:t>
            </a:r>
          </a:p>
        </p:txBody>
      </p:sp>
      <p:sp>
        <p:nvSpPr>
          <p:cNvPr id="13" name="Rounded Rectangle 12"/>
          <p:cNvSpPr/>
          <p:nvPr/>
        </p:nvSpPr>
        <p:spPr>
          <a:xfrm>
            <a:off x="6903720" y="4992624"/>
            <a:ext cx="4480560" cy="1289304"/>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123176" y="5212080"/>
            <a:ext cx="4041648" cy="292608"/>
          </a:xfrm>
          <a:prstGeom prst="rect">
            <a:avLst/>
          </a:prstGeom>
          <a:noFill/>
        </p:spPr>
        <p:txBody>
          <a:bodyPr wrap="square" lIns="0" rIns="0" tIns="0" bIns="0">
            <a:spAutoFit/>
          </a:bodyPr>
          <a:lstStyle/>
          <a:p>
            <a:pPr algn="l">
              <a:lnSpc>
                <a:spcPct val="105000"/>
              </a:lnSpc>
              <a:spcAft>
                <a:spcPts val="200"/>
              </a:spcAft>
            </a:pPr>
            <a:r>
              <a:rPr sz="1350" b="1" i="0">
                <a:solidFill>
                  <a:srgbClr val="C15B4E"/>
                </a:solidFill>
                <a:latin typeface="Calibri"/>
              </a:rPr>
              <a:t>Retraining is not optional</a:t>
            </a:r>
          </a:p>
        </p:txBody>
      </p:sp>
      <p:sp>
        <p:nvSpPr>
          <p:cNvPr id="15" name="TextBox 14"/>
          <p:cNvSpPr txBox="1"/>
          <p:nvPr/>
        </p:nvSpPr>
        <p:spPr>
          <a:xfrm>
            <a:off x="7123176" y="5596128"/>
            <a:ext cx="4041648" cy="466344"/>
          </a:xfrm>
          <a:prstGeom prst="rect">
            <a:avLst/>
          </a:prstGeom>
          <a:noFill/>
        </p:spPr>
        <p:txBody>
          <a:bodyPr wrap="square" lIns="0" rIns="0" tIns="0" bIns="0">
            <a:spAutoFit/>
          </a:bodyPr>
          <a:lstStyle/>
          <a:p>
            <a:pPr algn="l">
              <a:lnSpc>
                <a:spcPct val="122000"/>
              </a:lnSpc>
              <a:spcAft>
                <a:spcPts val="400"/>
              </a:spcAft>
            </a:pPr>
            <a:r>
              <a:rPr sz="1150" b="0" i="0">
                <a:solidFill>
                  <a:srgbClr val="5A7A80"/>
                </a:solidFill>
                <a:latin typeface="Calibri"/>
              </a:rPr>
              <a:t>Prune without fine tuning and accuracy drops hard. Prune, retrain, repeat in small steps and the network reroutes around the missing connections.</a:t>
            </a:r>
          </a:p>
        </p:txBody>
      </p:sp>
      <p:sp>
        <p:nvSpPr>
          <p:cNvPr id="16" name="TextBox 15"/>
          <p:cNvSpPr txBox="1"/>
          <p:nvPr/>
        </p:nvSpPr>
        <p:spPr>
          <a:xfrm>
            <a:off x="777240" y="5468112"/>
            <a:ext cx="5760720" cy="274320"/>
          </a:xfrm>
          <a:prstGeom prst="rect">
            <a:avLst/>
          </a:prstGeom>
          <a:noFill/>
        </p:spPr>
        <p:txBody>
          <a:bodyPr wrap="square" lIns="0" rIns="0" tIns="0" bIns="0">
            <a:spAutoFit/>
          </a:bodyPr>
          <a:lstStyle/>
          <a:p>
            <a:pPr algn="l">
              <a:lnSpc>
                <a:spcPct val="115000"/>
              </a:lnSpc>
              <a:spcAft>
                <a:spcPts val="200"/>
              </a:spcAft>
            </a:pPr>
            <a:r>
              <a:rPr sz="1050" b="1" i="0">
                <a:solidFill>
                  <a:srgbClr val="028090"/>
                </a:solidFill>
                <a:latin typeface="Calibri"/>
              </a:rPr>
              <a:t>THE LOOP</a:t>
            </a:r>
          </a:p>
        </p:txBody>
      </p:sp>
      <p:sp>
        <p:nvSpPr>
          <p:cNvPr id="17" name="Rounded Rectangle 16"/>
          <p:cNvSpPr/>
          <p:nvPr/>
        </p:nvSpPr>
        <p:spPr>
          <a:xfrm>
            <a:off x="777240" y="5779008"/>
            <a:ext cx="1627632" cy="457200"/>
          </a:xfrm>
          <a:prstGeom prst="roundRect">
            <a:avLst>
              <a:gd name="adj" fmla="val 14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5779008"/>
            <a:ext cx="1444752" cy="457200"/>
          </a:xfrm>
          <a:prstGeom prst="rect">
            <a:avLst/>
          </a:prstGeom>
          <a:noFill/>
        </p:spPr>
        <p:txBody>
          <a:bodyPr wrap="square" lIns="0" rIns="0" tIns="0" bIns="0" anchor="ctr">
            <a:spAutoFit/>
          </a:bodyPr>
          <a:lstStyle/>
          <a:p>
            <a:pPr algn="ctr">
              <a:lnSpc>
                <a:spcPct val="112000"/>
              </a:lnSpc>
              <a:spcAft>
                <a:spcPts val="200"/>
              </a:spcAft>
            </a:pPr>
            <a:r>
              <a:rPr sz="1200" b="1" i="0">
                <a:solidFill>
                  <a:srgbClr val="12343B"/>
                </a:solidFill>
                <a:latin typeface="Calibri"/>
              </a:rPr>
              <a:t>Train</a:t>
            </a:r>
          </a:p>
        </p:txBody>
      </p:sp>
      <p:sp>
        <p:nvSpPr>
          <p:cNvPr id="19" name="Right Arrow 18"/>
          <p:cNvSpPr/>
          <p:nvPr/>
        </p:nvSpPr>
        <p:spPr>
          <a:xfrm>
            <a:off x="2441448" y="5888736"/>
            <a:ext cx="256032" cy="237744"/>
          </a:xfrm>
          <a:prstGeom prst="rightArrow">
            <a:avLst/>
          </a:prstGeom>
          <a:solidFill>
            <a:srgbClr val="B6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734056" y="5779008"/>
            <a:ext cx="1627632" cy="457200"/>
          </a:xfrm>
          <a:prstGeom prst="roundRect">
            <a:avLst>
              <a:gd name="adj" fmla="val 14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825496" y="5779008"/>
            <a:ext cx="1444752" cy="457200"/>
          </a:xfrm>
          <a:prstGeom prst="rect">
            <a:avLst/>
          </a:prstGeom>
          <a:noFill/>
        </p:spPr>
        <p:txBody>
          <a:bodyPr wrap="square" lIns="0" rIns="0" tIns="0" bIns="0" anchor="ctr">
            <a:spAutoFit/>
          </a:bodyPr>
          <a:lstStyle/>
          <a:p>
            <a:pPr algn="ctr">
              <a:lnSpc>
                <a:spcPct val="112000"/>
              </a:lnSpc>
              <a:spcAft>
                <a:spcPts val="200"/>
              </a:spcAft>
            </a:pPr>
            <a:r>
              <a:rPr sz="1200" b="1" i="0">
                <a:solidFill>
                  <a:srgbClr val="12343B"/>
                </a:solidFill>
                <a:latin typeface="Calibri"/>
              </a:rPr>
              <a:t>Prune</a:t>
            </a:r>
          </a:p>
        </p:txBody>
      </p:sp>
      <p:sp>
        <p:nvSpPr>
          <p:cNvPr id="22" name="Right Arrow 21"/>
          <p:cNvSpPr/>
          <p:nvPr/>
        </p:nvSpPr>
        <p:spPr>
          <a:xfrm>
            <a:off x="4398264" y="5888736"/>
            <a:ext cx="256032" cy="237744"/>
          </a:xfrm>
          <a:prstGeom prst="rightArrow">
            <a:avLst/>
          </a:prstGeom>
          <a:solidFill>
            <a:srgbClr val="B6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4690872" y="5779008"/>
            <a:ext cx="1627632" cy="457200"/>
          </a:xfrm>
          <a:prstGeom prst="roundRect">
            <a:avLst>
              <a:gd name="adj" fmla="val 14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782312" y="5779008"/>
            <a:ext cx="1444752" cy="457200"/>
          </a:xfrm>
          <a:prstGeom prst="rect">
            <a:avLst/>
          </a:prstGeom>
          <a:noFill/>
        </p:spPr>
        <p:txBody>
          <a:bodyPr wrap="square" lIns="0" rIns="0" tIns="0" bIns="0" anchor="ctr">
            <a:spAutoFit/>
          </a:bodyPr>
          <a:lstStyle/>
          <a:p>
            <a:pPr algn="ctr">
              <a:lnSpc>
                <a:spcPct val="112000"/>
              </a:lnSpc>
              <a:spcAft>
                <a:spcPts val="200"/>
              </a:spcAft>
            </a:pPr>
            <a:r>
              <a:rPr sz="1200" b="1" i="0">
                <a:solidFill>
                  <a:srgbClr val="12343B"/>
                </a:solidFill>
                <a:latin typeface="Calibri"/>
              </a:rPr>
              <a:t>Retrain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lnSpc>
                <a:spcPct val="105000"/>
              </a:lnSpc>
              <a:spcAft>
                <a:spcPts val="200"/>
              </a:spcAft>
            </a:pPr>
            <a:r>
              <a:rPr sz="1200" b="1" i="0">
                <a:solidFill>
                  <a:srgbClr val="028090"/>
                </a:solidFill>
                <a:latin typeface="Calibri"/>
              </a:rPr>
              <a:t>PRUNING · THE HONEST PART</a:t>
            </a:r>
          </a:p>
        </p:txBody>
      </p:sp>
      <p:sp>
        <p:nvSpPr>
          <p:cNvPr id="3" name="TextBox 2"/>
          <p:cNvSpPr txBox="1"/>
          <p:nvPr/>
        </p:nvSpPr>
        <p:spPr>
          <a:xfrm>
            <a:off x="685800" y="786384"/>
            <a:ext cx="10881360" cy="777240"/>
          </a:xfrm>
          <a:prstGeom prst="rect">
            <a:avLst/>
          </a:prstGeom>
          <a:noFill/>
        </p:spPr>
        <p:txBody>
          <a:bodyPr wrap="square" lIns="0" rIns="0" tIns="0" bIns="0">
            <a:spAutoFit/>
          </a:bodyPr>
          <a:lstStyle/>
          <a:p>
            <a:pPr algn="l">
              <a:lnSpc>
                <a:spcPct val="105000"/>
              </a:lnSpc>
              <a:spcAft>
                <a:spcPts val="200"/>
              </a:spcAft>
            </a:pPr>
            <a:r>
              <a:rPr sz="3200" b="1" i="0">
                <a:solidFill>
                  <a:srgbClr val="12343B"/>
                </a:solidFill>
                <a:latin typeface="Cambria"/>
              </a:rPr>
              <a:t>A zero is still a number the GPU multiplies</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lnSpc>
                <a:spcPct val="105000"/>
              </a:lnSpc>
              <a:spcAft>
                <a:spcPts val="200"/>
              </a:spcAft>
            </a:pPr>
            <a:r>
              <a:rPr sz="1050" b="0" i="0">
                <a:solidFill>
                  <a:srgbClr val="9AB4B8"/>
                </a:solidFill>
                <a:latin typeface="Calibri"/>
              </a:rPr>
              <a:t>Session 38  ·  Model Optimization</a:t>
            </a:r>
          </a:p>
        </p:txBody>
      </p:sp>
      <p:sp>
        <p:nvSpPr>
          <p:cNvPr id="5" name="Rounded Rectangle 4"/>
          <p:cNvSpPr/>
          <p:nvPr/>
        </p:nvSpPr>
        <p:spPr>
          <a:xfrm>
            <a:off x="777240" y="1783080"/>
            <a:ext cx="3419856" cy="38404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014983" y="1993392"/>
            <a:ext cx="2944368" cy="274320"/>
          </a:xfrm>
          <a:prstGeom prst="rect">
            <a:avLst/>
          </a:prstGeom>
          <a:noFill/>
        </p:spPr>
        <p:txBody>
          <a:bodyPr wrap="square" lIns="0" rIns="0" tIns="0" bIns="0">
            <a:spAutoFit/>
          </a:bodyPr>
          <a:lstStyle/>
          <a:p>
            <a:pPr algn="l">
              <a:lnSpc>
                <a:spcPct val="115000"/>
              </a:lnSpc>
              <a:spcAft>
                <a:spcPts val="200"/>
              </a:spcAft>
            </a:pPr>
            <a:r>
              <a:rPr sz="1350" b="1" i="0">
                <a:solidFill>
                  <a:srgbClr val="12343B"/>
                </a:solidFill>
                <a:latin typeface="Calibri"/>
              </a:rPr>
              <a:t>Unstructured</a:t>
            </a:r>
          </a:p>
        </p:txBody>
      </p:sp>
      <p:sp>
        <p:nvSpPr>
          <p:cNvPr id="7" name="TextBox 6"/>
          <p:cNvSpPr txBox="1"/>
          <p:nvPr/>
        </p:nvSpPr>
        <p:spPr>
          <a:xfrm>
            <a:off x="1014983" y="2304288"/>
            <a:ext cx="2944368" cy="274320"/>
          </a:xfrm>
          <a:prstGeom prst="rect">
            <a:avLst/>
          </a:prstGeom>
          <a:noFill/>
        </p:spPr>
        <p:txBody>
          <a:bodyPr wrap="square" lIns="0" rIns="0" tIns="0" bIns="0">
            <a:spAutoFit/>
          </a:bodyPr>
          <a:lstStyle/>
          <a:p>
            <a:pPr algn="l">
              <a:lnSpc>
                <a:spcPct val="115000"/>
              </a:lnSpc>
              <a:spcAft>
                <a:spcPts val="200"/>
              </a:spcAft>
            </a:pPr>
            <a:r>
              <a:rPr sz="1150" b="0" i="0">
                <a:solidFill>
                  <a:srgbClr val="C15B4E"/>
                </a:solidFill>
                <a:latin typeface="Calibri"/>
              </a:rPr>
              <a:t>Zero individual weights anywhere.</a:t>
            </a:r>
          </a:p>
        </p:txBody>
      </p:sp>
      <p:sp>
        <p:nvSpPr>
          <p:cNvPr id="8" name="Rectangle 7"/>
          <p:cNvSpPr/>
          <p:nvPr/>
        </p:nvSpPr>
        <p:spPr>
          <a:xfrm>
            <a:off x="1014983" y="2706624"/>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1339595" y="2706624"/>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1664207" y="2706624"/>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988819" y="2706624"/>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2313432" y="2706624"/>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2638044" y="2706624"/>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2962656" y="2706624"/>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3287268" y="2706624"/>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1014983" y="3031236"/>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1339595" y="3031236"/>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664207" y="3031236"/>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988819" y="3031236"/>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2313432" y="3031236"/>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2638044" y="3031236"/>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2962656" y="3031236"/>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287268" y="3031236"/>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014983" y="3355848"/>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339595" y="3355848"/>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1664207" y="3355848"/>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1988819" y="3355848"/>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13432" y="3355848"/>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638044" y="3355848"/>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962656" y="3355848"/>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287268" y="3355848"/>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1014983" y="3680460"/>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1339595" y="3680460"/>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1664207" y="3680460"/>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1988819" y="3680460"/>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2313432" y="3680460"/>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2638044" y="3680460"/>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2962656" y="3680460"/>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3287268" y="3680460"/>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1014983" y="4005072"/>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1339595" y="4005072"/>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1664207" y="4005072"/>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1988819" y="4005072"/>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2313432" y="4005072"/>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2638044" y="4005072"/>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2962656" y="4005072"/>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3287268" y="4005072"/>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1014983" y="4329683"/>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1339595" y="4329683"/>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1664207" y="4329683"/>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1988819" y="4329683"/>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2313432" y="4329683"/>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2638044" y="4329683"/>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2962656" y="4329683"/>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ectangle 54"/>
          <p:cNvSpPr/>
          <p:nvPr/>
        </p:nvSpPr>
        <p:spPr>
          <a:xfrm>
            <a:off x="3287268" y="4329683"/>
            <a:ext cx="274320" cy="27432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1014983" y="4681728"/>
            <a:ext cx="2944368" cy="777240"/>
          </a:xfrm>
          <a:prstGeom prst="rect">
            <a:avLst/>
          </a:prstGeom>
          <a:noFill/>
        </p:spPr>
        <p:txBody>
          <a:bodyPr wrap="square" lIns="0" rIns="0" tIns="0" bIns="0">
            <a:spAutoFit/>
          </a:bodyPr>
          <a:lstStyle/>
          <a:p>
            <a:pPr algn="l">
              <a:lnSpc>
                <a:spcPct val="120000"/>
              </a:lnSpc>
              <a:spcAft>
                <a:spcPts val="200"/>
              </a:spcAft>
            </a:pPr>
            <a:r>
              <a:rPr sz="1150" b="0" i="0">
                <a:solidFill>
                  <a:srgbClr val="5A7A80"/>
                </a:solidFill>
                <a:latin typeface="Calibri"/>
              </a:rPr>
              <a:t>Best accuracy per weight removed. Dense hardware still multiplies the zeros, so you get a smaller file and no speedup.</a:t>
            </a:r>
          </a:p>
        </p:txBody>
      </p:sp>
      <p:sp>
        <p:nvSpPr>
          <p:cNvPr id="57" name="Rounded Rectangle 56"/>
          <p:cNvSpPr/>
          <p:nvPr/>
        </p:nvSpPr>
        <p:spPr>
          <a:xfrm>
            <a:off x="4370832" y="1783080"/>
            <a:ext cx="3419856" cy="38404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4608576" y="1993392"/>
            <a:ext cx="2944368" cy="274320"/>
          </a:xfrm>
          <a:prstGeom prst="rect">
            <a:avLst/>
          </a:prstGeom>
          <a:noFill/>
        </p:spPr>
        <p:txBody>
          <a:bodyPr wrap="square" lIns="0" rIns="0" tIns="0" bIns="0">
            <a:spAutoFit/>
          </a:bodyPr>
          <a:lstStyle/>
          <a:p>
            <a:pPr algn="l">
              <a:lnSpc>
                <a:spcPct val="115000"/>
              </a:lnSpc>
              <a:spcAft>
                <a:spcPts val="200"/>
              </a:spcAft>
            </a:pPr>
            <a:r>
              <a:rPr sz="1350" b="1" i="0">
                <a:solidFill>
                  <a:srgbClr val="12343B"/>
                </a:solidFill>
                <a:latin typeface="Calibri"/>
              </a:rPr>
              <a:t>Structured</a:t>
            </a:r>
          </a:p>
        </p:txBody>
      </p:sp>
      <p:sp>
        <p:nvSpPr>
          <p:cNvPr id="59" name="TextBox 58"/>
          <p:cNvSpPr txBox="1"/>
          <p:nvPr/>
        </p:nvSpPr>
        <p:spPr>
          <a:xfrm>
            <a:off x="4608576" y="2304288"/>
            <a:ext cx="2944368" cy="274320"/>
          </a:xfrm>
          <a:prstGeom prst="rect">
            <a:avLst/>
          </a:prstGeom>
          <a:noFill/>
        </p:spPr>
        <p:txBody>
          <a:bodyPr wrap="square" lIns="0" rIns="0" tIns="0" bIns="0">
            <a:spAutoFit/>
          </a:bodyPr>
          <a:lstStyle/>
          <a:p>
            <a:pPr algn="l">
              <a:lnSpc>
                <a:spcPct val="115000"/>
              </a:lnSpc>
              <a:spcAft>
                <a:spcPts val="200"/>
              </a:spcAft>
            </a:pPr>
            <a:r>
              <a:rPr sz="1150" b="0" i="0">
                <a:solidFill>
                  <a:srgbClr val="028090"/>
                </a:solidFill>
                <a:latin typeface="Calibri"/>
              </a:rPr>
              <a:t>Remove whole filters or channels.</a:t>
            </a:r>
          </a:p>
        </p:txBody>
      </p:sp>
      <p:sp>
        <p:nvSpPr>
          <p:cNvPr id="60" name="Rectangle 59"/>
          <p:cNvSpPr/>
          <p:nvPr/>
        </p:nvSpPr>
        <p:spPr>
          <a:xfrm>
            <a:off x="4608576" y="2706624"/>
            <a:ext cx="27432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ectangle 60"/>
          <p:cNvSpPr/>
          <p:nvPr/>
        </p:nvSpPr>
        <p:spPr>
          <a:xfrm>
            <a:off x="4933188" y="2706624"/>
            <a:ext cx="27432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ectangle 61"/>
          <p:cNvSpPr/>
          <p:nvPr/>
        </p:nvSpPr>
        <p:spPr>
          <a:xfrm>
            <a:off x="5257800" y="2706624"/>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ectangle 62"/>
          <p:cNvSpPr/>
          <p:nvPr/>
        </p:nvSpPr>
        <p:spPr>
          <a:xfrm>
            <a:off x="5582412" y="2706624"/>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Rectangle 63"/>
          <p:cNvSpPr/>
          <p:nvPr/>
        </p:nvSpPr>
        <p:spPr>
          <a:xfrm>
            <a:off x="5907024" y="2706624"/>
            <a:ext cx="27432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Rectangle 64"/>
          <p:cNvSpPr/>
          <p:nvPr/>
        </p:nvSpPr>
        <p:spPr>
          <a:xfrm>
            <a:off x="6231636" y="2706624"/>
            <a:ext cx="27432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Rectangle 65"/>
          <p:cNvSpPr/>
          <p:nvPr/>
        </p:nvSpPr>
        <p:spPr>
          <a:xfrm>
            <a:off x="6556248" y="2706624"/>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Rectangle 66"/>
          <p:cNvSpPr/>
          <p:nvPr/>
        </p:nvSpPr>
        <p:spPr>
          <a:xfrm>
            <a:off x="6880860" y="2706624"/>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Rectangle 67"/>
          <p:cNvSpPr/>
          <p:nvPr/>
        </p:nvSpPr>
        <p:spPr>
          <a:xfrm>
            <a:off x="4608576" y="3031236"/>
            <a:ext cx="27432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Rectangle 68"/>
          <p:cNvSpPr/>
          <p:nvPr/>
        </p:nvSpPr>
        <p:spPr>
          <a:xfrm>
            <a:off x="4933188" y="3031236"/>
            <a:ext cx="27432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Rectangle 69"/>
          <p:cNvSpPr/>
          <p:nvPr/>
        </p:nvSpPr>
        <p:spPr>
          <a:xfrm>
            <a:off x="5257800" y="3031236"/>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Rectangle 70"/>
          <p:cNvSpPr/>
          <p:nvPr/>
        </p:nvSpPr>
        <p:spPr>
          <a:xfrm>
            <a:off x="5582412" y="3031236"/>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Rectangle 71"/>
          <p:cNvSpPr/>
          <p:nvPr/>
        </p:nvSpPr>
        <p:spPr>
          <a:xfrm>
            <a:off x="5907024" y="3031236"/>
            <a:ext cx="27432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Rectangle 72"/>
          <p:cNvSpPr/>
          <p:nvPr/>
        </p:nvSpPr>
        <p:spPr>
          <a:xfrm>
            <a:off x="6231636" y="3031236"/>
            <a:ext cx="27432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Rectangle 73"/>
          <p:cNvSpPr/>
          <p:nvPr/>
        </p:nvSpPr>
        <p:spPr>
          <a:xfrm>
            <a:off x="6556248" y="3031236"/>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Rectangle 74"/>
          <p:cNvSpPr/>
          <p:nvPr/>
        </p:nvSpPr>
        <p:spPr>
          <a:xfrm>
            <a:off x="6880860" y="3031236"/>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Rectangle 75"/>
          <p:cNvSpPr/>
          <p:nvPr/>
        </p:nvSpPr>
        <p:spPr>
          <a:xfrm>
            <a:off x="4608576" y="3355848"/>
            <a:ext cx="27432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Rectangle 76"/>
          <p:cNvSpPr/>
          <p:nvPr/>
        </p:nvSpPr>
        <p:spPr>
          <a:xfrm>
            <a:off x="4933188" y="3355848"/>
            <a:ext cx="27432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Rectangle 77"/>
          <p:cNvSpPr/>
          <p:nvPr/>
        </p:nvSpPr>
        <p:spPr>
          <a:xfrm>
            <a:off x="5257800" y="3355848"/>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Rectangle 78"/>
          <p:cNvSpPr/>
          <p:nvPr/>
        </p:nvSpPr>
        <p:spPr>
          <a:xfrm>
            <a:off x="5582412" y="3355848"/>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Rectangle 79"/>
          <p:cNvSpPr/>
          <p:nvPr/>
        </p:nvSpPr>
        <p:spPr>
          <a:xfrm>
            <a:off x="5907024" y="3355848"/>
            <a:ext cx="27432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Rectangle 80"/>
          <p:cNvSpPr/>
          <p:nvPr/>
        </p:nvSpPr>
        <p:spPr>
          <a:xfrm>
            <a:off x="6231636" y="3355848"/>
            <a:ext cx="27432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Rectangle 81"/>
          <p:cNvSpPr/>
          <p:nvPr/>
        </p:nvSpPr>
        <p:spPr>
          <a:xfrm>
            <a:off x="6556248" y="3355848"/>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Rectangle 82"/>
          <p:cNvSpPr/>
          <p:nvPr/>
        </p:nvSpPr>
        <p:spPr>
          <a:xfrm>
            <a:off x="6880860" y="3355848"/>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Rectangle 83"/>
          <p:cNvSpPr/>
          <p:nvPr/>
        </p:nvSpPr>
        <p:spPr>
          <a:xfrm>
            <a:off x="4608576" y="3680460"/>
            <a:ext cx="27432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Rectangle 84"/>
          <p:cNvSpPr/>
          <p:nvPr/>
        </p:nvSpPr>
        <p:spPr>
          <a:xfrm>
            <a:off x="4933188" y="3680460"/>
            <a:ext cx="27432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6" name="Rectangle 85"/>
          <p:cNvSpPr/>
          <p:nvPr/>
        </p:nvSpPr>
        <p:spPr>
          <a:xfrm>
            <a:off x="5257800" y="3680460"/>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Rectangle 86"/>
          <p:cNvSpPr/>
          <p:nvPr/>
        </p:nvSpPr>
        <p:spPr>
          <a:xfrm>
            <a:off x="5582412" y="3680460"/>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Rectangle 87"/>
          <p:cNvSpPr/>
          <p:nvPr/>
        </p:nvSpPr>
        <p:spPr>
          <a:xfrm>
            <a:off x="5907024" y="3680460"/>
            <a:ext cx="27432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Rectangle 88"/>
          <p:cNvSpPr/>
          <p:nvPr/>
        </p:nvSpPr>
        <p:spPr>
          <a:xfrm>
            <a:off x="6231636" y="3680460"/>
            <a:ext cx="27432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Rectangle 89"/>
          <p:cNvSpPr/>
          <p:nvPr/>
        </p:nvSpPr>
        <p:spPr>
          <a:xfrm>
            <a:off x="6556248" y="3680460"/>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Rectangle 90"/>
          <p:cNvSpPr/>
          <p:nvPr/>
        </p:nvSpPr>
        <p:spPr>
          <a:xfrm>
            <a:off x="6880860" y="3680460"/>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2" name="Rectangle 91"/>
          <p:cNvSpPr/>
          <p:nvPr/>
        </p:nvSpPr>
        <p:spPr>
          <a:xfrm>
            <a:off x="4608576" y="4005072"/>
            <a:ext cx="27432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Rectangle 92"/>
          <p:cNvSpPr/>
          <p:nvPr/>
        </p:nvSpPr>
        <p:spPr>
          <a:xfrm>
            <a:off x="4933188" y="4005072"/>
            <a:ext cx="27432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4" name="Rectangle 93"/>
          <p:cNvSpPr/>
          <p:nvPr/>
        </p:nvSpPr>
        <p:spPr>
          <a:xfrm>
            <a:off x="5257800" y="4005072"/>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5" name="Rectangle 94"/>
          <p:cNvSpPr/>
          <p:nvPr/>
        </p:nvSpPr>
        <p:spPr>
          <a:xfrm>
            <a:off x="5582412" y="4005072"/>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6" name="Rectangle 95"/>
          <p:cNvSpPr/>
          <p:nvPr/>
        </p:nvSpPr>
        <p:spPr>
          <a:xfrm>
            <a:off x="5907024" y="4005072"/>
            <a:ext cx="27432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7" name="Rectangle 96"/>
          <p:cNvSpPr/>
          <p:nvPr/>
        </p:nvSpPr>
        <p:spPr>
          <a:xfrm>
            <a:off x="6231636" y="4005072"/>
            <a:ext cx="27432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8" name="Rectangle 97"/>
          <p:cNvSpPr/>
          <p:nvPr/>
        </p:nvSpPr>
        <p:spPr>
          <a:xfrm>
            <a:off x="6556248" y="4005072"/>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9" name="Rectangle 98"/>
          <p:cNvSpPr/>
          <p:nvPr/>
        </p:nvSpPr>
        <p:spPr>
          <a:xfrm>
            <a:off x="6880860" y="4005072"/>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0" name="Rectangle 99"/>
          <p:cNvSpPr/>
          <p:nvPr/>
        </p:nvSpPr>
        <p:spPr>
          <a:xfrm>
            <a:off x="4608576" y="4329683"/>
            <a:ext cx="27432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1" name="Rectangle 100"/>
          <p:cNvSpPr/>
          <p:nvPr/>
        </p:nvSpPr>
        <p:spPr>
          <a:xfrm>
            <a:off x="4933188" y="4329683"/>
            <a:ext cx="27432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2" name="Rectangle 101"/>
          <p:cNvSpPr/>
          <p:nvPr/>
        </p:nvSpPr>
        <p:spPr>
          <a:xfrm>
            <a:off x="5257800" y="4329683"/>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3" name="Rectangle 102"/>
          <p:cNvSpPr/>
          <p:nvPr/>
        </p:nvSpPr>
        <p:spPr>
          <a:xfrm>
            <a:off x="5582412" y="4329683"/>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 name="Rectangle 103"/>
          <p:cNvSpPr/>
          <p:nvPr/>
        </p:nvSpPr>
        <p:spPr>
          <a:xfrm>
            <a:off x="5907024" y="4329683"/>
            <a:ext cx="27432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5" name="Rectangle 104"/>
          <p:cNvSpPr/>
          <p:nvPr/>
        </p:nvSpPr>
        <p:spPr>
          <a:xfrm>
            <a:off x="6231636" y="4329683"/>
            <a:ext cx="274320" cy="2743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6" name="Rectangle 105"/>
          <p:cNvSpPr/>
          <p:nvPr/>
        </p:nvSpPr>
        <p:spPr>
          <a:xfrm>
            <a:off x="6556248" y="4329683"/>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7" name="Rectangle 106"/>
          <p:cNvSpPr/>
          <p:nvPr/>
        </p:nvSpPr>
        <p:spPr>
          <a:xfrm>
            <a:off x="6880860" y="4329683"/>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8" name="TextBox 107"/>
          <p:cNvSpPr txBox="1"/>
          <p:nvPr/>
        </p:nvSpPr>
        <p:spPr>
          <a:xfrm>
            <a:off x="4608576" y="4681728"/>
            <a:ext cx="2944368" cy="777240"/>
          </a:xfrm>
          <a:prstGeom prst="rect">
            <a:avLst/>
          </a:prstGeom>
          <a:noFill/>
        </p:spPr>
        <p:txBody>
          <a:bodyPr wrap="square" lIns="0" rIns="0" tIns="0" bIns="0">
            <a:spAutoFit/>
          </a:bodyPr>
          <a:lstStyle/>
          <a:p>
            <a:pPr algn="l">
              <a:lnSpc>
                <a:spcPct val="120000"/>
              </a:lnSpc>
              <a:spcAft>
                <a:spcPts val="200"/>
              </a:spcAft>
            </a:pPr>
            <a:r>
              <a:rPr sz="1150" b="0" i="0">
                <a:solidFill>
                  <a:srgbClr val="5A7A80"/>
                </a:solidFill>
                <a:latin typeface="Calibri"/>
              </a:rPr>
              <a:t>The layer genuinely shrinks, so every backend runs it faster with no special support. Costs more accuracy for the same sparsity.</a:t>
            </a:r>
          </a:p>
        </p:txBody>
      </p:sp>
      <p:sp>
        <p:nvSpPr>
          <p:cNvPr id="109" name="Rounded Rectangle 108"/>
          <p:cNvSpPr/>
          <p:nvPr/>
        </p:nvSpPr>
        <p:spPr>
          <a:xfrm>
            <a:off x="7964424" y="1783080"/>
            <a:ext cx="3419856" cy="38404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0" name="TextBox 109"/>
          <p:cNvSpPr txBox="1"/>
          <p:nvPr/>
        </p:nvSpPr>
        <p:spPr>
          <a:xfrm>
            <a:off x="8202168" y="1993392"/>
            <a:ext cx="2944368" cy="274320"/>
          </a:xfrm>
          <a:prstGeom prst="rect">
            <a:avLst/>
          </a:prstGeom>
          <a:noFill/>
        </p:spPr>
        <p:txBody>
          <a:bodyPr wrap="square" lIns="0" rIns="0" tIns="0" bIns="0">
            <a:spAutoFit/>
          </a:bodyPr>
          <a:lstStyle/>
          <a:p>
            <a:pPr algn="l">
              <a:lnSpc>
                <a:spcPct val="115000"/>
              </a:lnSpc>
              <a:spcAft>
                <a:spcPts val="200"/>
              </a:spcAft>
            </a:pPr>
            <a:r>
              <a:rPr sz="1350" b="1" i="0">
                <a:solidFill>
                  <a:srgbClr val="12343B"/>
                </a:solidFill>
                <a:latin typeface="Calibri"/>
              </a:rPr>
              <a:t>2:4 semi structured</a:t>
            </a:r>
          </a:p>
        </p:txBody>
      </p:sp>
      <p:sp>
        <p:nvSpPr>
          <p:cNvPr id="111" name="TextBox 110"/>
          <p:cNvSpPr txBox="1"/>
          <p:nvPr/>
        </p:nvSpPr>
        <p:spPr>
          <a:xfrm>
            <a:off x="8202168" y="2304288"/>
            <a:ext cx="2944368" cy="274320"/>
          </a:xfrm>
          <a:prstGeom prst="rect">
            <a:avLst/>
          </a:prstGeom>
          <a:noFill/>
        </p:spPr>
        <p:txBody>
          <a:bodyPr wrap="square" lIns="0" rIns="0" tIns="0" bIns="0">
            <a:spAutoFit/>
          </a:bodyPr>
          <a:lstStyle/>
          <a:p>
            <a:pPr algn="l">
              <a:lnSpc>
                <a:spcPct val="115000"/>
              </a:lnSpc>
              <a:spcAft>
                <a:spcPts val="200"/>
              </a:spcAft>
            </a:pPr>
            <a:r>
              <a:rPr sz="1150" b="0" i="0">
                <a:solidFill>
                  <a:srgbClr val="02C39A"/>
                </a:solidFill>
                <a:latin typeface="Calibri"/>
              </a:rPr>
              <a:t>Two zeros in every block of four.</a:t>
            </a:r>
          </a:p>
        </p:txBody>
      </p:sp>
      <p:sp>
        <p:nvSpPr>
          <p:cNvPr id="112" name="Rectangle 111"/>
          <p:cNvSpPr/>
          <p:nvPr/>
        </p:nvSpPr>
        <p:spPr>
          <a:xfrm>
            <a:off x="8202168" y="2706624"/>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3" name="Rectangle 112"/>
          <p:cNvSpPr/>
          <p:nvPr/>
        </p:nvSpPr>
        <p:spPr>
          <a:xfrm>
            <a:off x="8526780" y="2706624"/>
            <a:ext cx="274320" cy="2743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4" name="Rectangle 113"/>
          <p:cNvSpPr/>
          <p:nvPr/>
        </p:nvSpPr>
        <p:spPr>
          <a:xfrm>
            <a:off x="8851392" y="2706624"/>
            <a:ext cx="274320" cy="2743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5" name="Rectangle 114"/>
          <p:cNvSpPr/>
          <p:nvPr/>
        </p:nvSpPr>
        <p:spPr>
          <a:xfrm>
            <a:off x="9176004" y="2706624"/>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6" name="Rectangle 115"/>
          <p:cNvSpPr/>
          <p:nvPr/>
        </p:nvSpPr>
        <p:spPr>
          <a:xfrm>
            <a:off x="9500616" y="2706624"/>
            <a:ext cx="274320" cy="2743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7" name="Rectangle 116"/>
          <p:cNvSpPr/>
          <p:nvPr/>
        </p:nvSpPr>
        <p:spPr>
          <a:xfrm>
            <a:off x="9825228" y="2706624"/>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8" name="Rectangle 117"/>
          <p:cNvSpPr/>
          <p:nvPr/>
        </p:nvSpPr>
        <p:spPr>
          <a:xfrm>
            <a:off x="10149840" y="2706624"/>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9" name="Rectangle 118"/>
          <p:cNvSpPr/>
          <p:nvPr/>
        </p:nvSpPr>
        <p:spPr>
          <a:xfrm>
            <a:off x="10474452" y="2706624"/>
            <a:ext cx="274320" cy="2743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0" name="Rectangle 119"/>
          <p:cNvSpPr/>
          <p:nvPr/>
        </p:nvSpPr>
        <p:spPr>
          <a:xfrm>
            <a:off x="8202168" y="3031236"/>
            <a:ext cx="274320" cy="2743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1" name="Rectangle 120"/>
          <p:cNvSpPr/>
          <p:nvPr/>
        </p:nvSpPr>
        <p:spPr>
          <a:xfrm>
            <a:off x="8526780" y="3031236"/>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2" name="Rectangle 121"/>
          <p:cNvSpPr/>
          <p:nvPr/>
        </p:nvSpPr>
        <p:spPr>
          <a:xfrm>
            <a:off x="8851392" y="3031236"/>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3" name="Rectangle 122"/>
          <p:cNvSpPr/>
          <p:nvPr/>
        </p:nvSpPr>
        <p:spPr>
          <a:xfrm>
            <a:off x="9176004" y="3031236"/>
            <a:ext cx="274320" cy="2743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4" name="Rectangle 123"/>
          <p:cNvSpPr/>
          <p:nvPr/>
        </p:nvSpPr>
        <p:spPr>
          <a:xfrm>
            <a:off x="9500616" y="3031236"/>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5" name="Rectangle 124"/>
          <p:cNvSpPr/>
          <p:nvPr/>
        </p:nvSpPr>
        <p:spPr>
          <a:xfrm>
            <a:off x="9825228" y="3031236"/>
            <a:ext cx="274320" cy="2743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6" name="Rectangle 125"/>
          <p:cNvSpPr/>
          <p:nvPr/>
        </p:nvSpPr>
        <p:spPr>
          <a:xfrm>
            <a:off x="10149840" y="3031236"/>
            <a:ext cx="274320" cy="2743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7" name="Rectangle 126"/>
          <p:cNvSpPr/>
          <p:nvPr/>
        </p:nvSpPr>
        <p:spPr>
          <a:xfrm>
            <a:off x="10474452" y="3031236"/>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8" name="Rectangle 127"/>
          <p:cNvSpPr/>
          <p:nvPr/>
        </p:nvSpPr>
        <p:spPr>
          <a:xfrm>
            <a:off x="8202168" y="3355848"/>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9" name="Rectangle 128"/>
          <p:cNvSpPr/>
          <p:nvPr/>
        </p:nvSpPr>
        <p:spPr>
          <a:xfrm>
            <a:off x="8526780" y="3355848"/>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0" name="Rectangle 129"/>
          <p:cNvSpPr/>
          <p:nvPr/>
        </p:nvSpPr>
        <p:spPr>
          <a:xfrm>
            <a:off x="8851392" y="3355848"/>
            <a:ext cx="274320" cy="2743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1" name="Rectangle 130"/>
          <p:cNvSpPr/>
          <p:nvPr/>
        </p:nvSpPr>
        <p:spPr>
          <a:xfrm>
            <a:off x="9176004" y="3355848"/>
            <a:ext cx="274320" cy="2743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2" name="Rectangle 131"/>
          <p:cNvSpPr/>
          <p:nvPr/>
        </p:nvSpPr>
        <p:spPr>
          <a:xfrm>
            <a:off x="9500616" y="3355848"/>
            <a:ext cx="274320" cy="2743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3" name="Rectangle 132"/>
          <p:cNvSpPr/>
          <p:nvPr/>
        </p:nvSpPr>
        <p:spPr>
          <a:xfrm>
            <a:off x="9825228" y="3355848"/>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4" name="Rectangle 133"/>
          <p:cNvSpPr/>
          <p:nvPr/>
        </p:nvSpPr>
        <p:spPr>
          <a:xfrm>
            <a:off x="10149840" y="3355848"/>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5" name="Rectangle 134"/>
          <p:cNvSpPr/>
          <p:nvPr/>
        </p:nvSpPr>
        <p:spPr>
          <a:xfrm>
            <a:off x="10474452" y="3355848"/>
            <a:ext cx="274320" cy="2743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6" name="Rectangle 135"/>
          <p:cNvSpPr/>
          <p:nvPr/>
        </p:nvSpPr>
        <p:spPr>
          <a:xfrm>
            <a:off x="8202168" y="3680460"/>
            <a:ext cx="274320" cy="2743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7" name="Rectangle 136"/>
          <p:cNvSpPr/>
          <p:nvPr/>
        </p:nvSpPr>
        <p:spPr>
          <a:xfrm>
            <a:off x="8526780" y="3680460"/>
            <a:ext cx="274320" cy="2743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8" name="Rectangle 137"/>
          <p:cNvSpPr/>
          <p:nvPr/>
        </p:nvSpPr>
        <p:spPr>
          <a:xfrm>
            <a:off x="8851392" y="3680460"/>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9" name="Rectangle 138"/>
          <p:cNvSpPr/>
          <p:nvPr/>
        </p:nvSpPr>
        <p:spPr>
          <a:xfrm>
            <a:off x="9176004" y="3680460"/>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0" name="Rectangle 139"/>
          <p:cNvSpPr/>
          <p:nvPr/>
        </p:nvSpPr>
        <p:spPr>
          <a:xfrm>
            <a:off x="9500616" y="3680460"/>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1" name="Rectangle 140"/>
          <p:cNvSpPr/>
          <p:nvPr/>
        </p:nvSpPr>
        <p:spPr>
          <a:xfrm>
            <a:off x="9825228" y="3680460"/>
            <a:ext cx="274320" cy="2743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2" name="Rectangle 141"/>
          <p:cNvSpPr/>
          <p:nvPr/>
        </p:nvSpPr>
        <p:spPr>
          <a:xfrm>
            <a:off x="10149840" y="3680460"/>
            <a:ext cx="274320" cy="2743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3" name="Rectangle 142"/>
          <p:cNvSpPr/>
          <p:nvPr/>
        </p:nvSpPr>
        <p:spPr>
          <a:xfrm>
            <a:off x="10474452" y="3680460"/>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4" name="Rectangle 143"/>
          <p:cNvSpPr/>
          <p:nvPr/>
        </p:nvSpPr>
        <p:spPr>
          <a:xfrm>
            <a:off x="8202168" y="4005072"/>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5" name="Rectangle 144"/>
          <p:cNvSpPr/>
          <p:nvPr/>
        </p:nvSpPr>
        <p:spPr>
          <a:xfrm>
            <a:off x="8526780" y="4005072"/>
            <a:ext cx="274320" cy="2743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6" name="Rectangle 145"/>
          <p:cNvSpPr/>
          <p:nvPr/>
        </p:nvSpPr>
        <p:spPr>
          <a:xfrm>
            <a:off x="8851392" y="4005072"/>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7" name="Rectangle 146"/>
          <p:cNvSpPr/>
          <p:nvPr/>
        </p:nvSpPr>
        <p:spPr>
          <a:xfrm>
            <a:off x="9176004" y="4005072"/>
            <a:ext cx="274320" cy="2743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8" name="Rectangle 147"/>
          <p:cNvSpPr/>
          <p:nvPr/>
        </p:nvSpPr>
        <p:spPr>
          <a:xfrm>
            <a:off x="9500616" y="4005072"/>
            <a:ext cx="274320" cy="2743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9" name="Rectangle 148"/>
          <p:cNvSpPr/>
          <p:nvPr/>
        </p:nvSpPr>
        <p:spPr>
          <a:xfrm>
            <a:off x="9825228" y="4005072"/>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0" name="Rectangle 149"/>
          <p:cNvSpPr/>
          <p:nvPr/>
        </p:nvSpPr>
        <p:spPr>
          <a:xfrm>
            <a:off x="10149840" y="4005072"/>
            <a:ext cx="274320" cy="2743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1" name="Rectangle 150"/>
          <p:cNvSpPr/>
          <p:nvPr/>
        </p:nvSpPr>
        <p:spPr>
          <a:xfrm>
            <a:off x="10474452" y="4005072"/>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2" name="Rectangle 151"/>
          <p:cNvSpPr/>
          <p:nvPr/>
        </p:nvSpPr>
        <p:spPr>
          <a:xfrm>
            <a:off x="8202168" y="4329683"/>
            <a:ext cx="274320" cy="2743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 name="Rectangle 152"/>
          <p:cNvSpPr/>
          <p:nvPr/>
        </p:nvSpPr>
        <p:spPr>
          <a:xfrm>
            <a:off x="8526780" y="4329683"/>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4" name="Rectangle 153"/>
          <p:cNvSpPr/>
          <p:nvPr/>
        </p:nvSpPr>
        <p:spPr>
          <a:xfrm>
            <a:off x="8851392" y="4329683"/>
            <a:ext cx="274320" cy="2743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5" name="Rectangle 154"/>
          <p:cNvSpPr/>
          <p:nvPr/>
        </p:nvSpPr>
        <p:spPr>
          <a:xfrm>
            <a:off x="9176004" y="4329683"/>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6" name="Rectangle 155"/>
          <p:cNvSpPr/>
          <p:nvPr/>
        </p:nvSpPr>
        <p:spPr>
          <a:xfrm>
            <a:off x="9500616" y="4329683"/>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7" name="Rectangle 156"/>
          <p:cNvSpPr/>
          <p:nvPr/>
        </p:nvSpPr>
        <p:spPr>
          <a:xfrm>
            <a:off x="9825228" y="4329683"/>
            <a:ext cx="274320" cy="2743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8" name="Rectangle 157"/>
          <p:cNvSpPr/>
          <p:nvPr/>
        </p:nvSpPr>
        <p:spPr>
          <a:xfrm>
            <a:off x="10149840" y="4329683"/>
            <a:ext cx="274320" cy="274320"/>
          </a:xfrm>
          <a:prstGeom prst="rect">
            <a:avLst/>
          </a:prstGeom>
          <a:solidFill>
            <a:srgbClr val="E4EC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9" name="Rectangle 158"/>
          <p:cNvSpPr/>
          <p:nvPr/>
        </p:nvSpPr>
        <p:spPr>
          <a:xfrm>
            <a:off x="10474452" y="4329683"/>
            <a:ext cx="274320" cy="27432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0" name="TextBox 159"/>
          <p:cNvSpPr txBox="1"/>
          <p:nvPr/>
        </p:nvSpPr>
        <p:spPr>
          <a:xfrm>
            <a:off x="8202168" y="4681728"/>
            <a:ext cx="2944368" cy="777240"/>
          </a:xfrm>
          <a:prstGeom prst="rect">
            <a:avLst/>
          </a:prstGeom>
          <a:noFill/>
        </p:spPr>
        <p:txBody>
          <a:bodyPr wrap="square" lIns="0" rIns="0" tIns="0" bIns="0">
            <a:spAutoFit/>
          </a:bodyPr>
          <a:lstStyle/>
          <a:p>
            <a:pPr algn="l">
              <a:lnSpc>
                <a:spcPct val="120000"/>
              </a:lnSpc>
              <a:spcAft>
                <a:spcPts val="200"/>
              </a:spcAft>
            </a:pPr>
            <a:r>
              <a:rPr sz="1150" b="0" i="0">
                <a:solidFill>
                  <a:srgbClr val="5A7A80"/>
                </a:solidFill>
                <a:latin typeface="Calibri"/>
              </a:rPr>
              <a:t>50 percent sparsity in a pattern Sparse Tensor Cores on Ampere and later can skip. Real speedup, and NVIDIA reports the accuracy is recoverable by retraining.</a:t>
            </a:r>
          </a:p>
        </p:txBody>
      </p:sp>
      <p:sp>
        <p:nvSpPr>
          <p:cNvPr id="161" name="TextBox 160"/>
          <p:cNvSpPr txBox="1"/>
          <p:nvPr/>
        </p:nvSpPr>
        <p:spPr>
          <a:xfrm>
            <a:off x="777240" y="5650992"/>
            <a:ext cx="10607040" cy="310896"/>
          </a:xfrm>
          <a:prstGeom prst="rect">
            <a:avLst/>
          </a:prstGeom>
          <a:noFill/>
        </p:spPr>
        <p:txBody>
          <a:bodyPr wrap="square" lIns="0" rIns="0" tIns="0" bIns="0">
            <a:spAutoFit/>
          </a:bodyPr>
          <a:lstStyle/>
          <a:p>
            <a:pPr algn="l">
              <a:lnSpc>
                <a:spcPct val="115000"/>
              </a:lnSpc>
              <a:spcAft>
                <a:spcPts val="200"/>
              </a:spcAft>
            </a:pPr>
            <a:r>
              <a:rPr sz="950" b="0" i="0">
                <a:solidFill>
                  <a:srgbClr val="8FA9AE"/>
                </a:solidFill>
                <a:latin typeface="Calibri"/>
              </a:rPr>
              <a:t>Filled cells are surviving weights, pale cells are pruned. Diagram drawn for this session; the 2:4 pattern and its hardware support follow NVIDIA's structured sparsity documentation.</a:t>
            </a:r>
          </a:p>
        </p:txBody>
      </p:sp>
      <p:sp>
        <p:nvSpPr>
          <p:cNvPr id="162" name="Rounded Rectangle 161"/>
          <p:cNvSpPr/>
          <p:nvPr/>
        </p:nvSpPr>
        <p:spPr>
          <a:xfrm>
            <a:off x="777240" y="5961888"/>
            <a:ext cx="10607040" cy="347472"/>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3" name="TextBox 162"/>
          <p:cNvSpPr txBox="1"/>
          <p:nvPr/>
        </p:nvSpPr>
        <p:spPr>
          <a:xfrm>
            <a:off x="777240" y="5961888"/>
            <a:ext cx="10607040" cy="310896"/>
          </a:xfrm>
          <a:prstGeom prst="rect">
            <a:avLst/>
          </a:prstGeom>
          <a:noFill/>
        </p:spPr>
        <p:txBody>
          <a:bodyPr wrap="square" lIns="0" rIns="0" tIns="0" bIns="0">
            <a:spAutoFit/>
          </a:bodyPr>
          <a:lstStyle/>
          <a:p>
            <a:pPr algn="l">
              <a:lnSpc>
                <a:spcPct val="120000"/>
              </a:lnSpc>
              <a:spcAft>
                <a:spcPts val="200"/>
              </a:spcAft>
            </a:pPr>
            <a:r>
              <a:rPr sz="1200" b="1" i="0">
                <a:solidFill>
                  <a:srgbClr val="12343B"/>
                </a:solidFill>
                <a:latin typeface="Calibri"/>
              </a:rPr>
              <a:t>Rule of thumb: </a:t>
            </a:r>
            <a:r>
              <a:rPr sz="1200" b="0" i="0">
                <a:solidFill>
                  <a:srgbClr val="5A7A80"/>
                </a:solidFill>
                <a:latin typeface="Calibri"/>
              </a:rPr>
              <a:t>if nobody in your stack can exploit the sparsity pattern you produced, you compressed the file and changed nothing about the frame rate.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lnSpc>
                <a:spcPct val="105000"/>
              </a:lnSpc>
              <a:spcAft>
                <a:spcPts val="200"/>
              </a:spcAft>
            </a:pPr>
            <a:r>
              <a:rPr sz="1200" b="1" i="0">
                <a:solidFill>
                  <a:srgbClr val="028090"/>
                </a:solidFill>
                <a:latin typeface="Calibri"/>
              </a:rPr>
              <a:t>TRADE-OFFS</a:t>
            </a:r>
          </a:p>
        </p:txBody>
      </p:sp>
      <p:sp>
        <p:nvSpPr>
          <p:cNvPr id="3" name="TextBox 2"/>
          <p:cNvSpPr txBox="1"/>
          <p:nvPr/>
        </p:nvSpPr>
        <p:spPr>
          <a:xfrm>
            <a:off x="685800" y="786384"/>
            <a:ext cx="10881360" cy="777240"/>
          </a:xfrm>
          <a:prstGeom prst="rect">
            <a:avLst/>
          </a:prstGeom>
          <a:noFill/>
        </p:spPr>
        <p:txBody>
          <a:bodyPr wrap="square" lIns="0" rIns="0" tIns="0" bIns="0">
            <a:spAutoFit/>
          </a:bodyPr>
          <a:lstStyle/>
          <a:p>
            <a:pPr algn="l">
              <a:lnSpc>
                <a:spcPct val="105000"/>
              </a:lnSpc>
              <a:spcAft>
                <a:spcPts val="200"/>
              </a:spcAft>
            </a:pPr>
            <a:r>
              <a:rPr sz="3200" b="1" i="0">
                <a:solidFill>
                  <a:srgbClr val="12343B"/>
                </a:solidFill>
                <a:latin typeface="Cambria"/>
              </a:rPr>
              <a:t>Nothing here is free</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lnSpc>
                <a:spcPct val="105000"/>
              </a:lnSpc>
              <a:spcAft>
                <a:spcPts val="200"/>
              </a:spcAft>
            </a:pPr>
            <a:r>
              <a:rPr sz="1050" b="0" i="0">
                <a:solidFill>
                  <a:srgbClr val="9AB4B8"/>
                </a:solidFill>
                <a:latin typeface="Calibri"/>
              </a:rPr>
              <a:t>Session 38  ·  Model Optimization</a:t>
            </a:r>
          </a:p>
        </p:txBody>
      </p:sp>
      <p:sp>
        <p:nvSpPr>
          <p:cNvPr id="5" name="Rounded Rectangle 4"/>
          <p:cNvSpPr/>
          <p:nvPr/>
        </p:nvSpPr>
        <p:spPr>
          <a:xfrm>
            <a:off x="777240" y="1810512"/>
            <a:ext cx="2103120" cy="420624"/>
          </a:xfrm>
          <a:prstGeom prst="roundRect">
            <a:avLst>
              <a:gd name="adj" fmla="val 6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41832" y="1810512"/>
            <a:ext cx="1773936" cy="420624"/>
          </a:xfrm>
          <a:prstGeom prst="rect">
            <a:avLst/>
          </a:prstGeom>
          <a:noFill/>
        </p:spPr>
        <p:txBody>
          <a:bodyPr wrap="square" lIns="0" rIns="0" tIns="0" bIns="0" anchor="ctr">
            <a:spAutoFit/>
          </a:bodyPr>
          <a:lstStyle/>
          <a:p>
            <a:pPr algn="l">
              <a:lnSpc>
                <a:spcPct val="115000"/>
              </a:lnSpc>
              <a:spcAft>
                <a:spcPts val="200"/>
              </a:spcAft>
            </a:pPr>
            <a:r>
              <a:rPr sz="1200" b="1" i="0">
                <a:solidFill>
                  <a:srgbClr val="FFFFFF"/>
                </a:solidFill>
                <a:latin typeface="Calibri"/>
              </a:rPr>
              <a:t>Technique</a:t>
            </a:r>
          </a:p>
        </p:txBody>
      </p:sp>
      <p:sp>
        <p:nvSpPr>
          <p:cNvPr id="7" name="Rounded Rectangle 6"/>
          <p:cNvSpPr/>
          <p:nvPr/>
        </p:nvSpPr>
        <p:spPr>
          <a:xfrm>
            <a:off x="2971800" y="1810512"/>
            <a:ext cx="2788920" cy="420624"/>
          </a:xfrm>
          <a:prstGeom prst="roundRect">
            <a:avLst>
              <a:gd name="adj" fmla="val 6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3136392" y="1810512"/>
            <a:ext cx="2459736" cy="420624"/>
          </a:xfrm>
          <a:prstGeom prst="rect">
            <a:avLst/>
          </a:prstGeom>
          <a:noFill/>
        </p:spPr>
        <p:txBody>
          <a:bodyPr wrap="square" lIns="0" rIns="0" tIns="0" bIns="0" anchor="ctr">
            <a:spAutoFit/>
          </a:bodyPr>
          <a:lstStyle/>
          <a:p>
            <a:pPr algn="l">
              <a:lnSpc>
                <a:spcPct val="115000"/>
              </a:lnSpc>
              <a:spcAft>
                <a:spcPts val="200"/>
              </a:spcAft>
            </a:pPr>
            <a:r>
              <a:rPr sz="1200" b="1" i="0">
                <a:solidFill>
                  <a:srgbClr val="FFFFFF"/>
                </a:solidFill>
                <a:latin typeface="Calibri"/>
              </a:rPr>
              <a:t>What you gain</a:t>
            </a:r>
          </a:p>
        </p:txBody>
      </p:sp>
      <p:sp>
        <p:nvSpPr>
          <p:cNvPr id="9" name="Rounded Rectangle 8"/>
          <p:cNvSpPr/>
          <p:nvPr/>
        </p:nvSpPr>
        <p:spPr>
          <a:xfrm>
            <a:off x="5852160" y="1810512"/>
            <a:ext cx="2697480" cy="420624"/>
          </a:xfrm>
          <a:prstGeom prst="roundRect">
            <a:avLst>
              <a:gd name="adj" fmla="val 6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016752" y="1810512"/>
            <a:ext cx="2368296" cy="420624"/>
          </a:xfrm>
          <a:prstGeom prst="rect">
            <a:avLst/>
          </a:prstGeom>
          <a:noFill/>
        </p:spPr>
        <p:txBody>
          <a:bodyPr wrap="square" lIns="0" rIns="0" tIns="0" bIns="0" anchor="ctr">
            <a:spAutoFit/>
          </a:bodyPr>
          <a:lstStyle/>
          <a:p>
            <a:pPr algn="l">
              <a:lnSpc>
                <a:spcPct val="115000"/>
              </a:lnSpc>
              <a:spcAft>
                <a:spcPts val="200"/>
              </a:spcAft>
            </a:pPr>
            <a:r>
              <a:rPr sz="1200" b="1" i="0">
                <a:solidFill>
                  <a:srgbClr val="FFFFFF"/>
                </a:solidFill>
                <a:latin typeface="Calibri"/>
              </a:rPr>
              <a:t>What it costs</a:t>
            </a:r>
          </a:p>
        </p:txBody>
      </p:sp>
      <p:sp>
        <p:nvSpPr>
          <p:cNvPr id="11" name="Rounded Rectangle 10"/>
          <p:cNvSpPr/>
          <p:nvPr/>
        </p:nvSpPr>
        <p:spPr>
          <a:xfrm>
            <a:off x="8641080" y="1810512"/>
            <a:ext cx="2834640" cy="420624"/>
          </a:xfrm>
          <a:prstGeom prst="roundRect">
            <a:avLst>
              <a:gd name="adj" fmla="val 6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805672" y="1810512"/>
            <a:ext cx="2505456" cy="420624"/>
          </a:xfrm>
          <a:prstGeom prst="rect">
            <a:avLst/>
          </a:prstGeom>
          <a:noFill/>
        </p:spPr>
        <p:txBody>
          <a:bodyPr wrap="square" lIns="0" rIns="0" tIns="0" bIns="0" anchor="ctr">
            <a:spAutoFit/>
          </a:bodyPr>
          <a:lstStyle/>
          <a:p>
            <a:pPr algn="l">
              <a:lnSpc>
                <a:spcPct val="115000"/>
              </a:lnSpc>
              <a:spcAft>
                <a:spcPts val="200"/>
              </a:spcAft>
            </a:pPr>
            <a:r>
              <a:rPr sz="1200" b="1" i="0">
                <a:solidFill>
                  <a:srgbClr val="FFFFFF"/>
                </a:solidFill>
                <a:latin typeface="Calibri"/>
              </a:rPr>
              <a:t>What can bite you</a:t>
            </a:r>
          </a:p>
        </p:txBody>
      </p:sp>
      <p:sp>
        <p:nvSpPr>
          <p:cNvPr id="13" name="Rectangle 12"/>
          <p:cNvSpPr/>
          <p:nvPr/>
        </p:nvSpPr>
        <p:spPr>
          <a:xfrm>
            <a:off x="777240" y="2304288"/>
            <a:ext cx="2103120" cy="932688"/>
          </a:xfrm>
          <a:prstGeom prst="rect">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41832" y="2450592"/>
            <a:ext cx="1773936" cy="640080"/>
          </a:xfrm>
          <a:prstGeom prst="rect">
            <a:avLst/>
          </a:prstGeom>
          <a:noFill/>
        </p:spPr>
        <p:txBody>
          <a:bodyPr wrap="square" lIns="0" rIns="0" tIns="0" bIns="0">
            <a:spAutoFit/>
          </a:bodyPr>
          <a:lstStyle/>
          <a:p>
            <a:pPr algn="l">
              <a:lnSpc>
                <a:spcPct val="120000"/>
              </a:lnSpc>
              <a:spcAft>
                <a:spcPts val="200"/>
              </a:spcAft>
            </a:pPr>
            <a:r>
              <a:rPr sz="1100" b="1" i="0">
                <a:solidFill>
                  <a:srgbClr val="12343B"/>
                </a:solidFill>
                <a:latin typeface="Calibri"/>
              </a:rPr>
              <a:t>ONNX export</a:t>
            </a:r>
          </a:p>
        </p:txBody>
      </p:sp>
      <p:sp>
        <p:nvSpPr>
          <p:cNvPr id="15" name="Rectangle 14"/>
          <p:cNvSpPr/>
          <p:nvPr/>
        </p:nvSpPr>
        <p:spPr>
          <a:xfrm>
            <a:off x="2971800" y="2304288"/>
            <a:ext cx="2788920" cy="932688"/>
          </a:xfrm>
          <a:prstGeom prst="rect">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136392" y="2450592"/>
            <a:ext cx="2459736" cy="640080"/>
          </a:xfrm>
          <a:prstGeom prst="rect">
            <a:avLst/>
          </a:prstGeom>
          <a:noFill/>
        </p:spPr>
        <p:txBody>
          <a:bodyPr wrap="square" lIns="0" rIns="0" tIns="0" bIns="0">
            <a:spAutoFit/>
          </a:bodyPr>
          <a:lstStyle/>
          <a:p>
            <a:pPr algn="l">
              <a:lnSpc>
                <a:spcPct val="120000"/>
              </a:lnSpc>
              <a:spcAft>
                <a:spcPts val="200"/>
              </a:spcAft>
            </a:pPr>
            <a:r>
              <a:rPr sz="1100" b="0" i="0">
                <a:solidFill>
                  <a:srgbClr val="5A7A80"/>
                </a:solidFill>
                <a:latin typeface="Calibri"/>
              </a:rPr>
              <a:t>Portability. One artifact that TensorRT, OpenVINO, CoreML and ONNX Runtime all read.</a:t>
            </a:r>
          </a:p>
        </p:txBody>
      </p:sp>
      <p:sp>
        <p:nvSpPr>
          <p:cNvPr id="17" name="Rectangle 16"/>
          <p:cNvSpPr/>
          <p:nvPr/>
        </p:nvSpPr>
        <p:spPr>
          <a:xfrm>
            <a:off x="5852160" y="2304288"/>
            <a:ext cx="2697480" cy="932688"/>
          </a:xfrm>
          <a:prstGeom prst="rect">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016752" y="2450592"/>
            <a:ext cx="2368296" cy="640080"/>
          </a:xfrm>
          <a:prstGeom prst="rect">
            <a:avLst/>
          </a:prstGeom>
          <a:noFill/>
        </p:spPr>
        <p:txBody>
          <a:bodyPr wrap="square" lIns="0" rIns="0" tIns="0" bIns="0">
            <a:spAutoFit/>
          </a:bodyPr>
          <a:lstStyle/>
          <a:p>
            <a:pPr algn="l">
              <a:lnSpc>
                <a:spcPct val="120000"/>
              </a:lnSpc>
              <a:spcAft>
                <a:spcPts val="200"/>
              </a:spcAft>
            </a:pPr>
            <a:r>
              <a:rPr sz="1100" b="0" i="0">
                <a:solidFill>
                  <a:srgbClr val="5A7A80"/>
                </a:solidFill>
                <a:latin typeface="Calibri"/>
              </a:rPr>
              <a:t>An export step in your build, and a graph you can no longer train.</a:t>
            </a:r>
          </a:p>
        </p:txBody>
      </p:sp>
      <p:sp>
        <p:nvSpPr>
          <p:cNvPr id="19" name="Rectangle 18"/>
          <p:cNvSpPr/>
          <p:nvPr/>
        </p:nvSpPr>
        <p:spPr>
          <a:xfrm>
            <a:off x="8641080" y="2304288"/>
            <a:ext cx="2834640" cy="932688"/>
          </a:xfrm>
          <a:prstGeom prst="rect">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805672" y="2450592"/>
            <a:ext cx="2505456" cy="640080"/>
          </a:xfrm>
          <a:prstGeom prst="rect">
            <a:avLst/>
          </a:prstGeom>
          <a:noFill/>
        </p:spPr>
        <p:txBody>
          <a:bodyPr wrap="square" lIns="0" rIns="0" tIns="0" bIns="0">
            <a:spAutoFit/>
          </a:bodyPr>
          <a:lstStyle/>
          <a:p>
            <a:pPr algn="l">
              <a:lnSpc>
                <a:spcPct val="120000"/>
              </a:lnSpc>
              <a:spcAft>
                <a:spcPts val="200"/>
              </a:spcAft>
            </a:pPr>
            <a:r>
              <a:rPr sz="1100" b="0" i="0">
                <a:solidFill>
                  <a:srgbClr val="C15B4E"/>
                </a:solidFill>
                <a:latin typeface="Calibri"/>
              </a:rPr>
              <a:t>Tracing silently freezes control flow. Unsupported operators fail late.</a:t>
            </a:r>
          </a:p>
        </p:txBody>
      </p:sp>
      <p:sp>
        <p:nvSpPr>
          <p:cNvPr id="21" name="Rectangle 20"/>
          <p:cNvSpPr/>
          <p:nvPr/>
        </p:nvSpPr>
        <p:spPr>
          <a:xfrm>
            <a:off x="777240" y="3291840"/>
            <a:ext cx="2103120" cy="932688"/>
          </a:xfrm>
          <a:prstGeom prst="rect">
            <a:avLst/>
          </a:prstGeom>
          <a:solidFill>
            <a:srgbClr val="F8F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41832" y="3438144"/>
            <a:ext cx="1773936" cy="640080"/>
          </a:xfrm>
          <a:prstGeom prst="rect">
            <a:avLst/>
          </a:prstGeom>
          <a:noFill/>
        </p:spPr>
        <p:txBody>
          <a:bodyPr wrap="square" lIns="0" rIns="0" tIns="0" bIns="0">
            <a:spAutoFit/>
          </a:bodyPr>
          <a:lstStyle/>
          <a:p>
            <a:pPr algn="l">
              <a:lnSpc>
                <a:spcPct val="120000"/>
              </a:lnSpc>
              <a:spcAft>
                <a:spcPts val="200"/>
              </a:spcAft>
            </a:pPr>
            <a:r>
              <a:rPr sz="1100" b="1" i="0">
                <a:solidFill>
                  <a:srgbClr val="12343B"/>
                </a:solidFill>
                <a:latin typeface="Calibri"/>
              </a:rPr>
              <a:t>TensorRT</a:t>
            </a:r>
          </a:p>
        </p:txBody>
      </p:sp>
      <p:sp>
        <p:nvSpPr>
          <p:cNvPr id="23" name="Rectangle 22"/>
          <p:cNvSpPr/>
          <p:nvPr/>
        </p:nvSpPr>
        <p:spPr>
          <a:xfrm>
            <a:off x="2971800" y="3291840"/>
            <a:ext cx="2788920" cy="932688"/>
          </a:xfrm>
          <a:prstGeom prst="rect">
            <a:avLst/>
          </a:prstGeom>
          <a:solidFill>
            <a:srgbClr val="F8F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136392" y="3438144"/>
            <a:ext cx="2459736" cy="640080"/>
          </a:xfrm>
          <a:prstGeom prst="rect">
            <a:avLst/>
          </a:prstGeom>
          <a:noFill/>
        </p:spPr>
        <p:txBody>
          <a:bodyPr wrap="square" lIns="0" rIns="0" tIns="0" bIns="0">
            <a:spAutoFit/>
          </a:bodyPr>
          <a:lstStyle/>
          <a:p>
            <a:pPr algn="l">
              <a:lnSpc>
                <a:spcPct val="120000"/>
              </a:lnSpc>
              <a:spcAft>
                <a:spcPts val="200"/>
              </a:spcAft>
            </a:pPr>
            <a:r>
              <a:rPr sz="1100" b="0" i="0">
                <a:solidFill>
                  <a:srgbClr val="5A7A80"/>
                </a:solidFill>
                <a:latin typeface="Calibri"/>
              </a:rPr>
              <a:t>The largest single win on NVIDIA hardware: fusion, tuned kernels and memory reuse.</a:t>
            </a:r>
          </a:p>
        </p:txBody>
      </p:sp>
      <p:sp>
        <p:nvSpPr>
          <p:cNvPr id="25" name="Rectangle 24"/>
          <p:cNvSpPr/>
          <p:nvPr/>
        </p:nvSpPr>
        <p:spPr>
          <a:xfrm>
            <a:off x="5852160" y="3291840"/>
            <a:ext cx="2697480" cy="932688"/>
          </a:xfrm>
          <a:prstGeom prst="rect">
            <a:avLst/>
          </a:prstGeom>
          <a:solidFill>
            <a:srgbClr val="F8F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016752" y="3438144"/>
            <a:ext cx="2368296" cy="640080"/>
          </a:xfrm>
          <a:prstGeom prst="rect">
            <a:avLst/>
          </a:prstGeom>
          <a:noFill/>
        </p:spPr>
        <p:txBody>
          <a:bodyPr wrap="square" lIns="0" rIns="0" tIns="0" bIns="0">
            <a:spAutoFit/>
          </a:bodyPr>
          <a:lstStyle/>
          <a:p>
            <a:pPr algn="l">
              <a:lnSpc>
                <a:spcPct val="120000"/>
              </a:lnSpc>
              <a:spcAft>
                <a:spcPts val="200"/>
              </a:spcAft>
            </a:pPr>
            <a:r>
              <a:rPr sz="1100" b="0" i="0">
                <a:solidFill>
                  <a:srgbClr val="5A7A80"/>
                </a:solidFill>
                <a:latin typeface="Calibri"/>
              </a:rPr>
              <a:t>Minutes of build time and a binary tied to one GPU model, driver and TensorRT version.</a:t>
            </a:r>
          </a:p>
        </p:txBody>
      </p:sp>
      <p:sp>
        <p:nvSpPr>
          <p:cNvPr id="27" name="Rectangle 26"/>
          <p:cNvSpPr/>
          <p:nvPr/>
        </p:nvSpPr>
        <p:spPr>
          <a:xfrm>
            <a:off x="8641080" y="3291840"/>
            <a:ext cx="2834640" cy="932688"/>
          </a:xfrm>
          <a:prstGeom prst="rect">
            <a:avLst/>
          </a:prstGeom>
          <a:solidFill>
            <a:srgbClr val="F8F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805672" y="3438144"/>
            <a:ext cx="2505456" cy="640080"/>
          </a:xfrm>
          <a:prstGeom prst="rect">
            <a:avLst/>
          </a:prstGeom>
          <a:noFill/>
        </p:spPr>
        <p:txBody>
          <a:bodyPr wrap="square" lIns="0" rIns="0" tIns="0" bIns="0">
            <a:spAutoFit/>
          </a:bodyPr>
          <a:lstStyle/>
          <a:p>
            <a:pPr algn="l">
              <a:lnSpc>
                <a:spcPct val="120000"/>
              </a:lnSpc>
              <a:spcAft>
                <a:spcPts val="200"/>
              </a:spcAft>
            </a:pPr>
            <a:r>
              <a:rPr sz="1100" b="0" i="0">
                <a:solidFill>
                  <a:srgbClr val="C15B4E"/>
                </a:solidFill>
                <a:latin typeface="Calibri"/>
              </a:rPr>
              <a:t>NVIDIA only. Rebuild on every hardware or version change or it will not load.</a:t>
            </a:r>
          </a:p>
        </p:txBody>
      </p:sp>
      <p:sp>
        <p:nvSpPr>
          <p:cNvPr id="29" name="Rectangle 28"/>
          <p:cNvSpPr/>
          <p:nvPr/>
        </p:nvSpPr>
        <p:spPr>
          <a:xfrm>
            <a:off x="777240" y="4279392"/>
            <a:ext cx="2103120" cy="932688"/>
          </a:xfrm>
          <a:prstGeom prst="rect">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941832" y="4425696"/>
            <a:ext cx="1773936" cy="640080"/>
          </a:xfrm>
          <a:prstGeom prst="rect">
            <a:avLst/>
          </a:prstGeom>
          <a:noFill/>
        </p:spPr>
        <p:txBody>
          <a:bodyPr wrap="square" lIns="0" rIns="0" tIns="0" bIns="0">
            <a:spAutoFit/>
          </a:bodyPr>
          <a:lstStyle/>
          <a:p>
            <a:pPr algn="l">
              <a:lnSpc>
                <a:spcPct val="120000"/>
              </a:lnSpc>
              <a:spcAft>
                <a:spcPts val="200"/>
              </a:spcAft>
            </a:pPr>
            <a:r>
              <a:rPr sz="1100" b="1" i="0">
                <a:solidFill>
                  <a:srgbClr val="12343B"/>
                </a:solidFill>
                <a:latin typeface="Calibri"/>
              </a:rPr>
              <a:t>Quantization</a:t>
            </a:r>
          </a:p>
        </p:txBody>
      </p:sp>
      <p:sp>
        <p:nvSpPr>
          <p:cNvPr id="31" name="Rectangle 30"/>
          <p:cNvSpPr/>
          <p:nvPr/>
        </p:nvSpPr>
        <p:spPr>
          <a:xfrm>
            <a:off x="2971800" y="4279392"/>
            <a:ext cx="2788920" cy="932688"/>
          </a:xfrm>
          <a:prstGeom prst="rect">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136392" y="4425696"/>
            <a:ext cx="2459736" cy="640080"/>
          </a:xfrm>
          <a:prstGeom prst="rect">
            <a:avLst/>
          </a:prstGeom>
          <a:noFill/>
        </p:spPr>
        <p:txBody>
          <a:bodyPr wrap="square" lIns="0" rIns="0" tIns="0" bIns="0">
            <a:spAutoFit/>
          </a:bodyPr>
          <a:lstStyle/>
          <a:p>
            <a:pPr algn="l">
              <a:lnSpc>
                <a:spcPct val="120000"/>
              </a:lnSpc>
              <a:spcAft>
                <a:spcPts val="200"/>
              </a:spcAft>
            </a:pPr>
            <a:r>
              <a:rPr sz="1100" b="0" i="0">
                <a:solidFill>
                  <a:srgbClr val="5A7A80"/>
                </a:solidFill>
                <a:latin typeface="Calibri"/>
              </a:rPr>
              <a:t>Smaller weights and faster maths. FP16 is close to free; INT8 roughly quarters the model.</a:t>
            </a:r>
          </a:p>
        </p:txBody>
      </p:sp>
      <p:sp>
        <p:nvSpPr>
          <p:cNvPr id="33" name="Rectangle 32"/>
          <p:cNvSpPr/>
          <p:nvPr/>
        </p:nvSpPr>
        <p:spPr>
          <a:xfrm>
            <a:off x="5852160" y="4279392"/>
            <a:ext cx="2697480" cy="932688"/>
          </a:xfrm>
          <a:prstGeom prst="rect">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016752" y="4425696"/>
            <a:ext cx="2368296" cy="640080"/>
          </a:xfrm>
          <a:prstGeom prst="rect">
            <a:avLst/>
          </a:prstGeom>
          <a:noFill/>
        </p:spPr>
        <p:txBody>
          <a:bodyPr wrap="square" lIns="0" rIns="0" tIns="0" bIns="0">
            <a:spAutoFit/>
          </a:bodyPr>
          <a:lstStyle/>
          <a:p>
            <a:pPr algn="l">
              <a:lnSpc>
                <a:spcPct val="120000"/>
              </a:lnSpc>
              <a:spcAft>
                <a:spcPts val="200"/>
              </a:spcAft>
            </a:pPr>
            <a:r>
              <a:rPr sz="1100" b="0" i="0">
                <a:solidFill>
                  <a:srgbClr val="5A7A80"/>
                </a:solidFill>
                <a:latin typeface="Calibri"/>
              </a:rPr>
              <a:t>Calibration data for INT8, and accuracy you have to measure rather than assume.</a:t>
            </a:r>
          </a:p>
        </p:txBody>
      </p:sp>
      <p:sp>
        <p:nvSpPr>
          <p:cNvPr id="35" name="Rectangle 34"/>
          <p:cNvSpPr/>
          <p:nvPr/>
        </p:nvSpPr>
        <p:spPr>
          <a:xfrm>
            <a:off x="8641080" y="4279392"/>
            <a:ext cx="2834640" cy="932688"/>
          </a:xfrm>
          <a:prstGeom prst="rect">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805672" y="4425696"/>
            <a:ext cx="2505456" cy="640080"/>
          </a:xfrm>
          <a:prstGeom prst="rect">
            <a:avLst/>
          </a:prstGeom>
          <a:noFill/>
        </p:spPr>
        <p:txBody>
          <a:bodyPr wrap="square" lIns="0" rIns="0" tIns="0" bIns="0">
            <a:spAutoFit/>
          </a:bodyPr>
          <a:lstStyle/>
          <a:p>
            <a:pPr algn="l">
              <a:lnSpc>
                <a:spcPct val="120000"/>
              </a:lnSpc>
              <a:spcAft>
                <a:spcPts val="200"/>
              </a:spcAft>
            </a:pPr>
            <a:r>
              <a:rPr sz="1100" b="0" i="0">
                <a:solidFill>
                  <a:srgbClr val="C15B4E"/>
                </a:solidFill>
                <a:latin typeface="Calibri"/>
              </a:rPr>
              <a:t>Outlier activations wreck the scale. Small objects and rare classes suffer first.</a:t>
            </a:r>
          </a:p>
        </p:txBody>
      </p:sp>
      <p:sp>
        <p:nvSpPr>
          <p:cNvPr id="37" name="Rectangle 36"/>
          <p:cNvSpPr/>
          <p:nvPr/>
        </p:nvSpPr>
        <p:spPr>
          <a:xfrm>
            <a:off x="777240" y="5266944"/>
            <a:ext cx="2103120" cy="932688"/>
          </a:xfrm>
          <a:prstGeom prst="rect">
            <a:avLst/>
          </a:prstGeom>
          <a:solidFill>
            <a:srgbClr val="F8F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941832" y="5413248"/>
            <a:ext cx="1773936" cy="640080"/>
          </a:xfrm>
          <a:prstGeom prst="rect">
            <a:avLst/>
          </a:prstGeom>
          <a:noFill/>
        </p:spPr>
        <p:txBody>
          <a:bodyPr wrap="square" lIns="0" rIns="0" tIns="0" bIns="0">
            <a:spAutoFit/>
          </a:bodyPr>
          <a:lstStyle/>
          <a:p>
            <a:pPr algn="l">
              <a:lnSpc>
                <a:spcPct val="120000"/>
              </a:lnSpc>
              <a:spcAft>
                <a:spcPts val="200"/>
              </a:spcAft>
            </a:pPr>
            <a:r>
              <a:rPr sz="1100" b="1" i="0">
                <a:solidFill>
                  <a:srgbClr val="12343B"/>
                </a:solidFill>
                <a:latin typeface="Calibri"/>
              </a:rPr>
              <a:t>Pruning</a:t>
            </a:r>
          </a:p>
        </p:txBody>
      </p:sp>
      <p:sp>
        <p:nvSpPr>
          <p:cNvPr id="39" name="Rectangle 38"/>
          <p:cNvSpPr/>
          <p:nvPr/>
        </p:nvSpPr>
        <p:spPr>
          <a:xfrm>
            <a:off x="2971800" y="5266944"/>
            <a:ext cx="2788920" cy="932688"/>
          </a:xfrm>
          <a:prstGeom prst="rect">
            <a:avLst/>
          </a:prstGeom>
          <a:solidFill>
            <a:srgbClr val="F8F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3136392" y="5413248"/>
            <a:ext cx="2459736" cy="640080"/>
          </a:xfrm>
          <a:prstGeom prst="rect">
            <a:avLst/>
          </a:prstGeom>
          <a:noFill/>
        </p:spPr>
        <p:txBody>
          <a:bodyPr wrap="square" lIns="0" rIns="0" tIns="0" bIns="0">
            <a:spAutoFit/>
          </a:bodyPr>
          <a:lstStyle/>
          <a:p>
            <a:pPr algn="l">
              <a:lnSpc>
                <a:spcPct val="120000"/>
              </a:lnSpc>
              <a:spcAft>
                <a:spcPts val="200"/>
              </a:spcAft>
            </a:pPr>
            <a:r>
              <a:rPr sz="1100" b="0" i="0">
                <a:solidFill>
                  <a:srgbClr val="5A7A80"/>
                </a:solidFill>
                <a:latin typeface="Calibri"/>
              </a:rPr>
              <a:t>Fewer parameters and a smaller file. With structured or 2:4 patterns, less work per frame.</a:t>
            </a:r>
          </a:p>
        </p:txBody>
      </p:sp>
      <p:sp>
        <p:nvSpPr>
          <p:cNvPr id="41" name="Rectangle 40"/>
          <p:cNvSpPr/>
          <p:nvPr/>
        </p:nvSpPr>
        <p:spPr>
          <a:xfrm>
            <a:off x="5852160" y="5266944"/>
            <a:ext cx="2697480" cy="932688"/>
          </a:xfrm>
          <a:prstGeom prst="rect">
            <a:avLst/>
          </a:prstGeom>
          <a:solidFill>
            <a:srgbClr val="F8F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016752" y="5413248"/>
            <a:ext cx="2368296" cy="640080"/>
          </a:xfrm>
          <a:prstGeom prst="rect">
            <a:avLst/>
          </a:prstGeom>
          <a:noFill/>
        </p:spPr>
        <p:txBody>
          <a:bodyPr wrap="square" lIns="0" rIns="0" tIns="0" bIns="0">
            <a:spAutoFit/>
          </a:bodyPr>
          <a:lstStyle/>
          <a:p>
            <a:pPr algn="l">
              <a:lnSpc>
                <a:spcPct val="120000"/>
              </a:lnSpc>
              <a:spcAft>
                <a:spcPts val="200"/>
              </a:spcAft>
            </a:pPr>
            <a:r>
              <a:rPr sz="1100" b="0" i="0">
                <a:solidFill>
                  <a:srgbClr val="5A7A80"/>
                </a:solidFill>
                <a:latin typeface="Calibri"/>
              </a:rPr>
              <a:t>A retraining loop, which means data, labels, and GPU hours.</a:t>
            </a:r>
          </a:p>
        </p:txBody>
      </p:sp>
      <p:sp>
        <p:nvSpPr>
          <p:cNvPr id="43" name="Rectangle 42"/>
          <p:cNvSpPr/>
          <p:nvPr/>
        </p:nvSpPr>
        <p:spPr>
          <a:xfrm>
            <a:off x="8641080" y="5266944"/>
            <a:ext cx="2834640" cy="932688"/>
          </a:xfrm>
          <a:prstGeom prst="rect">
            <a:avLst/>
          </a:prstGeom>
          <a:solidFill>
            <a:srgbClr val="F8F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8805672" y="5413248"/>
            <a:ext cx="2505456" cy="640080"/>
          </a:xfrm>
          <a:prstGeom prst="rect">
            <a:avLst/>
          </a:prstGeom>
          <a:noFill/>
        </p:spPr>
        <p:txBody>
          <a:bodyPr wrap="square" lIns="0" rIns="0" tIns="0" bIns="0">
            <a:spAutoFit/>
          </a:bodyPr>
          <a:lstStyle/>
          <a:p>
            <a:pPr algn="l">
              <a:lnSpc>
                <a:spcPct val="120000"/>
              </a:lnSpc>
              <a:spcAft>
                <a:spcPts val="200"/>
              </a:spcAft>
            </a:pPr>
            <a:r>
              <a:rPr sz="1100" b="0" i="0">
                <a:solidFill>
                  <a:srgbClr val="C15B4E"/>
                </a:solidFill>
                <a:latin typeface="Calibri"/>
              </a:rPr>
              <a:t>Unstructured sparsity usually buys zero speedup on real hardware.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lnSpc>
                <a:spcPct val="105000"/>
              </a:lnSpc>
              <a:spcAft>
                <a:spcPts val="200"/>
              </a:spcAft>
            </a:pPr>
            <a:r>
              <a:rPr sz="1200" b="1" i="0">
                <a:solidFill>
                  <a:srgbClr val="028090"/>
                </a:solidFill>
                <a:latin typeface="Calibri"/>
              </a:rPr>
              <a:t>COMBINING THEM</a:t>
            </a:r>
          </a:p>
        </p:txBody>
      </p:sp>
      <p:sp>
        <p:nvSpPr>
          <p:cNvPr id="3" name="TextBox 2"/>
          <p:cNvSpPr txBox="1"/>
          <p:nvPr/>
        </p:nvSpPr>
        <p:spPr>
          <a:xfrm>
            <a:off x="685800" y="786384"/>
            <a:ext cx="10881360" cy="777240"/>
          </a:xfrm>
          <a:prstGeom prst="rect">
            <a:avLst/>
          </a:prstGeom>
          <a:noFill/>
        </p:spPr>
        <p:txBody>
          <a:bodyPr wrap="square" lIns="0" rIns="0" tIns="0" bIns="0">
            <a:spAutoFit/>
          </a:bodyPr>
          <a:lstStyle/>
          <a:p>
            <a:pPr algn="l">
              <a:lnSpc>
                <a:spcPct val="105000"/>
              </a:lnSpc>
              <a:spcAft>
                <a:spcPts val="200"/>
              </a:spcAft>
            </a:pPr>
            <a:r>
              <a:rPr sz="3200" b="1" i="0">
                <a:solidFill>
                  <a:srgbClr val="12343B"/>
                </a:solidFill>
                <a:latin typeface="Cambria"/>
              </a:rPr>
              <a:t>They stack, in one particular order</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lnSpc>
                <a:spcPct val="105000"/>
              </a:lnSpc>
              <a:spcAft>
                <a:spcPts val="200"/>
              </a:spcAft>
            </a:pPr>
            <a:r>
              <a:rPr sz="1050" b="0" i="0">
                <a:solidFill>
                  <a:srgbClr val="9AB4B8"/>
                </a:solidFill>
                <a:latin typeface="Calibri"/>
              </a:rPr>
              <a:t>Session 38  ·  Model Optimization</a:t>
            </a:r>
          </a:p>
        </p:txBody>
      </p:sp>
      <p:sp>
        <p:nvSpPr>
          <p:cNvPr id="5" name="Rounded Rectangle 4"/>
          <p:cNvSpPr/>
          <p:nvPr/>
        </p:nvSpPr>
        <p:spPr>
          <a:xfrm>
            <a:off x="777240" y="1783080"/>
            <a:ext cx="2395728" cy="12344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78408" y="1956816"/>
            <a:ext cx="1993392" cy="274320"/>
          </a:xfrm>
          <a:prstGeom prst="rect">
            <a:avLst/>
          </a:prstGeom>
          <a:noFill/>
        </p:spPr>
        <p:txBody>
          <a:bodyPr wrap="square" lIns="0" rIns="0" tIns="0" bIns="0">
            <a:spAutoFit/>
          </a:bodyPr>
          <a:lstStyle/>
          <a:p>
            <a:pPr algn="l">
              <a:lnSpc>
                <a:spcPct val="115000"/>
              </a:lnSpc>
              <a:spcAft>
                <a:spcPts val="200"/>
              </a:spcAft>
            </a:pPr>
            <a:r>
              <a:rPr sz="1250" b="1" i="0">
                <a:solidFill>
                  <a:srgbClr val="12343B"/>
                </a:solidFill>
                <a:latin typeface="Calibri"/>
              </a:rPr>
              <a:t>Prune</a:t>
            </a:r>
          </a:p>
        </p:txBody>
      </p:sp>
      <p:sp>
        <p:nvSpPr>
          <p:cNvPr id="7" name="TextBox 6"/>
          <p:cNvSpPr txBox="1"/>
          <p:nvPr/>
        </p:nvSpPr>
        <p:spPr>
          <a:xfrm>
            <a:off x="978408" y="2286000"/>
            <a:ext cx="1993392" cy="603504"/>
          </a:xfrm>
          <a:prstGeom prst="rect">
            <a:avLst/>
          </a:prstGeom>
          <a:noFill/>
        </p:spPr>
        <p:txBody>
          <a:bodyPr wrap="square" lIns="0" rIns="0" tIns="0" bIns="0">
            <a:spAutoFit/>
          </a:bodyPr>
          <a:lstStyle/>
          <a:p>
            <a:pPr algn="l">
              <a:lnSpc>
                <a:spcPct val="118000"/>
              </a:lnSpc>
              <a:spcAft>
                <a:spcPts val="0"/>
              </a:spcAft>
            </a:pPr>
            <a:r>
              <a:rPr sz="1150" b="0" i="0">
                <a:solidFill>
                  <a:srgbClr val="5A7A80"/>
                </a:solidFill>
                <a:latin typeface="Calibri"/>
              </a:rPr>
              <a:t>needs retraining,</a:t>
            </a:r>
          </a:p>
          <a:p>
            <a:pPr algn="l">
              <a:lnSpc>
                <a:spcPct val="118000"/>
              </a:lnSpc>
              <a:spcAft>
                <a:spcPts val="0"/>
              </a:spcAft>
            </a:pPr>
            <a:r>
              <a:rPr sz="1150" b="0" i="0">
                <a:solidFill>
                  <a:srgbClr val="5A7A80"/>
                </a:solidFill>
                <a:latin typeface="Calibri"/>
              </a:rPr>
              <a:t>so it goes first</a:t>
            </a:r>
          </a:p>
        </p:txBody>
      </p:sp>
      <p:sp>
        <p:nvSpPr>
          <p:cNvPr id="8" name="Right Arrow 7"/>
          <p:cNvSpPr/>
          <p:nvPr/>
        </p:nvSpPr>
        <p:spPr>
          <a:xfrm>
            <a:off x="3191256" y="2286000"/>
            <a:ext cx="365760" cy="237744"/>
          </a:xfrm>
          <a:prstGeom prst="rightArrow">
            <a:avLst/>
          </a:prstGeom>
          <a:solidFill>
            <a:srgbClr val="B6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3575304" y="1783080"/>
            <a:ext cx="2395728" cy="12344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776472" y="1956816"/>
            <a:ext cx="1993392" cy="274320"/>
          </a:xfrm>
          <a:prstGeom prst="rect">
            <a:avLst/>
          </a:prstGeom>
          <a:noFill/>
        </p:spPr>
        <p:txBody>
          <a:bodyPr wrap="square" lIns="0" rIns="0" tIns="0" bIns="0">
            <a:spAutoFit/>
          </a:bodyPr>
          <a:lstStyle/>
          <a:p>
            <a:pPr algn="l">
              <a:lnSpc>
                <a:spcPct val="115000"/>
              </a:lnSpc>
              <a:spcAft>
                <a:spcPts val="200"/>
              </a:spcAft>
            </a:pPr>
            <a:r>
              <a:rPr sz="1250" b="1" i="0">
                <a:solidFill>
                  <a:srgbClr val="12343B"/>
                </a:solidFill>
                <a:latin typeface="Calibri"/>
              </a:rPr>
              <a:t>Fine tune</a:t>
            </a:r>
          </a:p>
        </p:txBody>
      </p:sp>
      <p:sp>
        <p:nvSpPr>
          <p:cNvPr id="11" name="TextBox 10"/>
          <p:cNvSpPr txBox="1"/>
          <p:nvPr/>
        </p:nvSpPr>
        <p:spPr>
          <a:xfrm>
            <a:off x="3776472" y="2286000"/>
            <a:ext cx="1993392" cy="603504"/>
          </a:xfrm>
          <a:prstGeom prst="rect">
            <a:avLst/>
          </a:prstGeom>
          <a:noFill/>
        </p:spPr>
        <p:txBody>
          <a:bodyPr wrap="square" lIns="0" rIns="0" tIns="0" bIns="0">
            <a:spAutoFit/>
          </a:bodyPr>
          <a:lstStyle/>
          <a:p>
            <a:pPr algn="l">
              <a:lnSpc>
                <a:spcPct val="118000"/>
              </a:lnSpc>
              <a:spcAft>
                <a:spcPts val="0"/>
              </a:spcAft>
            </a:pPr>
            <a:r>
              <a:rPr sz="1150" b="0" i="0">
                <a:solidFill>
                  <a:srgbClr val="5A7A80"/>
                </a:solidFill>
                <a:latin typeface="Calibri"/>
              </a:rPr>
              <a:t>recover the accuracy</a:t>
            </a:r>
          </a:p>
          <a:p>
            <a:pPr algn="l">
              <a:lnSpc>
                <a:spcPct val="118000"/>
              </a:lnSpc>
              <a:spcAft>
                <a:spcPts val="0"/>
              </a:spcAft>
            </a:pPr>
            <a:r>
              <a:rPr sz="1150" b="0" i="0">
                <a:solidFill>
                  <a:srgbClr val="5A7A80"/>
                </a:solidFill>
                <a:latin typeface="Calibri"/>
              </a:rPr>
              <a:t>you just spent</a:t>
            </a:r>
          </a:p>
        </p:txBody>
      </p:sp>
      <p:sp>
        <p:nvSpPr>
          <p:cNvPr id="12" name="Right Arrow 11"/>
          <p:cNvSpPr/>
          <p:nvPr/>
        </p:nvSpPr>
        <p:spPr>
          <a:xfrm>
            <a:off x="5989320" y="2286000"/>
            <a:ext cx="365760" cy="237744"/>
          </a:xfrm>
          <a:prstGeom prst="rightArrow">
            <a:avLst/>
          </a:prstGeom>
          <a:solidFill>
            <a:srgbClr val="B6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373368" y="1783080"/>
            <a:ext cx="2395728" cy="1234440"/>
          </a:xfrm>
          <a:prstGeom prst="roundRect">
            <a:avLst>
              <a:gd name="adj" fmla="val 6000"/>
            </a:avLst>
          </a:prstGeom>
          <a:solidFill>
            <a:srgbClr val="E3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574536" y="1956816"/>
            <a:ext cx="1993392" cy="274320"/>
          </a:xfrm>
          <a:prstGeom prst="rect">
            <a:avLst/>
          </a:prstGeom>
          <a:noFill/>
        </p:spPr>
        <p:txBody>
          <a:bodyPr wrap="square" lIns="0" rIns="0" tIns="0" bIns="0">
            <a:spAutoFit/>
          </a:bodyPr>
          <a:lstStyle/>
          <a:p>
            <a:pPr algn="l">
              <a:lnSpc>
                <a:spcPct val="115000"/>
              </a:lnSpc>
              <a:spcAft>
                <a:spcPts val="200"/>
              </a:spcAft>
            </a:pPr>
            <a:r>
              <a:rPr sz="1250" b="1" i="0">
                <a:solidFill>
                  <a:srgbClr val="028090"/>
                </a:solidFill>
                <a:latin typeface="Calibri"/>
              </a:rPr>
              <a:t>Export to ONNX</a:t>
            </a:r>
          </a:p>
        </p:txBody>
      </p:sp>
      <p:sp>
        <p:nvSpPr>
          <p:cNvPr id="15" name="TextBox 14"/>
          <p:cNvSpPr txBox="1"/>
          <p:nvPr/>
        </p:nvSpPr>
        <p:spPr>
          <a:xfrm>
            <a:off x="6574536" y="2286000"/>
            <a:ext cx="1993392" cy="603504"/>
          </a:xfrm>
          <a:prstGeom prst="rect">
            <a:avLst/>
          </a:prstGeom>
          <a:noFill/>
        </p:spPr>
        <p:txBody>
          <a:bodyPr wrap="square" lIns="0" rIns="0" tIns="0" bIns="0">
            <a:spAutoFit/>
          </a:bodyPr>
          <a:lstStyle/>
          <a:p>
            <a:pPr algn="l">
              <a:lnSpc>
                <a:spcPct val="118000"/>
              </a:lnSpc>
              <a:spcAft>
                <a:spcPts val="0"/>
              </a:spcAft>
            </a:pPr>
            <a:r>
              <a:rPr sz="1150" b="0" i="0">
                <a:solidFill>
                  <a:srgbClr val="5A7A80"/>
                </a:solidFill>
                <a:latin typeface="Calibri"/>
              </a:rPr>
              <a:t>freeze the pruned</a:t>
            </a:r>
          </a:p>
          <a:p>
            <a:pPr algn="l">
              <a:lnSpc>
                <a:spcPct val="118000"/>
              </a:lnSpc>
              <a:spcAft>
                <a:spcPts val="0"/>
              </a:spcAft>
            </a:pPr>
            <a:r>
              <a:rPr sz="1150" b="0" i="0">
                <a:solidFill>
                  <a:srgbClr val="5A7A80"/>
                </a:solidFill>
                <a:latin typeface="Calibri"/>
              </a:rPr>
              <a:t>graph</a:t>
            </a:r>
          </a:p>
        </p:txBody>
      </p:sp>
      <p:sp>
        <p:nvSpPr>
          <p:cNvPr id="16" name="Right Arrow 15"/>
          <p:cNvSpPr/>
          <p:nvPr/>
        </p:nvSpPr>
        <p:spPr>
          <a:xfrm>
            <a:off x="8787384" y="2286000"/>
            <a:ext cx="365760" cy="237744"/>
          </a:xfrm>
          <a:prstGeom prst="rightArrow">
            <a:avLst/>
          </a:prstGeom>
          <a:solidFill>
            <a:srgbClr val="B6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9171432" y="1783080"/>
            <a:ext cx="2395728" cy="1234440"/>
          </a:xfrm>
          <a:prstGeom prst="roundRect">
            <a:avLst>
              <a:gd name="adj" fmla="val 6000"/>
            </a:avLst>
          </a:prstGeom>
          <a:solidFill>
            <a:srgbClr val="E3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372600" y="1956816"/>
            <a:ext cx="1993392" cy="274320"/>
          </a:xfrm>
          <a:prstGeom prst="rect">
            <a:avLst/>
          </a:prstGeom>
          <a:noFill/>
        </p:spPr>
        <p:txBody>
          <a:bodyPr wrap="square" lIns="0" rIns="0" tIns="0" bIns="0">
            <a:spAutoFit/>
          </a:bodyPr>
          <a:lstStyle/>
          <a:p>
            <a:pPr algn="l">
              <a:lnSpc>
                <a:spcPct val="115000"/>
              </a:lnSpc>
              <a:spcAft>
                <a:spcPts val="200"/>
              </a:spcAft>
            </a:pPr>
            <a:r>
              <a:rPr sz="1250" b="1" i="0">
                <a:solidFill>
                  <a:srgbClr val="028090"/>
                </a:solidFill>
                <a:latin typeface="Calibri"/>
              </a:rPr>
              <a:t>Build with TensorRT</a:t>
            </a:r>
          </a:p>
        </p:txBody>
      </p:sp>
      <p:sp>
        <p:nvSpPr>
          <p:cNvPr id="19" name="TextBox 18"/>
          <p:cNvSpPr txBox="1"/>
          <p:nvPr/>
        </p:nvSpPr>
        <p:spPr>
          <a:xfrm>
            <a:off x="9372600" y="2286000"/>
            <a:ext cx="1993392" cy="603504"/>
          </a:xfrm>
          <a:prstGeom prst="rect">
            <a:avLst/>
          </a:prstGeom>
          <a:noFill/>
        </p:spPr>
        <p:txBody>
          <a:bodyPr wrap="square" lIns="0" rIns="0" tIns="0" bIns="0">
            <a:spAutoFit/>
          </a:bodyPr>
          <a:lstStyle/>
          <a:p>
            <a:pPr algn="l">
              <a:lnSpc>
                <a:spcPct val="118000"/>
              </a:lnSpc>
              <a:spcAft>
                <a:spcPts val="0"/>
              </a:spcAft>
            </a:pPr>
            <a:r>
              <a:rPr sz="1150" b="0" i="0">
                <a:solidFill>
                  <a:srgbClr val="5A7A80"/>
                </a:solidFill>
                <a:latin typeface="Calibri"/>
              </a:rPr>
              <a:t>fuse, tune, and set</a:t>
            </a:r>
          </a:p>
          <a:p>
            <a:pPr algn="l">
              <a:lnSpc>
                <a:spcPct val="118000"/>
              </a:lnSpc>
              <a:spcAft>
                <a:spcPts val="0"/>
              </a:spcAft>
            </a:pPr>
            <a:r>
              <a:rPr sz="1150" b="0" i="0">
                <a:solidFill>
                  <a:srgbClr val="5A7A80"/>
                </a:solidFill>
                <a:latin typeface="Calibri"/>
              </a:rPr>
              <a:t>INT8 or FP16 here</a:t>
            </a:r>
          </a:p>
        </p:txBody>
      </p:sp>
      <p:sp>
        <p:nvSpPr>
          <p:cNvPr id="20" name="TextBox 19"/>
          <p:cNvSpPr txBox="1"/>
          <p:nvPr/>
        </p:nvSpPr>
        <p:spPr>
          <a:xfrm>
            <a:off x="777240" y="3145536"/>
            <a:ext cx="10607040" cy="292608"/>
          </a:xfrm>
          <a:prstGeom prst="rect">
            <a:avLst/>
          </a:prstGeom>
          <a:noFill/>
        </p:spPr>
        <p:txBody>
          <a:bodyPr wrap="square" lIns="0" rIns="0" tIns="0" bIns="0">
            <a:spAutoFit/>
          </a:bodyPr>
          <a:lstStyle/>
          <a:p>
            <a:pPr algn="l">
              <a:lnSpc>
                <a:spcPct val="120000"/>
              </a:lnSpc>
              <a:spcAft>
                <a:spcPts val="200"/>
              </a:spcAft>
            </a:pPr>
            <a:r>
              <a:rPr sz="1200" b="0" i="0">
                <a:solidFill>
                  <a:srgbClr val="5A7A80"/>
                </a:solidFill>
                <a:latin typeface="Calibri"/>
              </a:rPr>
              <a:t>Quantization comes last because the compiler is the thing that can actually execute INT8 kernels, and it wants to see the final graph.</a:t>
            </a:r>
          </a:p>
        </p:txBody>
      </p:sp>
      <p:pic>
        <p:nvPicPr>
          <p:cNvPr id="21" name="Picture 20" descr="fig_deepcompression_pipeline_han2016.png"/>
          <p:cNvPicPr>
            <a:picLocks noChangeAspect="1"/>
          </p:cNvPicPr>
          <p:nvPr/>
        </p:nvPicPr>
        <p:blipFill>
          <a:blip r:embed="rId2"/>
          <a:stretch>
            <a:fillRect/>
          </a:stretch>
        </p:blipFill>
        <p:spPr>
          <a:xfrm>
            <a:off x="777240" y="3639312"/>
            <a:ext cx="6172200" cy="2243776"/>
          </a:xfrm>
          <a:prstGeom prst="rect">
            <a:avLst/>
          </a:prstGeom>
        </p:spPr>
      </p:pic>
      <p:sp>
        <p:nvSpPr>
          <p:cNvPr id="22" name="TextBox 21"/>
          <p:cNvSpPr txBox="1"/>
          <p:nvPr/>
        </p:nvSpPr>
        <p:spPr>
          <a:xfrm>
            <a:off x="777240" y="5888736"/>
            <a:ext cx="6172200" cy="310896"/>
          </a:xfrm>
          <a:prstGeom prst="rect">
            <a:avLst/>
          </a:prstGeom>
          <a:noFill/>
        </p:spPr>
        <p:txBody>
          <a:bodyPr wrap="square" lIns="0" rIns="0" tIns="0" bIns="0">
            <a:spAutoFit/>
          </a:bodyPr>
          <a:lstStyle/>
          <a:p>
            <a:pPr algn="l">
              <a:lnSpc>
                <a:spcPct val="115000"/>
              </a:lnSpc>
              <a:spcAft>
                <a:spcPts val="200"/>
              </a:spcAft>
            </a:pPr>
            <a:r>
              <a:rPr sz="950" b="0" i="0">
                <a:solidFill>
                  <a:srgbClr val="8FA9AE"/>
                </a:solidFill>
                <a:latin typeface="Calibri"/>
              </a:rPr>
              <a:t>Han, Mao &amp; Dally (2016), Deep Compression, arXiv:1510.00149, Figure 1. Reproduced for teaching with attribution.</a:t>
            </a:r>
          </a:p>
        </p:txBody>
      </p:sp>
      <p:sp>
        <p:nvSpPr>
          <p:cNvPr id="23" name="Rounded Rectangle 22"/>
          <p:cNvSpPr/>
          <p:nvPr/>
        </p:nvSpPr>
        <p:spPr>
          <a:xfrm>
            <a:off x="7269480" y="3639312"/>
            <a:ext cx="4114800" cy="23774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488936" y="3858768"/>
            <a:ext cx="3675887" cy="292608"/>
          </a:xfrm>
          <a:prstGeom prst="rect">
            <a:avLst/>
          </a:prstGeom>
          <a:noFill/>
        </p:spPr>
        <p:txBody>
          <a:bodyPr wrap="square" lIns="0" rIns="0" tIns="0" bIns="0">
            <a:spAutoFit/>
          </a:bodyPr>
          <a:lstStyle/>
          <a:p>
            <a:pPr algn="l">
              <a:lnSpc>
                <a:spcPct val="105000"/>
              </a:lnSpc>
              <a:spcAft>
                <a:spcPts val="200"/>
              </a:spcAft>
            </a:pPr>
            <a:r>
              <a:rPr sz="1350" b="1" i="0">
                <a:solidFill>
                  <a:srgbClr val="12343B"/>
                </a:solidFill>
                <a:latin typeface="Calibri"/>
              </a:rPr>
              <a:t>Why the order matters</a:t>
            </a:r>
          </a:p>
        </p:txBody>
      </p:sp>
      <p:sp>
        <p:nvSpPr>
          <p:cNvPr id="25" name="TextBox 24"/>
          <p:cNvSpPr txBox="1"/>
          <p:nvPr/>
        </p:nvSpPr>
        <p:spPr>
          <a:xfrm>
            <a:off x="7488936" y="4242816"/>
            <a:ext cx="3675887" cy="1554480"/>
          </a:xfrm>
          <a:prstGeom prst="rect">
            <a:avLst/>
          </a:prstGeom>
          <a:noFill/>
        </p:spPr>
        <p:txBody>
          <a:bodyPr wrap="square" lIns="0" rIns="0" tIns="0" bIns="0">
            <a:spAutoFit/>
          </a:bodyPr>
          <a:lstStyle/>
          <a:p>
            <a:pPr algn="l">
              <a:lnSpc>
                <a:spcPct val="122000"/>
              </a:lnSpc>
              <a:spcAft>
                <a:spcPts val="400"/>
              </a:spcAft>
            </a:pPr>
            <a:r>
              <a:rPr sz="1150" b="0" i="0">
                <a:solidFill>
                  <a:srgbClr val="5A7A80"/>
                </a:solidFill>
                <a:latin typeface="Calibri"/>
              </a:rPr>
              <a:t>Pruning after quantization means retraining a quantized model, which is harder.</a:t>
            </a:r>
          </a:p>
          <a:p>
            <a:pPr algn="l">
              <a:lnSpc>
                <a:spcPct val="122000"/>
              </a:lnSpc>
              <a:spcAft>
                <a:spcPts val="400"/>
              </a:spcAft>
            </a:pPr>
            <a:r>
              <a:rPr sz="1150" b="0" i="0">
                <a:solidFill>
                  <a:srgbClr val="5A7A80"/>
                </a:solidFill>
                <a:latin typeface="Calibri"/>
              </a:rPr>
              <a:t>Deep Compression showed the composition holds: pruning alone gave 9 to 13 times, adding quantization reached 27 to 31 times, with no accuracy loss reported.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lnSpc>
                <a:spcPct val="105000"/>
              </a:lnSpc>
              <a:spcAft>
                <a:spcPts val="200"/>
              </a:spcAft>
            </a:pPr>
            <a:r>
              <a:rPr sz="1200" b="1" i="0">
                <a:solidFill>
                  <a:srgbClr val="028090"/>
                </a:solidFill>
                <a:latin typeface="Calibri"/>
              </a:rPr>
              <a:t>A WORKED EXAMPLE</a:t>
            </a:r>
          </a:p>
        </p:txBody>
      </p:sp>
      <p:sp>
        <p:nvSpPr>
          <p:cNvPr id="3" name="TextBox 2"/>
          <p:cNvSpPr txBox="1"/>
          <p:nvPr/>
        </p:nvSpPr>
        <p:spPr>
          <a:xfrm>
            <a:off x="685800" y="786384"/>
            <a:ext cx="10881360" cy="777240"/>
          </a:xfrm>
          <a:prstGeom prst="rect">
            <a:avLst/>
          </a:prstGeom>
          <a:noFill/>
        </p:spPr>
        <p:txBody>
          <a:bodyPr wrap="square" lIns="0" rIns="0" tIns="0" bIns="0">
            <a:spAutoFit/>
          </a:bodyPr>
          <a:lstStyle/>
          <a:p>
            <a:pPr algn="l">
              <a:lnSpc>
                <a:spcPct val="105000"/>
              </a:lnSpc>
              <a:spcAft>
                <a:spcPts val="200"/>
              </a:spcAft>
            </a:pPr>
            <a:r>
              <a:rPr sz="3200" b="1" i="0">
                <a:solidFill>
                  <a:srgbClr val="12343B"/>
                </a:solidFill>
                <a:latin typeface="Cambria"/>
              </a:rPr>
              <a:t>One detector, four builds, real numbers</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lnSpc>
                <a:spcPct val="105000"/>
              </a:lnSpc>
              <a:spcAft>
                <a:spcPts val="200"/>
              </a:spcAft>
            </a:pPr>
            <a:r>
              <a:rPr sz="1050" b="0" i="0">
                <a:solidFill>
                  <a:srgbClr val="9AB4B8"/>
                </a:solidFill>
                <a:latin typeface="Calibri"/>
              </a:rPr>
              <a:t>Session 38  ·  Model Optimization</a:t>
            </a:r>
          </a:p>
        </p:txBody>
      </p:sp>
      <p:pic>
        <p:nvPicPr>
          <p:cNvPr id="5" name="Picture 4" descr="fig_precision_benchmark.png"/>
          <p:cNvPicPr>
            <a:picLocks noChangeAspect="1"/>
          </p:cNvPicPr>
          <p:nvPr/>
        </p:nvPicPr>
        <p:blipFill>
          <a:blip r:embed="rId2"/>
          <a:stretch>
            <a:fillRect/>
          </a:stretch>
        </p:blipFill>
        <p:spPr>
          <a:xfrm>
            <a:off x="1252728" y="1737360"/>
            <a:ext cx="9692640" cy="3111595"/>
          </a:xfrm>
          <a:prstGeom prst="rect">
            <a:avLst/>
          </a:prstGeom>
        </p:spPr>
      </p:pic>
      <p:sp>
        <p:nvSpPr>
          <p:cNvPr id="6" name="TextBox 5"/>
          <p:cNvSpPr txBox="1"/>
          <p:nvPr/>
        </p:nvSpPr>
        <p:spPr>
          <a:xfrm>
            <a:off x="777240" y="4901184"/>
            <a:ext cx="10607040" cy="310896"/>
          </a:xfrm>
          <a:prstGeom prst="rect">
            <a:avLst/>
          </a:prstGeom>
          <a:noFill/>
        </p:spPr>
        <p:txBody>
          <a:bodyPr wrap="square" lIns="0" rIns="0" tIns="0" bIns="0">
            <a:spAutoFit/>
          </a:bodyPr>
          <a:lstStyle/>
          <a:p>
            <a:pPr algn="l">
              <a:lnSpc>
                <a:spcPct val="115000"/>
              </a:lnSpc>
              <a:spcAft>
                <a:spcPts val="200"/>
              </a:spcAft>
            </a:pPr>
            <a:r>
              <a:rPr sz="950" b="0" i="0">
                <a:solidFill>
                  <a:srgbClr val="8FA9AE"/>
                </a:solidFill>
                <a:latin typeface="Calibri"/>
              </a:rPr>
              <a:t>Ultralytics YOLO26 TensorRT export benchmarks, COCO detection. FP32, FP16 and INT8 engines built from the same ONNX graph.</a:t>
            </a:r>
          </a:p>
        </p:txBody>
      </p:sp>
      <p:sp>
        <p:nvSpPr>
          <p:cNvPr id="7" name="Rounded Rectangle 6"/>
          <p:cNvSpPr/>
          <p:nvPr/>
        </p:nvSpPr>
        <p:spPr>
          <a:xfrm>
            <a:off x="777240" y="5193792"/>
            <a:ext cx="3419856" cy="1060704"/>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60120" y="5376672"/>
            <a:ext cx="3054096" cy="292608"/>
          </a:xfrm>
          <a:prstGeom prst="rect">
            <a:avLst/>
          </a:prstGeom>
          <a:noFill/>
        </p:spPr>
        <p:txBody>
          <a:bodyPr wrap="square" lIns="0" rIns="0" tIns="0" bIns="0">
            <a:spAutoFit/>
          </a:bodyPr>
          <a:lstStyle/>
          <a:p>
            <a:pPr algn="l">
              <a:lnSpc>
                <a:spcPct val="105000"/>
              </a:lnSpc>
              <a:spcAft>
                <a:spcPts val="200"/>
              </a:spcAft>
            </a:pPr>
            <a:r>
              <a:rPr sz="1250" b="1" i="0">
                <a:solidFill>
                  <a:srgbClr val="12343B"/>
                </a:solidFill>
                <a:latin typeface="Calibri"/>
              </a:rPr>
              <a:t>FP16 is the default answer</a:t>
            </a:r>
          </a:p>
        </p:txBody>
      </p:sp>
      <p:sp>
        <p:nvSpPr>
          <p:cNvPr id="9" name="TextBox 8"/>
          <p:cNvSpPr txBox="1"/>
          <p:nvPr/>
        </p:nvSpPr>
        <p:spPr>
          <a:xfrm>
            <a:off x="960120" y="5760720"/>
            <a:ext cx="3054096" cy="310895"/>
          </a:xfrm>
          <a:prstGeom prst="rect">
            <a:avLst/>
          </a:prstGeom>
          <a:noFill/>
        </p:spPr>
        <p:txBody>
          <a:bodyPr wrap="square" lIns="0" rIns="0" tIns="0" bIns="0">
            <a:spAutoFit/>
          </a:bodyPr>
          <a:lstStyle/>
          <a:p>
            <a:pPr algn="l">
              <a:lnSpc>
                <a:spcPct val="122000"/>
              </a:lnSpc>
              <a:spcAft>
                <a:spcPts val="400"/>
              </a:spcAft>
            </a:pPr>
            <a:r>
              <a:rPr sz="1100" b="0" i="0">
                <a:solidFill>
                  <a:srgbClr val="5A7A80"/>
                </a:solidFill>
                <a:latin typeface="Calibri"/>
              </a:rPr>
              <a:t>Roughly 40 percent faster than FP32 with identical mAP. If you do nothing else, do this.</a:t>
            </a:r>
          </a:p>
        </p:txBody>
      </p:sp>
      <p:sp>
        <p:nvSpPr>
          <p:cNvPr id="10" name="Rounded Rectangle 9"/>
          <p:cNvSpPr/>
          <p:nvPr/>
        </p:nvSpPr>
        <p:spPr>
          <a:xfrm>
            <a:off x="4370832" y="5193792"/>
            <a:ext cx="3419856" cy="1060704"/>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53712" y="5376672"/>
            <a:ext cx="3054096" cy="292608"/>
          </a:xfrm>
          <a:prstGeom prst="rect">
            <a:avLst/>
          </a:prstGeom>
          <a:noFill/>
        </p:spPr>
        <p:txBody>
          <a:bodyPr wrap="square" lIns="0" rIns="0" tIns="0" bIns="0">
            <a:spAutoFit/>
          </a:bodyPr>
          <a:lstStyle/>
          <a:p>
            <a:pPr algn="l">
              <a:lnSpc>
                <a:spcPct val="105000"/>
              </a:lnSpc>
              <a:spcAft>
                <a:spcPts val="200"/>
              </a:spcAft>
            </a:pPr>
            <a:r>
              <a:rPr sz="1250" b="1" i="0">
                <a:solidFill>
                  <a:srgbClr val="12343B"/>
                </a:solidFill>
                <a:latin typeface="Calibri"/>
              </a:rPr>
              <a:t>INT8 is a decision, not a default</a:t>
            </a:r>
          </a:p>
        </p:txBody>
      </p:sp>
      <p:sp>
        <p:nvSpPr>
          <p:cNvPr id="12" name="TextBox 11"/>
          <p:cNvSpPr txBox="1"/>
          <p:nvPr/>
        </p:nvSpPr>
        <p:spPr>
          <a:xfrm>
            <a:off x="4553712" y="5760720"/>
            <a:ext cx="3054096" cy="310895"/>
          </a:xfrm>
          <a:prstGeom prst="rect">
            <a:avLst/>
          </a:prstGeom>
          <a:noFill/>
        </p:spPr>
        <p:txBody>
          <a:bodyPr wrap="square" lIns="0" rIns="0" tIns="0" bIns="0">
            <a:spAutoFit/>
          </a:bodyPr>
          <a:lstStyle/>
          <a:p>
            <a:pPr algn="l">
              <a:lnSpc>
                <a:spcPct val="122000"/>
              </a:lnSpc>
              <a:spcAft>
                <a:spcPts val="400"/>
              </a:spcAft>
            </a:pPr>
            <a:r>
              <a:rPr sz="1100" b="0" i="0">
                <a:solidFill>
                  <a:srgbClr val="5A7A80"/>
                </a:solidFill>
                <a:latin typeface="Calibri"/>
              </a:rPr>
              <a:t>16 percent faster again on the RTX 3080, and mAP 50-95 falls from 0.37 to 0.33.</a:t>
            </a:r>
          </a:p>
        </p:txBody>
      </p:sp>
      <p:sp>
        <p:nvSpPr>
          <p:cNvPr id="13" name="Rounded Rectangle 12"/>
          <p:cNvSpPr/>
          <p:nvPr/>
        </p:nvSpPr>
        <p:spPr>
          <a:xfrm>
            <a:off x="7964424" y="5193792"/>
            <a:ext cx="3419856" cy="1060704"/>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147304" y="5376672"/>
            <a:ext cx="3054096" cy="292608"/>
          </a:xfrm>
          <a:prstGeom prst="rect">
            <a:avLst/>
          </a:prstGeom>
          <a:noFill/>
        </p:spPr>
        <p:txBody>
          <a:bodyPr wrap="square" lIns="0" rIns="0" tIns="0" bIns="0">
            <a:spAutoFit/>
          </a:bodyPr>
          <a:lstStyle/>
          <a:p>
            <a:pPr algn="l">
              <a:lnSpc>
                <a:spcPct val="105000"/>
              </a:lnSpc>
              <a:spcAft>
                <a:spcPts val="200"/>
              </a:spcAft>
            </a:pPr>
            <a:r>
              <a:rPr sz="1250" b="1" i="0">
                <a:solidFill>
                  <a:srgbClr val="12343B"/>
                </a:solidFill>
                <a:latin typeface="Calibri"/>
              </a:rPr>
              <a:t>Calibrate on the deployment device</a:t>
            </a:r>
          </a:p>
        </p:txBody>
      </p:sp>
      <p:sp>
        <p:nvSpPr>
          <p:cNvPr id="15" name="TextBox 14"/>
          <p:cNvSpPr txBox="1"/>
          <p:nvPr/>
        </p:nvSpPr>
        <p:spPr>
          <a:xfrm>
            <a:off x="8147304" y="5760720"/>
            <a:ext cx="3054096" cy="310895"/>
          </a:xfrm>
          <a:prstGeom prst="rect">
            <a:avLst/>
          </a:prstGeom>
          <a:noFill/>
        </p:spPr>
        <p:txBody>
          <a:bodyPr wrap="square" lIns="0" rIns="0" tIns="0" bIns="0">
            <a:spAutoFit/>
          </a:bodyPr>
          <a:lstStyle/>
          <a:p>
            <a:pPr algn="l">
              <a:lnSpc>
                <a:spcPct val="122000"/>
              </a:lnSpc>
              <a:spcAft>
                <a:spcPts val="400"/>
              </a:spcAft>
            </a:pPr>
            <a:r>
              <a:rPr sz="1100" b="0" i="0">
                <a:solidFill>
                  <a:srgbClr val="5A7A80"/>
                </a:solidFill>
                <a:latin typeface="Calibri"/>
              </a:rPr>
              <a:t>NVIDIA advises at least 500 representative images, and warns results vary by device.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2E2E"/>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0F3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85800" y="475488"/>
            <a:ext cx="10881360" cy="274320"/>
          </a:xfrm>
          <a:prstGeom prst="rect">
            <a:avLst/>
          </a:prstGeom>
          <a:noFill/>
        </p:spPr>
        <p:txBody>
          <a:bodyPr wrap="square" lIns="0" rIns="0" tIns="0" bIns="0">
            <a:spAutoFit/>
          </a:bodyPr>
          <a:lstStyle/>
          <a:p>
            <a:pPr algn="l">
              <a:lnSpc>
                <a:spcPct val="105000"/>
              </a:lnSpc>
              <a:spcAft>
                <a:spcPts val="200"/>
              </a:spcAft>
            </a:pPr>
            <a:r>
              <a:rPr sz="1200" b="1" i="0">
                <a:solidFill>
                  <a:srgbClr val="8CE6C9"/>
                </a:solidFill>
                <a:latin typeface="Calibri"/>
              </a:rPr>
              <a:t>SUMMARY</a:t>
            </a:r>
          </a:p>
        </p:txBody>
      </p:sp>
      <p:sp>
        <p:nvSpPr>
          <p:cNvPr id="4" name="TextBox 3"/>
          <p:cNvSpPr txBox="1"/>
          <p:nvPr/>
        </p:nvSpPr>
        <p:spPr>
          <a:xfrm>
            <a:off x="685800" y="786384"/>
            <a:ext cx="10881360" cy="777240"/>
          </a:xfrm>
          <a:prstGeom prst="rect">
            <a:avLst/>
          </a:prstGeom>
          <a:noFill/>
        </p:spPr>
        <p:txBody>
          <a:bodyPr wrap="square" lIns="0" rIns="0" tIns="0" bIns="0">
            <a:spAutoFit/>
          </a:bodyPr>
          <a:lstStyle/>
          <a:p>
            <a:pPr algn="l">
              <a:lnSpc>
                <a:spcPct val="105000"/>
              </a:lnSpc>
              <a:spcAft>
                <a:spcPts val="200"/>
              </a:spcAft>
            </a:pPr>
            <a:r>
              <a:rPr sz="3200" b="1" i="0">
                <a:solidFill>
                  <a:srgbClr val="FFFFFF"/>
                </a:solidFill>
                <a:latin typeface="Cambria"/>
              </a:rPr>
              <a:t>Which lever, and when</a:t>
            </a:r>
          </a:p>
        </p:txBody>
      </p:sp>
      <p:sp>
        <p:nvSpPr>
          <p:cNvPr id="5" name="TextBox 4"/>
          <p:cNvSpPr txBox="1"/>
          <p:nvPr/>
        </p:nvSpPr>
        <p:spPr>
          <a:xfrm>
            <a:off x="868680" y="1956816"/>
            <a:ext cx="2514600" cy="274320"/>
          </a:xfrm>
          <a:prstGeom prst="rect">
            <a:avLst/>
          </a:prstGeom>
          <a:noFill/>
        </p:spPr>
        <p:txBody>
          <a:bodyPr wrap="square" lIns="0" rIns="0" tIns="0" bIns="0">
            <a:spAutoFit/>
          </a:bodyPr>
          <a:lstStyle/>
          <a:p>
            <a:pPr algn="l">
              <a:lnSpc>
                <a:spcPct val="115000"/>
              </a:lnSpc>
              <a:spcAft>
                <a:spcPts val="200"/>
              </a:spcAft>
            </a:pPr>
            <a:r>
              <a:rPr sz="1050" b="1" i="0">
                <a:solidFill>
                  <a:srgbClr val="02C39A"/>
                </a:solidFill>
                <a:latin typeface="Calibri"/>
              </a:rPr>
              <a:t>ALWAYS</a:t>
            </a:r>
          </a:p>
        </p:txBody>
      </p:sp>
      <p:sp>
        <p:nvSpPr>
          <p:cNvPr id="6" name="TextBox 5"/>
          <p:cNvSpPr txBox="1"/>
          <p:nvPr/>
        </p:nvSpPr>
        <p:spPr>
          <a:xfrm>
            <a:off x="3520440" y="1920240"/>
            <a:ext cx="7680960" cy="274320"/>
          </a:xfrm>
          <a:prstGeom prst="rect">
            <a:avLst/>
          </a:prstGeom>
          <a:noFill/>
        </p:spPr>
        <p:txBody>
          <a:bodyPr wrap="square" lIns="0" rIns="0" tIns="0" bIns="0">
            <a:spAutoFit/>
          </a:bodyPr>
          <a:lstStyle/>
          <a:p>
            <a:pPr algn="l">
              <a:lnSpc>
                <a:spcPct val="105000"/>
              </a:lnSpc>
              <a:spcAft>
                <a:spcPts val="200"/>
              </a:spcAft>
            </a:pPr>
            <a:r>
              <a:rPr sz="1500" b="1" i="0">
                <a:solidFill>
                  <a:srgbClr val="FFFFFF"/>
                </a:solidFill>
                <a:latin typeface="Calibri"/>
              </a:rPr>
              <a:t>Export to ONNX</a:t>
            </a:r>
          </a:p>
        </p:txBody>
      </p:sp>
      <p:sp>
        <p:nvSpPr>
          <p:cNvPr id="7" name="TextBox 6"/>
          <p:cNvSpPr txBox="1"/>
          <p:nvPr/>
        </p:nvSpPr>
        <p:spPr>
          <a:xfrm>
            <a:off x="3520440" y="2231136"/>
            <a:ext cx="7680960" cy="329184"/>
          </a:xfrm>
          <a:prstGeom prst="rect">
            <a:avLst/>
          </a:prstGeom>
          <a:noFill/>
        </p:spPr>
        <p:txBody>
          <a:bodyPr wrap="square" lIns="0" rIns="0" tIns="0" bIns="0">
            <a:spAutoFit/>
          </a:bodyPr>
          <a:lstStyle/>
          <a:p>
            <a:pPr algn="l">
              <a:lnSpc>
                <a:spcPct val="118000"/>
              </a:lnSpc>
              <a:spcAft>
                <a:spcPts val="200"/>
              </a:spcAft>
            </a:pPr>
            <a:r>
              <a:rPr sz="1250" b="0" i="0">
                <a:solidFill>
                  <a:srgbClr val="9AB4B8"/>
                </a:solidFill>
                <a:latin typeface="Calibri"/>
              </a:rPr>
              <a:t>Even if you never leave PyTorch. It is the artifact everything else consumes.</a:t>
            </a:r>
          </a:p>
        </p:txBody>
      </p:sp>
      <p:sp>
        <p:nvSpPr>
          <p:cNvPr id="8" name="TextBox 7"/>
          <p:cNvSpPr txBox="1"/>
          <p:nvPr/>
        </p:nvSpPr>
        <p:spPr>
          <a:xfrm>
            <a:off x="868680" y="2980944"/>
            <a:ext cx="2514600" cy="274320"/>
          </a:xfrm>
          <a:prstGeom prst="rect">
            <a:avLst/>
          </a:prstGeom>
          <a:noFill/>
        </p:spPr>
        <p:txBody>
          <a:bodyPr wrap="square" lIns="0" rIns="0" tIns="0" bIns="0">
            <a:spAutoFit/>
          </a:bodyPr>
          <a:lstStyle/>
          <a:p>
            <a:pPr algn="l">
              <a:lnSpc>
                <a:spcPct val="115000"/>
              </a:lnSpc>
              <a:spcAft>
                <a:spcPts val="200"/>
              </a:spcAft>
            </a:pPr>
            <a:r>
              <a:rPr sz="1050" b="1" i="0">
                <a:solidFill>
                  <a:srgbClr val="02C39A"/>
                </a:solidFill>
                <a:latin typeface="Calibri"/>
              </a:rPr>
              <a:t>ON NVIDIA</a:t>
            </a:r>
          </a:p>
        </p:txBody>
      </p:sp>
      <p:sp>
        <p:nvSpPr>
          <p:cNvPr id="9" name="TextBox 8"/>
          <p:cNvSpPr txBox="1"/>
          <p:nvPr/>
        </p:nvSpPr>
        <p:spPr>
          <a:xfrm>
            <a:off x="3520440" y="2944368"/>
            <a:ext cx="7680960" cy="274320"/>
          </a:xfrm>
          <a:prstGeom prst="rect">
            <a:avLst/>
          </a:prstGeom>
          <a:noFill/>
        </p:spPr>
        <p:txBody>
          <a:bodyPr wrap="square" lIns="0" rIns="0" tIns="0" bIns="0">
            <a:spAutoFit/>
          </a:bodyPr>
          <a:lstStyle/>
          <a:p>
            <a:pPr algn="l">
              <a:lnSpc>
                <a:spcPct val="105000"/>
              </a:lnSpc>
              <a:spcAft>
                <a:spcPts val="200"/>
              </a:spcAft>
            </a:pPr>
            <a:r>
              <a:rPr sz="1500" b="1" i="0">
                <a:solidFill>
                  <a:srgbClr val="FFFFFF"/>
                </a:solidFill>
                <a:latin typeface="Calibri"/>
              </a:rPr>
              <a:t>Build a TensorRT engine at FP16</a:t>
            </a:r>
          </a:p>
        </p:txBody>
      </p:sp>
      <p:sp>
        <p:nvSpPr>
          <p:cNvPr id="10" name="TextBox 9"/>
          <p:cNvSpPr txBox="1"/>
          <p:nvPr/>
        </p:nvSpPr>
        <p:spPr>
          <a:xfrm>
            <a:off x="3520440" y="3255264"/>
            <a:ext cx="7680960" cy="329184"/>
          </a:xfrm>
          <a:prstGeom prst="rect">
            <a:avLst/>
          </a:prstGeom>
          <a:noFill/>
        </p:spPr>
        <p:txBody>
          <a:bodyPr wrap="square" lIns="0" rIns="0" tIns="0" bIns="0">
            <a:spAutoFit/>
          </a:bodyPr>
          <a:lstStyle/>
          <a:p>
            <a:pPr algn="l">
              <a:lnSpc>
                <a:spcPct val="118000"/>
              </a:lnSpc>
              <a:spcAft>
                <a:spcPts val="200"/>
              </a:spcAft>
            </a:pPr>
            <a:r>
              <a:rPr sz="1250" b="0" i="0">
                <a:solidFill>
                  <a:srgbClr val="9AB4B8"/>
                </a:solidFill>
                <a:latin typeface="Calibri"/>
              </a:rPr>
              <a:t>The biggest win for the least risk. Rebuild it on the deployment device.</a:t>
            </a:r>
          </a:p>
        </p:txBody>
      </p:sp>
      <p:sp>
        <p:nvSpPr>
          <p:cNvPr id="11" name="TextBox 10"/>
          <p:cNvSpPr txBox="1"/>
          <p:nvPr/>
        </p:nvSpPr>
        <p:spPr>
          <a:xfrm>
            <a:off x="868680" y="4005072"/>
            <a:ext cx="2514600" cy="274320"/>
          </a:xfrm>
          <a:prstGeom prst="rect">
            <a:avLst/>
          </a:prstGeom>
          <a:noFill/>
        </p:spPr>
        <p:txBody>
          <a:bodyPr wrap="square" lIns="0" rIns="0" tIns="0" bIns="0">
            <a:spAutoFit/>
          </a:bodyPr>
          <a:lstStyle/>
          <a:p>
            <a:pPr algn="l">
              <a:lnSpc>
                <a:spcPct val="115000"/>
              </a:lnSpc>
              <a:spcAft>
                <a:spcPts val="200"/>
              </a:spcAft>
            </a:pPr>
            <a:r>
              <a:rPr sz="1050" b="1" i="0">
                <a:solidFill>
                  <a:srgbClr val="02C39A"/>
                </a:solidFill>
                <a:latin typeface="Calibri"/>
              </a:rPr>
              <a:t>WHEN LATENCY STILL HURTS</a:t>
            </a:r>
          </a:p>
        </p:txBody>
      </p:sp>
      <p:sp>
        <p:nvSpPr>
          <p:cNvPr id="12" name="TextBox 11"/>
          <p:cNvSpPr txBox="1"/>
          <p:nvPr/>
        </p:nvSpPr>
        <p:spPr>
          <a:xfrm>
            <a:off x="3520440" y="3968496"/>
            <a:ext cx="7680960" cy="274320"/>
          </a:xfrm>
          <a:prstGeom prst="rect">
            <a:avLst/>
          </a:prstGeom>
          <a:noFill/>
        </p:spPr>
        <p:txBody>
          <a:bodyPr wrap="square" lIns="0" rIns="0" tIns="0" bIns="0">
            <a:spAutoFit/>
          </a:bodyPr>
          <a:lstStyle/>
          <a:p>
            <a:pPr algn="l">
              <a:lnSpc>
                <a:spcPct val="105000"/>
              </a:lnSpc>
              <a:spcAft>
                <a:spcPts val="200"/>
              </a:spcAft>
            </a:pPr>
            <a:r>
              <a:rPr sz="1500" b="1" i="0">
                <a:solidFill>
                  <a:srgbClr val="FFFFFF"/>
                </a:solidFill>
                <a:latin typeface="Calibri"/>
              </a:rPr>
              <a:t>Try INT8 with PTQ, then QAT</a:t>
            </a:r>
          </a:p>
        </p:txBody>
      </p:sp>
      <p:sp>
        <p:nvSpPr>
          <p:cNvPr id="13" name="TextBox 12"/>
          <p:cNvSpPr txBox="1"/>
          <p:nvPr/>
        </p:nvSpPr>
        <p:spPr>
          <a:xfrm>
            <a:off x="3520440" y="4279392"/>
            <a:ext cx="7680960" cy="329184"/>
          </a:xfrm>
          <a:prstGeom prst="rect">
            <a:avLst/>
          </a:prstGeom>
          <a:noFill/>
        </p:spPr>
        <p:txBody>
          <a:bodyPr wrap="square" lIns="0" rIns="0" tIns="0" bIns="0">
            <a:spAutoFit/>
          </a:bodyPr>
          <a:lstStyle/>
          <a:p>
            <a:pPr algn="l">
              <a:lnSpc>
                <a:spcPct val="118000"/>
              </a:lnSpc>
              <a:spcAft>
                <a:spcPts val="200"/>
              </a:spcAft>
            </a:pPr>
            <a:r>
              <a:rPr sz="1250" b="0" i="0">
                <a:solidFill>
                  <a:srgbClr val="9AB4B8"/>
                </a:solidFill>
                <a:latin typeface="Calibri"/>
              </a:rPr>
              <a:t>Calibrate on real data, measure the accuracy drop, and decide against your written line.</a:t>
            </a:r>
          </a:p>
        </p:txBody>
      </p:sp>
      <p:sp>
        <p:nvSpPr>
          <p:cNvPr id="14" name="TextBox 13"/>
          <p:cNvSpPr txBox="1"/>
          <p:nvPr/>
        </p:nvSpPr>
        <p:spPr>
          <a:xfrm>
            <a:off x="868680" y="5029200"/>
            <a:ext cx="2514600" cy="274320"/>
          </a:xfrm>
          <a:prstGeom prst="rect">
            <a:avLst/>
          </a:prstGeom>
          <a:noFill/>
        </p:spPr>
        <p:txBody>
          <a:bodyPr wrap="square" lIns="0" rIns="0" tIns="0" bIns="0">
            <a:spAutoFit/>
          </a:bodyPr>
          <a:lstStyle/>
          <a:p>
            <a:pPr algn="l">
              <a:lnSpc>
                <a:spcPct val="115000"/>
              </a:lnSpc>
              <a:spcAft>
                <a:spcPts val="200"/>
              </a:spcAft>
            </a:pPr>
            <a:r>
              <a:rPr sz="1050" b="1" i="0">
                <a:solidFill>
                  <a:srgbClr val="02C39A"/>
                </a:solidFill>
                <a:latin typeface="Calibri"/>
              </a:rPr>
              <a:t>WHEN THE MODEL MUST BE SMALLER</a:t>
            </a:r>
          </a:p>
        </p:txBody>
      </p:sp>
      <p:sp>
        <p:nvSpPr>
          <p:cNvPr id="15" name="TextBox 14"/>
          <p:cNvSpPr txBox="1"/>
          <p:nvPr/>
        </p:nvSpPr>
        <p:spPr>
          <a:xfrm>
            <a:off x="3520440" y="4992624"/>
            <a:ext cx="7680960" cy="274320"/>
          </a:xfrm>
          <a:prstGeom prst="rect">
            <a:avLst/>
          </a:prstGeom>
          <a:noFill/>
        </p:spPr>
        <p:txBody>
          <a:bodyPr wrap="square" lIns="0" rIns="0" tIns="0" bIns="0">
            <a:spAutoFit/>
          </a:bodyPr>
          <a:lstStyle/>
          <a:p>
            <a:pPr algn="l">
              <a:lnSpc>
                <a:spcPct val="105000"/>
              </a:lnSpc>
              <a:spcAft>
                <a:spcPts val="200"/>
              </a:spcAft>
            </a:pPr>
            <a:r>
              <a:rPr sz="1500" b="1" i="0">
                <a:solidFill>
                  <a:srgbClr val="FFFFFF"/>
                </a:solidFill>
                <a:latin typeface="Calibri"/>
              </a:rPr>
              <a:t>Prune, structured or 2:4</a:t>
            </a:r>
          </a:p>
        </p:txBody>
      </p:sp>
      <p:sp>
        <p:nvSpPr>
          <p:cNvPr id="16" name="TextBox 15"/>
          <p:cNvSpPr txBox="1"/>
          <p:nvPr/>
        </p:nvSpPr>
        <p:spPr>
          <a:xfrm>
            <a:off x="3520440" y="5303520"/>
            <a:ext cx="7680960" cy="329184"/>
          </a:xfrm>
          <a:prstGeom prst="rect">
            <a:avLst/>
          </a:prstGeom>
          <a:noFill/>
        </p:spPr>
        <p:txBody>
          <a:bodyPr wrap="square" lIns="0" rIns="0" tIns="0" bIns="0">
            <a:spAutoFit/>
          </a:bodyPr>
          <a:lstStyle/>
          <a:p>
            <a:pPr algn="l">
              <a:lnSpc>
                <a:spcPct val="118000"/>
              </a:lnSpc>
              <a:spcAft>
                <a:spcPts val="200"/>
              </a:spcAft>
            </a:pPr>
            <a:r>
              <a:rPr sz="1250" b="0" i="0">
                <a:solidFill>
                  <a:srgbClr val="9AB4B8"/>
                </a:solidFill>
                <a:latin typeface="Calibri"/>
              </a:rPr>
              <a:t>Budget for a retraining loop, and confirm your runtime can actually exploit the pattern.</a:t>
            </a:r>
          </a:p>
        </p:txBody>
      </p:sp>
      <p:sp>
        <p:nvSpPr>
          <p:cNvPr id="17" name="TextBox 16"/>
          <p:cNvSpPr txBox="1"/>
          <p:nvPr/>
        </p:nvSpPr>
        <p:spPr>
          <a:xfrm>
            <a:off x="868680" y="6144768"/>
            <a:ext cx="10332720" cy="292608"/>
          </a:xfrm>
          <a:prstGeom prst="rect">
            <a:avLst/>
          </a:prstGeom>
          <a:noFill/>
        </p:spPr>
        <p:txBody>
          <a:bodyPr wrap="square" lIns="0" rIns="0" tIns="0" bIns="0">
            <a:spAutoFit/>
          </a:bodyPr>
          <a:lstStyle/>
          <a:p>
            <a:pPr algn="l">
              <a:lnSpc>
                <a:spcPct val="115000"/>
              </a:lnSpc>
              <a:spcAft>
                <a:spcPts val="200"/>
              </a:spcAft>
            </a:pPr>
            <a:r>
              <a:rPr sz="1250" b="1" i="0">
                <a:solidFill>
                  <a:srgbClr val="8CE6C9"/>
                </a:solidFill>
                <a:latin typeface="Calibri"/>
              </a:rPr>
              <a:t>And the rule that outranks all four: </a:t>
            </a:r>
            <a:r>
              <a:rPr sz="1250" b="0" i="0">
                <a:solidFill>
                  <a:srgbClr val="D6E7E4"/>
                </a:solidFill>
                <a:latin typeface="Calibri"/>
              </a:rPr>
              <a:t>measure before, measure after, on the hardware you will ship. Every number in this session is somebody else's benchmark.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