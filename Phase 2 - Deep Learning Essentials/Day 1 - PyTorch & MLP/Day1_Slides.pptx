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DEEP LEARNING ESSENTIALS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Basics &amp;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Neural Network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MLP that learns to recognise handwritten digits — MNIST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min  ·  Theory + Hands-on Notebook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 today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AGENDA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&amp; Autograd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847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superpowers that make deep learning possible.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715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multi-layer perceptron with nn.Module — your first model.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Loop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584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 → Zero-grad → Backward → Step. Memorise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MNIST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453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handwritten digits. Aim for &gt;97% test accuracy.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Save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3218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Curves, confusion matrix, sample predictions, model export.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1208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 design the features by hand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Brittle — fails on unseen variations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Doesn't scale with more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4389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network learns its own features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Robust to lighting, rotation, scale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Improves as you give it more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non-trivial perception task — vision, speech, language — deep learning has decisively won.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artificial neuron (perceptron)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f( w₁x₁ + w₂x₂ + … + wₙxₙ + b 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× inputs + bias  →  activation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3383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91840"/>
            <a:ext cx="33832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— pixel values, embedding, sensor reading.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383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3291840"/>
            <a:ext cx="33832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(w) + Bias (b)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4023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network learns. Each weight = importance of an input.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3291840"/>
            <a:ext cx="3383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3291840"/>
            <a:ext cx="33832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f(·)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4023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non-linearity. ReLU is the modern default.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many neurons → a layer. Stack many layers → a deep neural network.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neurons to a Multi-Layer Perceptron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93392" y="2770632"/>
            <a:ext cx="2596896" cy="-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2770632"/>
            <a:ext cx="2596896" cy="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2770632"/>
            <a:ext cx="2596896" cy="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2770632"/>
            <a:ext cx="2596896" cy="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2770632"/>
            <a:ext cx="2596896" cy="147218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2770632"/>
            <a:ext cx="2596896" cy="189280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3191256"/>
            <a:ext cx="2596896" cy="-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3191256"/>
            <a:ext cx="2596896" cy="-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3191256"/>
            <a:ext cx="2596896" cy="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3191256"/>
            <a:ext cx="2596896" cy="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93392" y="3191256"/>
            <a:ext cx="2596896" cy="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3191256"/>
            <a:ext cx="2596896" cy="147218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93392" y="3611880"/>
            <a:ext cx="2596896" cy="-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93392" y="3611880"/>
            <a:ext cx="2596896" cy="-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93392" y="3611880"/>
            <a:ext cx="2596896" cy="-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3392" y="3611880"/>
            <a:ext cx="2596896" cy="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93392" y="3611880"/>
            <a:ext cx="2596896" cy="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93392" y="3611880"/>
            <a:ext cx="2596896" cy="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93392" y="4032504"/>
            <a:ext cx="2596896" cy="-147218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93392" y="4032504"/>
            <a:ext cx="2596896" cy="-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3392" y="4032504"/>
            <a:ext cx="2596896" cy="-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93392" y="4032504"/>
            <a:ext cx="2596896" cy="-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93392" y="4032504"/>
            <a:ext cx="2596896" cy="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93392" y="4032504"/>
            <a:ext cx="2596896" cy="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93392" y="4453128"/>
            <a:ext cx="2596896" cy="-189280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93392" y="4453128"/>
            <a:ext cx="2596896" cy="-147218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93392" y="4453128"/>
            <a:ext cx="2596896" cy="-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93392" y="4453128"/>
            <a:ext cx="2596896" cy="-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93392" y="4453128"/>
            <a:ext cx="2596896" cy="-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93392" y="4453128"/>
            <a:ext cx="2596896" cy="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2560320"/>
            <a:ext cx="2596896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2560320"/>
            <a:ext cx="2596896" cy="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19472" y="2560320"/>
            <a:ext cx="2596896" cy="84124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9472" y="2560320"/>
            <a:ext cx="2596896" cy="126187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9472" y="2560320"/>
            <a:ext cx="2596896" cy="168249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9472" y="2560320"/>
            <a:ext cx="2596896" cy="210312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19472" y="2980944"/>
            <a:ext cx="2596896" cy="-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9472" y="2980944"/>
            <a:ext cx="2596896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19472" y="2980944"/>
            <a:ext cx="2596896" cy="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19472" y="2980944"/>
            <a:ext cx="2596896" cy="84124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19472" y="2980944"/>
            <a:ext cx="2596896" cy="126187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19472" y="2980944"/>
            <a:ext cx="2596896" cy="168249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19472" y="3401568"/>
            <a:ext cx="2596896" cy="-84124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19472" y="3401568"/>
            <a:ext cx="2596896" cy="-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19472" y="3401568"/>
            <a:ext cx="2596896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19472" y="3401568"/>
            <a:ext cx="2596896" cy="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19472" y="3401568"/>
            <a:ext cx="2596896" cy="84124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19472" y="3401568"/>
            <a:ext cx="2596896" cy="126187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19472" y="3822192"/>
            <a:ext cx="2596896" cy="-126187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19472" y="3822192"/>
            <a:ext cx="2596896" cy="-84124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19472" y="3822192"/>
            <a:ext cx="2596896" cy="-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19472" y="3822192"/>
            <a:ext cx="2596896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19472" y="3822192"/>
            <a:ext cx="2596896" cy="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19472" y="3822192"/>
            <a:ext cx="2596896" cy="84124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19472" y="4242816"/>
            <a:ext cx="2596896" cy="-168249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19472" y="4242816"/>
            <a:ext cx="2596896" cy="-126187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19472" y="4242816"/>
            <a:ext cx="2596896" cy="-84124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19472" y="4242816"/>
            <a:ext cx="2596896" cy="-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19472" y="4242816"/>
            <a:ext cx="2596896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19472" y="4242816"/>
            <a:ext cx="2596896" cy="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19472" y="4663440"/>
            <a:ext cx="2596896" cy="-210312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19472" y="4663440"/>
            <a:ext cx="2596896" cy="-168249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19472" y="4663440"/>
            <a:ext cx="2596896" cy="-126187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19472" y="4663440"/>
            <a:ext cx="2596896" cy="-841248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919472" y="4663440"/>
            <a:ext cx="2596896" cy="-42062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19472" y="4663440"/>
            <a:ext cx="2596896" cy="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45552" y="2560320"/>
            <a:ext cx="2596896" cy="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45552" y="2560320"/>
            <a:ext cx="2596896" cy="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45552" y="2560320"/>
            <a:ext cx="2596896" cy="147218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45552" y="2980944"/>
            <a:ext cx="2596896" cy="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45552" y="2980944"/>
            <a:ext cx="2596896" cy="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45552" y="2980944"/>
            <a:ext cx="2596896" cy="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45552" y="3401568"/>
            <a:ext cx="2596896" cy="-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45552" y="3401568"/>
            <a:ext cx="2596896" cy="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45552" y="3401568"/>
            <a:ext cx="2596896" cy="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45552" y="3822192"/>
            <a:ext cx="2596896" cy="-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45552" y="3822192"/>
            <a:ext cx="2596896" cy="-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845552" y="3822192"/>
            <a:ext cx="2596896" cy="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845552" y="4242816"/>
            <a:ext cx="2596896" cy="-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45552" y="4242816"/>
            <a:ext cx="2596896" cy="-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45552" y="4242816"/>
            <a:ext cx="2596896" cy="-210312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845552" y="4663440"/>
            <a:ext cx="2596896" cy="-1472184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45552" y="4663440"/>
            <a:ext cx="2596896" cy="-1051560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845552" y="4663440"/>
            <a:ext cx="2596896" cy="-630936"/>
          </a:xfrm>
          <a:prstGeom prst="line">
            <a:avLst/>
          </a:prstGeom>
          <a:noFill/>
          <a:ln w="6350">
            <a:solidFill>
              <a:srgbClr val="C8D4E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664208" y="2606040"/>
            <a:ext cx="329184" cy="329184"/>
          </a:xfrm>
          <a:prstGeom prst="ellipse">
            <a:avLst/>
          </a:prstGeom>
          <a:solidFill>
            <a:srgbClr val="6B7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64208" y="3026664"/>
            <a:ext cx="329184" cy="329184"/>
          </a:xfrm>
          <a:prstGeom prst="ellipse">
            <a:avLst/>
          </a:prstGeom>
          <a:solidFill>
            <a:srgbClr val="6B7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664208" y="3447288"/>
            <a:ext cx="329184" cy="329184"/>
          </a:xfrm>
          <a:prstGeom prst="ellipse">
            <a:avLst/>
          </a:prstGeom>
          <a:solidFill>
            <a:srgbClr val="6B7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64208" y="3867912"/>
            <a:ext cx="329184" cy="329184"/>
          </a:xfrm>
          <a:prstGeom prst="ellipse">
            <a:avLst/>
          </a:prstGeom>
          <a:solidFill>
            <a:srgbClr val="6B7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664208" y="4288536"/>
            <a:ext cx="329184" cy="329184"/>
          </a:xfrm>
          <a:prstGeom prst="ellipse">
            <a:avLst/>
          </a:prstGeom>
          <a:solidFill>
            <a:srgbClr val="6B7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88720" y="5577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(784)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590288" y="239572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90288" y="281635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590288" y="3236976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90288" y="365760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590288" y="4078224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590288" y="449884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14800" y="5577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(128)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7516368" y="239572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516368" y="281635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516368" y="3236976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16368" y="365760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16368" y="4078224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516368" y="449884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040880" y="5577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(128)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10442448" y="3026664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442448" y="344728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442448" y="3867912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966960" y="5577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has a learnable weight. ReLU between layers. Softmax (inside loss) at the end.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loop — 5 steps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PATTERN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model(images)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8379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inputs through the network → predictions.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2350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350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criterion(outputs, labels)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7066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wrong the predictions are.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63040" y="3218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grads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0" y="3218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35753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old gradients (PyTorch accumulates by default).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6400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63040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40480" y="4087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4439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computes ∂loss/∂param for every parameter.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463040" y="4956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40480" y="4956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53126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each parameter to reduce the loss.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PyTorch?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and feels like NumPy.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just print() and pdb.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486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network on the fly — no separate compile step.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research and learning.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486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&amp; autograd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tensors to .cuda() for 10–100× speed-up.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computed automatically.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749040"/>
            <a:ext cx="5486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4023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ecosystem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 · torchaudio · 🤗 transformers 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· diffusers ·  …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&amp; Autograd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SUPERPOWERS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53949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 arrays that live on CPU or GPU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torch.randn(2, 3)
</a:t>
            </a:r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x.shape  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torch.Size([2, 3])
</a:t>
            </a:r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@ y    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matrix multiply
</a:t>
            </a:r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x.to('cuda')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on GPU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Scalar  →  vector  →  matrix  →  image  →  batch of images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Backbone of every PyTorch operation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539496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differentiation — gradients for free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torch.tensor(2.0, requires_grad=True)
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x**2 + 3*x + 1
</a:t>
            </a:r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y.backward()
</a:t>
            </a:r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x.grad  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7.0  (= 2x + 3)
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PyTorch builds a graph of every op you 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.backward() walks it backwards to get all gradients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what makes neural-net training possible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— the Hello World of deep learning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931920" y="1810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total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931920" y="2907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each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931920" y="40050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(digits 0–9)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931920" y="51023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(grayscale)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0960" y="1645920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7" name="Shape 15"/>
          <p:cNvSpPr/>
          <p:nvPr/>
        </p:nvSpPr>
        <p:spPr>
          <a:xfrm>
            <a:off x="8531352" y="1645920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531352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9381744" y="1645920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9381744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10232136" y="1645920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232136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11082528" y="1645920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11082528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7680960" y="2496312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24963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7" name="Shape 25"/>
          <p:cNvSpPr/>
          <p:nvPr/>
        </p:nvSpPr>
        <p:spPr>
          <a:xfrm>
            <a:off x="8531352" y="2496312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8531352" y="24963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9" name="Shape 27"/>
          <p:cNvSpPr/>
          <p:nvPr/>
        </p:nvSpPr>
        <p:spPr>
          <a:xfrm>
            <a:off x="9381744" y="2496312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9381744" y="24963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31" name="Shape 29"/>
          <p:cNvSpPr/>
          <p:nvPr/>
        </p:nvSpPr>
        <p:spPr>
          <a:xfrm>
            <a:off x="10232136" y="2496312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10232136" y="24963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33" name="Shape 31"/>
          <p:cNvSpPr/>
          <p:nvPr/>
        </p:nvSpPr>
        <p:spPr>
          <a:xfrm>
            <a:off x="11082528" y="2496312"/>
            <a:ext cx="7772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11082528" y="24963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7680960" y="33924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MNIST digits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 Why start here? Small, clean, fast. Lets us focus on learning the framework — not data wrangling.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notebook — let's code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911535" cy="4206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Day1_PyTorch_MLP_MNIST.ipynb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97280" y="26060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5603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imports &amp; device  →  detect GPU automatically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0632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0175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tensors &amp; autograd  →  build intuition first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35204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4747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MNIST + visualise samples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97280" y="39776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9319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MLP with nn.Module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44348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43891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5 epochs  →  watch loss go down, accuracy go up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97280" y="48920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48463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sample predictions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97280" y="53492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53035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trained model to disk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97% test accuracy in under 2 minutes of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· Phase 2 · Day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take-aways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6459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GPU-ready arrays — the data type for everything.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6459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468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tracks operations and gives you gradients automatically.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6459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it. Define layers in __init__, dataflow in forward.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6459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loop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42976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 → zero_grad → backward → step. Memorise it.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6459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166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honestly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52120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loss curves AND a confusion matrix.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Tomorrow: replace MLP with a CNN — the right tool for images.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PyTorch Basics &amp; MLP on MNIST</dc:title>
  <dc:subject>Phase 2 — Deep Learning Essentials</dc:subject>
  <dc:creator>AI &amp; CV Course</dc:creator>
  <cp:lastModifiedBy>AI &amp; CV Course</cp:lastModifiedBy>
  <cp:revision>1</cp:revision>
  <dcterms:created xsi:type="dcterms:W3CDTF">2026-04-29T15:37:23Z</dcterms:created>
  <dcterms:modified xsi:type="dcterms:W3CDTF">2026-04-29T15:37:23Z</dcterms:modified>
</cp:coreProperties>
</file>