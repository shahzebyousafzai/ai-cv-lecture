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-  DEEP LEARNING ESSENTIALS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- with the Training Tricks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- Dropout - Augmentation - LR scheduler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min  -  Theory + Hands-on Notebook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and where we're going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-  AGENDA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00" cy="548640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(Day 1)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201168" cy="201168"/>
          </a:xfrm>
          <a:prstGeom prst="ellipse">
            <a:avLst/>
          </a:prstGeom>
          <a:solidFill>
            <a:srgbClr val="6B7B8C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&amp; Autograd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108960"/>
            <a:ext cx="201168" cy="201168"/>
          </a:xfrm>
          <a:prstGeom prst="ellipse">
            <a:avLst/>
          </a:prstGeom>
          <a:solidFill>
            <a:srgbClr val="6B7B8C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MLP for MNIST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3749040"/>
            <a:ext cx="201168" cy="201168"/>
          </a:xfrm>
          <a:prstGeom prst="ellipse">
            <a:avLst/>
          </a:prstGeom>
          <a:solidFill>
            <a:srgbClr val="6B7B8C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the 5-step training loop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4389120"/>
            <a:ext cx="201168" cy="201168"/>
          </a:xfrm>
          <a:prstGeom prst="ellipse">
            <a:avLst/>
          </a:prstGeom>
          <a:solidFill>
            <a:srgbClr val="6B7B8C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&gt;97% on a tiny model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486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554480"/>
            <a:ext cx="5486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(Day 2)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66560" y="246888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377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MLPs fail on real images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310896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intuition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66560" y="374904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for CIFAR-10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766560" y="4389120"/>
            <a:ext cx="201168" cy="2011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BatchNorm, Dropout, Augmentation, LR scheduler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MLP is the wrong tool for images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4297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on a 224x224 RGB 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150 528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neurons in the first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hidden layer of 1024 -&gt; 154M parameters in just one layer.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914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explosion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193852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Fully-connected layers grow with image size. Won't fit in memory.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2697480"/>
            <a:ext cx="914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651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awareness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299008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(5,5) and (5,6) treated as unrelated. Real images have local structure.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749040"/>
            <a:ext cx="914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03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translation invariance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404164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shifted by 5 px is a totally different input vector to an MLP.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800600"/>
            <a:ext cx="9144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754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generalisation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509320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dataset = severe overfitting; huge dataset = unaffordable compute.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solve all four with weight sharing and locality.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- a sliding feature detector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224028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24028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224028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240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7432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274320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74320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74320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7432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2461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324612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324612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3160" y="3246120"/>
            <a:ext cx="502920" cy="502920"/>
          </a:xfrm>
          <a:prstGeom prst="rect">
            <a:avLst/>
          </a:prstGeom>
          <a:solidFill>
            <a:srgbClr val="065A82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32461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7490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37490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37490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37490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37490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434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709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(highlighted: 3x3 patch)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118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4206240" y="237744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37744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237744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0" y="288036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88036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288036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338328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38328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12080" y="338328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40690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06240" y="43434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(learned weights)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978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200" dirty="0"/>
          </a:p>
        </p:txBody>
      </p:sp>
      <p:sp>
        <p:nvSpPr>
          <p:cNvPr id="47" name="Shape 45"/>
          <p:cNvSpPr/>
          <p:nvPr/>
        </p:nvSpPr>
        <p:spPr>
          <a:xfrm>
            <a:off x="6492240" y="2651760"/>
            <a:ext cx="754380" cy="754380"/>
          </a:xfrm>
          <a:prstGeom prst="rect">
            <a:avLst/>
          </a:prstGeom>
          <a:solidFill>
            <a:srgbClr val="065A82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4206240"/>
            <a:ext cx="13030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pixel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95528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955280" y="21945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1" name="Text 49"/>
          <p:cNvSpPr/>
          <p:nvPr/>
        </p:nvSpPr>
        <p:spPr>
          <a:xfrm>
            <a:off x="79552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0392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503920" y="2514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sees only a small input patch -&gt; matches how images are structured.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55280" y="34747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/>
          <p:nvPr/>
        </p:nvSpPr>
        <p:spPr>
          <a:xfrm>
            <a:off x="79552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0392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50392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filter is applied at every position -&gt; way fewer parameters.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955280" y="475488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9" name="Text 57"/>
          <p:cNvSpPr/>
          <p:nvPr/>
        </p:nvSpPr>
        <p:spPr>
          <a:xfrm>
            <a:off x="7955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503920" y="4709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Translation-invariant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8503920" y="5074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 in the corner activates the filter the same way as a cat in the centre.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CNN block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237744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filters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657600" y="3108960"/>
            <a:ext cx="237744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activations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92240" y="3108960"/>
            <a:ext cx="2377440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0" y="3474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326880" y="3108960"/>
            <a:ext cx="2377440" cy="1463040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3337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 2x2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32x32x3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34095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16x16x32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2-3 of these blocks. Each block roughly halves the spatial size and doubles the channel depth.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stack: Flatten -&gt; a couple of Linear layers -&gt; logits.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edges to objects - a feature hierarchy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NETWORK LEARNS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2468880" cy="3657600"/>
          </a:xfrm>
          <a:prstGeom prst="rect">
            <a:avLst/>
          </a:prstGeom>
          <a:solidFill>
            <a:srgbClr val="6B7B8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3200400"/>
            <a:ext cx="128016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3566160"/>
            <a:ext cx="1280160" cy="3657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3931920"/>
            <a:ext cx="914400" cy="-27432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663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colours, simple textures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0" y="1828800"/>
            <a:ext cx="2468880" cy="3657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51960" y="3108960"/>
            <a:ext cx="457200" cy="45720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3154680"/>
            <a:ext cx="457200" cy="365760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3657600"/>
            <a:ext cx="731520" cy="457200"/>
          </a:xfrm>
          <a:prstGeom prst="triangl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663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Curves, corners, repeating patterns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1828800"/>
            <a:ext cx="2468880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78040" y="310896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0" y="310896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3794760"/>
            <a:ext cx="914400" cy="91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663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parts: eyes, wheels, fur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26880" y="1828800"/>
            <a:ext cx="2468880" cy="3657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921240" y="2926080"/>
            <a:ext cx="1280160" cy="1280160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95560" y="320040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44200" y="320040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87000" y="3749040"/>
            <a:ext cx="5486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46634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objects: cat, car, ship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see larger receptive fields and combine simpler features into more abstract ones.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tricks every modern CNN uses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TRAINING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13716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920240"/>
            <a:ext cx="109728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Normalise activations within each mini-batch.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 Higher learning rates - faster, more stable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554480"/>
            <a:ext cx="13716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1920240"/>
            <a:ext cx="109728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9202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4672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Randomly zero out a fraction of neurons during training.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 Prevents over-reliance on any one feature - reduces overfitting.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404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40480"/>
            <a:ext cx="13716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4206240"/>
            <a:ext cx="109728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2062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860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286000" y="4617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Random crop, flip, color jitter on the training set only.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 Free extra data - the model sees a bigger effective dataset.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840480"/>
            <a:ext cx="5486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840480"/>
            <a:ext cx="13716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0" y="4206240"/>
            <a:ext cx="109728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42062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0467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046720" y="4617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 Start with a higher LR, decay it as training progresses.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5166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 Hot start to find a good region, then cool down to settle 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CIFAR-10 - small images, 10 real-world classes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8328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images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32x32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pixels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83280" y="4480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73736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45552" y="173736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845552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24544" y="173736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924544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03536" y="173736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03536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082528" y="173736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082528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246888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4688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45552" y="246888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24688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24544" y="246888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8924544" y="24688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03536" y="246888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003536" y="24688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082528" y="2468880"/>
            <a:ext cx="960120" cy="5486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11082528" y="24688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 - 6 000 images each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846320"/>
            <a:ext cx="10911535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983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Notoriously hard pairs (you'll see this in your confusion matrix):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&lt;-&gt; dog          deer &lt;-&gt; horse          car &lt;-&gt; truck          plane &lt;-&gt; ship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SmallCNN - the architecture we'll build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28600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71800" y="16459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459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32 -&gt; Conv 32 -&gt; Pool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32x32 -&gt; 16x16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228600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97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383280" y="269748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6974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64 -&gt; Conv 64 -&gt; Pool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16x16 -&gt; 8x8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228600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71800" y="37490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383280" y="374904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7490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 128 -&gt; Conv 128 -&gt; Pool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8x8 -&gt; 4x4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800600"/>
            <a:ext cx="2286000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00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71800" y="48006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383280" y="4800600"/>
            <a:ext cx="5943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B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4800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 -&gt; FC 256 -&gt; Dropout -&gt; FC 10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1832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 is followed by BatchNorm + ReLU. Dropout(0.5) in the classifier head.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notebook - let's train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11535" cy="4206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Day2_CNN_CIFAR10.ipynb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25603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CIFAR-10 with augmentation (train) and plain transform (test)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97280" y="30632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0175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SmallCNN: 3 conv blocks + classifier head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35204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4747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15 epochs - watch BatchNorm + Dropout in action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7280" y="39776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9319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StepLR halves the LR every 10 epochs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44348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43891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best checkpoint based on validation accuracy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97280" y="48920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48463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confusion matrix + per-class accuracy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97280" y="53492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5303520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visualise the first-layer filters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~85% test accuracy. State of the art is ~99% but needs much bigger models.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CV Course - Phase 2 - Day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take-aways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645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shared + translation-invariant. Right tool for images.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645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-&gt; BN -&gt; ReLU -&gt; Pool. Stack 2-3 to build a CNN.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645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training, lets you use a bigger learning rate.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645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54880" y="3886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during training only. Reduces overfitting.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645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617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54880" y="4663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only. Cheap way to multiply your data.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1645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54880" y="5440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start, cool finish. Worth +1-3% almost for free.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Tomorrow: instead of training from scratch, fine-tune a pre-trained ResNet (Milestone Project).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2 - CNNs with Training Tricks</dc:title>
  <dc:subject>Phase 2 - Deep Learning Essentials</dc:subject>
  <dc:creator>AI &amp; CV Course</dc:creator>
  <cp:lastModifiedBy>AI &amp; CV Course</cp:lastModifiedBy>
  <cp:revision>1</cp:revision>
  <dcterms:created xsi:type="dcterms:W3CDTF">2026-05-01T17:35:12Z</dcterms:created>
  <dcterms:modified xsi:type="dcterms:W3CDTF">2026-05-01T17:35:12Z</dcterms:modified>
</cp:coreProperties>
</file>